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61" r:id="rId3"/>
    <p:sldId id="315" r:id="rId4"/>
    <p:sldId id="263" r:id="rId5"/>
    <p:sldId id="356" r:id="rId6"/>
    <p:sldId id="316" r:id="rId7"/>
    <p:sldId id="355" r:id="rId8"/>
    <p:sldId id="273" r:id="rId9"/>
    <p:sldId id="274" r:id="rId10"/>
    <p:sldId id="276" r:id="rId11"/>
    <p:sldId id="317" r:id="rId12"/>
    <p:sldId id="278"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8" r:id="rId33"/>
    <p:sldId id="339" r:id="rId34"/>
    <p:sldId id="340" r:id="rId35"/>
    <p:sldId id="341" r:id="rId36"/>
    <p:sldId id="342" r:id="rId37"/>
    <p:sldId id="343" r:id="rId38"/>
    <p:sldId id="344" r:id="rId39"/>
    <p:sldId id="345" r:id="rId40"/>
    <p:sldId id="346" r:id="rId41"/>
    <p:sldId id="351" r:id="rId42"/>
    <p:sldId id="353" r:id="rId43"/>
    <p:sldId id="352" r:id="rId44"/>
    <p:sldId id="347" r:id="rId45"/>
    <p:sldId id="348" r:id="rId46"/>
    <p:sldId id="349" r:id="rId47"/>
    <p:sldId id="35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26DE3C-9B81-4BFA-A331-4619CAF41EA9}" v="2" dt="2026-07-14T15:04:25.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89" autoAdjust="0"/>
    <p:restoredTop sz="62320" autoAdjust="0"/>
  </p:normalViewPr>
  <p:slideViewPr>
    <p:cSldViewPr snapToGrid="0">
      <p:cViewPr varScale="1">
        <p:scale>
          <a:sx n="57" d="100"/>
          <a:sy n="57" d="100"/>
        </p:scale>
        <p:origin x="127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ang Fahim" userId="d99f17d917874ef7" providerId="LiveId" clId="{2D762BF3-38D9-4A57-A1ED-FF65B8D2B059}"/>
    <pc:docChg chg="custSel modSld">
      <pc:chgData name="Arjang Fahim" userId="d99f17d917874ef7" providerId="LiveId" clId="{2D762BF3-38D9-4A57-A1ED-FF65B8D2B059}" dt="2026-07-14T15:53:16.506" v="114" actId="20577"/>
      <pc:docMkLst>
        <pc:docMk/>
      </pc:docMkLst>
      <pc:sldChg chg="modNotesTx">
        <pc:chgData name="Arjang Fahim" userId="d99f17d917874ef7" providerId="LiveId" clId="{2D762BF3-38D9-4A57-A1ED-FF65B8D2B059}" dt="2026-07-14T15:06:13.514" v="39" actId="12"/>
        <pc:sldMkLst>
          <pc:docMk/>
          <pc:sldMk cId="978065547" sldId="317"/>
        </pc:sldMkLst>
      </pc:sldChg>
      <pc:sldChg chg="modNotesTx">
        <pc:chgData name="Arjang Fahim" userId="d99f17d917874ef7" providerId="LiveId" clId="{2D762BF3-38D9-4A57-A1ED-FF65B8D2B059}" dt="2026-07-14T15:53:16.506" v="114" actId="20577"/>
        <pc:sldMkLst>
          <pc:docMk/>
          <pc:sldMk cId="814891795" sldId="319"/>
        </pc:sldMkLst>
      </pc:sldChg>
      <pc:sldChg chg="modSp mod">
        <pc:chgData name="Arjang Fahim" userId="d99f17d917874ef7" providerId="LiveId" clId="{2D762BF3-38D9-4A57-A1ED-FF65B8D2B059}" dt="2026-07-14T05:37:46.786" v="0" actId="27636"/>
        <pc:sldMkLst>
          <pc:docMk/>
          <pc:sldMk cId="3677277266" sldId="323"/>
        </pc:sldMkLst>
        <pc:spChg chg="mod">
          <ac:chgData name="Arjang Fahim" userId="d99f17d917874ef7" providerId="LiveId" clId="{2D762BF3-38D9-4A57-A1ED-FF65B8D2B059}" dt="2026-07-14T05:37:46.786" v="0" actId="27636"/>
          <ac:spMkLst>
            <pc:docMk/>
            <pc:sldMk cId="3677277266" sldId="323"/>
            <ac:spMk id="3" creationId="{00000000-0000-0000-0000-000000000000}"/>
          </ac:spMkLst>
        </pc:spChg>
      </pc:sldChg>
      <pc:sldChg chg="modSp mod">
        <pc:chgData name="Arjang Fahim" userId="d99f17d917874ef7" providerId="LiveId" clId="{2D762BF3-38D9-4A57-A1ED-FF65B8D2B059}" dt="2026-07-14T05:38:58.353" v="1" actId="207"/>
        <pc:sldMkLst>
          <pc:docMk/>
          <pc:sldMk cId="1588993602" sldId="355"/>
        </pc:sldMkLst>
        <pc:spChg chg="mod">
          <ac:chgData name="Arjang Fahim" userId="d99f17d917874ef7" providerId="LiveId" clId="{2D762BF3-38D9-4A57-A1ED-FF65B8D2B059}" dt="2026-07-14T05:38:58.353" v="1" actId="207"/>
          <ac:spMkLst>
            <pc:docMk/>
            <pc:sldMk cId="1588993602" sldId="35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3972CE-1A1D-4676-BBED-D8E317A49382}"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E7F38-9500-43BA-AA14-C8ECA0FAF65C}" type="slidenum">
              <a:rPr lang="en-US" smtClean="0"/>
              <a:t>‹#›</a:t>
            </a:fld>
            <a:endParaRPr lang="en-US"/>
          </a:p>
        </p:txBody>
      </p:sp>
    </p:spTree>
    <p:extLst>
      <p:ext uri="{BB962C8B-B14F-4D97-AF65-F5344CB8AC3E}">
        <p14:creationId xmlns:p14="http://schemas.microsoft.com/office/powerpoint/2010/main" val="3717242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Race condition: caused by processes access to a shared memory =&gt; </a:t>
            </a:r>
            <a:r>
              <a:rPr lang="en-US" dirty="0" err="1"/>
              <a:t>dẫn</a:t>
            </a:r>
            <a:r>
              <a:rPr lang="en-US" dirty="0"/>
              <a:t> </a:t>
            </a:r>
            <a:r>
              <a:rPr lang="en-US" dirty="0" err="1"/>
              <a:t>đến</a:t>
            </a:r>
            <a:r>
              <a:rPr lang="en-US" dirty="0"/>
              <a:t> </a:t>
            </a:r>
            <a:r>
              <a:rPr lang="en-US" dirty="0" err="1"/>
              <a:t>kq</a:t>
            </a:r>
            <a:r>
              <a:rPr lang="en-US" dirty="0"/>
              <a:t> </a:t>
            </a:r>
            <a:r>
              <a:rPr lang="en-US" dirty="0" err="1"/>
              <a:t>bị</a:t>
            </a:r>
            <a:r>
              <a:rPr lang="en-US" dirty="0"/>
              <a:t> </a:t>
            </a:r>
            <a:r>
              <a:rPr lang="en-US" dirty="0" err="1"/>
              <a:t>sai</a:t>
            </a:r>
            <a:endParaRPr lang="en-US" dirty="0"/>
          </a:p>
          <a:p>
            <a:r>
              <a:rPr lang="en-US" dirty="0" err="1"/>
              <a:t>Kết</a:t>
            </a:r>
            <a:r>
              <a:rPr lang="en-US" dirty="0"/>
              <a:t> </a:t>
            </a:r>
            <a:r>
              <a:rPr lang="en-US" dirty="0" err="1"/>
              <a:t>quả</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thứ</a:t>
            </a:r>
            <a:r>
              <a:rPr lang="en-US" dirty="0"/>
              <a:t> </a:t>
            </a:r>
            <a:r>
              <a:rPr lang="en-US" dirty="0" err="1"/>
              <a:t>tự</a:t>
            </a:r>
            <a:r>
              <a:rPr lang="en-US" dirty="0"/>
              <a:t> </a:t>
            </a:r>
            <a:r>
              <a:rPr lang="en-US" dirty="0" err="1"/>
              <a:t>chạy</a:t>
            </a:r>
            <a:r>
              <a:rPr lang="en-US" dirty="0"/>
              <a:t> xen </a:t>
            </a:r>
            <a:r>
              <a:rPr lang="en-US" dirty="0" err="1"/>
              <a:t>kẽ</a:t>
            </a:r>
            <a:r>
              <a:rPr lang="en-US" dirty="0"/>
              <a:t> process =&gt; </a:t>
            </a:r>
            <a:r>
              <a:rPr lang="en-US" dirty="0" err="1"/>
              <a:t>kết</a:t>
            </a:r>
            <a:r>
              <a:rPr lang="en-US" dirty="0"/>
              <a:t> </a:t>
            </a:r>
            <a:r>
              <a:rPr lang="en-US" dirty="0" err="1"/>
              <a:t>quả</a:t>
            </a:r>
            <a:r>
              <a:rPr lang="en-US" dirty="0"/>
              <a:t> </a:t>
            </a:r>
            <a:r>
              <a:rPr lang="en-US" dirty="0" err="1"/>
              <a:t>có</a:t>
            </a:r>
            <a:r>
              <a:rPr lang="en-US" dirty="0"/>
              <a:t> </a:t>
            </a:r>
            <a:r>
              <a:rPr lang="en-US" dirty="0" err="1"/>
              <a:t>thể</a:t>
            </a:r>
            <a:r>
              <a:rPr lang="en-US" dirty="0"/>
              <a:t> </a:t>
            </a:r>
            <a:r>
              <a:rPr lang="en-US" dirty="0" err="1"/>
              <a:t>sai</a:t>
            </a:r>
            <a:endParaRPr lang="en-US" dirty="0"/>
          </a:p>
          <a:p>
            <a:r>
              <a:rPr lang="en-US" dirty="0"/>
              <a:t>Int count = 0</a:t>
            </a:r>
          </a:p>
          <a:p>
            <a:r>
              <a:rPr lang="en-US" dirty="0"/>
              <a:t>P1 </a:t>
            </a:r>
            <a:r>
              <a:rPr lang="en-US" dirty="0" err="1"/>
              <a:t>đọc</a:t>
            </a:r>
            <a:r>
              <a:rPr lang="en-US" dirty="0"/>
              <a:t> count = 0</a:t>
            </a:r>
          </a:p>
          <a:p>
            <a:r>
              <a:rPr lang="en-US" dirty="0"/>
              <a:t>P2 </a:t>
            </a:r>
            <a:r>
              <a:rPr lang="en-US" dirty="0" err="1"/>
              <a:t>đọc</a:t>
            </a:r>
            <a:r>
              <a:rPr lang="en-US" dirty="0"/>
              <a:t> count = 0</a:t>
            </a:r>
          </a:p>
          <a:p>
            <a:r>
              <a:rPr lang="en-US" dirty="0"/>
              <a:t>P1 </a:t>
            </a:r>
            <a:r>
              <a:rPr lang="en-US" dirty="0" err="1"/>
              <a:t>ghi</a:t>
            </a:r>
            <a:r>
              <a:rPr lang="en-US" dirty="0"/>
              <a:t> count = 1</a:t>
            </a:r>
          </a:p>
          <a:p>
            <a:r>
              <a:rPr lang="en-US" dirty="0"/>
              <a:t>P2 </a:t>
            </a:r>
            <a:r>
              <a:rPr lang="en-US" dirty="0" err="1"/>
              <a:t>ghi</a:t>
            </a:r>
            <a:r>
              <a:rPr lang="en-US" dirty="0"/>
              <a:t> count = 1</a:t>
            </a:r>
          </a:p>
          <a:p>
            <a:r>
              <a:rPr lang="en-US" dirty="0"/>
              <a:t>=&gt; Count = 1</a:t>
            </a:r>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2</a:t>
            </a:fld>
            <a:endParaRPr lang="en-US"/>
          </a:p>
        </p:txBody>
      </p:sp>
    </p:spTree>
    <p:extLst>
      <p:ext uri="{BB962C8B-B14F-4D97-AF65-F5344CB8AC3E}">
        <p14:creationId xmlns:p14="http://schemas.microsoft.com/office/powerpoint/2010/main" val="1745732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 </a:t>
            </a:r>
            <a:r>
              <a:rPr lang="en-US" dirty="0" err="1"/>
              <a:t>biến</a:t>
            </a:r>
            <a:r>
              <a:rPr lang="en-US" dirty="0"/>
              <a:t> </a:t>
            </a:r>
            <a:r>
              <a:rPr lang="en-US" dirty="0" err="1"/>
              <a:t>đếm</a:t>
            </a:r>
            <a:r>
              <a:rPr lang="en-US" dirty="0"/>
              <a:t> </a:t>
            </a:r>
            <a:r>
              <a:rPr lang="en-US" dirty="0" err="1"/>
              <a:t>có</a:t>
            </a:r>
            <a:r>
              <a:rPr lang="en-US" dirty="0"/>
              <a:t> bao </a:t>
            </a:r>
            <a:r>
              <a:rPr lang="en-US" dirty="0" err="1"/>
              <a:t>nhiêu</a:t>
            </a:r>
            <a:r>
              <a:rPr lang="en-US" dirty="0"/>
              <a:t> item </a:t>
            </a:r>
            <a:r>
              <a:rPr lang="en-US" dirty="0" err="1"/>
              <a:t>trong</a:t>
            </a:r>
            <a:r>
              <a:rPr lang="en-US" dirty="0"/>
              <a:t> buffer</a:t>
            </a:r>
          </a:p>
          <a:p>
            <a:endParaRPr lang="en-US" dirty="0"/>
          </a:p>
          <a:p>
            <a:r>
              <a:rPr lang="en-US" dirty="0"/>
              <a:t>Counter++: producer </a:t>
            </a:r>
            <a:r>
              <a:rPr lang="en-US" dirty="0" err="1"/>
              <a:t>bỏ</a:t>
            </a:r>
            <a:r>
              <a:rPr lang="en-US" dirty="0"/>
              <a:t> </a:t>
            </a:r>
            <a:r>
              <a:rPr lang="en-US" dirty="0" err="1"/>
              <a:t>thêm</a:t>
            </a:r>
            <a:r>
              <a:rPr lang="en-US" dirty="0"/>
              <a:t> item </a:t>
            </a:r>
            <a:r>
              <a:rPr lang="en-US" dirty="0" err="1"/>
              <a:t>vào</a:t>
            </a:r>
            <a:endParaRPr lang="en-US" dirty="0"/>
          </a:p>
          <a:p>
            <a:r>
              <a:rPr lang="en-US" dirty="0"/>
              <a:t>Counter--: producer remove </a:t>
            </a:r>
            <a:r>
              <a:rPr lang="en-US" dirty="0" err="1"/>
              <a:t>iteam</a:t>
            </a:r>
            <a:r>
              <a:rPr lang="en-US" dirty="0"/>
              <a:t> </a:t>
            </a:r>
            <a:r>
              <a:rPr lang="en-US" dirty="0" err="1"/>
              <a:t>ra</a:t>
            </a:r>
            <a:r>
              <a:rPr lang="en-US" dirty="0"/>
              <a:t> </a:t>
            </a:r>
            <a:r>
              <a:rPr lang="en-US" dirty="0" err="1"/>
              <a:t>khỏi</a:t>
            </a:r>
            <a:r>
              <a:rPr lang="en-US" dirty="0"/>
              <a:t> buffer</a:t>
            </a:r>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3</a:t>
            </a:fld>
            <a:endParaRPr lang="en-US"/>
          </a:p>
        </p:txBody>
      </p:sp>
    </p:spTree>
    <p:extLst>
      <p:ext uri="{BB962C8B-B14F-4D97-AF65-F5344CB8AC3E}">
        <p14:creationId xmlns:p14="http://schemas.microsoft.com/office/powerpoint/2010/main" val="253703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Section: </a:t>
            </a:r>
            <a:r>
              <a:rPr lang="en-US" dirty="0" err="1"/>
              <a:t>đoạn</a:t>
            </a:r>
            <a:r>
              <a:rPr lang="en-US" dirty="0"/>
              <a:t> code </a:t>
            </a:r>
            <a:r>
              <a:rPr lang="en-US" dirty="0" err="1"/>
              <a:t>mà</a:t>
            </a:r>
            <a:r>
              <a:rPr lang="en-US" dirty="0"/>
              <a:t> process </a:t>
            </a:r>
            <a:r>
              <a:rPr lang="en-US" dirty="0" err="1"/>
              <a:t>có</a:t>
            </a:r>
            <a:r>
              <a:rPr lang="en-US" dirty="0"/>
              <a:t> </a:t>
            </a:r>
            <a:r>
              <a:rPr lang="en-US" dirty="0" err="1"/>
              <a:t>thể</a:t>
            </a:r>
            <a:r>
              <a:rPr lang="en-US" dirty="0"/>
              <a:t> </a:t>
            </a:r>
            <a:r>
              <a:rPr lang="en-US" dirty="0" err="1"/>
              <a:t>truy</a:t>
            </a:r>
            <a:r>
              <a:rPr lang="en-US" dirty="0"/>
              <a:t> </a:t>
            </a:r>
            <a:r>
              <a:rPr lang="en-US" dirty="0" err="1"/>
              <a:t>cập</a:t>
            </a:r>
            <a:r>
              <a:rPr lang="en-US" dirty="0"/>
              <a:t>/</a:t>
            </a:r>
            <a:r>
              <a:rPr lang="en-US" dirty="0" err="1"/>
              <a:t>thay</a:t>
            </a:r>
            <a:r>
              <a:rPr lang="en-US" dirty="0"/>
              <a:t> </a:t>
            </a:r>
            <a:r>
              <a:rPr lang="en-US" dirty="0" err="1"/>
              <a:t>đổi</a:t>
            </a:r>
            <a:r>
              <a:rPr lang="en-US" dirty="0"/>
              <a:t> shared data</a:t>
            </a:r>
          </a:p>
          <a:p>
            <a:r>
              <a:rPr lang="en-US" dirty="0"/>
              <a:t>Ex: buffer[in] = </a:t>
            </a:r>
            <a:r>
              <a:rPr lang="en-US" dirty="0" err="1"/>
              <a:t>next_produced</a:t>
            </a:r>
            <a:r>
              <a:rPr lang="en-US" dirty="0"/>
              <a:t>;</a:t>
            </a:r>
          </a:p>
          <a:p>
            <a:r>
              <a:rPr lang="en-US" dirty="0"/>
              <a:t>in = (in + 1) % BUFFER_SIZE;</a:t>
            </a:r>
          </a:p>
          <a:p>
            <a:r>
              <a:rPr lang="en-US" dirty="0"/>
              <a:t>counter++;</a:t>
            </a:r>
          </a:p>
          <a:p>
            <a:endParaRPr lang="en-US" dirty="0"/>
          </a:p>
          <a:p>
            <a:r>
              <a:rPr lang="en-US" dirty="0"/>
              <a:t>=&gt; </a:t>
            </a:r>
            <a:r>
              <a:rPr lang="en-US" dirty="0" err="1"/>
              <a:t>đoạn</a:t>
            </a:r>
            <a:r>
              <a:rPr lang="en-US" dirty="0"/>
              <a:t> </a:t>
            </a:r>
            <a:r>
              <a:rPr lang="en-US" dirty="0" err="1"/>
              <a:t>này</a:t>
            </a:r>
            <a:r>
              <a:rPr lang="en-US" dirty="0"/>
              <a:t> </a:t>
            </a:r>
            <a:r>
              <a:rPr lang="en-US" dirty="0" err="1"/>
              <a:t>nằm</a:t>
            </a:r>
            <a:r>
              <a:rPr lang="en-US" dirty="0"/>
              <a:t> </a:t>
            </a:r>
            <a:r>
              <a:rPr lang="en-US" dirty="0" err="1"/>
              <a:t>trong</a:t>
            </a:r>
            <a:r>
              <a:rPr lang="en-US" dirty="0"/>
              <a:t> critical section </a:t>
            </a:r>
            <a:r>
              <a:rPr lang="en-US" dirty="0" err="1"/>
              <a:t>vì</a:t>
            </a:r>
            <a:r>
              <a:rPr lang="en-US" dirty="0"/>
              <a:t> </a:t>
            </a:r>
            <a:r>
              <a:rPr lang="en-US" dirty="0" err="1"/>
              <a:t>có</a:t>
            </a:r>
            <a:r>
              <a:rPr lang="en-US" dirty="0"/>
              <a:t> </a:t>
            </a:r>
            <a:r>
              <a:rPr lang="en-US" dirty="0" err="1"/>
              <a:t>đụng</a:t>
            </a:r>
            <a:r>
              <a:rPr lang="en-US" dirty="0"/>
              <a:t> </a:t>
            </a:r>
            <a:r>
              <a:rPr lang="en-US" dirty="0" err="1"/>
              <a:t>tới</a:t>
            </a:r>
            <a:r>
              <a:rPr lang="en-US" dirty="0"/>
              <a:t> </a:t>
            </a:r>
            <a:r>
              <a:rPr lang="en-US" dirty="0" err="1"/>
              <a:t>biến</a:t>
            </a:r>
            <a:r>
              <a:rPr lang="en-US" dirty="0"/>
              <a:t> dung </a:t>
            </a:r>
            <a:r>
              <a:rPr lang="en-US" dirty="0" err="1"/>
              <a:t>chung</a:t>
            </a:r>
            <a:r>
              <a:rPr lang="en-US" dirty="0"/>
              <a:t>: counter, buffer[in]</a:t>
            </a:r>
          </a:p>
        </p:txBody>
      </p:sp>
      <p:sp>
        <p:nvSpPr>
          <p:cNvPr id="4" name="Slide Number Placeholder 3"/>
          <p:cNvSpPr>
            <a:spLocks noGrp="1"/>
          </p:cNvSpPr>
          <p:nvPr>
            <p:ph type="sldNum" sz="quarter" idx="5"/>
          </p:nvPr>
        </p:nvSpPr>
        <p:spPr/>
        <p:txBody>
          <a:bodyPr/>
          <a:lstStyle/>
          <a:p>
            <a:fld id="{A69E7F38-9500-43BA-AA14-C8ECA0FAF65C}" type="slidenum">
              <a:rPr lang="en-US" smtClean="0"/>
              <a:t>6</a:t>
            </a:fld>
            <a:endParaRPr lang="en-US"/>
          </a:p>
        </p:txBody>
      </p:sp>
    </p:spTree>
    <p:extLst>
      <p:ext uri="{BB962C8B-B14F-4D97-AF65-F5344CB8AC3E}">
        <p14:creationId xmlns:p14="http://schemas.microsoft.com/office/powerpoint/2010/main" val="420022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section </a:t>
            </a:r>
            <a:r>
              <a:rPr lang="en-US" dirty="0" err="1"/>
              <a:t>có</a:t>
            </a:r>
            <a:r>
              <a:rPr lang="en-US" dirty="0"/>
              <a:t> protocol (</a:t>
            </a:r>
            <a:r>
              <a:rPr lang="en-US" dirty="0" err="1"/>
              <a:t>quy</a:t>
            </a:r>
            <a:r>
              <a:rPr lang="en-US" dirty="0"/>
              <a:t> </a:t>
            </a:r>
            <a:r>
              <a:rPr lang="en-US" dirty="0" err="1"/>
              <a:t>trình</a:t>
            </a:r>
            <a:r>
              <a:rPr lang="en-US" dirty="0"/>
              <a:t>) bao </a:t>
            </a:r>
            <a:r>
              <a:rPr lang="en-US" dirty="0" err="1"/>
              <a:t>gồm</a:t>
            </a:r>
            <a:r>
              <a:rPr lang="en-US" dirty="0"/>
              <a:t> 3 </a:t>
            </a:r>
            <a:r>
              <a:rPr lang="en-US" dirty="0" err="1"/>
              <a:t>điều</a:t>
            </a:r>
            <a:r>
              <a:rPr lang="en-US" dirty="0"/>
              <a:t> </a:t>
            </a:r>
            <a:r>
              <a:rPr lang="en-US" dirty="0" err="1"/>
              <a:t>kiện</a:t>
            </a:r>
            <a:r>
              <a:rPr lang="en-US" dirty="0"/>
              <a:t> </a:t>
            </a:r>
            <a:r>
              <a:rPr lang="en-US" dirty="0" err="1"/>
              <a:t>để</a:t>
            </a:r>
            <a:r>
              <a:rPr lang="en-US" dirty="0"/>
              <a:t> </a:t>
            </a:r>
            <a:r>
              <a:rPr lang="en-US" dirty="0" err="1"/>
              <a:t>thỏa</a:t>
            </a:r>
            <a:r>
              <a:rPr lang="en-US" dirty="0"/>
              <a:t> </a:t>
            </a:r>
            <a:r>
              <a:rPr lang="en-US" dirty="0" err="1"/>
              <a:t>là</a:t>
            </a:r>
            <a:r>
              <a:rPr lang="en-US" dirty="0"/>
              <a:t>:</a:t>
            </a:r>
          </a:p>
          <a:p>
            <a:r>
              <a:rPr lang="en-US" dirty="0"/>
              <a:t>+ Mutual exclusion: </a:t>
            </a:r>
            <a:r>
              <a:rPr lang="en-US" dirty="0" err="1"/>
              <a:t>tránh</a:t>
            </a:r>
            <a:r>
              <a:rPr lang="en-US" dirty="0"/>
              <a:t> </a:t>
            </a:r>
            <a:r>
              <a:rPr lang="en-US" dirty="0" err="1"/>
              <a:t>bị</a:t>
            </a:r>
            <a:r>
              <a:rPr lang="en-US" dirty="0"/>
              <a:t> race condition </a:t>
            </a:r>
            <a:r>
              <a:rPr lang="en-US" dirty="0" err="1"/>
              <a:t>dẫn</a:t>
            </a:r>
            <a:r>
              <a:rPr lang="en-US" dirty="0"/>
              <a:t> </a:t>
            </a:r>
            <a:r>
              <a:rPr lang="en-US" dirty="0" err="1"/>
              <a:t>tới</a:t>
            </a:r>
            <a:r>
              <a:rPr lang="en-US" dirty="0"/>
              <a:t> </a:t>
            </a:r>
            <a:r>
              <a:rPr lang="en-US" dirty="0" err="1"/>
              <a:t>kq</a:t>
            </a:r>
            <a:r>
              <a:rPr lang="en-US" dirty="0"/>
              <a:t> </a:t>
            </a:r>
            <a:r>
              <a:rPr lang="en-US" dirty="0" err="1"/>
              <a:t>sai</a:t>
            </a:r>
            <a:endParaRPr lang="en-US" dirty="0"/>
          </a:p>
          <a:p>
            <a:r>
              <a:rPr lang="en-US" dirty="0"/>
              <a:t> P1 </a:t>
            </a:r>
            <a:r>
              <a:rPr lang="en-US" dirty="0" err="1"/>
              <a:t>đang</a:t>
            </a:r>
            <a:r>
              <a:rPr lang="en-US" dirty="0"/>
              <a:t> </a:t>
            </a:r>
            <a:r>
              <a:rPr lang="en-US" dirty="0" err="1"/>
              <a:t>trong</a:t>
            </a:r>
            <a:r>
              <a:rPr lang="en-US" dirty="0"/>
              <a:t> critical section </a:t>
            </a:r>
            <a:r>
              <a:rPr lang="en-US" dirty="0" err="1"/>
              <a:t>thì</a:t>
            </a:r>
            <a:r>
              <a:rPr lang="en-US" dirty="0"/>
              <a:t> P2 </a:t>
            </a:r>
            <a:r>
              <a:rPr lang="en-US" dirty="0" err="1"/>
              <a:t>phải</a:t>
            </a:r>
            <a:r>
              <a:rPr lang="en-US" dirty="0"/>
              <a:t> </a:t>
            </a:r>
            <a:r>
              <a:rPr lang="en-US" dirty="0" err="1"/>
              <a:t>đợi</a:t>
            </a:r>
            <a:r>
              <a:rPr lang="en-US" dirty="0"/>
              <a:t> P1 </a:t>
            </a:r>
            <a:r>
              <a:rPr lang="en-US" dirty="0" err="1"/>
              <a:t>xong</a:t>
            </a:r>
            <a:r>
              <a:rPr lang="en-US" dirty="0"/>
              <a:t> </a:t>
            </a:r>
            <a:r>
              <a:rPr lang="en-US" dirty="0" err="1"/>
              <a:t>thì</a:t>
            </a:r>
            <a:r>
              <a:rPr lang="en-US" dirty="0"/>
              <a:t> P2 </a:t>
            </a:r>
            <a:r>
              <a:rPr lang="en-US" dirty="0" err="1"/>
              <a:t>mới</a:t>
            </a:r>
            <a:r>
              <a:rPr lang="en-US" dirty="0"/>
              <a:t> dc </a:t>
            </a:r>
            <a:r>
              <a:rPr lang="en-US" dirty="0" err="1"/>
              <a:t>vào</a:t>
            </a:r>
            <a:endParaRPr lang="en-US" dirty="0"/>
          </a:p>
          <a:p>
            <a:endParaRPr lang="en-US" dirty="0"/>
          </a:p>
          <a:p>
            <a:r>
              <a:rPr lang="en-US" dirty="0"/>
              <a:t>+ Progress: </a:t>
            </a:r>
            <a:r>
              <a:rPr lang="en-US" dirty="0" err="1"/>
              <a:t>tránh</a:t>
            </a:r>
            <a:r>
              <a:rPr lang="en-US" dirty="0"/>
              <a:t> </a:t>
            </a:r>
            <a:r>
              <a:rPr lang="en-US" dirty="0" err="1"/>
              <a:t>hệ</a:t>
            </a:r>
            <a:r>
              <a:rPr lang="en-US" dirty="0"/>
              <a:t> </a:t>
            </a:r>
            <a:r>
              <a:rPr lang="en-US" dirty="0" err="1"/>
              <a:t>thống</a:t>
            </a:r>
            <a:r>
              <a:rPr lang="en-US" dirty="0"/>
              <a:t> </a:t>
            </a:r>
            <a:r>
              <a:rPr lang="en-US" dirty="0" err="1"/>
              <a:t>bị</a:t>
            </a:r>
            <a:r>
              <a:rPr lang="en-US" dirty="0"/>
              <a:t> </a:t>
            </a:r>
            <a:r>
              <a:rPr lang="en-US" dirty="0" err="1"/>
              <a:t>đứng</a:t>
            </a:r>
            <a:r>
              <a:rPr lang="en-US" dirty="0"/>
              <a:t> </a:t>
            </a:r>
            <a:r>
              <a:rPr lang="en-US" dirty="0" err="1"/>
              <a:t>yên</a:t>
            </a:r>
            <a:r>
              <a:rPr lang="en-US" dirty="0"/>
              <a:t> </a:t>
            </a:r>
            <a:r>
              <a:rPr lang="en-US" dirty="0" err="1"/>
              <a:t>vì</a:t>
            </a:r>
            <a:r>
              <a:rPr lang="en-US" dirty="0"/>
              <a:t> ko </a:t>
            </a:r>
            <a:r>
              <a:rPr lang="en-US" dirty="0" err="1"/>
              <a:t>có</a:t>
            </a:r>
            <a:r>
              <a:rPr lang="en-US" dirty="0"/>
              <a:t> process</a:t>
            </a:r>
          </a:p>
          <a:p>
            <a:r>
              <a:rPr lang="en-US" dirty="0" err="1"/>
              <a:t>Nếu</a:t>
            </a:r>
            <a:r>
              <a:rPr lang="en-US" dirty="0"/>
              <a:t> </a:t>
            </a:r>
            <a:r>
              <a:rPr lang="en-US" dirty="0" err="1"/>
              <a:t>không</a:t>
            </a:r>
            <a:r>
              <a:rPr lang="en-US" dirty="0"/>
              <a:t> </a:t>
            </a:r>
            <a:r>
              <a:rPr lang="en-US" dirty="0" err="1"/>
              <a:t>có</a:t>
            </a:r>
            <a:r>
              <a:rPr lang="en-US" dirty="0"/>
              <a:t> process </a:t>
            </a:r>
            <a:r>
              <a:rPr lang="en-US" dirty="0" err="1"/>
              <a:t>nào</a:t>
            </a:r>
            <a:r>
              <a:rPr lang="en-US" dirty="0"/>
              <a:t> </a:t>
            </a:r>
            <a:r>
              <a:rPr lang="en-US" dirty="0" err="1"/>
              <a:t>đang</a:t>
            </a:r>
            <a:r>
              <a:rPr lang="en-US" dirty="0"/>
              <a:t> ở </a:t>
            </a:r>
            <a:r>
              <a:rPr lang="en-US" dirty="0" err="1"/>
              <a:t>trong</a:t>
            </a:r>
            <a:r>
              <a:rPr lang="en-US" dirty="0"/>
              <a:t> critical section, </a:t>
            </a:r>
            <a:r>
              <a:rPr lang="en-US" dirty="0" err="1"/>
              <a:t>và</a:t>
            </a:r>
            <a:r>
              <a:rPr lang="en-US" dirty="0"/>
              <a:t> </a:t>
            </a:r>
            <a:r>
              <a:rPr lang="en-US" dirty="0" err="1"/>
              <a:t>có</a:t>
            </a:r>
            <a:r>
              <a:rPr lang="en-US" dirty="0"/>
              <a:t> </a:t>
            </a:r>
            <a:r>
              <a:rPr lang="en-US" dirty="0" err="1"/>
              <a:t>một</a:t>
            </a:r>
            <a:r>
              <a:rPr lang="en-US" dirty="0"/>
              <a:t> </a:t>
            </a:r>
            <a:r>
              <a:rPr lang="en-US" dirty="0" err="1"/>
              <a:t>số</a:t>
            </a:r>
            <a:r>
              <a:rPr lang="en-US" dirty="0"/>
              <a:t> process </a:t>
            </a:r>
            <a:r>
              <a:rPr lang="en-US" dirty="0" err="1"/>
              <a:t>muốn</a:t>
            </a:r>
            <a:r>
              <a:rPr lang="en-US" dirty="0"/>
              <a:t> </a:t>
            </a:r>
            <a:r>
              <a:rPr lang="en-US" dirty="0" err="1"/>
              <a:t>vào</a:t>
            </a:r>
            <a:r>
              <a:rPr lang="en-US" dirty="0"/>
              <a:t>, </a:t>
            </a:r>
            <a:r>
              <a:rPr lang="en-US" dirty="0" err="1"/>
              <a:t>thì</a:t>
            </a:r>
            <a:r>
              <a:rPr lang="en-US" dirty="0"/>
              <a:t> </a:t>
            </a:r>
            <a:r>
              <a:rPr lang="en-US" dirty="0" err="1"/>
              <a:t>hệ</a:t>
            </a:r>
            <a:r>
              <a:rPr lang="en-US" dirty="0"/>
              <a:t> </a:t>
            </a:r>
            <a:r>
              <a:rPr lang="en-US" dirty="0" err="1"/>
              <a:t>thống</a:t>
            </a:r>
            <a:r>
              <a:rPr lang="en-US" dirty="0"/>
              <a:t> </a:t>
            </a:r>
            <a:r>
              <a:rPr lang="en-US" dirty="0" err="1"/>
              <a:t>phải</a:t>
            </a:r>
            <a:r>
              <a:rPr lang="en-US" dirty="0"/>
              <a:t> </a:t>
            </a:r>
            <a:r>
              <a:rPr lang="en-US" dirty="0" err="1"/>
              <a:t>quyết</a:t>
            </a:r>
            <a:r>
              <a:rPr lang="en-US" dirty="0"/>
              <a:t> </a:t>
            </a:r>
            <a:r>
              <a:rPr lang="en-US" dirty="0" err="1"/>
              <a:t>định</a:t>
            </a:r>
            <a:r>
              <a:rPr lang="en-US" dirty="0"/>
              <a:t> process </a:t>
            </a:r>
            <a:r>
              <a:rPr lang="en-US" dirty="0" err="1"/>
              <a:t>nào</a:t>
            </a:r>
            <a:r>
              <a:rPr lang="en-US" dirty="0"/>
              <a:t> </a:t>
            </a:r>
            <a:r>
              <a:rPr lang="en-US" dirty="0" err="1"/>
              <a:t>được</a:t>
            </a:r>
            <a:r>
              <a:rPr lang="en-US" dirty="0"/>
              <a:t> </a:t>
            </a:r>
            <a:r>
              <a:rPr lang="en-US" dirty="0" err="1"/>
              <a:t>vào</a:t>
            </a:r>
            <a:r>
              <a:rPr lang="en-US" dirty="0"/>
              <a:t> </a:t>
            </a:r>
            <a:r>
              <a:rPr lang="en-US" dirty="0" err="1"/>
              <a:t>tiếp</a:t>
            </a:r>
            <a:r>
              <a:rPr lang="en-US" dirty="0"/>
              <a:t> </a:t>
            </a:r>
            <a:r>
              <a:rPr lang="en-US" dirty="0" err="1"/>
              <a:t>theo.</a:t>
            </a:r>
            <a:r>
              <a:rPr lang="en-US" dirty="0"/>
              <a:t> </a:t>
            </a:r>
            <a:r>
              <a:rPr lang="en-US" dirty="0" err="1"/>
              <a:t>Quyết</a:t>
            </a:r>
            <a:r>
              <a:rPr lang="en-US" dirty="0"/>
              <a:t> </a:t>
            </a:r>
            <a:r>
              <a:rPr lang="en-US" dirty="0" err="1"/>
              <a:t>định</a:t>
            </a:r>
            <a:r>
              <a:rPr lang="en-US" dirty="0"/>
              <a:t> </a:t>
            </a:r>
            <a:r>
              <a:rPr lang="en-US" dirty="0" err="1"/>
              <a:t>đó</a:t>
            </a:r>
            <a:r>
              <a:rPr lang="en-US" dirty="0"/>
              <a:t> </a:t>
            </a:r>
            <a:r>
              <a:rPr lang="en-US" dirty="0" err="1"/>
              <a:t>không</a:t>
            </a:r>
            <a:r>
              <a:rPr lang="en-US" dirty="0"/>
              <a:t> </a:t>
            </a:r>
            <a:r>
              <a:rPr lang="en-US" dirty="0" err="1"/>
              <a:t>được</a:t>
            </a:r>
            <a:r>
              <a:rPr lang="en-US" dirty="0"/>
              <a:t> </a:t>
            </a:r>
            <a:r>
              <a:rPr lang="en-US" dirty="0" err="1"/>
              <a:t>trì</a:t>
            </a:r>
            <a:r>
              <a:rPr lang="en-US" dirty="0"/>
              <a:t> </a:t>
            </a:r>
            <a:r>
              <a:rPr lang="en-US" dirty="0" err="1"/>
              <a:t>hoãn</a:t>
            </a:r>
            <a:r>
              <a:rPr lang="en-US" dirty="0"/>
              <a:t> </a:t>
            </a:r>
            <a:r>
              <a:rPr lang="en-US" dirty="0" err="1"/>
              <a:t>mãi</a:t>
            </a:r>
            <a:r>
              <a:rPr lang="en-US" dirty="0"/>
              <a:t> </a:t>
            </a:r>
            <a:r>
              <a:rPr lang="en-US" dirty="0" err="1"/>
              <a:t>mãi</a:t>
            </a:r>
            <a:r>
              <a:rPr lang="en-US" dirty="0"/>
              <a:t>.</a:t>
            </a:r>
          </a:p>
          <a:p>
            <a:endParaRPr lang="en-US" dirty="0"/>
          </a:p>
          <a:p>
            <a:r>
              <a:rPr lang="en-US" dirty="0"/>
              <a:t>+ </a:t>
            </a:r>
            <a:r>
              <a:rPr lang="en-US" dirty="0" err="1"/>
              <a:t>Bouned</a:t>
            </a:r>
            <a:r>
              <a:rPr lang="en-US" dirty="0"/>
              <a:t> Waiting:</a:t>
            </a:r>
          </a:p>
          <a:p>
            <a:r>
              <a:rPr lang="en-US" dirty="0" err="1"/>
              <a:t>Một</a:t>
            </a:r>
            <a:r>
              <a:rPr lang="en-US" dirty="0"/>
              <a:t> process </a:t>
            </a:r>
            <a:r>
              <a:rPr lang="en-US" dirty="0" err="1"/>
              <a:t>đang</a:t>
            </a:r>
            <a:r>
              <a:rPr lang="en-US" dirty="0"/>
              <a:t> </a:t>
            </a:r>
            <a:r>
              <a:rPr lang="en-US" dirty="0" err="1"/>
              <a:t>chờ</a:t>
            </a:r>
            <a:r>
              <a:rPr lang="en-US" dirty="0"/>
              <a:t> </a:t>
            </a:r>
            <a:r>
              <a:rPr lang="en-US" dirty="0" err="1"/>
              <a:t>vào</a:t>
            </a:r>
            <a:r>
              <a:rPr lang="en-US" dirty="0"/>
              <a:t> critical section </a:t>
            </a:r>
            <a:r>
              <a:rPr lang="en-US" dirty="0" err="1"/>
              <a:t>thì</a:t>
            </a:r>
            <a:r>
              <a:rPr lang="en-US" dirty="0"/>
              <a:t> </a:t>
            </a:r>
            <a:r>
              <a:rPr lang="en-US" dirty="0" err="1"/>
              <a:t>không</a:t>
            </a:r>
            <a:r>
              <a:rPr lang="en-US" dirty="0"/>
              <a:t> </a:t>
            </a:r>
            <a:r>
              <a:rPr lang="en-US" dirty="0" err="1"/>
              <a:t>được</a:t>
            </a:r>
            <a:r>
              <a:rPr lang="en-US" dirty="0"/>
              <a:t> </a:t>
            </a:r>
            <a:r>
              <a:rPr lang="en-US" dirty="0" err="1"/>
              <a:t>chờ</a:t>
            </a:r>
            <a:r>
              <a:rPr lang="en-US" dirty="0"/>
              <a:t> </a:t>
            </a:r>
            <a:r>
              <a:rPr lang="en-US" dirty="0" err="1"/>
              <a:t>vô</a:t>
            </a:r>
            <a:r>
              <a:rPr lang="en-US" dirty="0"/>
              <a:t> </a:t>
            </a:r>
            <a:r>
              <a:rPr lang="en-US" dirty="0" err="1"/>
              <a:t>hạn</a:t>
            </a:r>
            <a:r>
              <a:rPr lang="en-US" dirty="0"/>
              <a:t>. </a:t>
            </a:r>
            <a:r>
              <a:rPr lang="en-US" dirty="0" err="1"/>
              <a:t>Phải</a:t>
            </a:r>
            <a:r>
              <a:rPr lang="en-US" dirty="0"/>
              <a:t> </a:t>
            </a:r>
            <a:r>
              <a:rPr lang="en-US" dirty="0" err="1"/>
              <a:t>có</a:t>
            </a:r>
            <a:r>
              <a:rPr lang="en-US" dirty="0"/>
              <a:t> </a:t>
            </a:r>
            <a:r>
              <a:rPr lang="en-US" dirty="0" err="1"/>
              <a:t>giới</a:t>
            </a:r>
            <a:r>
              <a:rPr lang="en-US" dirty="0"/>
              <a:t> </a:t>
            </a:r>
            <a:r>
              <a:rPr lang="en-US" dirty="0" err="1"/>
              <a:t>hạn</a:t>
            </a:r>
            <a:r>
              <a:rPr lang="en-US" dirty="0"/>
              <a:t> </a:t>
            </a:r>
            <a:r>
              <a:rPr lang="en-US" dirty="0" err="1"/>
              <a:t>số</a:t>
            </a:r>
            <a:r>
              <a:rPr lang="en-US" dirty="0"/>
              <a:t> </a:t>
            </a:r>
            <a:r>
              <a:rPr lang="en-US" dirty="0" err="1"/>
              <a:t>lần</a:t>
            </a:r>
            <a:r>
              <a:rPr lang="en-US" dirty="0"/>
              <a:t> </a:t>
            </a:r>
            <a:r>
              <a:rPr lang="en-US" dirty="0" err="1"/>
              <a:t>các</a:t>
            </a:r>
            <a:r>
              <a:rPr lang="en-US" dirty="0"/>
              <a:t> process </a:t>
            </a:r>
            <a:r>
              <a:rPr lang="en-US" dirty="0" err="1"/>
              <a:t>khác</a:t>
            </a:r>
            <a:r>
              <a:rPr lang="en-US" dirty="0"/>
              <a:t> </a:t>
            </a:r>
            <a:r>
              <a:rPr lang="en-US" dirty="0" err="1"/>
              <a:t>được</a:t>
            </a:r>
            <a:r>
              <a:rPr lang="en-US" dirty="0"/>
              <a:t> </a:t>
            </a:r>
            <a:r>
              <a:rPr lang="en-US" dirty="0" err="1"/>
              <a:t>vào</a:t>
            </a:r>
            <a:r>
              <a:rPr lang="en-US" dirty="0"/>
              <a:t> </a:t>
            </a:r>
            <a:r>
              <a:rPr lang="en-US" dirty="0" err="1"/>
              <a:t>trước</a:t>
            </a:r>
            <a:r>
              <a:rPr lang="en-US" dirty="0"/>
              <a:t> </a:t>
            </a:r>
            <a:r>
              <a:rPr lang="en-US" dirty="0" err="1"/>
              <a:t>nó</a:t>
            </a:r>
            <a:r>
              <a:rPr lang="en-US" dirty="0"/>
              <a:t>.</a:t>
            </a:r>
          </a:p>
          <a:p>
            <a:endParaRPr lang="en-US" dirty="0"/>
          </a:p>
          <a:p>
            <a:r>
              <a:rPr lang="en-US" dirty="0"/>
              <a:t>P1 </a:t>
            </a:r>
            <a:r>
              <a:rPr lang="en-US" dirty="0" err="1"/>
              <a:t>muốn</a:t>
            </a:r>
            <a:r>
              <a:rPr lang="en-US" dirty="0"/>
              <a:t> </a:t>
            </a:r>
            <a:r>
              <a:rPr lang="en-US" dirty="0" err="1"/>
              <a:t>vào</a:t>
            </a:r>
            <a:r>
              <a:rPr lang="en-US" dirty="0"/>
              <a:t> critical section</a:t>
            </a:r>
          </a:p>
          <a:p>
            <a:r>
              <a:rPr lang="en-US" dirty="0"/>
              <a:t>P1 </a:t>
            </a:r>
            <a:r>
              <a:rPr lang="en-US" dirty="0" err="1"/>
              <a:t>đang</a:t>
            </a:r>
            <a:r>
              <a:rPr lang="en-US" dirty="0"/>
              <a:t> </a:t>
            </a:r>
            <a:r>
              <a:rPr lang="en-US" dirty="0" err="1"/>
              <a:t>chờ</a:t>
            </a:r>
            <a:endParaRPr lang="en-US" dirty="0"/>
          </a:p>
          <a:p>
            <a:r>
              <a:rPr lang="en-US" dirty="0"/>
              <a:t>P2 </a:t>
            </a:r>
            <a:r>
              <a:rPr lang="en-US" dirty="0" err="1"/>
              <a:t>vào</a:t>
            </a:r>
            <a:endParaRPr lang="en-US" dirty="0"/>
          </a:p>
          <a:p>
            <a:r>
              <a:rPr lang="en-US" dirty="0"/>
              <a:t>P3 </a:t>
            </a:r>
            <a:r>
              <a:rPr lang="en-US" dirty="0" err="1"/>
              <a:t>vào</a:t>
            </a:r>
            <a:endParaRPr lang="en-US" dirty="0"/>
          </a:p>
          <a:p>
            <a:r>
              <a:rPr lang="en-US" dirty="0"/>
              <a:t>P2 </a:t>
            </a:r>
            <a:r>
              <a:rPr lang="en-US" dirty="0" err="1"/>
              <a:t>vào</a:t>
            </a:r>
            <a:r>
              <a:rPr lang="en-US" dirty="0"/>
              <a:t> </a:t>
            </a:r>
            <a:r>
              <a:rPr lang="en-US" dirty="0" err="1"/>
              <a:t>lại</a:t>
            </a:r>
            <a:endParaRPr lang="en-US" dirty="0"/>
          </a:p>
          <a:p>
            <a:r>
              <a:rPr lang="en-US" dirty="0"/>
              <a:t>P3 </a:t>
            </a:r>
            <a:r>
              <a:rPr lang="en-US" dirty="0" err="1"/>
              <a:t>vào</a:t>
            </a:r>
            <a:r>
              <a:rPr lang="en-US" dirty="0"/>
              <a:t> </a:t>
            </a:r>
            <a:r>
              <a:rPr lang="en-US" dirty="0" err="1"/>
              <a:t>lại</a:t>
            </a:r>
            <a:endParaRPr lang="en-US" dirty="0"/>
          </a:p>
          <a:p>
            <a:r>
              <a:rPr lang="en-US" dirty="0"/>
              <a:t>... =&gt; ko </a:t>
            </a:r>
            <a:r>
              <a:rPr lang="en-US" dirty="0" err="1"/>
              <a:t>có</a:t>
            </a:r>
            <a:r>
              <a:rPr lang="en-US" dirty="0"/>
              <a:t> Bounded Waiting </a:t>
            </a:r>
            <a:r>
              <a:rPr lang="en-US" dirty="0" err="1"/>
              <a:t>thì</a:t>
            </a:r>
            <a:r>
              <a:rPr lang="en-US" dirty="0"/>
              <a:t> P1 </a:t>
            </a:r>
            <a:r>
              <a:rPr lang="en-US" dirty="0" err="1"/>
              <a:t>bị</a:t>
            </a:r>
            <a:r>
              <a:rPr lang="en-US" dirty="0"/>
              <a:t> </a:t>
            </a:r>
            <a:r>
              <a:rPr lang="en-US" dirty="0" err="1"/>
              <a:t>bỏ</a:t>
            </a:r>
            <a:r>
              <a:rPr lang="en-US" dirty="0"/>
              <a:t> qua</a:t>
            </a:r>
          </a:p>
          <a:p>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7</a:t>
            </a:fld>
            <a:endParaRPr lang="en-US"/>
          </a:p>
        </p:txBody>
      </p:sp>
    </p:spTree>
    <p:extLst>
      <p:ext uri="{BB962C8B-B14F-4D97-AF65-F5344CB8AC3E}">
        <p14:creationId xmlns:p14="http://schemas.microsoft.com/office/powerpoint/2010/main" val="3105741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Thuật</a:t>
            </a:r>
            <a:r>
              <a:rPr lang="en-US" dirty="0"/>
              <a:t> </a:t>
            </a:r>
            <a:r>
              <a:rPr lang="en-US" dirty="0" err="1"/>
              <a:t>toán</a:t>
            </a:r>
            <a:r>
              <a:rPr lang="en-US" dirty="0"/>
              <a:t> </a:t>
            </a:r>
            <a:r>
              <a:rPr lang="en-US" dirty="0" err="1"/>
              <a:t>này</a:t>
            </a:r>
            <a:r>
              <a:rPr lang="en-US" dirty="0"/>
              <a:t> </a:t>
            </a:r>
            <a:r>
              <a:rPr lang="en-US" dirty="0" err="1"/>
              <a:t>đảm</a:t>
            </a:r>
            <a:r>
              <a:rPr lang="en-US" dirty="0"/>
              <a:t> </a:t>
            </a:r>
            <a:r>
              <a:rPr lang="en-US" dirty="0" err="1"/>
              <a:t>bảo</a:t>
            </a:r>
            <a:r>
              <a:rPr lang="en-US" dirty="0"/>
              <a:t> Mutual exclusion =&gt; </a:t>
            </a:r>
            <a:r>
              <a:rPr lang="en-US" dirty="0" err="1"/>
              <a:t>chỉ</a:t>
            </a:r>
            <a:r>
              <a:rPr lang="en-US" dirty="0"/>
              <a:t> </a:t>
            </a:r>
            <a:r>
              <a:rPr lang="en-US" dirty="0" err="1"/>
              <a:t>có</a:t>
            </a:r>
            <a:r>
              <a:rPr lang="en-US" dirty="0"/>
              <a:t> 1 process </a:t>
            </a:r>
            <a:r>
              <a:rPr lang="en-US" dirty="0" err="1"/>
              <a:t>được</a:t>
            </a:r>
            <a:r>
              <a:rPr lang="en-US" dirty="0"/>
              <a:t> </a:t>
            </a:r>
            <a:r>
              <a:rPr lang="en-US" dirty="0" err="1"/>
              <a:t>vào</a:t>
            </a:r>
            <a:r>
              <a:rPr lang="en-US" dirty="0"/>
              <a:t> Critical Section</a:t>
            </a:r>
          </a:p>
          <a:p>
            <a:endParaRPr lang="en-US" dirty="0"/>
          </a:p>
          <a:p>
            <a:r>
              <a:rPr lang="en-US" dirty="0"/>
              <a:t>X: violate Progress rule</a:t>
            </a:r>
          </a:p>
          <a:p>
            <a:r>
              <a:rPr lang="en-US" dirty="0"/>
              <a:t>P0 </a:t>
            </a:r>
            <a:r>
              <a:rPr lang="en-US" dirty="0" err="1"/>
              <a:t>vào</a:t>
            </a:r>
            <a:r>
              <a:rPr lang="en-US" dirty="0"/>
              <a:t> Critical Section </a:t>
            </a:r>
            <a:r>
              <a:rPr lang="en-US" dirty="0" err="1"/>
              <a:t>và</a:t>
            </a:r>
            <a:r>
              <a:rPr lang="en-US" dirty="0"/>
              <a:t> </a:t>
            </a:r>
            <a:r>
              <a:rPr lang="en-US" dirty="0" err="1"/>
              <a:t>đổi</a:t>
            </a:r>
            <a:r>
              <a:rPr lang="en-US" dirty="0"/>
              <a:t> </a:t>
            </a:r>
            <a:r>
              <a:rPr lang="en-US" dirty="0" err="1"/>
              <a:t>lượt</a:t>
            </a:r>
            <a:r>
              <a:rPr lang="en-US" dirty="0"/>
              <a:t> </a:t>
            </a:r>
            <a:r>
              <a:rPr lang="en-US" dirty="0" err="1"/>
              <a:t>cho</a:t>
            </a:r>
            <a:r>
              <a:rPr lang="en-US" dirty="0"/>
              <a:t> P1, </a:t>
            </a:r>
            <a:r>
              <a:rPr lang="en-US" dirty="0" err="1"/>
              <a:t>nhưng</a:t>
            </a:r>
            <a:r>
              <a:rPr lang="en-US" dirty="0"/>
              <a:t> P1 </a:t>
            </a:r>
            <a:r>
              <a:rPr lang="en-US" dirty="0" err="1"/>
              <a:t>giả</a:t>
            </a:r>
            <a:r>
              <a:rPr lang="en-US" dirty="0"/>
              <a:t> </a:t>
            </a:r>
            <a:r>
              <a:rPr lang="en-US" dirty="0" err="1"/>
              <a:t>sử</a:t>
            </a:r>
            <a:r>
              <a:rPr lang="en-US" dirty="0"/>
              <a:t> ko </a:t>
            </a:r>
            <a:r>
              <a:rPr lang="en-US" dirty="0" err="1"/>
              <a:t>muốn</a:t>
            </a:r>
            <a:r>
              <a:rPr lang="en-US" dirty="0"/>
              <a:t> </a:t>
            </a:r>
            <a:r>
              <a:rPr lang="en-US" dirty="0" err="1"/>
              <a:t>vào</a:t>
            </a:r>
            <a:r>
              <a:rPr lang="en-US" dirty="0"/>
              <a:t> =&gt; ko ai </a:t>
            </a:r>
            <a:r>
              <a:rPr lang="en-US" dirty="0" err="1"/>
              <a:t>đổi</a:t>
            </a:r>
            <a:r>
              <a:rPr lang="en-US" dirty="0"/>
              <a:t> turn=0 </a:t>
            </a:r>
            <a:r>
              <a:rPr lang="en-US" dirty="0" err="1"/>
              <a:t>để</a:t>
            </a:r>
            <a:r>
              <a:rPr lang="en-US" dirty="0"/>
              <a:t> P0 </a:t>
            </a:r>
            <a:r>
              <a:rPr lang="en-US" dirty="0" err="1"/>
              <a:t>có</a:t>
            </a:r>
            <a:r>
              <a:rPr lang="en-US" dirty="0"/>
              <a:t> </a:t>
            </a:r>
            <a:r>
              <a:rPr lang="en-US" dirty="0" err="1"/>
              <a:t>thể</a:t>
            </a:r>
            <a:r>
              <a:rPr lang="en-US" dirty="0"/>
              <a:t> </a:t>
            </a:r>
            <a:r>
              <a:rPr lang="en-US" dirty="0" err="1"/>
              <a:t>vào</a:t>
            </a:r>
            <a:r>
              <a:rPr lang="en-US" dirty="0"/>
              <a:t> </a:t>
            </a:r>
            <a:r>
              <a:rPr lang="en-US" dirty="0" err="1"/>
              <a:t>lại</a:t>
            </a:r>
            <a:endParaRPr lang="en-US" dirty="0"/>
          </a:p>
          <a:p>
            <a:r>
              <a:rPr lang="en-US" dirty="0"/>
              <a:t>=&gt; P0 </a:t>
            </a:r>
            <a:r>
              <a:rPr lang="en-US" dirty="0" err="1"/>
              <a:t>bị</a:t>
            </a:r>
            <a:r>
              <a:rPr lang="en-US" dirty="0"/>
              <a:t> </a:t>
            </a:r>
            <a:r>
              <a:rPr lang="en-US" dirty="0" err="1"/>
              <a:t>chờ</a:t>
            </a:r>
            <a:r>
              <a:rPr lang="en-US" dirty="0"/>
              <a:t> </a:t>
            </a:r>
            <a:r>
              <a:rPr lang="en-US" dirty="0" err="1"/>
              <a:t>vô</a:t>
            </a:r>
            <a:r>
              <a:rPr lang="en-US" dirty="0"/>
              <a:t> </a:t>
            </a:r>
            <a:r>
              <a:rPr lang="en-US" dirty="0" err="1"/>
              <a:t>lí</a:t>
            </a:r>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8</a:t>
            </a:fld>
            <a:endParaRPr lang="en-US"/>
          </a:p>
        </p:txBody>
      </p:sp>
    </p:spTree>
    <p:extLst>
      <p:ext uri="{BB962C8B-B14F-4D97-AF65-F5344CB8AC3E}">
        <p14:creationId xmlns:p14="http://schemas.microsoft.com/office/powerpoint/2010/main" val="2903141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Thuật</a:t>
            </a:r>
            <a:r>
              <a:rPr lang="en-US" dirty="0"/>
              <a:t> </a:t>
            </a:r>
            <a:r>
              <a:rPr lang="en-US" dirty="0" err="1"/>
              <a:t>toán</a:t>
            </a:r>
            <a:r>
              <a:rPr lang="en-US" dirty="0"/>
              <a:t> </a:t>
            </a:r>
            <a:r>
              <a:rPr lang="en-US" dirty="0" err="1"/>
              <a:t>này</a:t>
            </a:r>
            <a:r>
              <a:rPr lang="en-US" dirty="0"/>
              <a:t> </a:t>
            </a:r>
            <a:r>
              <a:rPr lang="en-US" dirty="0" err="1"/>
              <a:t>bị</a:t>
            </a:r>
            <a:r>
              <a:rPr lang="en-US" dirty="0"/>
              <a:t> Deadlock: </a:t>
            </a:r>
            <a:r>
              <a:rPr lang="en-US" dirty="0" err="1"/>
              <a:t>là</a:t>
            </a:r>
            <a:r>
              <a:rPr lang="en-US" dirty="0"/>
              <a:t> </a:t>
            </a:r>
            <a:r>
              <a:rPr lang="en-US" dirty="0" err="1"/>
              <a:t>cả</a:t>
            </a:r>
            <a:r>
              <a:rPr lang="en-US" dirty="0"/>
              <a:t> 2 process </a:t>
            </a:r>
            <a:r>
              <a:rPr lang="en-US" dirty="0" err="1"/>
              <a:t>bị</a:t>
            </a:r>
            <a:r>
              <a:rPr lang="en-US" dirty="0"/>
              <a:t> </a:t>
            </a:r>
            <a:r>
              <a:rPr lang="en-US" dirty="0" err="1"/>
              <a:t>kẹt</a:t>
            </a:r>
            <a:r>
              <a:rPr lang="en-US" dirty="0"/>
              <a:t> </a:t>
            </a:r>
            <a:r>
              <a:rPr lang="en-US" dirty="0" err="1"/>
              <a:t>vì</a:t>
            </a:r>
            <a:r>
              <a:rPr lang="en-US" dirty="0"/>
              <a:t> </a:t>
            </a:r>
            <a:r>
              <a:rPr lang="en-US" dirty="0" err="1"/>
              <a:t>cứ</a:t>
            </a:r>
            <a:r>
              <a:rPr lang="en-US" dirty="0"/>
              <a:t> </a:t>
            </a:r>
            <a:r>
              <a:rPr lang="en-US" dirty="0" err="1"/>
              <a:t>chờ</a:t>
            </a:r>
            <a:r>
              <a:rPr lang="en-US" dirty="0"/>
              <a:t> </a:t>
            </a:r>
            <a:r>
              <a:rPr lang="en-US" dirty="0" err="1"/>
              <a:t>nhau</a:t>
            </a:r>
            <a:endParaRPr lang="en-US" dirty="0"/>
          </a:p>
          <a:p>
            <a:r>
              <a:rPr lang="en-US" dirty="0"/>
              <a:t>P1 </a:t>
            </a:r>
            <a:r>
              <a:rPr lang="en-US" dirty="0" err="1"/>
              <a:t>muốn</a:t>
            </a:r>
            <a:r>
              <a:rPr lang="en-US" dirty="0"/>
              <a:t> </a:t>
            </a:r>
            <a:r>
              <a:rPr lang="en-US" dirty="0" err="1"/>
              <a:t>vào</a:t>
            </a:r>
            <a:r>
              <a:rPr lang="en-US" dirty="0"/>
              <a:t> flag[1] = true, </a:t>
            </a:r>
            <a:r>
              <a:rPr lang="en-US" dirty="0" err="1"/>
              <a:t>và</a:t>
            </a:r>
            <a:r>
              <a:rPr lang="en-US" dirty="0"/>
              <a:t> P0 </a:t>
            </a:r>
            <a:r>
              <a:rPr lang="en-US" dirty="0" err="1"/>
              <a:t>tương</a:t>
            </a:r>
            <a:r>
              <a:rPr lang="en-US" dirty="0"/>
              <a:t> </a:t>
            </a:r>
            <a:r>
              <a:rPr lang="en-US" dirty="0" err="1"/>
              <a:t>tự</a:t>
            </a:r>
            <a:r>
              <a:rPr lang="en-US" dirty="0"/>
              <a:t> </a:t>
            </a:r>
            <a:r>
              <a:rPr lang="en-US" dirty="0" err="1"/>
              <a:t>và</a:t>
            </a:r>
            <a:r>
              <a:rPr lang="en-US" dirty="0"/>
              <a:t> </a:t>
            </a:r>
            <a:r>
              <a:rPr lang="en-US" dirty="0" err="1"/>
              <a:t>cả</a:t>
            </a:r>
            <a:r>
              <a:rPr lang="en-US" dirty="0"/>
              <a:t> 2 </a:t>
            </a:r>
            <a:r>
              <a:rPr lang="en-US" dirty="0" err="1"/>
              <a:t>nhường</a:t>
            </a:r>
            <a:r>
              <a:rPr lang="en-US" dirty="0"/>
              <a:t> </a:t>
            </a:r>
            <a:r>
              <a:rPr lang="en-US" dirty="0" err="1"/>
              <a:t>nhau</a:t>
            </a:r>
            <a:r>
              <a:rPr lang="en-US" dirty="0"/>
              <a:t> </a:t>
            </a:r>
            <a:r>
              <a:rPr lang="en-US" dirty="0" err="1"/>
              <a:t>để</a:t>
            </a:r>
            <a:r>
              <a:rPr lang="en-US" dirty="0"/>
              <a:t> </a:t>
            </a:r>
            <a:r>
              <a:rPr lang="en-US" dirty="0" err="1"/>
              <a:t>vào</a:t>
            </a:r>
            <a:r>
              <a:rPr lang="en-US" dirty="0"/>
              <a:t> critical section</a:t>
            </a:r>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9</a:t>
            </a:fld>
            <a:endParaRPr lang="en-US"/>
          </a:p>
        </p:txBody>
      </p:sp>
    </p:spTree>
    <p:extLst>
      <p:ext uri="{BB962C8B-B14F-4D97-AF65-F5344CB8AC3E}">
        <p14:creationId xmlns:p14="http://schemas.microsoft.com/office/powerpoint/2010/main" val="2271014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Process </a:t>
            </a:r>
            <a:r>
              <a:rPr lang="en-US" dirty="0" err="1"/>
              <a:t>muốn</a:t>
            </a:r>
            <a:r>
              <a:rPr lang="en-US" dirty="0"/>
              <a:t> </a:t>
            </a:r>
            <a:r>
              <a:rPr lang="en-US" dirty="0" err="1"/>
              <a:t>vào</a:t>
            </a:r>
            <a:r>
              <a:rPr lang="en-US" dirty="0"/>
              <a:t> Critical Section </a:t>
            </a:r>
            <a:r>
              <a:rPr lang="en-US" dirty="0" err="1"/>
              <a:t>thì</a:t>
            </a:r>
            <a:r>
              <a:rPr lang="en-US" dirty="0"/>
              <a:t> </a:t>
            </a:r>
            <a:r>
              <a:rPr lang="en-US" dirty="0" err="1"/>
              <a:t>nó</a:t>
            </a:r>
            <a:r>
              <a:rPr lang="en-US" dirty="0"/>
              <a:t> </a:t>
            </a:r>
            <a:r>
              <a:rPr lang="en-US" dirty="0" err="1"/>
              <a:t>sẽ</a:t>
            </a:r>
            <a:r>
              <a:rPr lang="en-US" dirty="0"/>
              <a:t> </a:t>
            </a:r>
            <a:r>
              <a:rPr lang="en-US" dirty="0" err="1"/>
              <a:t>nhường</a:t>
            </a:r>
            <a:r>
              <a:rPr lang="en-US" dirty="0"/>
              <a:t> </a:t>
            </a:r>
            <a:r>
              <a:rPr lang="en-US" dirty="0" err="1"/>
              <a:t>cho</a:t>
            </a:r>
            <a:r>
              <a:rPr lang="en-US" dirty="0"/>
              <a:t> Process </a:t>
            </a:r>
            <a:r>
              <a:rPr lang="en-US" dirty="0" err="1"/>
              <a:t>còn</a:t>
            </a:r>
            <a:r>
              <a:rPr lang="en-US" dirty="0"/>
              <a:t> </a:t>
            </a:r>
            <a:r>
              <a:rPr lang="en-US" dirty="0" err="1"/>
              <a:t>lại</a:t>
            </a:r>
            <a:r>
              <a:rPr lang="en-US" dirty="0"/>
              <a:t> </a:t>
            </a:r>
            <a:r>
              <a:rPr lang="en-US" dirty="0" err="1"/>
              <a:t>vào</a:t>
            </a:r>
            <a:r>
              <a:rPr lang="en-US" dirty="0"/>
              <a:t> </a:t>
            </a:r>
            <a:r>
              <a:rPr lang="en-US" dirty="0" err="1"/>
              <a:t>trước</a:t>
            </a:r>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10</a:t>
            </a:fld>
            <a:endParaRPr lang="en-US"/>
          </a:p>
        </p:txBody>
      </p:sp>
    </p:spTree>
    <p:extLst>
      <p:ext uri="{BB962C8B-B14F-4D97-AF65-F5344CB8AC3E}">
        <p14:creationId xmlns:p14="http://schemas.microsoft.com/office/powerpoint/2010/main" val="2696187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Preemption : </a:t>
                </a:r>
                <a:r>
                  <a:rPr lang="en-US" dirty="0" err="1"/>
                  <a:t>cho</a:t>
                </a:r>
                <a:r>
                  <a:rPr lang="en-US" dirty="0"/>
                  <a:t> </a:t>
                </a:r>
                <a:r>
                  <a:rPr lang="en-US" dirty="0" err="1"/>
                  <a:t>phép</a:t>
                </a:r>
                <a:r>
                  <a:rPr lang="en-US" dirty="0"/>
                  <a:t> P1 </a:t>
                </a:r>
                <a:r>
                  <a:rPr lang="en-US" dirty="0" err="1"/>
                  <a:t>bị</a:t>
                </a:r>
                <a:r>
                  <a:rPr lang="en-US" dirty="0"/>
                  <a:t> interrupt </a:t>
                </a:r>
                <a:r>
                  <a:rPr lang="en-US" dirty="0" err="1"/>
                  <a:t>khi</a:t>
                </a:r>
                <a:r>
                  <a:rPr lang="en-US" dirty="0"/>
                  <a:t> </a:t>
                </a:r>
                <a:r>
                  <a:rPr lang="en-US" dirty="0" err="1"/>
                  <a:t>đang</a:t>
                </a:r>
                <a:r>
                  <a:rPr lang="en-US" dirty="0"/>
                  <a:t> </a:t>
                </a:r>
                <a:r>
                  <a:rPr lang="en-US" dirty="0" err="1"/>
                  <a:t>chạy</a:t>
                </a:r>
                <a:r>
                  <a:rPr lang="en-US" dirty="0"/>
                  <a:t> kernel mode</a:t>
                </a:r>
              </a:p>
              <a:p>
                <a:r>
                  <a:rPr lang="en-US" dirty="0"/>
                  <a:t>=&gt; Require Synchronization to avoid race condition</a:t>
                </a:r>
              </a:p>
              <a:p>
                <a:br>
                  <a:rPr lang="en-US" dirty="0"/>
                </a:br>
                <a:r>
                  <a:rPr lang="en-US" b="1" dirty="0"/>
                  <a:t>Example</a:t>
                </a:r>
              </a:p>
              <a:p>
                <a:r>
                  <a:rPr lang="en-US" dirty="0"/>
                  <a:t>Suppose Process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𝑃</m:t>
                        </m:r>
                      </m:e>
                      <m:sub>
                        <m:r>
                          <a:rPr lang="en-US" sz="1200" i="0" kern="1200">
                            <a:solidFill>
                              <a:schemeClr val="tx1"/>
                            </a:solidFill>
                            <a:latin typeface="Cambria Math" panose="02040503050406030204" pitchFamily="18" charset="0"/>
                            <a:ea typeface="+mn-ea"/>
                            <a:cs typeface="+mn-cs"/>
                          </a:rPr>
                          <m:t>1</m:t>
                        </m:r>
                      </m:sub>
                    </m:sSub>
                  </m:oMath>
                </a14:m>
                <a:r>
                  <a:rPr lang="en-US" dirty="0"/>
                  <a:t>is executing a system call:</a:t>
                </a:r>
              </a:p>
              <a:p>
                <a:pPr rtl="0"/>
                <a:r>
                  <a:rPr lang="en-US" sz="1200" kern="1200" dirty="0">
                    <a:solidFill>
                      <a:schemeClr val="tx1"/>
                    </a:solidFill>
                    <a:latin typeface="+mn-lt"/>
                    <a:ea typeface="+mn-ea"/>
                    <a:cs typeface="+mn-cs"/>
                  </a:rPr>
                  <a:t>	P1 enters the kernel.</a:t>
                </a:r>
              </a:p>
              <a:p>
                <a:pPr rtl="0"/>
                <a:r>
                  <a:rPr lang="en-US" sz="1200" kern="1200" dirty="0">
                    <a:solidFill>
                      <a:schemeClr val="tx1"/>
                    </a:solidFill>
                    <a:latin typeface="+mn-lt"/>
                    <a:ea typeface="+mn-ea"/>
                    <a:cs typeface="+mn-cs"/>
                  </a:rPr>
                  <a:t>	P1 updates a shared kernel data structure.</a:t>
                </a:r>
              </a:p>
              <a:p>
                <a:r>
                  <a:rPr lang="en-US" dirty="0"/>
                  <a:t>Before finishing, the scheduler interrupts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𝑃</m:t>
                        </m:r>
                      </m:e>
                      <m:sub>
                        <m:r>
                          <a:rPr lang="en-US" sz="1200" i="0" kern="1200">
                            <a:solidFill>
                              <a:schemeClr val="tx1"/>
                            </a:solidFill>
                            <a:latin typeface="Cambria Math" panose="02040503050406030204" pitchFamily="18" charset="0"/>
                            <a:ea typeface="+mn-ea"/>
                            <a:cs typeface="+mn-cs"/>
                          </a:rPr>
                          <m:t>1</m:t>
                        </m:r>
                      </m:sub>
                    </m:sSub>
                  </m:oMath>
                </a14:m>
                <a:r>
                  <a:rPr lang="en-US" dirty="0"/>
                  <a:t>.</a:t>
                </a:r>
              </a:p>
              <a:p>
                <a:pPr rtl="0"/>
                <a:r>
                  <a:rPr lang="en-US" sz="1200" kern="1200" dirty="0">
                    <a:solidFill>
                      <a:schemeClr val="tx1"/>
                    </a:solidFill>
                    <a:latin typeface="+mn-lt"/>
                    <a:ea typeface="+mn-ea"/>
                    <a:cs typeface="+mn-cs"/>
                  </a:rPr>
                  <a:t>	P1 is preempted.</a:t>
                </a:r>
              </a:p>
              <a:p>
                <a:r>
                  <a:rPr lang="en-US" dirty="0"/>
                  <a:t>Now Process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𝑃</m:t>
                        </m:r>
                      </m:e>
                      <m:sub>
                        <m:r>
                          <a:rPr lang="en-US" sz="1200" i="0" kern="1200">
                            <a:solidFill>
                              <a:schemeClr val="tx1"/>
                            </a:solidFill>
                            <a:latin typeface="Cambria Math" panose="02040503050406030204" pitchFamily="18" charset="0"/>
                            <a:ea typeface="+mn-ea"/>
                            <a:cs typeface="+mn-cs"/>
                          </a:rPr>
                          <m:t>2</m:t>
                        </m:r>
                      </m:sub>
                    </m:sSub>
                  </m:oMath>
                </a14:m>
                <a:r>
                  <a:rPr lang="en-US" dirty="0"/>
                  <a:t>starts running and enters the kernel.</a:t>
                </a:r>
              </a:p>
              <a:p>
                <a:pPr rtl="0"/>
                <a:r>
                  <a:rPr lang="en-US" sz="1200" kern="1200" dirty="0">
                    <a:solidFill>
                      <a:schemeClr val="tx1"/>
                    </a:solidFill>
                    <a:latin typeface="+mn-lt"/>
                    <a:ea typeface="+mn-ea"/>
                    <a:cs typeface="+mn-cs"/>
                  </a:rPr>
                  <a:t>	P2 accesses the same shared data structure.</a:t>
                </a:r>
              </a:p>
              <a:p>
                <a:pPr rtl="0"/>
                <a:endParaRPr lang="en-US" sz="1200" kern="1200" dirty="0">
                  <a:solidFill>
                    <a:schemeClr val="tx1"/>
                  </a:solidFill>
                  <a:latin typeface="+mn-lt"/>
                  <a:ea typeface="+mn-ea"/>
                  <a:cs typeface="+mn-cs"/>
                </a:endParaRPr>
              </a:p>
              <a:p>
                <a:r>
                  <a:rPr lang="en-US" dirty="0"/>
                  <a:t>If both processes modify the shared data without synchronization, a </a:t>
                </a:r>
                <a:r>
                  <a:rPr lang="en-US" b="1" dirty="0"/>
                  <a:t>race condition</a:t>
                </a:r>
                <a:r>
                  <a:rPr lang="en-US" dirty="0"/>
                  <a:t> can occur.</a:t>
                </a:r>
              </a:p>
              <a:p>
                <a:r>
                  <a:rPr lang="en-US" dirty="0"/>
                  <a:t>Therefore, preemptive kernels require synchronization mechanisms such as:</a:t>
                </a:r>
              </a:p>
              <a:p>
                <a:pPr marL="171450" indent="-171450">
                  <a:buFont typeface="Arial" panose="020B0604020202020204" pitchFamily="34" charset="0"/>
                  <a:buChar char="•"/>
                </a:pPr>
                <a:r>
                  <a:rPr lang="en-US" dirty="0"/>
                  <a:t>Mutexes </a:t>
                </a:r>
              </a:p>
              <a:p>
                <a:pPr marL="171450" indent="-171450">
                  <a:buFont typeface="Arial" panose="020B0604020202020204" pitchFamily="34" charset="0"/>
                  <a:buChar char="•"/>
                </a:pPr>
                <a:r>
                  <a:rPr lang="en-US" dirty="0"/>
                  <a:t>Spinlocks </a:t>
                </a:r>
              </a:p>
              <a:p>
                <a:pPr marL="171450" indent="-171450">
                  <a:buFont typeface="Arial" panose="020B0604020202020204" pitchFamily="34" charset="0"/>
                  <a:buChar char="•"/>
                </a:pPr>
                <a:r>
                  <a:rPr lang="en-US" dirty="0"/>
                  <a:t>Semaphores </a:t>
                </a:r>
              </a:p>
              <a:p>
                <a:pPr marL="171450" indent="-171450">
                  <a:buFont typeface="Arial" panose="020B0604020202020204" pitchFamily="34" charset="0"/>
                  <a:buChar char="•"/>
                </a:pPr>
                <a:r>
                  <a:rPr lang="en-US" dirty="0"/>
                  <a:t>Read-write locks </a:t>
                </a:r>
              </a:p>
              <a:p>
                <a:r>
                  <a:rPr lang="en-US" b="1" dirty="0"/>
                  <a:t>Advantages</a:t>
                </a:r>
              </a:p>
              <a:p>
                <a:r>
                  <a:rPr lang="en-US" dirty="0"/>
                  <a:t>Better responsiveness   (</a:t>
                </a:r>
                <a:r>
                  <a:rPr lang="en-US" dirty="0" err="1"/>
                  <a:t>cho</a:t>
                </a:r>
                <a:r>
                  <a:rPr lang="en-US" dirty="0"/>
                  <a:t> </a:t>
                </a:r>
                <a:r>
                  <a:rPr lang="en-US" dirty="0" err="1"/>
                  <a:t>phép</a:t>
                </a:r>
                <a:r>
                  <a:rPr lang="en-US" dirty="0"/>
                  <a:t> CPU </a:t>
                </a:r>
                <a:r>
                  <a:rPr lang="en-US" dirty="0" err="1"/>
                  <a:t>dừng</a:t>
                </a:r>
                <a:r>
                  <a:rPr lang="en-US" dirty="0"/>
                  <a:t> Process </a:t>
                </a:r>
                <a:r>
                  <a:rPr lang="en-US" dirty="0" err="1"/>
                  <a:t>này</a:t>
                </a:r>
                <a:r>
                  <a:rPr lang="en-US" dirty="0"/>
                  <a:t> </a:t>
                </a:r>
                <a:r>
                  <a:rPr lang="en-US" dirty="0" err="1"/>
                  <a:t>để</a:t>
                </a:r>
                <a:r>
                  <a:rPr lang="en-US" dirty="0"/>
                  <a:t> sang Process </a:t>
                </a:r>
                <a:r>
                  <a:rPr lang="en-US" dirty="0" err="1"/>
                  <a:t>khác</a:t>
                </a:r>
                <a:r>
                  <a:rPr lang="en-US" dirty="0"/>
                  <a:t> </a:t>
                </a:r>
                <a:r>
                  <a:rPr lang="en-US" dirty="0" err="1"/>
                  <a:t>quan</a:t>
                </a:r>
                <a:r>
                  <a:rPr lang="en-US" dirty="0"/>
                  <a:t> </a:t>
                </a:r>
                <a:r>
                  <a:rPr lang="en-US" dirty="0" err="1"/>
                  <a:t>trọng</a:t>
                </a:r>
                <a:r>
                  <a:rPr lang="en-US" dirty="0"/>
                  <a:t> </a:t>
                </a:r>
                <a:r>
                  <a:rPr lang="en-US" dirty="0" err="1"/>
                  <a:t>hơn</a:t>
                </a:r>
                <a:r>
                  <a:rPr lang="en-US" dirty="0"/>
                  <a:t>)</a:t>
                </a:r>
              </a:p>
              <a:p>
                <a:r>
                  <a:rPr lang="en-US" dirty="0"/>
                  <a:t>Better support for real-time systems </a:t>
                </a:r>
              </a:p>
              <a:p>
                <a:r>
                  <a:rPr lang="en-US" dirty="0"/>
                  <a:t>Better CPU utilization </a:t>
                </a:r>
              </a:p>
              <a:p>
                <a:r>
                  <a:rPr lang="en-US" b="1" dirty="0"/>
                  <a:t>Disadvantage</a:t>
                </a:r>
              </a:p>
              <a:p>
                <a:r>
                  <a:rPr lang="en-US" dirty="0"/>
                  <a:t>More synchronization is required because race conditions are possible. </a:t>
                </a:r>
              </a:p>
              <a:p>
                <a:endParaRPr lang="en-US" dirty="0"/>
              </a:p>
            </p:txBody>
          </p:sp>
        </mc:Choice>
        <mc:Fallback xmlns="">
          <p:sp>
            <p:nvSpPr>
              <p:cNvPr id="3" name="Notes Placeholder 2"/>
              <p:cNvSpPr>
                <a:spLocks noGrp="1"/>
              </p:cNvSpPr>
              <p:nvPr>
                <p:ph type="body" idx="1"/>
              </p:nvPr>
            </p:nvSpPr>
            <p:spPr/>
            <p:txBody>
              <a:bodyPr/>
              <a:lstStyle/>
              <a:p>
                <a:r>
                  <a:rPr lang="en-US" dirty="0"/>
                  <a:t>Preemption : </a:t>
                </a:r>
                <a:r>
                  <a:rPr lang="en-US" dirty="0" err="1"/>
                  <a:t>pishdastaneh</a:t>
                </a:r>
                <a:br>
                  <a:rPr lang="en-US" dirty="0"/>
                </a:br>
                <a:br>
                  <a:rPr lang="en-US" dirty="0"/>
                </a:br>
                <a:r>
                  <a:rPr lang="en-US" b="1" dirty="0"/>
                  <a:t>Example</a:t>
                </a:r>
              </a:p>
              <a:p>
                <a:r>
                  <a:rPr lang="en-US" dirty="0"/>
                  <a:t>Suppose Process </a:t>
                </a:r>
                <a:r>
                  <a:rPr lang="en-US" sz="1200" i="0" kern="1200">
                    <a:solidFill>
                      <a:schemeClr val="tx1"/>
                    </a:solidFill>
                    <a:latin typeface="+mn-lt"/>
                    <a:ea typeface="+mn-ea"/>
                    <a:cs typeface="+mn-cs"/>
                  </a:rPr>
                  <a:t>𝑃_1</a:t>
                </a:r>
                <a:r>
                  <a:rPr lang="en-US" dirty="0"/>
                  <a:t>is executing a system call:</a:t>
                </a:r>
              </a:p>
              <a:p>
                <a:pPr rtl="0"/>
                <a:r>
                  <a:rPr lang="en-US" sz="1200" kern="1200" dirty="0">
                    <a:solidFill>
                      <a:schemeClr val="tx1"/>
                    </a:solidFill>
                    <a:latin typeface="+mn-lt"/>
                    <a:ea typeface="+mn-ea"/>
                    <a:cs typeface="+mn-cs"/>
                  </a:rPr>
                  <a:t>	P1 enters the kernel.</a:t>
                </a:r>
              </a:p>
              <a:p>
                <a:pPr rtl="0"/>
                <a:r>
                  <a:rPr lang="en-US" sz="1200" kern="1200" dirty="0">
                    <a:solidFill>
                      <a:schemeClr val="tx1"/>
                    </a:solidFill>
                    <a:latin typeface="+mn-lt"/>
                    <a:ea typeface="+mn-ea"/>
                    <a:cs typeface="+mn-cs"/>
                  </a:rPr>
                  <a:t>	P1 updates a shared kernel data structure.</a:t>
                </a:r>
              </a:p>
              <a:p>
                <a:r>
                  <a:rPr lang="en-US" dirty="0"/>
                  <a:t>Before finishing, the scheduler interrupts </a:t>
                </a:r>
                <a:r>
                  <a:rPr lang="en-US" sz="1200" i="0" kern="1200">
                    <a:solidFill>
                      <a:schemeClr val="tx1"/>
                    </a:solidFill>
                    <a:latin typeface="+mn-lt"/>
                    <a:ea typeface="+mn-ea"/>
                    <a:cs typeface="+mn-cs"/>
                  </a:rPr>
                  <a:t>𝑃_1</a:t>
                </a:r>
                <a:r>
                  <a:rPr lang="en-US" dirty="0"/>
                  <a:t>.</a:t>
                </a:r>
              </a:p>
              <a:p>
                <a:pPr rtl="0"/>
                <a:r>
                  <a:rPr lang="en-US" sz="1200" kern="1200" dirty="0">
                    <a:solidFill>
                      <a:schemeClr val="tx1"/>
                    </a:solidFill>
                    <a:latin typeface="+mn-lt"/>
                    <a:ea typeface="+mn-ea"/>
                    <a:cs typeface="+mn-cs"/>
                  </a:rPr>
                  <a:t>	P1 is preempted.</a:t>
                </a:r>
              </a:p>
              <a:p>
                <a:r>
                  <a:rPr lang="en-US" dirty="0"/>
                  <a:t>Now Process </a:t>
                </a:r>
                <a:r>
                  <a:rPr lang="en-US" sz="1200" i="0" kern="1200">
                    <a:solidFill>
                      <a:schemeClr val="tx1"/>
                    </a:solidFill>
                    <a:latin typeface="+mn-lt"/>
                    <a:ea typeface="+mn-ea"/>
                    <a:cs typeface="+mn-cs"/>
                  </a:rPr>
                  <a:t>𝑃_2</a:t>
                </a:r>
                <a:r>
                  <a:rPr lang="en-US" dirty="0"/>
                  <a:t>starts running and enters the kernel.</a:t>
                </a:r>
              </a:p>
              <a:p>
                <a:pPr rtl="0"/>
                <a:r>
                  <a:rPr lang="en-US" sz="1200" kern="1200" dirty="0">
                    <a:solidFill>
                      <a:schemeClr val="tx1"/>
                    </a:solidFill>
                    <a:latin typeface="+mn-lt"/>
                    <a:ea typeface="+mn-ea"/>
                    <a:cs typeface="+mn-cs"/>
                  </a:rPr>
                  <a:t>	P2 accesses the same shared data structure.</a:t>
                </a:r>
              </a:p>
              <a:p>
                <a:pPr rtl="0"/>
                <a:endParaRPr lang="en-US" sz="1200" kern="1200" dirty="0">
                  <a:solidFill>
                    <a:schemeClr val="tx1"/>
                  </a:solidFill>
                  <a:latin typeface="+mn-lt"/>
                  <a:ea typeface="+mn-ea"/>
                  <a:cs typeface="+mn-cs"/>
                </a:endParaRPr>
              </a:p>
              <a:p>
                <a:r>
                  <a:rPr lang="en-US" dirty="0"/>
                  <a:t>If both processes modify the shared data without synchronization, a </a:t>
                </a:r>
                <a:r>
                  <a:rPr lang="en-US" b="1" dirty="0"/>
                  <a:t>race condition</a:t>
                </a:r>
                <a:r>
                  <a:rPr lang="en-US" dirty="0"/>
                  <a:t> can occur.</a:t>
                </a:r>
              </a:p>
              <a:p>
                <a:r>
                  <a:rPr lang="en-US" dirty="0"/>
                  <a:t>Therefore, preemptive kernels require synchronization mechanisms such as:</a:t>
                </a:r>
              </a:p>
              <a:p>
                <a:pPr marL="171450" indent="-171450">
                  <a:buFont typeface="Arial" panose="020B0604020202020204" pitchFamily="34" charset="0"/>
                  <a:buChar char="•"/>
                </a:pPr>
                <a:r>
                  <a:rPr lang="en-US" dirty="0"/>
                  <a:t>Mutexes </a:t>
                </a:r>
              </a:p>
              <a:p>
                <a:pPr marL="171450" indent="-171450">
                  <a:buFont typeface="Arial" panose="020B0604020202020204" pitchFamily="34" charset="0"/>
                  <a:buChar char="•"/>
                </a:pPr>
                <a:r>
                  <a:rPr lang="en-US" dirty="0"/>
                  <a:t>Spinlocks </a:t>
                </a:r>
              </a:p>
              <a:p>
                <a:pPr marL="171450" indent="-171450">
                  <a:buFont typeface="Arial" panose="020B0604020202020204" pitchFamily="34" charset="0"/>
                  <a:buChar char="•"/>
                </a:pPr>
                <a:r>
                  <a:rPr lang="en-US" dirty="0"/>
                  <a:t>Semaphores </a:t>
                </a:r>
              </a:p>
              <a:p>
                <a:pPr marL="171450" indent="-171450">
                  <a:buFont typeface="Arial" panose="020B0604020202020204" pitchFamily="34" charset="0"/>
                  <a:buChar char="•"/>
                </a:pPr>
                <a:r>
                  <a:rPr lang="en-US" dirty="0"/>
                  <a:t>Read-write locks </a:t>
                </a:r>
              </a:p>
              <a:p>
                <a:r>
                  <a:rPr lang="en-US" b="1" dirty="0"/>
                  <a:t>Advantages</a:t>
                </a:r>
              </a:p>
              <a:p>
                <a:r>
                  <a:rPr lang="en-US" dirty="0"/>
                  <a:t>Better responsiveness </a:t>
                </a:r>
              </a:p>
              <a:p>
                <a:r>
                  <a:rPr lang="en-US" dirty="0"/>
                  <a:t>Better support for real-time systems </a:t>
                </a:r>
              </a:p>
              <a:p>
                <a:r>
                  <a:rPr lang="en-US" dirty="0"/>
                  <a:t>Better CPU utilization </a:t>
                </a:r>
              </a:p>
              <a:p>
                <a:r>
                  <a:rPr lang="en-US" b="1" dirty="0"/>
                  <a:t>Disadvantage</a:t>
                </a:r>
              </a:p>
              <a:p>
                <a:r>
                  <a:rPr lang="en-US" dirty="0"/>
                  <a:t>More synchronization is required because race conditions are possible. </a:t>
                </a:r>
              </a:p>
              <a:p>
                <a:endParaRPr lang="en-US" dirty="0"/>
              </a:p>
            </p:txBody>
          </p:sp>
        </mc:Fallback>
      </mc:AlternateContent>
      <p:sp>
        <p:nvSpPr>
          <p:cNvPr id="4" name="Slide Number Placeholder 3"/>
          <p:cNvSpPr>
            <a:spLocks noGrp="1"/>
          </p:cNvSpPr>
          <p:nvPr>
            <p:ph type="sldNum" sz="quarter" idx="5"/>
          </p:nvPr>
        </p:nvSpPr>
        <p:spPr/>
        <p:txBody>
          <a:bodyPr/>
          <a:lstStyle/>
          <a:p>
            <a:fld id="{A69E7F38-9500-43BA-AA14-C8ECA0FAF65C}" type="slidenum">
              <a:rPr lang="en-US" smtClean="0"/>
              <a:t>11</a:t>
            </a:fld>
            <a:endParaRPr lang="en-US"/>
          </a:p>
        </p:txBody>
      </p:sp>
    </p:spTree>
    <p:extLst>
      <p:ext uri="{BB962C8B-B14F-4D97-AF65-F5344CB8AC3E}">
        <p14:creationId xmlns:p14="http://schemas.microsoft.com/office/powerpoint/2010/main" val="1770465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Locking mechanism: prevent multi-process access the same time</a:t>
            </a:r>
          </a:p>
          <a:p>
            <a:endParaRPr lang="en-US" dirty="0"/>
          </a:p>
          <a:p>
            <a:r>
              <a:rPr lang="en-US" dirty="0"/>
              <a:t>Atomic: </a:t>
            </a:r>
            <a:r>
              <a:rPr lang="en-US" dirty="0" err="1"/>
              <a:t>là</a:t>
            </a:r>
            <a:r>
              <a:rPr lang="en-US" dirty="0"/>
              <a:t> instruction </a:t>
            </a:r>
            <a:r>
              <a:rPr lang="en-US" dirty="0" err="1"/>
              <a:t>mà</a:t>
            </a:r>
            <a:r>
              <a:rPr lang="en-US" dirty="0"/>
              <a:t> ko </a:t>
            </a:r>
            <a:r>
              <a:rPr lang="en-US" dirty="0" err="1"/>
              <a:t>bị</a:t>
            </a:r>
            <a:r>
              <a:rPr lang="en-US" dirty="0"/>
              <a:t> interrupt</a:t>
            </a:r>
          </a:p>
          <a:p>
            <a:r>
              <a:rPr lang="en-US" dirty="0"/>
              <a:t> 2 instructions </a:t>
            </a:r>
            <a:r>
              <a:rPr lang="en-US" dirty="0" err="1"/>
              <a:t>là</a:t>
            </a:r>
            <a:r>
              <a:rPr lang="en-US" dirty="0"/>
              <a:t> </a:t>
            </a:r>
            <a:r>
              <a:rPr lang="en-US" dirty="0" err="1"/>
              <a:t>test_and_set</a:t>
            </a:r>
            <a:r>
              <a:rPr lang="en-US" dirty="0"/>
              <a:t>(), </a:t>
            </a:r>
            <a:r>
              <a:rPr lang="en-US" dirty="0" err="1"/>
              <a:t>và</a:t>
            </a:r>
            <a:r>
              <a:rPr lang="en-US" dirty="0"/>
              <a:t> swap()</a:t>
            </a:r>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12</a:t>
            </a:fld>
            <a:endParaRPr lang="en-US"/>
          </a:p>
        </p:txBody>
      </p:sp>
    </p:spTree>
    <p:extLst>
      <p:ext uri="{BB962C8B-B14F-4D97-AF65-F5344CB8AC3E}">
        <p14:creationId xmlns:p14="http://schemas.microsoft.com/office/powerpoint/2010/main" val="3280486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Thuật</a:t>
            </a:r>
            <a:r>
              <a:rPr lang="en-US" dirty="0"/>
              <a:t> </a:t>
            </a:r>
            <a:r>
              <a:rPr lang="en-US" dirty="0" err="1"/>
              <a:t>toán</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bị</a:t>
            </a:r>
            <a:r>
              <a:rPr lang="en-US" dirty="0"/>
              <a:t> interrupt =&gt; violate mutual exclusion </a:t>
            </a:r>
            <a:r>
              <a:rPr lang="en-US" dirty="0" err="1"/>
              <a:t>dẫn</a:t>
            </a:r>
            <a:r>
              <a:rPr lang="en-US" dirty="0"/>
              <a:t> </a:t>
            </a:r>
            <a:r>
              <a:rPr lang="en-US" dirty="0" err="1"/>
              <a:t>đến</a:t>
            </a:r>
            <a:r>
              <a:rPr lang="en-US" dirty="0"/>
              <a:t> race condition</a:t>
            </a:r>
          </a:p>
          <a:p>
            <a:endParaRPr lang="en-US" dirty="0"/>
          </a:p>
          <a:p>
            <a:r>
              <a:rPr lang="en-US" dirty="0" err="1"/>
              <a:t>Thuật</a:t>
            </a:r>
            <a:r>
              <a:rPr lang="en-US" dirty="0"/>
              <a:t> </a:t>
            </a:r>
            <a:r>
              <a:rPr lang="en-US" dirty="0" err="1"/>
              <a:t>toán</a:t>
            </a:r>
            <a:r>
              <a:rPr lang="en-US" dirty="0"/>
              <a:t> test set:</a:t>
            </a:r>
          </a:p>
          <a:p>
            <a:r>
              <a:rPr lang="en-US" dirty="0"/>
              <a:t>Ban </a:t>
            </a:r>
            <a:r>
              <a:rPr lang="en-US" dirty="0" err="1"/>
              <a:t>đầu</a:t>
            </a:r>
            <a:r>
              <a:rPr lang="en-US" dirty="0"/>
              <a:t> P0 </a:t>
            </a:r>
            <a:r>
              <a:rPr lang="en-US" dirty="0" err="1"/>
              <a:t>ktra</a:t>
            </a:r>
            <a:r>
              <a:rPr lang="en-US" dirty="0"/>
              <a:t> while(!flag) </a:t>
            </a:r>
            <a:r>
              <a:rPr lang="en-US" dirty="0" err="1"/>
              <a:t>thì</a:t>
            </a:r>
            <a:r>
              <a:rPr lang="en-US" dirty="0"/>
              <a:t> flag dc set ban </a:t>
            </a:r>
            <a:r>
              <a:rPr lang="en-US" dirty="0" err="1"/>
              <a:t>đầu</a:t>
            </a:r>
            <a:r>
              <a:rPr lang="en-US" dirty="0"/>
              <a:t> </a:t>
            </a:r>
            <a:r>
              <a:rPr lang="en-US" dirty="0" err="1"/>
              <a:t>là</a:t>
            </a:r>
            <a:r>
              <a:rPr lang="en-US" dirty="0"/>
              <a:t> true </a:t>
            </a:r>
            <a:r>
              <a:rPr lang="en-US" dirty="0" err="1"/>
              <a:t>nên</a:t>
            </a:r>
            <a:r>
              <a:rPr lang="en-US" dirty="0"/>
              <a:t> </a:t>
            </a:r>
            <a:r>
              <a:rPr lang="en-US" dirty="0" err="1"/>
              <a:t>cbi</a:t>
            </a:r>
            <a:r>
              <a:rPr lang="en-US" dirty="0"/>
              <a:t> </a:t>
            </a:r>
            <a:r>
              <a:rPr lang="en-US" dirty="0" err="1"/>
              <a:t>thoát</a:t>
            </a:r>
            <a:endParaRPr lang="en-US" dirty="0"/>
          </a:p>
          <a:p>
            <a:r>
              <a:rPr lang="en-US" dirty="0" err="1"/>
              <a:t>Chưa</a:t>
            </a:r>
            <a:r>
              <a:rPr lang="en-US" dirty="0"/>
              <a:t> </a:t>
            </a:r>
            <a:r>
              <a:rPr lang="en-US" dirty="0" err="1"/>
              <a:t>kịp</a:t>
            </a:r>
            <a:r>
              <a:rPr lang="en-US" dirty="0"/>
              <a:t> </a:t>
            </a:r>
            <a:r>
              <a:rPr lang="en-US" dirty="0" err="1"/>
              <a:t>thoát</a:t>
            </a:r>
            <a:r>
              <a:rPr lang="en-US" dirty="0"/>
              <a:t> </a:t>
            </a:r>
            <a:r>
              <a:rPr lang="en-US" dirty="0" err="1"/>
              <a:t>thì</a:t>
            </a:r>
            <a:r>
              <a:rPr lang="en-US" dirty="0"/>
              <a:t> </a:t>
            </a:r>
            <a:r>
              <a:rPr lang="en-US" dirty="0" err="1"/>
              <a:t>bị</a:t>
            </a:r>
            <a:r>
              <a:rPr lang="en-US" dirty="0"/>
              <a:t> interrupt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P1 </a:t>
            </a:r>
            <a:r>
              <a:rPr lang="en-US" dirty="0" err="1"/>
              <a:t>cũng</a:t>
            </a:r>
            <a:r>
              <a:rPr lang="en-US" dirty="0"/>
              <a:t> </a:t>
            </a:r>
            <a:r>
              <a:rPr lang="en-US" dirty="0" err="1"/>
              <a:t>ktra</a:t>
            </a:r>
            <a:r>
              <a:rPr lang="en-US" dirty="0"/>
              <a:t> while(!flag) </a:t>
            </a:r>
            <a:r>
              <a:rPr lang="en-US" dirty="0" err="1"/>
              <a:t>thì</a:t>
            </a:r>
            <a:r>
              <a:rPr lang="en-US" dirty="0"/>
              <a:t> flag dc set ban </a:t>
            </a:r>
            <a:r>
              <a:rPr lang="en-US" dirty="0" err="1"/>
              <a:t>đầu</a:t>
            </a:r>
            <a:r>
              <a:rPr lang="en-US" dirty="0"/>
              <a:t> </a:t>
            </a:r>
            <a:r>
              <a:rPr lang="en-US" dirty="0" err="1"/>
              <a:t>là</a:t>
            </a:r>
            <a:r>
              <a:rPr lang="en-US" dirty="0"/>
              <a:t> true </a:t>
            </a:r>
            <a:r>
              <a:rPr lang="en-US" dirty="0" err="1"/>
              <a:t>nên</a:t>
            </a:r>
            <a:r>
              <a:rPr lang="en-US" dirty="0"/>
              <a:t> </a:t>
            </a:r>
            <a:r>
              <a:rPr lang="en-US" dirty="0" err="1"/>
              <a:t>cbi</a:t>
            </a:r>
            <a:r>
              <a:rPr lang="en-US" dirty="0"/>
              <a:t> </a:t>
            </a:r>
            <a:r>
              <a:rPr lang="en-US" dirty="0" err="1"/>
              <a:t>thoát</a:t>
            </a:r>
            <a:endParaRPr lang="en-US" dirty="0"/>
          </a:p>
          <a:p>
            <a:r>
              <a:rPr lang="en-US" dirty="0"/>
              <a:t>P1 set flag = false </a:t>
            </a:r>
            <a:r>
              <a:rPr lang="en-US" dirty="0" err="1"/>
              <a:t>để</a:t>
            </a:r>
            <a:r>
              <a:rPr lang="en-US" dirty="0"/>
              <a:t> </a:t>
            </a:r>
            <a:r>
              <a:rPr lang="en-US" dirty="0" err="1"/>
              <a:t>chặn</a:t>
            </a:r>
            <a:r>
              <a:rPr lang="en-US" dirty="0"/>
              <a:t> ko </a:t>
            </a:r>
            <a:r>
              <a:rPr lang="en-US" dirty="0" err="1"/>
              <a:t>cho</a:t>
            </a:r>
            <a:r>
              <a:rPr lang="en-US" dirty="0"/>
              <a:t> process </a:t>
            </a:r>
            <a:r>
              <a:rPr lang="en-US" dirty="0" err="1"/>
              <a:t>khác</a:t>
            </a:r>
            <a:r>
              <a:rPr lang="en-US" dirty="0"/>
              <a:t> </a:t>
            </a:r>
            <a:r>
              <a:rPr lang="en-US" dirty="0" err="1"/>
              <a:t>vào</a:t>
            </a:r>
            <a:endParaRPr lang="en-US" dirty="0"/>
          </a:p>
          <a:p>
            <a:r>
              <a:rPr lang="en-US" dirty="0"/>
              <a:t>P1 </a:t>
            </a:r>
            <a:r>
              <a:rPr lang="en-US" dirty="0" err="1"/>
              <a:t>vào</a:t>
            </a:r>
            <a:r>
              <a:rPr lang="en-US" dirty="0"/>
              <a:t> critical section</a:t>
            </a:r>
          </a:p>
          <a:p>
            <a:endParaRPr lang="en-US" dirty="0"/>
          </a:p>
          <a:p>
            <a:r>
              <a:rPr lang="en-US" dirty="0"/>
              <a:t>P0 </a:t>
            </a:r>
            <a:r>
              <a:rPr lang="en-US" dirty="0" err="1"/>
              <a:t>tiếp</a:t>
            </a:r>
            <a:r>
              <a:rPr lang="en-US" dirty="0"/>
              <a:t> </a:t>
            </a:r>
            <a:r>
              <a:rPr lang="en-US" dirty="0" err="1"/>
              <a:t>tục</a:t>
            </a:r>
            <a:r>
              <a:rPr lang="en-US" dirty="0"/>
              <a:t> </a:t>
            </a:r>
            <a:r>
              <a:rPr lang="en-US" dirty="0" err="1"/>
              <a:t>và</a:t>
            </a:r>
            <a:r>
              <a:rPr lang="en-US" dirty="0"/>
              <a:t> </a:t>
            </a:r>
            <a:r>
              <a:rPr lang="en-US" dirty="0" err="1"/>
              <a:t>vào</a:t>
            </a:r>
            <a:r>
              <a:rPr lang="en-US" dirty="0"/>
              <a:t> critical section</a:t>
            </a:r>
          </a:p>
          <a:p>
            <a:r>
              <a:rPr lang="en-US" dirty="0"/>
              <a:t>=&gt; </a:t>
            </a:r>
            <a:r>
              <a:rPr lang="en-US" dirty="0" err="1"/>
              <a:t>dẫn</a:t>
            </a:r>
            <a:r>
              <a:rPr lang="en-US" dirty="0"/>
              <a:t> </a:t>
            </a:r>
            <a:r>
              <a:rPr lang="en-US" dirty="0" err="1"/>
              <a:t>tới</a:t>
            </a:r>
            <a:r>
              <a:rPr lang="en-US" dirty="0"/>
              <a:t> violation Mutual Exclusion </a:t>
            </a:r>
            <a:r>
              <a:rPr lang="en-US" dirty="0" err="1"/>
              <a:t>gây</a:t>
            </a:r>
            <a:r>
              <a:rPr lang="en-US" dirty="0"/>
              <a:t> </a:t>
            </a:r>
            <a:r>
              <a:rPr lang="en-US" dirty="0" err="1"/>
              <a:t>ra</a:t>
            </a:r>
            <a:r>
              <a:rPr lang="en-US" dirty="0"/>
              <a:t> Race Condition</a:t>
            </a:r>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13</a:t>
            </a:fld>
            <a:endParaRPr lang="en-US"/>
          </a:p>
        </p:txBody>
      </p:sp>
    </p:spTree>
    <p:extLst>
      <p:ext uri="{BB962C8B-B14F-4D97-AF65-F5344CB8AC3E}">
        <p14:creationId xmlns:p14="http://schemas.microsoft.com/office/powerpoint/2010/main" val="1258418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Test_and_set</a:t>
            </a:r>
            <a:r>
              <a:rPr lang="en-US" dirty="0"/>
              <a:t>(): </a:t>
            </a:r>
            <a:r>
              <a:rPr lang="en-US" dirty="0" err="1"/>
              <a:t>là</a:t>
            </a:r>
            <a:r>
              <a:rPr lang="en-US" dirty="0"/>
              <a:t> atomic </a:t>
            </a:r>
            <a:r>
              <a:rPr lang="en-US" dirty="0" err="1"/>
              <a:t>nên</a:t>
            </a:r>
            <a:r>
              <a:rPr lang="en-US" dirty="0"/>
              <a:t> solve dc </a:t>
            </a:r>
            <a:r>
              <a:rPr lang="en-US" dirty="0" err="1"/>
              <a:t>vấn</a:t>
            </a:r>
            <a:r>
              <a:rPr lang="en-US" dirty="0"/>
              <a:t> </a:t>
            </a:r>
            <a:r>
              <a:rPr lang="en-US" dirty="0" err="1"/>
              <a:t>đề</a:t>
            </a:r>
            <a:r>
              <a:rPr lang="en-US" dirty="0"/>
              <a:t> </a:t>
            </a:r>
            <a:r>
              <a:rPr lang="en-US" dirty="0" err="1"/>
              <a:t>bị</a:t>
            </a:r>
            <a:r>
              <a:rPr lang="en-US" dirty="0"/>
              <a:t> interrupt</a:t>
            </a:r>
          </a:p>
          <a:p>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14</a:t>
            </a:fld>
            <a:endParaRPr lang="en-US"/>
          </a:p>
        </p:txBody>
      </p:sp>
    </p:spTree>
    <p:extLst>
      <p:ext uri="{BB962C8B-B14F-4D97-AF65-F5344CB8AC3E}">
        <p14:creationId xmlns:p14="http://schemas.microsoft.com/office/powerpoint/2010/main" val="2146283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lock ban </a:t>
            </a:r>
            <a:r>
              <a:rPr lang="en-US" dirty="0" err="1"/>
              <a:t>đầu</a:t>
            </a:r>
            <a:r>
              <a:rPr lang="en-US" dirty="0"/>
              <a:t> </a:t>
            </a:r>
            <a:r>
              <a:rPr lang="en-US" dirty="0" err="1"/>
              <a:t>là</a:t>
            </a:r>
            <a:r>
              <a:rPr lang="en-US" dirty="0"/>
              <a:t> false =&gt; lock </a:t>
            </a:r>
            <a:r>
              <a:rPr lang="en-US" dirty="0" err="1"/>
              <a:t>đang</a:t>
            </a:r>
            <a:r>
              <a:rPr lang="en-US" dirty="0"/>
              <a:t> </a:t>
            </a:r>
            <a:r>
              <a:rPr lang="en-US" dirty="0" err="1"/>
              <a:t>rảnh</a:t>
            </a:r>
            <a:endParaRPr lang="en-US" dirty="0"/>
          </a:p>
          <a:p>
            <a:r>
              <a:rPr lang="en-US" dirty="0"/>
              <a:t>FALSE = lock </a:t>
            </a:r>
            <a:r>
              <a:rPr lang="en-US" dirty="0" err="1"/>
              <a:t>đang</a:t>
            </a:r>
            <a:r>
              <a:rPr lang="en-US" dirty="0"/>
              <a:t> </a:t>
            </a:r>
            <a:r>
              <a:rPr lang="en-US" dirty="0" err="1"/>
              <a:t>rảnh</a:t>
            </a:r>
            <a:endParaRPr lang="en-US" dirty="0"/>
          </a:p>
          <a:p>
            <a:r>
              <a:rPr lang="en-US" dirty="0"/>
              <a:t>TRUE  = lock </a:t>
            </a:r>
            <a:r>
              <a:rPr lang="en-US" dirty="0" err="1"/>
              <a:t>đang</a:t>
            </a:r>
            <a:r>
              <a:rPr lang="en-US" dirty="0"/>
              <a:t> </a:t>
            </a:r>
            <a:r>
              <a:rPr lang="en-US" dirty="0" err="1"/>
              <a:t>bị</a:t>
            </a:r>
            <a:r>
              <a:rPr lang="en-US" dirty="0"/>
              <a:t> </a:t>
            </a:r>
            <a:r>
              <a:rPr lang="en-US" dirty="0" err="1"/>
              <a:t>giữ</a:t>
            </a:r>
            <a:endParaRPr lang="en-US" dirty="0"/>
          </a:p>
          <a:p>
            <a:endParaRPr lang="en-US" dirty="0"/>
          </a:p>
          <a:p>
            <a:r>
              <a:rPr lang="en-US" dirty="0" err="1"/>
              <a:t>Dòng</a:t>
            </a:r>
            <a:r>
              <a:rPr lang="en-US" dirty="0"/>
              <a:t> while(</a:t>
            </a:r>
            <a:r>
              <a:rPr lang="en-US" dirty="0" err="1"/>
              <a:t>test_and_set</a:t>
            </a:r>
            <a:r>
              <a:rPr lang="en-US" dirty="0"/>
              <a:t>(&amp;lock)):       </a:t>
            </a:r>
            <a:r>
              <a:rPr lang="en-US" dirty="0" err="1"/>
              <a:t>thực</a:t>
            </a:r>
            <a:r>
              <a:rPr lang="en-US" dirty="0"/>
              <a:t> </a:t>
            </a:r>
            <a:r>
              <a:rPr lang="en-US" dirty="0" err="1"/>
              <a:t>hiện</a:t>
            </a:r>
            <a:r>
              <a:rPr lang="en-US" dirty="0"/>
              <a:t> atomically  Boolean </a:t>
            </a:r>
            <a:r>
              <a:rPr lang="en-US" dirty="0" err="1"/>
              <a:t>rv</a:t>
            </a:r>
            <a:r>
              <a:rPr lang="en-US" dirty="0"/>
              <a:t> = lock;  // </a:t>
            </a:r>
            <a:r>
              <a:rPr lang="en-US" dirty="0" err="1"/>
              <a:t>lấy</a:t>
            </a:r>
            <a:r>
              <a:rPr lang="en-US" dirty="0"/>
              <a:t> </a:t>
            </a:r>
            <a:r>
              <a:rPr lang="en-US" dirty="0" err="1"/>
              <a:t>giá</a:t>
            </a:r>
            <a:r>
              <a:rPr lang="en-US" dirty="0"/>
              <a:t> </a:t>
            </a:r>
            <a:r>
              <a:rPr lang="en-US" dirty="0" err="1"/>
              <a:t>trị</a:t>
            </a:r>
            <a:r>
              <a:rPr lang="en-US" dirty="0"/>
              <a:t> </a:t>
            </a:r>
            <a:r>
              <a:rPr lang="en-US" dirty="0" err="1"/>
              <a:t>cũ</a:t>
            </a:r>
            <a:endParaRPr lang="en-US" dirty="0"/>
          </a:p>
          <a:p>
            <a:r>
              <a:rPr lang="en-US" dirty="0"/>
              <a:t>				lock = TRUE;        // </a:t>
            </a:r>
            <a:r>
              <a:rPr lang="en-US" dirty="0" err="1"/>
              <a:t>chiếm</a:t>
            </a:r>
            <a:r>
              <a:rPr lang="en-US" dirty="0"/>
              <a:t> </a:t>
            </a:r>
            <a:r>
              <a:rPr lang="en-US" dirty="0" err="1"/>
              <a:t>khóa</a:t>
            </a:r>
            <a:endParaRPr lang="en-US" dirty="0"/>
          </a:p>
          <a:p>
            <a:r>
              <a:rPr lang="en-US" dirty="0"/>
              <a:t>				return </a:t>
            </a:r>
            <a:r>
              <a:rPr lang="en-US" dirty="0" err="1"/>
              <a:t>rv</a:t>
            </a:r>
            <a:r>
              <a:rPr lang="en-US" dirty="0"/>
              <a:t>;          //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a:t>
            </a:r>
            <a:r>
              <a:rPr lang="en-US" dirty="0" err="1"/>
              <a:t>cũ</a:t>
            </a:r>
            <a:endParaRPr lang="en-US" dirty="0"/>
          </a:p>
          <a:p>
            <a:pPr marL="171450" indent="-171450">
              <a:buFont typeface="Symbol" panose="05050102010706020507" pitchFamily="18" charset="2"/>
              <a:buChar char="Þ"/>
            </a:pP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ban </a:t>
            </a:r>
            <a:r>
              <a:rPr lang="en-US" dirty="0" err="1"/>
              <a:t>đầu</a:t>
            </a:r>
            <a:r>
              <a:rPr lang="en-US" dirty="0"/>
              <a:t> </a:t>
            </a:r>
            <a:r>
              <a:rPr lang="en-US" dirty="0" err="1"/>
              <a:t>là</a:t>
            </a:r>
            <a:r>
              <a:rPr lang="en-US" dirty="0"/>
              <a:t> False</a:t>
            </a:r>
          </a:p>
          <a:p>
            <a:pPr marL="171450" indent="-171450">
              <a:buFont typeface="Symbol" panose="05050102010706020507" pitchFamily="18" charset="2"/>
              <a:buChar char="Þ"/>
            </a:pPr>
            <a:r>
              <a:rPr lang="en-US" dirty="0"/>
              <a:t>=&gt; While(false) </a:t>
            </a:r>
            <a:r>
              <a:rPr lang="en-US" dirty="0" err="1"/>
              <a:t>thì</a:t>
            </a:r>
            <a:r>
              <a:rPr lang="en-US" dirty="0"/>
              <a:t> process </a:t>
            </a:r>
            <a:r>
              <a:rPr lang="en-US" dirty="0" err="1"/>
              <a:t>thoát</a:t>
            </a:r>
            <a:r>
              <a:rPr lang="en-US" dirty="0"/>
              <a:t> </a:t>
            </a:r>
            <a:r>
              <a:rPr lang="en-US" dirty="0" err="1"/>
              <a:t>vòng</a:t>
            </a:r>
            <a:r>
              <a:rPr lang="en-US" dirty="0"/>
              <a:t> </a:t>
            </a:r>
            <a:r>
              <a:rPr lang="en-US" dirty="0" err="1"/>
              <a:t>lặp</a:t>
            </a:r>
            <a:r>
              <a:rPr lang="en-US" dirty="0"/>
              <a:t> </a:t>
            </a:r>
            <a:r>
              <a:rPr lang="en-US" dirty="0" err="1"/>
              <a:t>và</a:t>
            </a:r>
            <a:r>
              <a:rPr lang="en-US" dirty="0"/>
              <a:t> </a:t>
            </a:r>
            <a:r>
              <a:rPr lang="en-US" dirty="0" err="1"/>
              <a:t>chiếm</a:t>
            </a:r>
            <a:r>
              <a:rPr lang="en-US" dirty="0"/>
              <a:t> lock </a:t>
            </a:r>
            <a:r>
              <a:rPr lang="en-US" dirty="0" err="1"/>
              <a:t>để</a:t>
            </a:r>
            <a:r>
              <a:rPr lang="en-US" dirty="0"/>
              <a:t> </a:t>
            </a:r>
            <a:r>
              <a:rPr lang="en-US" dirty="0" err="1"/>
              <a:t>vào</a:t>
            </a:r>
            <a:r>
              <a:rPr lang="en-US" dirty="0"/>
              <a:t> critical section</a:t>
            </a:r>
          </a:p>
        </p:txBody>
      </p:sp>
      <p:sp>
        <p:nvSpPr>
          <p:cNvPr id="4" name="Slide Number Placeholder 3"/>
          <p:cNvSpPr>
            <a:spLocks noGrp="1"/>
          </p:cNvSpPr>
          <p:nvPr>
            <p:ph type="sldNum" sz="quarter" idx="5"/>
          </p:nvPr>
        </p:nvSpPr>
        <p:spPr/>
        <p:txBody>
          <a:bodyPr/>
          <a:lstStyle/>
          <a:p>
            <a:fld id="{A69E7F38-9500-43BA-AA14-C8ECA0FAF65C}" type="slidenum">
              <a:rPr lang="en-US" smtClean="0"/>
              <a:t>15</a:t>
            </a:fld>
            <a:endParaRPr lang="en-US"/>
          </a:p>
        </p:txBody>
      </p:sp>
    </p:spTree>
    <p:extLst>
      <p:ext uri="{BB962C8B-B14F-4D97-AF65-F5344CB8AC3E}">
        <p14:creationId xmlns:p14="http://schemas.microsoft.com/office/powerpoint/2010/main" val="2313091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waiting[</a:t>
            </a:r>
            <a:r>
              <a:rPr lang="en-US" dirty="0" err="1"/>
              <a:t>i</a:t>
            </a:r>
            <a:r>
              <a:rPr lang="en-US" dirty="0"/>
              <a:t>] = true;    Process </a:t>
            </a:r>
            <a:r>
              <a:rPr lang="en-US" sz="1200" kern="1200" dirty="0">
                <a:solidFill>
                  <a:schemeClr val="tx1"/>
                </a:solidFill>
                <a:latin typeface="+mn-lt"/>
                <a:ea typeface="+mn-ea"/>
                <a:cs typeface="+mn-cs"/>
              </a:rPr>
              <a:t>Pi</a:t>
            </a:r>
            <a:r>
              <a:rPr lang="en-US" dirty="0"/>
              <a:t> wants to enter the critical section</a:t>
            </a:r>
          </a:p>
          <a:p>
            <a:endParaRPr lang="en-US" dirty="0"/>
          </a:p>
          <a:p>
            <a:r>
              <a:rPr lang="en-US" dirty="0"/>
              <a:t>while (waiting[</a:t>
            </a:r>
            <a:r>
              <a:rPr lang="en-US" dirty="0" err="1"/>
              <a:t>i</a:t>
            </a:r>
            <a:r>
              <a:rPr lang="en-US" dirty="0"/>
              <a:t>] &amp;&amp; key):    wait </a:t>
            </a:r>
            <a:r>
              <a:rPr lang="en-US" dirty="0" err="1"/>
              <a:t>khi</a:t>
            </a:r>
            <a:r>
              <a:rPr lang="en-US" dirty="0"/>
              <a:t> </a:t>
            </a:r>
            <a:r>
              <a:rPr lang="en-US" dirty="0" err="1"/>
              <a:t>nào</a:t>
            </a:r>
            <a:r>
              <a:rPr lang="en-US" dirty="0"/>
              <a:t> dk </a:t>
            </a:r>
            <a:r>
              <a:rPr lang="en-US" dirty="0" err="1"/>
              <a:t>còn</a:t>
            </a:r>
            <a:r>
              <a:rPr lang="en-US" dirty="0"/>
              <a:t> true </a:t>
            </a:r>
            <a:r>
              <a:rPr lang="en-US" dirty="0" err="1"/>
              <a:t>thì</a:t>
            </a:r>
            <a:r>
              <a:rPr lang="en-US" dirty="0"/>
              <a:t> </a:t>
            </a:r>
            <a:r>
              <a:rPr lang="en-US" dirty="0" err="1"/>
              <a:t>chưa</a:t>
            </a:r>
            <a:r>
              <a:rPr lang="en-US" dirty="0"/>
              <a:t> </a:t>
            </a:r>
            <a:r>
              <a:rPr lang="en-US" dirty="0" err="1"/>
              <a:t>thoát</a:t>
            </a:r>
            <a:r>
              <a:rPr lang="en-US" dirty="0"/>
              <a:t> </a:t>
            </a:r>
            <a:r>
              <a:rPr lang="en-US" dirty="0" err="1"/>
              <a:t>vòng</a:t>
            </a:r>
            <a:r>
              <a:rPr lang="en-US" dirty="0"/>
              <a:t> </a:t>
            </a:r>
            <a:r>
              <a:rPr lang="en-US" dirty="0" err="1"/>
              <a:t>lặp</a:t>
            </a:r>
            <a:endParaRPr lang="en-US" dirty="0"/>
          </a:p>
          <a:p>
            <a:endParaRPr lang="en-US" dirty="0"/>
          </a:p>
          <a:p>
            <a:r>
              <a:rPr lang="en-US" dirty="0"/>
              <a:t>key=true:   process </a:t>
            </a:r>
            <a:r>
              <a:rPr lang="en-US" dirty="0" err="1"/>
              <a:t>chưa</a:t>
            </a:r>
            <a:r>
              <a:rPr lang="en-US" dirty="0"/>
              <a:t> </a:t>
            </a:r>
            <a:r>
              <a:rPr lang="en-US" dirty="0" err="1"/>
              <a:t>lấy</a:t>
            </a:r>
            <a:r>
              <a:rPr lang="en-US" dirty="0"/>
              <a:t> dc lock </a:t>
            </a:r>
            <a:r>
              <a:rPr lang="en-US" dirty="0" err="1"/>
              <a:t>và</a:t>
            </a:r>
            <a:r>
              <a:rPr lang="en-US" dirty="0"/>
              <a:t> </a:t>
            </a:r>
            <a:r>
              <a:rPr lang="en-US" dirty="0" err="1"/>
              <a:t>ngược</a:t>
            </a:r>
            <a:r>
              <a:rPr lang="en-US" dirty="0"/>
              <a:t> </a:t>
            </a:r>
            <a:r>
              <a:rPr lang="en-US" dirty="0" err="1"/>
              <a:t>lại</a:t>
            </a:r>
            <a:endParaRPr lang="en-US" dirty="0"/>
          </a:p>
          <a:p>
            <a:endParaRPr lang="en-US" dirty="0"/>
          </a:p>
          <a:p>
            <a:r>
              <a:rPr lang="pt-BR" dirty="0"/>
              <a:t>int j = (i + 1) % n;:    tìm process muốn vào critical section theo circular order</a:t>
            </a:r>
          </a:p>
          <a:p>
            <a:endParaRPr lang="pt-BR" dirty="0"/>
          </a:p>
          <a:p>
            <a:r>
              <a:rPr lang="pt-BR" dirty="0"/>
              <a:t>j == i   nếu ko có process nào mún vào đi, lock = false chưa bị khóa</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16</a:t>
            </a:fld>
            <a:endParaRPr lang="en-US"/>
          </a:p>
        </p:txBody>
      </p:sp>
    </p:spTree>
    <p:extLst>
      <p:ext uri="{BB962C8B-B14F-4D97-AF65-F5344CB8AC3E}">
        <p14:creationId xmlns:p14="http://schemas.microsoft.com/office/powerpoint/2010/main" val="2789351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Busy waiting: Process </a:t>
            </a:r>
            <a:r>
              <a:rPr lang="en-US" dirty="0" err="1"/>
              <a:t>liên</a:t>
            </a:r>
            <a:r>
              <a:rPr lang="en-US" dirty="0"/>
              <a:t> </a:t>
            </a:r>
            <a:r>
              <a:rPr lang="en-US" dirty="0" err="1"/>
              <a:t>tục</a:t>
            </a:r>
            <a:r>
              <a:rPr lang="en-US" dirty="0"/>
              <a:t> </a:t>
            </a:r>
            <a:r>
              <a:rPr lang="en-US" dirty="0" err="1"/>
              <a:t>gọi</a:t>
            </a:r>
            <a:r>
              <a:rPr lang="en-US" dirty="0"/>
              <a:t> </a:t>
            </a:r>
            <a:r>
              <a:rPr lang="en-US" dirty="0" err="1"/>
              <a:t>test_and_set</a:t>
            </a:r>
            <a:r>
              <a:rPr lang="en-US" dirty="0"/>
              <a:t>()</a:t>
            </a:r>
          </a:p>
          <a:p>
            <a:endParaRPr lang="en-US" dirty="0"/>
          </a:p>
          <a:p>
            <a:r>
              <a:rPr lang="en-US" dirty="0"/>
              <a:t>Spinlock:  mutex lock </a:t>
            </a:r>
            <a:r>
              <a:rPr lang="en-US" dirty="0" err="1"/>
              <a:t>liên</a:t>
            </a:r>
            <a:r>
              <a:rPr lang="en-US" dirty="0"/>
              <a:t> </a:t>
            </a:r>
            <a:r>
              <a:rPr lang="en-US" dirty="0" err="1"/>
              <a:t>tục</a:t>
            </a:r>
            <a:r>
              <a:rPr lang="en-US" dirty="0"/>
              <a:t> </a:t>
            </a:r>
            <a:r>
              <a:rPr lang="en-US" dirty="0" err="1"/>
              <a:t>dùng</a:t>
            </a:r>
            <a:r>
              <a:rPr lang="en-US" dirty="0"/>
              <a:t> busy waiting </a:t>
            </a:r>
            <a:r>
              <a:rPr lang="en-US" dirty="0" err="1"/>
              <a:t>để</a:t>
            </a:r>
            <a:r>
              <a:rPr lang="en-US" dirty="0"/>
              <a:t> </a:t>
            </a:r>
            <a:r>
              <a:rPr lang="en-US" dirty="0" err="1"/>
              <a:t>kiểm</a:t>
            </a:r>
            <a:r>
              <a:rPr lang="en-US" dirty="0"/>
              <a:t> </a:t>
            </a:r>
            <a:r>
              <a:rPr lang="en-US" dirty="0" err="1"/>
              <a:t>tra</a:t>
            </a:r>
            <a:r>
              <a:rPr lang="en-US" dirty="0"/>
              <a:t> (quay </a:t>
            </a:r>
            <a:r>
              <a:rPr lang="en-US" dirty="0" err="1"/>
              <a:t>vòng</a:t>
            </a:r>
            <a:r>
              <a:rPr lang="en-US" dirty="0"/>
              <a:t>) lock </a:t>
            </a:r>
            <a:r>
              <a:rPr lang="en-US" dirty="0" err="1"/>
              <a:t>xem</a:t>
            </a:r>
            <a:r>
              <a:rPr lang="en-US" dirty="0"/>
              <a:t> </a:t>
            </a:r>
            <a:r>
              <a:rPr lang="en-US" dirty="0" err="1"/>
              <a:t>rảnh</a:t>
            </a:r>
            <a:r>
              <a:rPr lang="en-US" dirty="0"/>
              <a:t> </a:t>
            </a:r>
            <a:r>
              <a:rPr lang="en-US" dirty="0" err="1"/>
              <a:t>chưa</a:t>
            </a:r>
            <a:r>
              <a:rPr lang="en-US" dirty="0"/>
              <a:t> </a:t>
            </a:r>
            <a:r>
              <a:rPr lang="en-US" dirty="0" err="1"/>
              <a:t>để</a:t>
            </a:r>
            <a:r>
              <a:rPr lang="en-US" dirty="0"/>
              <a:t> process </a:t>
            </a:r>
            <a:r>
              <a:rPr lang="en-US" dirty="0" err="1"/>
              <a:t>chiếm</a:t>
            </a:r>
            <a:r>
              <a:rPr lang="en-US" dirty="0"/>
              <a:t> lock</a:t>
            </a:r>
          </a:p>
        </p:txBody>
      </p:sp>
      <p:sp>
        <p:nvSpPr>
          <p:cNvPr id="4" name="Slide Number Placeholder 3"/>
          <p:cNvSpPr>
            <a:spLocks noGrp="1"/>
          </p:cNvSpPr>
          <p:nvPr>
            <p:ph type="sldNum" sz="quarter" idx="5"/>
          </p:nvPr>
        </p:nvSpPr>
        <p:spPr/>
        <p:txBody>
          <a:bodyPr/>
          <a:lstStyle/>
          <a:p>
            <a:fld id="{A69E7F38-9500-43BA-AA14-C8ECA0FAF65C}" type="slidenum">
              <a:rPr lang="en-US" smtClean="0"/>
              <a:t>17</a:t>
            </a:fld>
            <a:endParaRPr lang="en-US"/>
          </a:p>
        </p:txBody>
      </p:sp>
    </p:spTree>
    <p:extLst>
      <p:ext uri="{BB962C8B-B14F-4D97-AF65-F5344CB8AC3E}">
        <p14:creationId xmlns:p14="http://schemas.microsoft.com/office/powerpoint/2010/main" val="3683528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Semaphore </a:t>
            </a:r>
            <a:r>
              <a:rPr lang="en-US" dirty="0" err="1"/>
              <a:t>cho</a:t>
            </a:r>
            <a:r>
              <a:rPr lang="en-US" dirty="0"/>
              <a:t> </a:t>
            </a:r>
            <a:r>
              <a:rPr lang="en-US" dirty="0" err="1"/>
              <a:t>phép</a:t>
            </a:r>
            <a:r>
              <a:rPr lang="en-US" dirty="0"/>
              <a:t> </a:t>
            </a:r>
            <a:r>
              <a:rPr lang="en-US" dirty="0" err="1"/>
              <a:t>nhiều</a:t>
            </a:r>
            <a:r>
              <a:rPr lang="en-US" dirty="0"/>
              <a:t> process/thread (</a:t>
            </a:r>
            <a:r>
              <a:rPr lang="en-US" dirty="0" err="1"/>
              <a:t>tối</a:t>
            </a:r>
            <a:r>
              <a:rPr lang="en-US" dirty="0"/>
              <a:t> </a:t>
            </a:r>
            <a:r>
              <a:rPr lang="en-US" dirty="0" err="1"/>
              <a:t>đa</a:t>
            </a:r>
            <a:r>
              <a:rPr lang="en-US" dirty="0"/>
              <a:t> </a:t>
            </a:r>
            <a:r>
              <a:rPr lang="en-US" dirty="0" err="1"/>
              <a:t>bằng</a:t>
            </a:r>
            <a:r>
              <a:rPr lang="en-US" dirty="0"/>
              <a:t> </a:t>
            </a:r>
            <a:r>
              <a:rPr lang="en-US" dirty="0" err="1"/>
              <a:t>giá</a:t>
            </a:r>
            <a:r>
              <a:rPr lang="en-US" dirty="0"/>
              <a:t> </a:t>
            </a:r>
            <a:r>
              <a:rPr lang="en-US" dirty="0" err="1"/>
              <a:t>trị</a:t>
            </a:r>
            <a:r>
              <a:rPr lang="en-US" dirty="0"/>
              <a:t> semaphore) </a:t>
            </a:r>
            <a:r>
              <a:rPr lang="en-US" dirty="0" err="1"/>
              <a:t>truy</a:t>
            </a:r>
            <a:r>
              <a:rPr lang="en-US" dirty="0"/>
              <a:t> </a:t>
            </a:r>
            <a:r>
              <a:rPr lang="en-US" dirty="0" err="1"/>
              <a:t>cập</a:t>
            </a:r>
            <a:r>
              <a:rPr lang="en-US" dirty="0"/>
              <a:t> </a:t>
            </a:r>
            <a:r>
              <a:rPr lang="en-US" dirty="0" err="1"/>
              <a:t>tài</a:t>
            </a:r>
            <a:r>
              <a:rPr lang="en-US" dirty="0"/>
              <a:t> </a:t>
            </a:r>
            <a:r>
              <a:rPr lang="en-US" dirty="0" err="1"/>
              <a:t>nguyên</a:t>
            </a:r>
            <a:r>
              <a:rPr lang="en-US" dirty="0"/>
              <a:t> </a:t>
            </a:r>
            <a:r>
              <a:rPr lang="en-US" dirty="0" err="1"/>
              <a:t>cùng</a:t>
            </a:r>
            <a:r>
              <a:rPr lang="en-US" dirty="0"/>
              <a:t> </a:t>
            </a:r>
            <a:r>
              <a:rPr lang="en-US" dirty="0" err="1"/>
              <a:t>lúc</a:t>
            </a:r>
            <a:endParaRPr lang="en-US" dirty="0"/>
          </a:p>
          <a:p>
            <a:r>
              <a:rPr lang="en-US" dirty="0" err="1"/>
              <a:t>Còn</a:t>
            </a:r>
            <a:r>
              <a:rPr lang="en-US" dirty="0"/>
              <a:t> Binary semaphore </a:t>
            </a:r>
            <a:r>
              <a:rPr lang="en-US" dirty="0" err="1"/>
              <a:t>thì</a:t>
            </a:r>
            <a:r>
              <a:rPr lang="en-US" dirty="0"/>
              <a:t> </a:t>
            </a:r>
            <a:r>
              <a:rPr lang="en-US" dirty="0" err="1"/>
              <a:t>chỉ</a:t>
            </a:r>
            <a:r>
              <a:rPr lang="en-US" dirty="0"/>
              <a:t> </a:t>
            </a:r>
            <a:r>
              <a:rPr lang="en-US" dirty="0" err="1"/>
              <a:t>có</a:t>
            </a:r>
            <a:r>
              <a:rPr lang="en-US" dirty="0"/>
              <a:t> 0 </a:t>
            </a:r>
            <a:r>
              <a:rPr lang="en-US" dirty="0" err="1"/>
              <a:t>và</a:t>
            </a:r>
            <a:r>
              <a:rPr lang="en-US" dirty="0"/>
              <a:t> 1 </a:t>
            </a:r>
            <a:r>
              <a:rPr lang="en-US" dirty="0" err="1"/>
              <a:t>nên</a:t>
            </a:r>
            <a:r>
              <a:rPr lang="en-US" dirty="0"/>
              <a:t> </a:t>
            </a:r>
            <a:r>
              <a:rPr lang="en-US" dirty="0" err="1"/>
              <a:t>chỉ</a:t>
            </a:r>
            <a:r>
              <a:rPr lang="en-US" dirty="0"/>
              <a:t> </a:t>
            </a:r>
            <a:r>
              <a:rPr lang="en-US" dirty="0" err="1"/>
              <a:t>có</a:t>
            </a:r>
            <a:r>
              <a:rPr lang="en-US" dirty="0"/>
              <a:t> </a:t>
            </a:r>
            <a:r>
              <a:rPr lang="en-US" dirty="0" err="1"/>
              <a:t>tối</a:t>
            </a:r>
            <a:r>
              <a:rPr lang="en-US" dirty="0"/>
              <a:t> </a:t>
            </a:r>
            <a:r>
              <a:rPr lang="en-US" dirty="0" err="1"/>
              <a:t>đa</a:t>
            </a:r>
            <a:r>
              <a:rPr lang="en-US" dirty="0"/>
              <a:t> 1 </a:t>
            </a:r>
            <a:r>
              <a:rPr lang="en-US" dirty="0" err="1"/>
              <a:t>procss</a:t>
            </a:r>
            <a:endParaRPr lang="en-US" dirty="0"/>
          </a:p>
          <a:p>
            <a:endParaRPr lang="en-US" dirty="0"/>
          </a:p>
          <a:p>
            <a:r>
              <a:rPr lang="en-US" dirty="0"/>
              <a:t>----- </a:t>
            </a:r>
            <a:r>
              <a:rPr lang="en-US" dirty="0" err="1"/>
              <a:t>có</a:t>
            </a:r>
            <a:r>
              <a:rPr lang="en-US" dirty="0"/>
              <a:t> busy waiting ---------</a:t>
            </a:r>
          </a:p>
          <a:p>
            <a:endParaRPr lang="en-US" dirty="0"/>
          </a:p>
          <a:p>
            <a:r>
              <a:rPr lang="en-US" dirty="0"/>
              <a:t>Wait(): </a:t>
            </a:r>
            <a:r>
              <a:rPr lang="en-US" dirty="0" err="1"/>
              <a:t>dùng</a:t>
            </a:r>
            <a:r>
              <a:rPr lang="en-US" dirty="0"/>
              <a:t> </a:t>
            </a:r>
            <a:r>
              <a:rPr lang="en-US" dirty="0" err="1"/>
              <a:t>để</a:t>
            </a:r>
            <a:r>
              <a:rPr lang="en-US" dirty="0"/>
              <a:t> </a:t>
            </a:r>
            <a:r>
              <a:rPr lang="en-US" dirty="0" err="1"/>
              <a:t>xin</a:t>
            </a:r>
            <a:r>
              <a:rPr lang="en-US" dirty="0"/>
              <a:t> </a:t>
            </a:r>
            <a:r>
              <a:rPr lang="en-US" dirty="0" err="1"/>
              <a:t>quyền</a:t>
            </a:r>
            <a:r>
              <a:rPr lang="en-US" dirty="0"/>
              <a:t> </a:t>
            </a:r>
            <a:r>
              <a:rPr lang="en-US" dirty="0" err="1"/>
              <a:t>dùng</a:t>
            </a:r>
            <a:r>
              <a:rPr lang="en-US" dirty="0"/>
              <a:t> </a:t>
            </a:r>
            <a:r>
              <a:rPr lang="en-US" dirty="0" err="1"/>
              <a:t>tài</a:t>
            </a:r>
            <a:r>
              <a:rPr lang="en-US" dirty="0"/>
              <a:t> </a:t>
            </a:r>
            <a:r>
              <a:rPr lang="en-US" dirty="0" err="1"/>
              <a:t>nguyên</a:t>
            </a:r>
            <a:endParaRPr lang="en-US" dirty="0"/>
          </a:p>
          <a:p>
            <a:r>
              <a:rPr lang="en-US" dirty="0" err="1"/>
              <a:t>Vd</a:t>
            </a:r>
            <a:r>
              <a:rPr lang="en-US" dirty="0"/>
              <a:t>: S &gt; 0 </a:t>
            </a:r>
            <a:r>
              <a:rPr lang="en-US" dirty="0" err="1"/>
              <a:t>thì</a:t>
            </a:r>
            <a:r>
              <a:rPr lang="en-US" dirty="0"/>
              <a:t> </a:t>
            </a:r>
            <a:r>
              <a:rPr lang="en-US" dirty="0" err="1"/>
              <a:t>còn</a:t>
            </a:r>
            <a:r>
              <a:rPr lang="en-US" dirty="0"/>
              <a:t> </a:t>
            </a:r>
            <a:r>
              <a:rPr lang="en-US" dirty="0" err="1"/>
              <a:t>tài</a:t>
            </a:r>
            <a:r>
              <a:rPr lang="en-US" dirty="0"/>
              <a:t> </a:t>
            </a:r>
            <a:r>
              <a:rPr lang="en-US" dirty="0" err="1"/>
              <a:t>nguyên</a:t>
            </a:r>
            <a:r>
              <a:rPr lang="en-US" dirty="0"/>
              <a:t>, process, </a:t>
            </a:r>
            <a:r>
              <a:rPr lang="en-US" dirty="0" err="1"/>
              <a:t>và</a:t>
            </a:r>
            <a:r>
              <a:rPr lang="en-US" dirty="0"/>
              <a:t> </a:t>
            </a:r>
            <a:r>
              <a:rPr lang="en-US" dirty="0" err="1"/>
              <a:t>giảm</a:t>
            </a:r>
            <a:r>
              <a:rPr lang="en-US" dirty="0"/>
              <a:t> S </a:t>
            </a:r>
            <a:r>
              <a:rPr lang="en-US" dirty="0" err="1"/>
              <a:t>đi</a:t>
            </a:r>
            <a:r>
              <a:rPr lang="en-US" dirty="0"/>
              <a:t> 1 </a:t>
            </a:r>
            <a:r>
              <a:rPr lang="en-US" dirty="0" err="1"/>
              <a:t>rồi</a:t>
            </a:r>
            <a:r>
              <a:rPr lang="en-US" dirty="0"/>
              <a:t> </a:t>
            </a:r>
            <a:r>
              <a:rPr lang="en-US" dirty="0" err="1"/>
              <a:t>tiếp</a:t>
            </a:r>
            <a:r>
              <a:rPr lang="en-US" dirty="0"/>
              <a:t> </a:t>
            </a:r>
            <a:r>
              <a:rPr lang="en-US" dirty="0" err="1"/>
              <a:t>tục</a:t>
            </a:r>
            <a:endParaRPr lang="en-US" dirty="0"/>
          </a:p>
          <a:p>
            <a:r>
              <a:rPr lang="en-US" dirty="0"/>
              <a:t>S &lt;= 0 </a:t>
            </a:r>
            <a:r>
              <a:rPr lang="en-US" dirty="0" err="1"/>
              <a:t>thì</a:t>
            </a:r>
            <a:r>
              <a:rPr lang="en-US" dirty="0"/>
              <a:t> process </a:t>
            </a:r>
            <a:r>
              <a:rPr lang="en-US" dirty="0" err="1"/>
              <a:t>phải</a:t>
            </a:r>
            <a:r>
              <a:rPr lang="en-US" dirty="0"/>
              <a:t> </a:t>
            </a:r>
            <a:r>
              <a:rPr lang="en-US" dirty="0" err="1"/>
              <a:t>chờ</a:t>
            </a:r>
            <a:endParaRPr lang="en-US" dirty="0"/>
          </a:p>
          <a:p>
            <a:endParaRPr lang="en-US" dirty="0"/>
          </a:p>
          <a:p>
            <a:r>
              <a:rPr lang="en-US" dirty="0"/>
              <a:t>Signal(): </a:t>
            </a:r>
            <a:r>
              <a:rPr lang="en-US" dirty="0" err="1"/>
              <a:t>dùng</a:t>
            </a:r>
            <a:r>
              <a:rPr lang="en-US" dirty="0"/>
              <a:t> </a:t>
            </a:r>
            <a:r>
              <a:rPr lang="en-US" dirty="0" err="1"/>
              <a:t>để</a:t>
            </a:r>
            <a:r>
              <a:rPr lang="en-US" dirty="0"/>
              <a:t> </a:t>
            </a:r>
            <a:r>
              <a:rPr lang="en-US" dirty="0" err="1"/>
              <a:t>trả</a:t>
            </a:r>
            <a:r>
              <a:rPr lang="en-US" dirty="0"/>
              <a:t> </a:t>
            </a:r>
            <a:r>
              <a:rPr lang="en-US" dirty="0" err="1"/>
              <a:t>lại</a:t>
            </a:r>
            <a:r>
              <a:rPr lang="en-US" dirty="0"/>
              <a:t> </a:t>
            </a:r>
            <a:r>
              <a:rPr lang="en-US" dirty="0" err="1"/>
              <a:t>tài</a:t>
            </a:r>
            <a:r>
              <a:rPr lang="en-US" dirty="0"/>
              <a:t> </a:t>
            </a:r>
            <a:r>
              <a:rPr lang="en-US" dirty="0" err="1"/>
              <a:t>nguyên</a:t>
            </a:r>
            <a:r>
              <a:rPr lang="en-US" dirty="0"/>
              <a:t> (</a:t>
            </a:r>
            <a:r>
              <a:rPr lang="en-US" dirty="0" err="1"/>
              <a:t>bằng</a:t>
            </a:r>
            <a:r>
              <a:rPr lang="en-US" dirty="0"/>
              <a:t> </a:t>
            </a:r>
            <a:r>
              <a:rPr lang="en-US" dirty="0" err="1"/>
              <a:t>cách</a:t>
            </a:r>
            <a:r>
              <a:rPr lang="en-US" dirty="0"/>
              <a:t> </a:t>
            </a:r>
            <a:r>
              <a:rPr lang="en-US" dirty="0" err="1"/>
              <a:t>tăng</a:t>
            </a:r>
            <a:r>
              <a:rPr lang="en-US" dirty="0"/>
              <a:t> </a:t>
            </a:r>
            <a:r>
              <a:rPr lang="en-US" dirty="0" err="1"/>
              <a:t>giá</a:t>
            </a:r>
            <a:r>
              <a:rPr lang="en-US" dirty="0"/>
              <a:t> </a:t>
            </a:r>
            <a:r>
              <a:rPr lang="en-US" dirty="0" err="1"/>
              <a:t>trị</a:t>
            </a:r>
            <a:r>
              <a:rPr lang="en-US" dirty="0"/>
              <a:t> semaphore S++ </a:t>
            </a:r>
            <a:r>
              <a:rPr lang="en-US" dirty="0" err="1"/>
              <a:t>và</a:t>
            </a:r>
            <a:r>
              <a:rPr lang="en-US" dirty="0"/>
              <a:t> </a:t>
            </a:r>
            <a:r>
              <a:rPr lang="en-US" dirty="0" err="1"/>
              <a:t>đánh</a:t>
            </a:r>
            <a:r>
              <a:rPr lang="en-US" dirty="0"/>
              <a:t> </a:t>
            </a:r>
            <a:r>
              <a:rPr lang="en-US" dirty="0" err="1"/>
              <a:t>thức</a:t>
            </a:r>
            <a:r>
              <a:rPr lang="en-US" dirty="0"/>
              <a:t> process </a:t>
            </a:r>
            <a:r>
              <a:rPr lang="en-US" dirty="0" err="1"/>
              <a:t>trong</a:t>
            </a:r>
            <a:r>
              <a:rPr lang="en-US" dirty="0"/>
              <a:t> waiting queue)</a:t>
            </a:r>
          </a:p>
          <a:p>
            <a:endParaRPr lang="en-US" dirty="0"/>
          </a:p>
          <a:p>
            <a:r>
              <a:rPr lang="en-US" dirty="0" err="1"/>
              <a:t>Vd</a:t>
            </a:r>
            <a:r>
              <a:rPr lang="en-US" dirty="0"/>
              <a:t>: Process </a:t>
            </a:r>
            <a:r>
              <a:rPr lang="en-US" dirty="0" err="1"/>
              <a:t>đang</a:t>
            </a:r>
            <a:r>
              <a:rPr lang="en-US" dirty="0"/>
              <a:t> </a:t>
            </a:r>
            <a:r>
              <a:rPr lang="en-US" dirty="0" err="1"/>
              <a:t>giữ</a:t>
            </a:r>
            <a:r>
              <a:rPr lang="en-US" dirty="0"/>
              <a:t> semaphore/</a:t>
            </a:r>
            <a:r>
              <a:rPr lang="en-US" dirty="0" err="1"/>
              <a:t>tài</a:t>
            </a:r>
            <a:r>
              <a:rPr lang="en-US" dirty="0"/>
              <a:t> </a:t>
            </a:r>
            <a:r>
              <a:rPr lang="en-US" dirty="0" err="1"/>
              <a:t>nguyên</a:t>
            </a:r>
            <a:r>
              <a:rPr lang="en-US" dirty="0"/>
              <a:t> </a:t>
            </a:r>
            <a:r>
              <a:rPr lang="en-US" dirty="0" err="1"/>
              <a:t>sẽ</a:t>
            </a:r>
            <a:r>
              <a:rPr lang="en-US" dirty="0"/>
              <a:t> </a:t>
            </a:r>
            <a:r>
              <a:rPr lang="en-US" dirty="0" err="1"/>
              <a:t>gọi</a:t>
            </a:r>
            <a:r>
              <a:rPr lang="en-US" dirty="0"/>
              <a:t> </a:t>
            </a:r>
            <a:r>
              <a:rPr lang="en-US" sz="1200" kern="1200" dirty="0">
                <a:solidFill>
                  <a:schemeClr val="tx1"/>
                </a:solidFill>
                <a:latin typeface="+mn-lt"/>
                <a:ea typeface="+mn-ea"/>
                <a:cs typeface="+mn-cs"/>
              </a:rPr>
              <a:t>signal()</a:t>
            </a:r>
            <a:r>
              <a:rPr lang="en-US" dirty="0"/>
              <a:t>. Process </a:t>
            </a:r>
            <a:r>
              <a:rPr lang="en-US" dirty="0" err="1"/>
              <a:t>khác</a:t>
            </a:r>
            <a:r>
              <a:rPr lang="en-US" dirty="0"/>
              <a:t> </a:t>
            </a:r>
            <a:r>
              <a:rPr lang="en-US" dirty="0" err="1"/>
              <a:t>đang</a:t>
            </a:r>
            <a:r>
              <a:rPr lang="en-US" dirty="0"/>
              <a:t> </a:t>
            </a:r>
            <a:r>
              <a:rPr lang="en-US" dirty="0" err="1"/>
              <a:t>chờ</a:t>
            </a:r>
            <a:r>
              <a:rPr lang="en-US" dirty="0"/>
              <a:t> </a:t>
            </a:r>
            <a:r>
              <a:rPr lang="en-US" dirty="0" err="1"/>
              <a:t>sẽ</a:t>
            </a:r>
            <a:r>
              <a:rPr lang="en-US" dirty="0"/>
              <a:t> </a:t>
            </a:r>
            <a:r>
              <a:rPr lang="en-US" dirty="0" err="1"/>
              <a:t>chạy</a:t>
            </a:r>
            <a:r>
              <a:rPr lang="en-US" dirty="0"/>
              <a:t> </a:t>
            </a:r>
            <a:r>
              <a:rPr lang="en-US" dirty="0" err="1"/>
              <a:t>vòng</a:t>
            </a:r>
            <a:r>
              <a:rPr lang="en-US" dirty="0"/>
              <a:t> </a:t>
            </a:r>
            <a:r>
              <a:rPr lang="en-US" sz="1200" kern="1200" dirty="0">
                <a:solidFill>
                  <a:schemeClr val="tx1"/>
                </a:solidFill>
                <a:latin typeface="+mn-lt"/>
                <a:ea typeface="+mn-ea"/>
                <a:cs typeface="+mn-cs"/>
              </a:rPr>
              <a:t>wait()</a:t>
            </a:r>
            <a:r>
              <a:rPr lang="en-US" dirty="0"/>
              <a:t>.</a:t>
            </a:r>
          </a:p>
          <a:p>
            <a:r>
              <a:rPr lang="en-US" dirty="0"/>
              <a:t>P1</a:t>
            </a:r>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19</a:t>
            </a:fld>
            <a:endParaRPr lang="en-US"/>
          </a:p>
        </p:txBody>
      </p:sp>
    </p:spTree>
    <p:extLst>
      <p:ext uri="{BB962C8B-B14F-4D97-AF65-F5344CB8AC3E}">
        <p14:creationId xmlns:p14="http://schemas.microsoft.com/office/powerpoint/2010/main" val="2548774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force statement S1 to happen before S2</a:t>
            </a:r>
          </a:p>
        </p:txBody>
      </p:sp>
      <p:sp>
        <p:nvSpPr>
          <p:cNvPr id="4" name="Slide Number Placeholder 3"/>
          <p:cNvSpPr>
            <a:spLocks noGrp="1"/>
          </p:cNvSpPr>
          <p:nvPr>
            <p:ph type="sldNum" sz="quarter" idx="5"/>
          </p:nvPr>
        </p:nvSpPr>
        <p:spPr/>
        <p:txBody>
          <a:bodyPr/>
          <a:lstStyle/>
          <a:p>
            <a:fld id="{A69E7F38-9500-43BA-AA14-C8ECA0FAF65C}" type="slidenum">
              <a:rPr lang="en-US" smtClean="0"/>
              <a:t>20</a:t>
            </a:fld>
            <a:endParaRPr lang="en-US"/>
          </a:p>
        </p:txBody>
      </p:sp>
    </p:spTree>
    <p:extLst>
      <p:ext uri="{BB962C8B-B14F-4D97-AF65-F5344CB8AC3E}">
        <p14:creationId xmlns:p14="http://schemas.microsoft.com/office/powerpoint/2010/main" val="785644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 place the process  in waiting queue</a:t>
            </a:r>
          </a:p>
          <a:p>
            <a:endParaRPr lang="en-US" dirty="0"/>
          </a:p>
          <a:p>
            <a:r>
              <a:rPr lang="en-US" dirty="0"/>
              <a:t>Wakeup() – move waiting process to ready process</a:t>
            </a:r>
          </a:p>
        </p:txBody>
      </p:sp>
      <p:sp>
        <p:nvSpPr>
          <p:cNvPr id="4" name="Slide Number Placeholder 3"/>
          <p:cNvSpPr>
            <a:spLocks noGrp="1"/>
          </p:cNvSpPr>
          <p:nvPr>
            <p:ph type="sldNum" sz="quarter" idx="5"/>
          </p:nvPr>
        </p:nvSpPr>
        <p:spPr/>
        <p:txBody>
          <a:bodyPr/>
          <a:lstStyle/>
          <a:p>
            <a:fld id="{A69E7F38-9500-43BA-AA14-C8ECA0FAF65C}" type="slidenum">
              <a:rPr lang="en-US" smtClean="0"/>
              <a:t>22</a:t>
            </a:fld>
            <a:endParaRPr lang="en-US"/>
          </a:p>
        </p:txBody>
      </p:sp>
    </p:spTree>
    <p:extLst>
      <p:ext uri="{BB962C8B-B14F-4D97-AF65-F5344CB8AC3E}">
        <p14:creationId xmlns:p14="http://schemas.microsoft.com/office/powerpoint/2010/main" val="1658735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Busy waiting					No busy waiting</a:t>
            </a:r>
          </a:p>
          <a:p>
            <a:r>
              <a:rPr lang="en-US" dirty="0"/>
              <a:t>Process </a:t>
            </a:r>
            <a:r>
              <a:rPr lang="en-US" dirty="0" err="1"/>
              <a:t>liên</a:t>
            </a:r>
            <a:r>
              <a:rPr lang="en-US" dirty="0"/>
              <a:t> </a:t>
            </a:r>
            <a:r>
              <a:rPr lang="en-US" dirty="0" err="1"/>
              <a:t>tục</a:t>
            </a:r>
            <a:r>
              <a:rPr lang="en-US" dirty="0"/>
              <a:t> </a:t>
            </a:r>
            <a:r>
              <a:rPr lang="en-US" dirty="0" err="1"/>
              <a:t>kiểm</a:t>
            </a:r>
            <a:r>
              <a:rPr lang="en-US" dirty="0"/>
              <a:t> </a:t>
            </a:r>
            <a:r>
              <a:rPr lang="en-US" dirty="0" err="1"/>
              <a:t>tra</a:t>
            </a:r>
            <a:r>
              <a:rPr lang="en-US" dirty="0"/>
              <a:t> 				Process </a:t>
            </a:r>
            <a:r>
              <a:rPr lang="en-US" dirty="0" err="1"/>
              <a:t>bị</a:t>
            </a:r>
            <a:r>
              <a:rPr lang="en-US" dirty="0"/>
              <a:t> block</a:t>
            </a:r>
          </a:p>
          <a:p>
            <a:r>
              <a:rPr lang="en-US" dirty="0" err="1"/>
              <a:t>Vẫn</a:t>
            </a:r>
            <a:r>
              <a:rPr lang="en-US" dirty="0"/>
              <a:t> </a:t>
            </a:r>
            <a:r>
              <a:rPr lang="en-US" dirty="0" err="1"/>
              <a:t>sử</a:t>
            </a:r>
            <a:r>
              <a:rPr lang="en-US" dirty="0"/>
              <a:t> </a:t>
            </a:r>
            <a:r>
              <a:rPr lang="en-US" dirty="0" err="1"/>
              <a:t>dụng</a:t>
            </a:r>
            <a:r>
              <a:rPr lang="en-US" dirty="0"/>
              <a:t> CPU				</a:t>
            </a:r>
            <a:r>
              <a:rPr lang="en-US" dirty="0" err="1"/>
              <a:t>Nhường</a:t>
            </a:r>
            <a:r>
              <a:rPr lang="en-US" dirty="0"/>
              <a:t> CPU</a:t>
            </a:r>
          </a:p>
          <a:p>
            <a:r>
              <a:rPr lang="en-US" dirty="0" err="1"/>
              <a:t>Không</a:t>
            </a:r>
            <a:r>
              <a:rPr lang="en-US" dirty="0"/>
              <a:t> </a:t>
            </a:r>
            <a:r>
              <a:rPr lang="en-US" dirty="0" err="1"/>
              <a:t>cần</a:t>
            </a:r>
            <a:r>
              <a:rPr lang="en-US" dirty="0"/>
              <a:t> waiting queue </a:t>
            </a:r>
            <a:r>
              <a:rPr lang="en-US" dirty="0" err="1"/>
              <a:t>theo</a:t>
            </a:r>
            <a:r>
              <a:rPr lang="en-US" dirty="0"/>
              <a:t> </a:t>
            </a:r>
            <a:r>
              <a:rPr lang="en-US" dirty="0" err="1"/>
              <a:t>kiểu</a:t>
            </a:r>
            <a:r>
              <a:rPr lang="en-US" dirty="0"/>
              <a:t> block/wakeup		</a:t>
            </a:r>
            <a:r>
              <a:rPr lang="en-US" dirty="0" err="1"/>
              <a:t>Có</a:t>
            </a:r>
            <a:r>
              <a:rPr lang="en-US" dirty="0"/>
              <a:t> waiting queue</a:t>
            </a:r>
          </a:p>
          <a:p>
            <a:r>
              <a:rPr lang="en-US" dirty="0"/>
              <a:t>Thường </a:t>
            </a:r>
            <a:r>
              <a:rPr lang="en-US" dirty="0" err="1"/>
              <a:t>gọi</a:t>
            </a:r>
            <a:r>
              <a:rPr lang="en-US" dirty="0"/>
              <a:t> </a:t>
            </a:r>
            <a:r>
              <a:rPr lang="en-US" dirty="0" err="1"/>
              <a:t>là</a:t>
            </a:r>
            <a:r>
              <a:rPr lang="en-US" dirty="0"/>
              <a:t> spinlock				</a:t>
            </a:r>
            <a:r>
              <a:rPr lang="en-US" dirty="0" err="1"/>
              <a:t>Dùng</a:t>
            </a:r>
            <a:r>
              <a:rPr lang="en-US" dirty="0"/>
              <a:t> </a:t>
            </a:r>
            <a:r>
              <a:rPr lang="en-US" sz="1200" kern="1200" dirty="0">
                <a:solidFill>
                  <a:schemeClr val="tx1"/>
                </a:solidFill>
                <a:latin typeface="+mn-lt"/>
                <a:ea typeface="+mn-ea"/>
                <a:cs typeface="+mn-cs"/>
              </a:rPr>
              <a:t>block()</a:t>
            </a:r>
            <a:r>
              <a:rPr lang="en-US" dirty="0"/>
              <a:t> </a:t>
            </a:r>
            <a:r>
              <a:rPr lang="en-US" dirty="0" err="1"/>
              <a:t>và</a:t>
            </a:r>
            <a:r>
              <a:rPr lang="en-US" dirty="0"/>
              <a:t> </a:t>
            </a:r>
            <a:r>
              <a:rPr lang="en-US" sz="1200" kern="1200" dirty="0">
                <a:solidFill>
                  <a:schemeClr val="tx1"/>
                </a:solidFill>
                <a:latin typeface="+mn-lt"/>
                <a:ea typeface="+mn-ea"/>
                <a:cs typeface="+mn-cs"/>
              </a:rPr>
              <a:t>wakeup()</a:t>
            </a:r>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23</a:t>
            </a:fld>
            <a:endParaRPr lang="en-US"/>
          </a:p>
        </p:txBody>
      </p:sp>
    </p:spTree>
    <p:extLst>
      <p:ext uri="{BB962C8B-B14F-4D97-AF65-F5344CB8AC3E}">
        <p14:creationId xmlns:p14="http://schemas.microsoft.com/office/powerpoint/2010/main" val="880756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mutex = 1 </a:t>
            </a:r>
            <a:r>
              <a:rPr lang="en-US" dirty="0" err="1"/>
              <a:t>được</a:t>
            </a:r>
            <a:r>
              <a:rPr lang="en-US" dirty="0"/>
              <a:t> initialized ban </a:t>
            </a:r>
            <a:r>
              <a:rPr lang="en-US" dirty="0" err="1"/>
              <a:t>đầu</a:t>
            </a:r>
            <a:r>
              <a:rPr lang="en-US" dirty="0"/>
              <a:t> </a:t>
            </a:r>
            <a:r>
              <a:rPr lang="en-US" dirty="0" err="1"/>
              <a:t>nghĩa</a:t>
            </a:r>
            <a:r>
              <a:rPr lang="en-US" dirty="0"/>
              <a:t> </a:t>
            </a:r>
            <a:r>
              <a:rPr lang="en-US" dirty="0" err="1"/>
              <a:t>là</a:t>
            </a:r>
            <a:r>
              <a:rPr lang="en-US" dirty="0"/>
              <a:t> </a:t>
            </a:r>
            <a:r>
              <a:rPr lang="en-US" dirty="0" err="1"/>
              <a:t>cho</a:t>
            </a:r>
            <a:r>
              <a:rPr lang="en-US" dirty="0"/>
              <a:t> </a:t>
            </a:r>
            <a:r>
              <a:rPr lang="en-US" dirty="0" err="1"/>
              <a:t>phép</a:t>
            </a:r>
            <a:r>
              <a:rPr lang="en-US" dirty="0"/>
              <a:t> 1 process </a:t>
            </a:r>
            <a:r>
              <a:rPr lang="en-US" dirty="0" err="1"/>
              <a:t>đi</a:t>
            </a:r>
            <a:r>
              <a:rPr lang="en-US" dirty="0"/>
              <a:t> </a:t>
            </a:r>
            <a:r>
              <a:rPr lang="en-US" dirty="0" err="1"/>
              <a:t>vào</a:t>
            </a:r>
            <a:r>
              <a:rPr lang="en-US" dirty="0"/>
              <a:t> critical section</a:t>
            </a:r>
          </a:p>
          <a:p>
            <a:r>
              <a:rPr lang="en-US" dirty="0"/>
              <a:t>Empty = n  </a:t>
            </a:r>
            <a:r>
              <a:rPr lang="en-US" dirty="0" err="1"/>
              <a:t>còn</a:t>
            </a:r>
            <a:r>
              <a:rPr lang="en-US" dirty="0"/>
              <a:t> </a:t>
            </a:r>
            <a:r>
              <a:rPr lang="en-US" dirty="0" err="1"/>
              <a:t>bnhiu</a:t>
            </a:r>
            <a:r>
              <a:rPr lang="en-US" dirty="0"/>
              <a:t> ô </a:t>
            </a:r>
            <a:r>
              <a:rPr lang="en-US" dirty="0" err="1"/>
              <a:t>trống</a:t>
            </a:r>
            <a:endParaRPr lang="en-US" dirty="0"/>
          </a:p>
          <a:p>
            <a:r>
              <a:rPr lang="en-US" dirty="0"/>
              <a:t>Full = 0	</a:t>
            </a:r>
            <a:r>
              <a:rPr lang="en-US" dirty="0" err="1"/>
              <a:t>có</a:t>
            </a:r>
            <a:r>
              <a:rPr lang="en-US" dirty="0"/>
              <a:t> </a:t>
            </a:r>
            <a:r>
              <a:rPr lang="en-US" dirty="0" err="1"/>
              <a:t>bnhiu</a:t>
            </a:r>
            <a:r>
              <a:rPr lang="en-US" dirty="0"/>
              <a:t> item</a:t>
            </a:r>
          </a:p>
        </p:txBody>
      </p:sp>
      <p:sp>
        <p:nvSpPr>
          <p:cNvPr id="4" name="Slide Number Placeholder 3"/>
          <p:cNvSpPr>
            <a:spLocks noGrp="1"/>
          </p:cNvSpPr>
          <p:nvPr>
            <p:ph type="sldNum" sz="quarter" idx="5"/>
          </p:nvPr>
        </p:nvSpPr>
        <p:spPr/>
        <p:txBody>
          <a:bodyPr/>
          <a:lstStyle/>
          <a:p>
            <a:fld id="{A69E7F38-9500-43BA-AA14-C8ECA0FAF65C}" type="slidenum">
              <a:rPr lang="en-US" smtClean="0"/>
              <a:t>25</a:t>
            </a:fld>
            <a:endParaRPr lang="en-US"/>
          </a:p>
        </p:txBody>
      </p:sp>
    </p:spTree>
    <p:extLst>
      <p:ext uri="{BB962C8B-B14F-4D97-AF65-F5344CB8AC3E}">
        <p14:creationId xmlns:p14="http://schemas.microsoft.com/office/powerpoint/2010/main" val="2146020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a:t>
            </a:r>
            <a:r>
              <a:rPr lang="en-US" dirty="0" err="1"/>
              <a:t>bài</a:t>
            </a:r>
            <a:r>
              <a:rPr lang="en-US" dirty="0"/>
              <a:t> </a:t>
            </a:r>
            <a:r>
              <a:rPr lang="en-US" dirty="0" err="1"/>
              <a:t>toán</a:t>
            </a:r>
            <a:r>
              <a:rPr lang="en-US" dirty="0"/>
              <a:t> </a:t>
            </a:r>
            <a:r>
              <a:rPr lang="en-US" dirty="0" err="1"/>
              <a:t>trước</a:t>
            </a:r>
            <a:r>
              <a:rPr lang="en-US" dirty="0"/>
              <a:t> </a:t>
            </a:r>
            <a:r>
              <a:rPr lang="en-US" dirty="0" err="1"/>
              <a:t>chỉ</a:t>
            </a:r>
            <a:r>
              <a:rPr lang="en-US" dirty="0"/>
              <a:t> </a:t>
            </a:r>
            <a:r>
              <a:rPr lang="en-US" dirty="0" err="1"/>
              <a:t>giải</a:t>
            </a:r>
            <a:r>
              <a:rPr lang="en-US" dirty="0"/>
              <a:t> </a:t>
            </a:r>
            <a:r>
              <a:rPr lang="en-US" dirty="0" err="1"/>
              <a:t>quyết</a:t>
            </a:r>
            <a:r>
              <a:rPr lang="en-US" dirty="0"/>
              <a:t> </a:t>
            </a:r>
            <a:r>
              <a:rPr lang="en-US" dirty="0" err="1"/>
              <a:t>vấn</a:t>
            </a:r>
            <a:r>
              <a:rPr lang="en-US" dirty="0"/>
              <a:t> </a:t>
            </a:r>
            <a:r>
              <a:rPr lang="en-US" dirty="0" err="1"/>
              <a:t>đề”Mutual</a:t>
            </a:r>
            <a:r>
              <a:rPr lang="en-US" dirty="0"/>
              <a:t> exclusion”</a:t>
            </a:r>
          </a:p>
          <a:p>
            <a:endParaRPr lang="en-US" dirty="0"/>
          </a:p>
          <a:p>
            <a:r>
              <a:rPr lang="en-US" dirty="0" err="1"/>
              <a:t>Bài</a:t>
            </a:r>
            <a:r>
              <a:rPr lang="en-US" dirty="0"/>
              <a:t> </a:t>
            </a:r>
            <a:r>
              <a:rPr lang="en-US" dirty="0" err="1"/>
              <a:t>này</a:t>
            </a:r>
            <a:r>
              <a:rPr lang="en-US" dirty="0"/>
              <a:t> </a:t>
            </a:r>
            <a:r>
              <a:rPr lang="en-US" dirty="0" err="1"/>
              <a:t>cũng</a:t>
            </a:r>
            <a:r>
              <a:rPr lang="en-US" dirty="0"/>
              <a:t> </a:t>
            </a:r>
            <a:r>
              <a:rPr lang="en-US" dirty="0" err="1"/>
              <a:t>vậy</a:t>
            </a:r>
            <a:r>
              <a:rPr lang="en-US" dirty="0"/>
              <a:t> </a:t>
            </a:r>
            <a:r>
              <a:rPr lang="en-US" dirty="0" err="1"/>
              <a:t>nhưng</a:t>
            </a:r>
            <a:r>
              <a:rPr lang="en-US" dirty="0"/>
              <a:t> them 2 </a:t>
            </a:r>
            <a:r>
              <a:rPr lang="en-US" dirty="0" err="1"/>
              <a:t>điều</a:t>
            </a:r>
            <a:r>
              <a:rPr lang="en-US" dirty="0"/>
              <a:t> </a:t>
            </a:r>
            <a:r>
              <a:rPr lang="en-US" dirty="0" err="1"/>
              <a:t>kiện</a:t>
            </a:r>
            <a:r>
              <a:rPr lang="en-US" dirty="0"/>
              <a:t>: Producer ko dc them </a:t>
            </a:r>
            <a:r>
              <a:rPr lang="en-US" dirty="0" err="1"/>
              <a:t>khi</a:t>
            </a:r>
            <a:r>
              <a:rPr lang="en-US" dirty="0"/>
              <a:t> buffer </a:t>
            </a:r>
            <a:r>
              <a:rPr lang="en-US" dirty="0" err="1"/>
              <a:t>đầy</a:t>
            </a:r>
            <a:r>
              <a:rPr lang="en-US" dirty="0"/>
              <a:t>, Consumer ko dc </a:t>
            </a:r>
            <a:r>
              <a:rPr lang="en-US" dirty="0" err="1"/>
              <a:t>lấy</a:t>
            </a:r>
            <a:r>
              <a:rPr lang="en-US" dirty="0"/>
              <a:t> </a:t>
            </a:r>
            <a:r>
              <a:rPr lang="en-US" dirty="0" err="1"/>
              <a:t>khi</a:t>
            </a:r>
            <a:r>
              <a:rPr lang="en-US" dirty="0"/>
              <a:t> buffer </a:t>
            </a:r>
            <a:r>
              <a:rPr lang="en-US" dirty="0" err="1"/>
              <a:t>rỗng</a:t>
            </a:r>
            <a:endParaRPr lang="en-US" dirty="0"/>
          </a:p>
          <a:p>
            <a:endParaRPr lang="en-US" dirty="0"/>
          </a:p>
          <a:p>
            <a:r>
              <a:rPr lang="en-US" dirty="0"/>
              <a:t>Producer: </a:t>
            </a:r>
          </a:p>
          <a:p>
            <a:pPr marL="228600" indent="-228600">
              <a:buAutoNum type="arabicParenR"/>
            </a:pPr>
            <a:r>
              <a:rPr lang="en-US" dirty="0" err="1"/>
              <a:t>tạo</a:t>
            </a:r>
            <a:r>
              <a:rPr lang="en-US" dirty="0"/>
              <a:t> item</a:t>
            </a:r>
          </a:p>
          <a:p>
            <a:pPr marL="228600" indent="-228600">
              <a:buAutoNum type="arabicParenR"/>
            </a:pPr>
            <a:r>
              <a:rPr lang="en-US" dirty="0" err="1"/>
              <a:t>Ktra</a:t>
            </a:r>
            <a:r>
              <a:rPr lang="en-US" dirty="0"/>
              <a:t> buffer </a:t>
            </a:r>
            <a:r>
              <a:rPr lang="en-US" dirty="0" err="1"/>
              <a:t>còn</a:t>
            </a:r>
            <a:r>
              <a:rPr lang="en-US" dirty="0"/>
              <a:t> </a:t>
            </a:r>
            <a:r>
              <a:rPr lang="en-US" dirty="0" err="1"/>
              <a:t>trống</a:t>
            </a:r>
            <a:r>
              <a:rPr lang="en-US" dirty="0"/>
              <a:t> ko</a:t>
            </a:r>
          </a:p>
          <a:p>
            <a:pPr marL="228600" indent="-228600">
              <a:buAutoNum type="arabicParenR"/>
            </a:pPr>
            <a:r>
              <a:rPr lang="en-US" dirty="0"/>
              <a:t>Producer </a:t>
            </a:r>
            <a:r>
              <a:rPr lang="en-US" dirty="0" err="1"/>
              <a:t>xin</a:t>
            </a:r>
            <a:r>
              <a:rPr lang="en-US" dirty="0"/>
              <a:t> </a:t>
            </a:r>
            <a:r>
              <a:rPr lang="en-US" dirty="0" err="1"/>
              <a:t>quyền</a:t>
            </a:r>
            <a:r>
              <a:rPr lang="en-US" dirty="0"/>
              <a:t> </a:t>
            </a:r>
            <a:r>
              <a:rPr lang="en-US" dirty="0" err="1"/>
              <a:t>truy</a:t>
            </a:r>
            <a:r>
              <a:rPr lang="en-US" dirty="0"/>
              <a:t> </a:t>
            </a:r>
            <a:r>
              <a:rPr lang="en-US" dirty="0" err="1"/>
              <a:t>cập</a:t>
            </a:r>
            <a:r>
              <a:rPr lang="en-US" dirty="0"/>
              <a:t> buffer (wait(mutex) </a:t>
            </a:r>
            <a:r>
              <a:rPr lang="en-US" dirty="0" err="1"/>
              <a:t>nếu</a:t>
            </a:r>
            <a:r>
              <a:rPr lang="en-US" dirty="0"/>
              <a:t> mutex = 1 </a:t>
            </a:r>
            <a:r>
              <a:rPr lang="en-US" dirty="0" err="1"/>
              <a:t>thì</a:t>
            </a:r>
            <a:r>
              <a:rPr lang="en-US" dirty="0"/>
              <a:t> </a:t>
            </a:r>
            <a:r>
              <a:rPr lang="en-US" dirty="0" err="1"/>
              <a:t>vào</a:t>
            </a:r>
            <a:r>
              <a:rPr lang="en-US" dirty="0"/>
              <a:t> critical section. Mutex 1-&gt;0)</a:t>
            </a:r>
          </a:p>
          <a:p>
            <a:pPr marL="228600" indent="-228600">
              <a:buAutoNum type="arabicParenR"/>
            </a:pPr>
            <a:r>
              <a:rPr lang="en-US" dirty="0" err="1"/>
              <a:t>Thêm</a:t>
            </a:r>
            <a:r>
              <a:rPr lang="en-US" dirty="0"/>
              <a:t> item </a:t>
            </a:r>
            <a:r>
              <a:rPr lang="en-US" dirty="0" err="1"/>
              <a:t>vào</a:t>
            </a:r>
            <a:r>
              <a:rPr lang="en-US" dirty="0"/>
              <a:t> buffer</a:t>
            </a:r>
          </a:p>
          <a:p>
            <a:pPr marL="228600" indent="-228600">
              <a:buAutoNum type="arabicParenR"/>
            </a:pPr>
            <a:r>
              <a:rPr lang="en-US" dirty="0"/>
              <a:t>Producer </a:t>
            </a:r>
            <a:r>
              <a:rPr lang="en-US" dirty="0" err="1"/>
              <a:t>rời</a:t>
            </a:r>
            <a:r>
              <a:rPr lang="en-US" dirty="0"/>
              <a:t> buffer </a:t>
            </a:r>
            <a:r>
              <a:rPr lang="en-US" dirty="0" err="1"/>
              <a:t>và</a:t>
            </a:r>
            <a:r>
              <a:rPr lang="en-US" dirty="0"/>
              <a:t> </a:t>
            </a:r>
            <a:r>
              <a:rPr lang="en-US" dirty="0" err="1"/>
              <a:t>trả</a:t>
            </a:r>
            <a:r>
              <a:rPr lang="en-US" dirty="0"/>
              <a:t> </a:t>
            </a:r>
            <a:r>
              <a:rPr lang="en-US" dirty="0" err="1"/>
              <a:t>lại</a:t>
            </a:r>
            <a:r>
              <a:rPr lang="en-US" dirty="0"/>
              <a:t> </a:t>
            </a:r>
            <a:r>
              <a:rPr lang="en-US" dirty="0" err="1"/>
              <a:t>tài</a:t>
            </a:r>
            <a:r>
              <a:rPr lang="en-US" dirty="0"/>
              <a:t> </a:t>
            </a:r>
            <a:r>
              <a:rPr lang="en-US" dirty="0" err="1"/>
              <a:t>nguyên</a:t>
            </a:r>
            <a:r>
              <a:rPr lang="en-US" dirty="0"/>
              <a:t> (signal (</a:t>
            </a:r>
            <a:r>
              <a:rPr lang="en-US" dirty="0" err="1"/>
              <a:t>vì</a:t>
            </a:r>
            <a:r>
              <a:rPr lang="en-US" dirty="0"/>
              <a:t> signal(S) S++. mutex 0 -&gt; 1))</a:t>
            </a:r>
          </a:p>
          <a:p>
            <a:pPr marL="228600" indent="-228600">
              <a:buAutoNum type="arabicParenR"/>
            </a:pPr>
            <a:r>
              <a:rPr lang="en-US" dirty="0"/>
              <a:t>Thông </a:t>
            </a:r>
            <a:r>
              <a:rPr lang="en-US" dirty="0" err="1"/>
              <a:t>báo</a:t>
            </a:r>
            <a:r>
              <a:rPr lang="en-US" dirty="0"/>
              <a:t> Buffer </a:t>
            </a:r>
            <a:r>
              <a:rPr lang="en-US" dirty="0" err="1"/>
              <a:t>có</a:t>
            </a:r>
            <a:r>
              <a:rPr lang="en-US" dirty="0"/>
              <a:t> them 1 item (</a:t>
            </a:r>
            <a:r>
              <a:rPr lang="en-US" dirty="0" err="1"/>
              <a:t>vì</a:t>
            </a:r>
            <a:r>
              <a:rPr lang="en-US" dirty="0"/>
              <a:t> signal(S) S++. Full 0 -&gt; 1)</a:t>
            </a:r>
          </a:p>
          <a:p>
            <a:pPr marL="228600" indent="-228600">
              <a:buAutoNum type="arabicParenR"/>
            </a:pPr>
            <a:endParaRPr lang="en-US" dirty="0"/>
          </a:p>
          <a:p>
            <a:pPr marL="228600" indent="-228600">
              <a:buAutoNum type="arabicParenR"/>
            </a:pPr>
            <a:endParaRPr lang="en-US" dirty="0"/>
          </a:p>
          <a:p>
            <a:pPr marL="0" indent="0">
              <a:buNone/>
            </a:pPr>
            <a:r>
              <a:rPr lang="en-US" dirty="0"/>
              <a:t>Consumer:</a:t>
            </a:r>
          </a:p>
          <a:p>
            <a:pPr marL="228600" indent="-228600">
              <a:buAutoNum type="arabicParenR"/>
            </a:pPr>
            <a:r>
              <a:rPr lang="en-US" dirty="0"/>
              <a:t>wait(full): consumer </a:t>
            </a:r>
            <a:r>
              <a:rPr lang="en-US" dirty="0" err="1"/>
              <a:t>ktra</a:t>
            </a:r>
            <a:r>
              <a:rPr lang="en-US" dirty="0"/>
              <a:t> </a:t>
            </a:r>
            <a:r>
              <a:rPr lang="en-US" dirty="0" err="1"/>
              <a:t>xem</a:t>
            </a:r>
            <a:r>
              <a:rPr lang="en-US" dirty="0"/>
              <a:t> buffer </a:t>
            </a:r>
            <a:r>
              <a:rPr lang="en-US" dirty="0" err="1"/>
              <a:t>có</a:t>
            </a:r>
            <a:r>
              <a:rPr lang="en-US" dirty="0"/>
              <a:t> item ko (full &gt; 0 </a:t>
            </a:r>
            <a:r>
              <a:rPr lang="en-US" dirty="0" err="1"/>
              <a:t>thì</a:t>
            </a:r>
            <a:r>
              <a:rPr lang="en-US" dirty="0"/>
              <a:t> full– </a:t>
            </a:r>
            <a:r>
              <a:rPr lang="en-US" dirty="0" err="1"/>
              <a:t>rồi</a:t>
            </a:r>
            <a:r>
              <a:rPr lang="en-US" dirty="0"/>
              <a:t> consumer </a:t>
            </a:r>
            <a:r>
              <a:rPr lang="en-US" dirty="0" err="1"/>
              <a:t>đi</a:t>
            </a:r>
            <a:r>
              <a:rPr lang="en-US" dirty="0"/>
              <a:t> </a:t>
            </a:r>
            <a:r>
              <a:rPr lang="en-US" dirty="0" err="1"/>
              <a:t>tiếp</a:t>
            </a:r>
            <a:r>
              <a:rPr lang="en-US" dirty="0"/>
              <a:t>, full &lt; 0 </a:t>
            </a:r>
            <a:r>
              <a:rPr lang="en-US" dirty="0" err="1"/>
              <a:t>thì</a:t>
            </a:r>
            <a:r>
              <a:rPr lang="en-US" dirty="0"/>
              <a:t> wait </a:t>
            </a:r>
            <a:r>
              <a:rPr lang="en-US" dirty="0" err="1"/>
              <a:t>tiếp</a:t>
            </a:r>
            <a:r>
              <a:rPr lang="en-US" dirty="0"/>
              <a:t>)</a:t>
            </a:r>
          </a:p>
          <a:p>
            <a:pPr marL="228600" indent="-228600">
              <a:buAutoNum type="arabicParenR"/>
            </a:pPr>
            <a:r>
              <a:rPr lang="en-US" dirty="0"/>
              <a:t>Wait(mutex): consumer </a:t>
            </a:r>
            <a:r>
              <a:rPr lang="en-US" dirty="0" err="1"/>
              <a:t>xin</a:t>
            </a:r>
            <a:r>
              <a:rPr lang="en-US" dirty="0"/>
              <a:t> </a:t>
            </a:r>
            <a:r>
              <a:rPr lang="en-US" dirty="0" err="1"/>
              <a:t>quyền</a:t>
            </a:r>
            <a:r>
              <a:rPr lang="en-US" dirty="0"/>
              <a:t> </a:t>
            </a:r>
            <a:r>
              <a:rPr lang="en-US" dirty="0" err="1"/>
              <a:t>vào</a:t>
            </a:r>
            <a:r>
              <a:rPr lang="en-US" dirty="0"/>
              <a:t> buffer</a:t>
            </a:r>
          </a:p>
          <a:p>
            <a:pPr marL="228600" indent="-228600">
              <a:buAutoNum type="arabicParenR"/>
            </a:pPr>
            <a:r>
              <a:rPr lang="en-US" dirty="0"/>
              <a:t>Remove </a:t>
            </a:r>
            <a:r>
              <a:rPr lang="en-US" dirty="0" err="1"/>
              <a:t>khỏi</a:t>
            </a:r>
            <a:r>
              <a:rPr lang="en-US" dirty="0"/>
              <a:t> buffer</a:t>
            </a:r>
          </a:p>
          <a:p>
            <a:pPr marL="228600" indent="-228600">
              <a:buAutoNum type="arabicParenR"/>
            </a:pPr>
            <a:r>
              <a:rPr lang="en-US" dirty="0"/>
              <a:t>Consumer </a:t>
            </a:r>
            <a:r>
              <a:rPr lang="en-US" dirty="0" err="1"/>
              <a:t>trả</a:t>
            </a:r>
            <a:r>
              <a:rPr lang="en-US" dirty="0"/>
              <a:t> </a:t>
            </a:r>
            <a:r>
              <a:rPr lang="en-US" dirty="0" err="1"/>
              <a:t>lại</a:t>
            </a:r>
            <a:r>
              <a:rPr lang="en-US" dirty="0"/>
              <a:t> </a:t>
            </a:r>
            <a:r>
              <a:rPr lang="en-US" dirty="0" err="1"/>
              <a:t>tài</a:t>
            </a:r>
            <a:r>
              <a:rPr lang="en-US" dirty="0"/>
              <a:t> </a:t>
            </a:r>
            <a:r>
              <a:rPr lang="en-US" dirty="0" err="1"/>
              <a:t>nguyên</a:t>
            </a:r>
            <a:r>
              <a:rPr lang="en-US" dirty="0"/>
              <a:t> </a:t>
            </a:r>
            <a:r>
              <a:rPr lang="en-US" dirty="0" err="1"/>
              <a:t>truy</a:t>
            </a:r>
            <a:r>
              <a:rPr lang="en-US" dirty="0"/>
              <a:t> </a:t>
            </a:r>
            <a:r>
              <a:rPr lang="en-US" dirty="0" err="1"/>
              <a:t>cập</a:t>
            </a:r>
            <a:r>
              <a:rPr lang="en-US" dirty="0"/>
              <a:t> </a:t>
            </a:r>
            <a:r>
              <a:rPr lang="en-US" dirty="0" err="1"/>
              <a:t>cho</a:t>
            </a:r>
            <a:r>
              <a:rPr lang="en-US" dirty="0"/>
              <a:t> buffer (mutex 0-&gt;1)</a:t>
            </a:r>
          </a:p>
          <a:p>
            <a:pPr marL="228600" indent="-228600">
              <a:buAutoNum type="arabicParenR"/>
            </a:pPr>
            <a:r>
              <a:rPr lang="en-US" dirty="0"/>
              <a:t>Sau </a:t>
            </a:r>
            <a:r>
              <a:rPr lang="en-US" dirty="0" err="1"/>
              <a:t>khi</a:t>
            </a:r>
            <a:r>
              <a:rPr lang="en-US" dirty="0"/>
              <a:t> </a:t>
            </a:r>
            <a:r>
              <a:rPr lang="en-US" dirty="0" err="1"/>
              <a:t>lấy</a:t>
            </a:r>
            <a:r>
              <a:rPr lang="en-US" dirty="0"/>
              <a:t> </a:t>
            </a:r>
            <a:r>
              <a:rPr lang="en-US" dirty="0" err="1"/>
              <a:t>ra</a:t>
            </a:r>
            <a:r>
              <a:rPr lang="en-US" dirty="0"/>
              <a:t> </a:t>
            </a:r>
            <a:r>
              <a:rPr lang="en-US" dirty="0" err="1"/>
              <a:t>thì</a:t>
            </a:r>
            <a:r>
              <a:rPr lang="en-US" dirty="0"/>
              <a:t> empty++, buffer </a:t>
            </a:r>
            <a:r>
              <a:rPr lang="en-US" dirty="0" err="1"/>
              <a:t>có</a:t>
            </a:r>
            <a:r>
              <a:rPr lang="en-US" dirty="0"/>
              <a:t> them 1 ô </a:t>
            </a:r>
            <a:r>
              <a:rPr lang="en-US" dirty="0" err="1"/>
              <a:t>trống</a:t>
            </a:r>
            <a:endParaRPr lang="en-US" dirty="0"/>
          </a:p>
          <a:p>
            <a:pPr marL="228600" indent="-228600">
              <a:buAutoNum type="arabicParenR"/>
            </a:pPr>
            <a:endParaRPr lang="en-US" dirty="0"/>
          </a:p>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26</a:t>
            </a:fld>
            <a:endParaRPr lang="en-US"/>
          </a:p>
        </p:txBody>
      </p:sp>
    </p:spTree>
    <p:extLst>
      <p:ext uri="{BB962C8B-B14F-4D97-AF65-F5344CB8AC3E}">
        <p14:creationId xmlns:p14="http://schemas.microsoft.com/office/powerpoint/2010/main" val="877892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Rw_mutex</a:t>
            </a:r>
            <a:r>
              <a:rPr lang="en-US" dirty="0"/>
              <a:t>, mutex </a:t>
            </a:r>
            <a:r>
              <a:rPr lang="en-US" dirty="0" err="1"/>
              <a:t>đều</a:t>
            </a:r>
            <a:r>
              <a:rPr lang="en-US" dirty="0"/>
              <a:t> </a:t>
            </a:r>
            <a:r>
              <a:rPr lang="en-US" dirty="0" err="1"/>
              <a:t>là</a:t>
            </a:r>
            <a:r>
              <a:rPr lang="en-US" dirty="0"/>
              <a:t> binary semaphore </a:t>
            </a:r>
            <a:r>
              <a:rPr lang="en-US" dirty="0" err="1"/>
              <a:t>nên</a:t>
            </a:r>
            <a:r>
              <a:rPr lang="en-US" dirty="0"/>
              <a:t> </a:t>
            </a:r>
            <a:r>
              <a:rPr lang="en-US" dirty="0" err="1"/>
              <a:t>có</a:t>
            </a:r>
            <a:r>
              <a:rPr lang="en-US" dirty="0"/>
              <a:t> 2 </a:t>
            </a:r>
            <a:r>
              <a:rPr lang="en-US" dirty="0" err="1"/>
              <a:t>giá</a:t>
            </a:r>
            <a:r>
              <a:rPr lang="en-US" dirty="0"/>
              <a:t> </a:t>
            </a:r>
            <a:r>
              <a:rPr lang="en-US" dirty="0" err="1"/>
              <a:t>trị</a:t>
            </a:r>
            <a:endParaRPr lang="en-US" dirty="0"/>
          </a:p>
          <a:p>
            <a:r>
              <a:rPr lang="en-US" dirty="0"/>
              <a:t>1 = </a:t>
            </a:r>
            <a:r>
              <a:rPr lang="en-US" dirty="0" err="1"/>
              <a:t>đang</a:t>
            </a:r>
            <a:r>
              <a:rPr lang="en-US" dirty="0"/>
              <a:t> </a:t>
            </a:r>
            <a:r>
              <a:rPr lang="en-US" dirty="0" err="1"/>
              <a:t>rảnh</a:t>
            </a:r>
            <a:r>
              <a:rPr lang="en-US" dirty="0"/>
              <a:t>, </a:t>
            </a:r>
            <a:r>
              <a:rPr lang="en-US" dirty="0" err="1"/>
              <a:t>có</a:t>
            </a:r>
            <a:r>
              <a:rPr lang="en-US" dirty="0"/>
              <a:t> </a:t>
            </a:r>
            <a:r>
              <a:rPr lang="en-US" dirty="0" err="1"/>
              <a:t>thể</a:t>
            </a:r>
            <a:r>
              <a:rPr lang="en-US" dirty="0"/>
              <a:t> </a:t>
            </a:r>
            <a:r>
              <a:rPr lang="en-US" dirty="0" err="1"/>
              <a:t>lấy</a:t>
            </a:r>
            <a:r>
              <a:rPr lang="en-US" dirty="0"/>
              <a:t> lock</a:t>
            </a:r>
          </a:p>
          <a:p>
            <a:r>
              <a:rPr lang="en-US" dirty="0"/>
              <a:t>0 = </a:t>
            </a:r>
            <a:r>
              <a:rPr lang="en-US" dirty="0" err="1"/>
              <a:t>đang</a:t>
            </a:r>
            <a:r>
              <a:rPr lang="en-US" dirty="0"/>
              <a:t> </a:t>
            </a:r>
            <a:r>
              <a:rPr lang="en-US" dirty="0" err="1"/>
              <a:t>bị</a:t>
            </a:r>
            <a:r>
              <a:rPr lang="en-US" dirty="0"/>
              <a:t> </a:t>
            </a:r>
            <a:r>
              <a:rPr lang="en-US" dirty="0" err="1"/>
              <a:t>khóa</a:t>
            </a:r>
            <a:endParaRPr lang="en-US" dirty="0"/>
          </a:p>
          <a:p>
            <a:endParaRPr lang="en-US" dirty="0"/>
          </a:p>
          <a:p>
            <a:r>
              <a:rPr lang="en-US" sz="1200" kern="1200" dirty="0">
                <a:solidFill>
                  <a:schemeClr val="tx1"/>
                </a:solidFill>
                <a:latin typeface="+mn-lt"/>
                <a:ea typeface="+mn-ea"/>
                <a:cs typeface="+mn-cs"/>
              </a:rPr>
              <a:t>mutex = 1</a:t>
            </a:r>
            <a:r>
              <a:rPr lang="en-US" dirty="0"/>
              <a:t>, </a:t>
            </a:r>
            <a:r>
              <a:rPr lang="en-US" sz="1200" kern="1200" dirty="0" err="1">
                <a:solidFill>
                  <a:schemeClr val="tx1"/>
                </a:solidFill>
                <a:latin typeface="+mn-lt"/>
                <a:ea typeface="+mn-ea"/>
                <a:cs typeface="+mn-cs"/>
              </a:rPr>
              <a:t>rw_mutex</a:t>
            </a:r>
            <a:r>
              <a:rPr lang="en-US" sz="1200" kern="1200" dirty="0">
                <a:solidFill>
                  <a:schemeClr val="tx1"/>
                </a:solidFill>
                <a:latin typeface="+mn-lt"/>
                <a:ea typeface="+mn-ea"/>
                <a:cs typeface="+mn-cs"/>
              </a:rPr>
              <a:t> = 1</a:t>
            </a:r>
            <a:r>
              <a:rPr lang="en-US" dirty="0"/>
              <a:t>, </a:t>
            </a:r>
            <a:r>
              <a:rPr lang="en-US" sz="1200" kern="1200" dirty="0" err="1">
                <a:solidFill>
                  <a:schemeClr val="tx1"/>
                </a:solidFill>
                <a:latin typeface="+mn-lt"/>
                <a:ea typeface="+mn-ea"/>
                <a:cs typeface="+mn-cs"/>
              </a:rPr>
              <a:t>read_count</a:t>
            </a:r>
            <a:r>
              <a:rPr lang="en-US" sz="1200" kern="1200" dirty="0">
                <a:solidFill>
                  <a:schemeClr val="tx1"/>
                </a:solidFill>
                <a:latin typeface="+mn-lt"/>
                <a:ea typeface="+mn-ea"/>
                <a:cs typeface="+mn-cs"/>
              </a:rPr>
              <a:t> = 0</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27</a:t>
            </a:fld>
            <a:endParaRPr lang="en-US"/>
          </a:p>
        </p:txBody>
      </p:sp>
    </p:spTree>
    <p:extLst>
      <p:ext uri="{BB962C8B-B14F-4D97-AF65-F5344CB8AC3E}">
        <p14:creationId xmlns:p14="http://schemas.microsoft.com/office/powerpoint/2010/main" val="30932423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a:t>
            </a:r>
            <a:r>
              <a:rPr lang="en-US" dirty="0" err="1"/>
              <a:t>rw_mutex</a:t>
            </a:r>
            <a:r>
              <a:rPr lang="en-US" dirty="0"/>
              <a:t>): reader </a:t>
            </a:r>
            <a:r>
              <a:rPr lang="en-US" dirty="0" err="1"/>
              <a:t>xin</a:t>
            </a:r>
            <a:r>
              <a:rPr lang="en-US" dirty="0"/>
              <a:t> </a:t>
            </a:r>
            <a:r>
              <a:rPr lang="en-US" dirty="0" err="1"/>
              <a:t>dùng</a:t>
            </a:r>
            <a:r>
              <a:rPr lang="en-US" dirty="0"/>
              <a:t> </a:t>
            </a:r>
            <a:r>
              <a:rPr lang="en-US" dirty="0" err="1"/>
              <a:t>tài</a:t>
            </a:r>
            <a:r>
              <a:rPr lang="en-US" dirty="0"/>
              <a:t> </a:t>
            </a:r>
            <a:r>
              <a:rPr lang="en-US" dirty="0" err="1"/>
              <a:t>nguyên</a:t>
            </a:r>
            <a:r>
              <a:rPr lang="en-US" dirty="0"/>
              <a:t> </a:t>
            </a:r>
            <a:r>
              <a:rPr lang="en-US" dirty="0" err="1"/>
              <a:t>truy</a:t>
            </a:r>
            <a:r>
              <a:rPr lang="en-US" dirty="0"/>
              <a:t> </a:t>
            </a:r>
            <a:r>
              <a:rPr lang="en-US" dirty="0" err="1"/>
              <a:t>cập</a:t>
            </a:r>
            <a:r>
              <a:rPr lang="en-US" dirty="0"/>
              <a:t> shared data (</a:t>
            </a:r>
            <a:r>
              <a:rPr lang="en-US" dirty="0" err="1"/>
              <a:t>rw_mutex</a:t>
            </a:r>
            <a:r>
              <a:rPr lang="en-US" dirty="0"/>
              <a:t> 1 -&gt; 0). Writer </a:t>
            </a:r>
            <a:r>
              <a:rPr lang="en-US" dirty="0" err="1"/>
              <a:t>sau</a:t>
            </a:r>
            <a:r>
              <a:rPr lang="en-US" dirty="0"/>
              <a:t> </a:t>
            </a:r>
            <a:r>
              <a:rPr lang="en-US" dirty="0" err="1"/>
              <a:t>đó</a:t>
            </a:r>
            <a:r>
              <a:rPr lang="en-US" dirty="0"/>
              <a:t> </a:t>
            </a:r>
            <a:r>
              <a:rPr lang="en-US" dirty="0" err="1"/>
              <a:t>gọi</a:t>
            </a:r>
            <a:r>
              <a:rPr lang="en-US" dirty="0"/>
              <a:t> wait(</a:t>
            </a:r>
            <a:r>
              <a:rPr lang="en-US" dirty="0" err="1"/>
              <a:t>rw_mutex</a:t>
            </a:r>
            <a:r>
              <a:rPr lang="en-US" dirty="0"/>
              <a:t>) </a:t>
            </a:r>
            <a:r>
              <a:rPr lang="en-US" dirty="0" err="1"/>
              <a:t>nhưng</a:t>
            </a:r>
            <a:r>
              <a:rPr lang="en-US" dirty="0"/>
              <a:t> semaphore = 0 </a:t>
            </a:r>
            <a:r>
              <a:rPr lang="en-US" dirty="0" err="1"/>
              <a:t>nên</a:t>
            </a:r>
            <a:r>
              <a:rPr lang="en-US" dirty="0"/>
              <a:t> Write </a:t>
            </a:r>
            <a:r>
              <a:rPr lang="en-US" dirty="0" err="1"/>
              <a:t>bị</a:t>
            </a:r>
            <a:r>
              <a:rPr lang="en-US" dirty="0"/>
              <a:t> block</a:t>
            </a:r>
          </a:p>
          <a:p>
            <a:endParaRPr lang="en-US" dirty="0"/>
          </a:p>
          <a:p>
            <a:r>
              <a:rPr lang="en-US" dirty="0"/>
              <a:t>Reader:</a:t>
            </a:r>
          </a:p>
          <a:p>
            <a:pPr marL="228600" indent="-228600">
              <a:buAutoNum type="arabicParenR"/>
            </a:pPr>
            <a:r>
              <a:rPr lang="en-US" dirty="0" err="1"/>
              <a:t>đầu</a:t>
            </a:r>
            <a:r>
              <a:rPr lang="en-US" dirty="0"/>
              <a:t> </a:t>
            </a:r>
            <a:r>
              <a:rPr lang="en-US" dirty="0" err="1"/>
              <a:t>tiên</a:t>
            </a:r>
            <a:r>
              <a:rPr lang="en-US" dirty="0"/>
              <a:t> Reader </a:t>
            </a:r>
            <a:r>
              <a:rPr lang="en-US" dirty="0" err="1"/>
              <a:t>xin</a:t>
            </a:r>
            <a:r>
              <a:rPr lang="en-US" dirty="0"/>
              <a:t> </a:t>
            </a:r>
            <a:r>
              <a:rPr lang="en-US" dirty="0" err="1"/>
              <a:t>quyền</a:t>
            </a:r>
            <a:r>
              <a:rPr lang="en-US" dirty="0"/>
              <a:t> </a:t>
            </a:r>
            <a:r>
              <a:rPr lang="en-US" dirty="0" err="1"/>
              <a:t>vào</a:t>
            </a:r>
            <a:r>
              <a:rPr lang="en-US" dirty="0"/>
              <a:t> critical section </a:t>
            </a:r>
            <a:r>
              <a:rPr lang="en-US" dirty="0" err="1"/>
              <a:t>để</a:t>
            </a:r>
            <a:r>
              <a:rPr lang="en-US" dirty="0"/>
              <a:t> update </a:t>
            </a:r>
            <a:r>
              <a:rPr lang="en-US" dirty="0" err="1"/>
              <a:t>read_count</a:t>
            </a:r>
            <a:r>
              <a:rPr lang="en-US" dirty="0"/>
              <a:t> (mutex 1 -&gt; 0)</a:t>
            </a:r>
          </a:p>
          <a:p>
            <a:pPr marL="228600" indent="-228600">
              <a:buAutoNum type="arabicParenR"/>
            </a:pPr>
            <a:r>
              <a:rPr lang="en-US" dirty="0"/>
              <a:t>if (</a:t>
            </a:r>
            <a:r>
              <a:rPr lang="en-US" dirty="0" err="1"/>
              <a:t>read_count</a:t>
            </a:r>
            <a:r>
              <a:rPr lang="en-US" dirty="0"/>
              <a:t> == 1) wait(</a:t>
            </a:r>
            <a:r>
              <a:rPr lang="en-US" dirty="0" err="1"/>
              <a:t>rw_mutex</a:t>
            </a:r>
            <a:r>
              <a:rPr lang="en-US" dirty="0"/>
              <a:t>); </a:t>
            </a:r>
            <a:r>
              <a:rPr lang="en-US" dirty="0" err="1"/>
              <a:t>nếu</a:t>
            </a:r>
            <a:r>
              <a:rPr lang="en-US" dirty="0"/>
              <a:t> </a:t>
            </a:r>
            <a:r>
              <a:rPr lang="en-US" dirty="0" err="1"/>
              <a:t>là</a:t>
            </a:r>
            <a:r>
              <a:rPr lang="en-US" dirty="0"/>
              <a:t> reader </a:t>
            </a:r>
            <a:r>
              <a:rPr lang="en-US" dirty="0" err="1"/>
              <a:t>đầu</a:t>
            </a:r>
            <a:r>
              <a:rPr lang="en-US" dirty="0"/>
              <a:t> </a:t>
            </a:r>
            <a:r>
              <a:rPr lang="en-US" dirty="0" err="1"/>
              <a:t>tiên</a:t>
            </a:r>
            <a:r>
              <a:rPr lang="en-US" dirty="0"/>
              <a:t> </a:t>
            </a:r>
            <a:r>
              <a:rPr lang="en-US" dirty="0" err="1"/>
              <a:t>thì</a:t>
            </a:r>
            <a:r>
              <a:rPr lang="en-US" dirty="0"/>
              <a:t> </a:t>
            </a:r>
            <a:r>
              <a:rPr lang="en-US" dirty="0" err="1"/>
              <a:t>nó</a:t>
            </a:r>
            <a:r>
              <a:rPr lang="en-US" dirty="0"/>
              <a:t> </a:t>
            </a:r>
            <a:r>
              <a:rPr lang="en-US" dirty="0" err="1"/>
              <a:t>khóa</a:t>
            </a:r>
            <a:r>
              <a:rPr lang="en-US" dirty="0"/>
              <a:t> mutex </a:t>
            </a:r>
            <a:r>
              <a:rPr lang="en-US" dirty="0" err="1"/>
              <a:t>để</a:t>
            </a:r>
            <a:r>
              <a:rPr lang="en-US" dirty="0"/>
              <a:t> writer ko dc update</a:t>
            </a:r>
          </a:p>
          <a:p>
            <a:pPr marL="228600" indent="-228600">
              <a:buAutoNum type="arabicParenR"/>
            </a:pPr>
            <a:r>
              <a:rPr lang="en-US" dirty="0"/>
              <a:t>Signal(mutex) </a:t>
            </a:r>
            <a:r>
              <a:rPr lang="en-US" dirty="0" err="1"/>
              <a:t>trả</a:t>
            </a:r>
            <a:r>
              <a:rPr lang="en-US" dirty="0"/>
              <a:t> </a:t>
            </a:r>
            <a:r>
              <a:rPr lang="en-US" dirty="0" err="1"/>
              <a:t>quyền</a:t>
            </a:r>
            <a:r>
              <a:rPr lang="en-US" dirty="0"/>
              <a:t> </a:t>
            </a:r>
            <a:r>
              <a:rPr lang="en-US" dirty="0" err="1"/>
              <a:t>truy</a:t>
            </a:r>
            <a:r>
              <a:rPr lang="en-US" dirty="0"/>
              <a:t> </a:t>
            </a:r>
            <a:r>
              <a:rPr lang="en-US" dirty="0" err="1"/>
              <a:t>cập</a:t>
            </a:r>
            <a:r>
              <a:rPr lang="en-US" dirty="0"/>
              <a:t> </a:t>
            </a:r>
            <a:r>
              <a:rPr lang="en-US" dirty="0" err="1"/>
              <a:t>cho</a:t>
            </a:r>
            <a:r>
              <a:rPr lang="en-US" dirty="0"/>
              <a:t> reader </a:t>
            </a:r>
            <a:r>
              <a:rPr lang="en-US" dirty="0" err="1"/>
              <a:t>khác</a:t>
            </a:r>
            <a:endParaRPr lang="en-US" dirty="0"/>
          </a:p>
          <a:p>
            <a:pPr marL="228600" indent="-228600">
              <a:buAutoNum type="arabicParenR"/>
            </a:pPr>
            <a:r>
              <a:rPr lang="en-US" dirty="0"/>
              <a:t>Reader </a:t>
            </a:r>
            <a:r>
              <a:rPr lang="en-US" dirty="0" err="1"/>
              <a:t>đọc</a:t>
            </a:r>
            <a:r>
              <a:rPr lang="en-US" dirty="0"/>
              <a:t> </a:t>
            </a:r>
            <a:r>
              <a:rPr lang="en-US" dirty="0" err="1"/>
              <a:t>xong</a:t>
            </a:r>
            <a:r>
              <a:rPr lang="en-US" dirty="0"/>
              <a:t> </a:t>
            </a:r>
            <a:r>
              <a:rPr lang="en-US" dirty="0" err="1"/>
              <a:t>thì</a:t>
            </a:r>
            <a:r>
              <a:rPr lang="en-US" dirty="0"/>
              <a:t> </a:t>
            </a:r>
            <a:r>
              <a:rPr lang="en-US" dirty="0" err="1"/>
              <a:t>khóa</a:t>
            </a:r>
            <a:r>
              <a:rPr lang="en-US" dirty="0"/>
              <a:t> mutex </a:t>
            </a:r>
            <a:r>
              <a:rPr lang="en-US" dirty="0" err="1"/>
              <a:t>để</a:t>
            </a:r>
            <a:r>
              <a:rPr lang="en-US" dirty="0"/>
              <a:t> </a:t>
            </a:r>
            <a:r>
              <a:rPr lang="en-US" dirty="0" err="1"/>
              <a:t>reader_count</a:t>
            </a:r>
            <a:r>
              <a:rPr lang="en-US" dirty="0"/>
              <a:t>-- an </a:t>
            </a:r>
            <a:r>
              <a:rPr lang="en-US" dirty="0" err="1"/>
              <a:t>toàn</a:t>
            </a:r>
            <a:endParaRPr lang="en-US" dirty="0"/>
          </a:p>
          <a:p>
            <a:pPr marL="228600" indent="-228600">
              <a:buAutoNum type="arabicParenR"/>
            </a:pPr>
            <a:r>
              <a:rPr lang="en-US" dirty="0"/>
              <a:t>Ko </a:t>
            </a:r>
            <a:r>
              <a:rPr lang="en-US" dirty="0" err="1"/>
              <a:t>còn</a:t>
            </a:r>
            <a:r>
              <a:rPr lang="en-US" dirty="0"/>
              <a:t> </a:t>
            </a:r>
            <a:r>
              <a:rPr lang="en-US" dirty="0" err="1"/>
              <a:t>reader_count</a:t>
            </a:r>
            <a:r>
              <a:rPr lang="en-US" dirty="0"/>
              <a:t> </a:t>
            </a:r>
            <a:r>
              <a:rPr lang="en-US" dirty="0" err="1"/>
              <a:t>nào</a:t>
            </a:r>
            <a:r>
              <a:rPr lang="en-US" dirty="0"/>
              <a:t> (</a:t>
            </a:r>
            <a:r>
              <a:rPr lang="en-US" dirty="0" err="1"/>
              <a:t>read_count</a:t>
            </a:r>
            <a:r>
              <a:rPr lang="en-US" dirty="0"/>
              <a:t>==0) </a:t>
            </a:r>
            <a:r>
              <a:rPr lang="en-US" dirty="0" err="1"/>
              <a:t>thì</a:t>
            </a:r>
            <a:r>
              <a:rPr lang="en-US" dirty="0"/>
              <a:t> </a:t>
            </a:r>
            <a:r>
              <a:rPr lang="en-US" dirty="0" err="1"/>
              <a:t>mở</a:t>
            </a:r>
            <a:r>
              <a:rPr lang="en-US" dirty="0"/>
              <a:t> </a:t>
            </a:r>
            <a:r>
              <a:rPr lang="en-US" dirty="0" err="1"/>
              <a:t>cho</a:t>
            </a:r>
            <a:r>
              <a:rPr lang="en-US" dirty="0"/>
              <a:t> Writer </a:t>
            </a:r>
            <a:r>
              <a:rPr lang="en-US" dirty="0" err="1"/>
              <a:t>vào</a:t>
            </a:r>
            <a:r>
              <a:rPr lang="en-US" dirty="0"/>
              <a:t> </a:t>
            </a:r>
            <a:r>
              <a:rPr lang="en-US" dirty="0" err="1"/>
              <a:t>bằng</a:t>
            </a:r>
            <a:r>
              <a:rPr lang="en-US" dirty="0"/>
              <a:t> signal()</a:t>
            </a:r>
          </a:p>
          <a:p>
            <a:pPr marL="228600" indent="-228600">
              <a:buAutoNum type="arabicParenR"/>
            </a:pPr>
            <a:endParaRPr lang="en-US" dirty="0"/>
          </a:p>
          <a:p>
            <a:pPr marL="228600" indent="-228600">
              <a:buAutoNum type="arabicParenR"/>
            </a:pPr>
            <a:endParaRPr lang="en-US" dirty="0"/>
          </a:p>
          <a:p>
            <a:pPr marL="0" indent="0">
              <a:buNone/>
            </a:pPr>
            <a:r>
              <a:rPr lang="en-US" dirty="0"/>
              <a:t>Writer:</a:t>
            </a:r>
          </a:p>
          <a:p>
            <a:pPr marL="228600" indent="-228600">
              <a:buAutoNum type="arabicParenR"/>
            </a:pPr>
            <a:r>
              <a:rPr lang="en-US" dirty="0" err="1"/>
              <a:t>Khóa</a:t>
            </a:r>
            <a:r>
              <a:rPr lang="en-US" dirty="0"/>
              <a:t> </a:t>
            </a:r>
            <a:r>
              <a:rPr lang="en-US" dirty="0" err="1"/>
              <a:t>rw_mutex</a:t>
            </a:r>
            <a:r>
              <a:rPr lang="en-US" dirty="0"/>
              <a:t> </a:t>
            </a:r>
            <a:r>
              <a:rPr lang="en-US" dirty="0" err="1"/>
              <a:t>trước</a:t>
            </a:r>
            <a:r>
              <a:rPr lang="en-US" dirty="0"/>
              <a:t> </a:t>
            </a:r>
            <a:r>
              <a:rPr lang="en-US" dirty="0" err="1"/>
              <a:t>khi</a:t>
            </a:r>
            <a:r>
              <a:rPr lang="en-US" dirty="0"/>
              <a:t> </a:t>
            </a:r>
            <a:r>
              <a:rPr lang="en-US" dirty="0" err="1"/>
              <a:t>ghi</a:t>
            </a:r>
            <a:r>
              <a:rPr lang="en-US" dirty="0"/>
              <a:t> </a:t>
            </a:r>
            <a:r>
              <a:rPr lang="en-US" dirty="0" err="1"/>
              <a:t>để</a:t>
            </a:r>
            <a:r>
              <a:rPr lang="en-US" dirty="0"/>
              <a:t> ko </a:t>
            </a:r>
            <a:r>
              <a:rPr lang="en-US" dirty="0" err="1"/>
              <a:t>có</a:t>
            </a:r>
            <a:r>
              <a:rPr lang="en-US" dirty="0"/>
              <a:t> reader hay writer </a:t>
            </a:r>
            <a:r>
              <a:rPr lang="en-US" dirty="0" err="1"/>
              <a:t>nào</a:t>
            </a:r>
            <a:r>
              <a:rPr lang="en-US" dirty="0"/>
              <a:t> ko </a:t>
            </a:r>
            <a:r>
              <a:rPr lang="en-US" dirty="0" err="1"/>
              <a:t>có</a:t>
            </a:r>
            <a:r>
              <a:rPr lang="en-US" dirty="0"/>
              <a:t> </a:t>
            </a:r>
            <a:r>
              <a:rPr lang="en-US" dirty="0" err="1"/>
              <a:t>quyền</a:t>
            </a:r>
            <a:r>
              <a:rPr lang="en-US" dirty="0"/>
              <a:t> </a:t>
            </a:r>
            <a:r>
              <a:rPr lang="en-US" dirty="0" err="1"/>
              <a:t>truy</a:t>
            </a:r>
            <a:r>
              <a:rPr lang="en-US" dirty="0"/>
              <a:t> </a:t>
            </a:r>
            <a:r>
              <a:rPr lang="en-US" dirty="0" err="1"/>
              <a:t>cập</a:t>
            </a:r>
            <a:r>
              <a:rPr lang="en-US" dirty="0"/>
              <a:t> </a:t>
            </a:r>
            <a:r>
              <a:rPr lang="en-US" dirty="0" err="1"/>
              <a:t>vào</a:t>
            </a:r>
            <a:r>
              <a:rPr lang="en-US" dirty="0"/>
              <a:t> shared data</a:t>
            </a:r>
          </a:p>
          <a:p>
            <a:pPr marL="228600" indent="-228600">
              <a:buAutoNum type="arabicParenR"/>
            </a:pPr>
            <a:r>
              <a:rPr lang="en-US" dirty="0" err="1"/>
              <a:t>Trả</a:t>
            </a:r>
            <a:r>
              <a:rPr lang="en-US" dirty="0"/>
              <a:t> </a:t>
            </a:r>
            <a:r>
              <a:rPr lang="en-US" dirty="0" err="1"/>
              <a:t>lại</a:t>
            </a:r>
            <a:r>
              <a:rPr lang="en-US" dirty="0"/>
              <a:t> </a:t>
            </a:r>
            <a:r>
              <a:rPr lang="en-US" dirty="0" err="1"/>
              <a:t>quyền</a:t>
            </a:r>
            <a:r>
              <a:rPr lang="en-US" dirty="0"/>
              <a:t> </a:t>
            </a:r>
            <a:r>
              <a:rPr lang="en-US" dirty="0" err="1"/>
              <a:t>truy</a:t>
            </a:r>
            <a:r>
              <a:rPr lang="en-US" dirty="0"/>
              <a:t> </a:t>
            </a:r>
            <a:r>
              <a:rPr lang="en-US" dirty="0" err="1"/>
              <a:t>cập</a:t>
            </a:r>
            <a:r>
              <a:rPr lang="en-US" dirty="0"/>
              <a:t> </a:t>
            </a:r>
            <a:r>
              <a:rPr lang="en-US" dirty="0" err="1"/>
              <a:t>để</a:t>
            </a:r>
            <a:r>
              <a:rPr lang="en-US" dirty="0"/>
              <a:t> Writer </a:t>
            </a:r>
            <a:r>
              <a:rPr lang="en-US" dirty="0" err="1"/>
              <a:t>khác</a:t>
            </a:r>
            <a:r>
              <a:rPr lang="en-US" dirty="0"/>
              <a:t> </a:t>
            </a:r>
            <a:r>
              <a:rPr lang="en-US" dirty="0" err="1"/>
              <a:t>vào</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28</a:t>
            </a:fld>
            <a:endParaRPr lang="en-US"/>
          </a:p>
        </p:txBody>
      </p:sp>
    </p:spTree>
    <p:extLst>
      <p:ext uri="{BB962C8B-B14F-4D97-AF65-F5344CB8AC3E}">
        <p14:creationId xmlns:p14="http://schemas.microsoft.com/office/powerpoint/2010/main" val="1844664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Nhiều</a:t>
            </a:r>
            <a:r>
              <a:rPr lang="en-US" dirty="0"/>
              <a:t> process dung </a:t>
            </a:r>
            <a:r>
              <a:rPr lang="en-US" dirty="0" err="1"/>
              <a:t>chung</a:t>
            </a:r>
            <a:r>
              <a:rPr lang="en-US" dirty="0"/>
              <a:t> </a:t>
            </a:r>
            <a:r>
              <a:rPr lang="en-US" dirty="0" err="1"/>
              <a:t>tài</a:t>
            </a:r>
            <a:r>
              <a:rPr lang="en-US" dirty="0"/>
              <a:t> </a:t>
            </a:r>
            <a:r>
              <a:rPr lang="en-US" dirty="0" err="1"/>
              <a:t>nguyên</a:t>
            </a:r>
            <a:r>
              <a:rPr lang="en-US" dirty="0"/>
              <a:t> </a:t>
            </a:r>
            <a:r>
              <a:rPr lang="en-US" dirty="0" err="1"/>
              <a:t>giới</a:t>
            </a:r>
            <a:r>
              <a:rPr lang="en-US" dirty="0"/>
              <a:t> </a:t>
            </a:r>
            <a:r>
              <a:rPr lang="en-US" dirty="0" err="1"/>
              <a:t>hạn</a:t>
            </a:r>
            <a:endParaRPr lang="en-US" dirty="0"/>
          </a:p>
          <a:p>
            <a:endParaRPr lang="en-US" dirty="0"/>
          </a:p>
          <a:p>
            <a:r>
              <a:rPr lang="en-US" dirty="0" err="1"/>
              <a:t>Dẫn</a:t>
            </a:r>
            <a:r>
              <a:rPr lang="en-US" dirty="0"/>
              <a:t> </a:t>
            </a:r>
            <a:r>
              <a:rPr lang="en-US" dirty="0" err="1"/>
              <a:t>đến</a:t>
            </a:r>
            <a:r>
              <a:rPr lang="en-US" dirty="0"/>
              <a:t> </a:t>
            </a:r>
            <a:r>
              <a:rPr lang="en-US" dirty="0" err="1"/>
              <a:t>bị</a:t>
            </a:r>
            <a:r>
              <a:rPr lang="en-US" dirty="0"/>
              <a:t> Deadlock </a:t>
            </a:r>
            <a:r>
              <a:rPr lang="en-US" dirty="0" err="1"/>
              <a:t>vì</a:t>
            </a:r>
            <a:r>
              <a:rPr lang="en-US" dirty="0"/>
              <a:t> </a:t>
            </a:r>
            <a:r>
              <a:rPr lang="en-US" dirty="0" err="1"/>
              <a:t>các</a:t>
            </a:r>
            <a:r>
              <a:rPr lang="en-US" dirty="0"/>
              <a:t> Process </a:t>
            </a:r>
            <a:r>
              <a:rPr lang="en-US" dirty="0" err="1"/>
              <a:t>chờ</a:t>
            </a:r>
            <a:r>
              <a:rPr lang="en-US" dirty="0"/>
              <a:t> </a:t>
            </a:r>
            <a:r>
              <a:rPr lang="en-US" dirty="0" err="1"/>
              <a:t>tài</a:t>
            </a:r>
            <a:r>
              <a:rPr lang="en-US" dirty="0"/>
              <a:t> </a:t>
            </a:r>
            <a:r>
              <a:rPr lang="en-US" dirty="0" err="1"/>
              <a:t>nguyên</a:t>
            </a:r>
            <a:r>
              <a:rPr lang="en-US" dirty="0"/>
              <a:t> </a:t>
            </a:r>
            <a:r>
              <a:rPr lang="en-US" dirty="0" err="1"/>
              <a:t>của</a:t>
            </a:r>
            <a:r>
              <a:rPr lang="en-US" dirty="0"/>
              <a:t> </a:t>
            </a:r>
            <a:r>
              <a:rPr lang="en-US" dirty="0" err="1"/>
              <a:t>nhau</a:t>
            </a:r>
            <a:r>
              <a:rPr lang="en-US" dirty="0"/>
              <a:t> </a:t>
            </a:r>
            <a:r>
              <a:rPr lang="en-US" dirty="0" err="1"/>
              <a:t>để</a:t>
            </a:r>
            <a:r>
              <a:rPr lang="en-US" dirty="0"/>
              <a:t> </a:t>
            </a:r>
            <a:r>
              <a:rPr lang="en-US" dirty="0" err="1"/>
              <a:t>tiếp</a:t>
            </a:r>
            <a:r>
              <a:rPr lang="en-US" dirty="0"/>
              <a:t> </a:t>
            </a:r>
            <a:r>
              <a:rPr lang="en-US" dirty="0" err="1"/>
              <a:t>tục</a:t>
            </a:r>
            <a:r>
              <a:rPr lang="en-US" dirty="0"/>
              <a:t> </a:t>
            </a:r>
            <a:r>
              <a:rPr lang="en-US" dirty="0" err="1"/>
              <a:t>chạy</a:t>
            </a:r>
            <a:r>
              <a:rPr lang="en-US" dirty="0"/>
              <a:t>, </a:t>
            </a:r>
            <a:r>
              <a:rPr lang="en-US" dirty="0" err="1"/>
              <a:t>nên</a:t>
            </a:r>
            <a:r>
              <a:rPr lang="en-US" dirty="0"/>
              <a:t> </a:t>
            </a:r>
            <a:r>
              <a:rPr lang="en-US" dirty="0" err="1"/>
              <a:t>bị</a:t>
            </a:r>
            <a:r>
              <a:rPr lang="en-US" dirty="0"/>
              <a:t> </a:t>
            </a:r>
            <a:r>
              <a:rPr lang="en-US" dirty="0" err="1"/>
              <a:t>kẹt</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29</a:t>
            </a:fld>
            <a:endParaRPr lang="en-US"/>
          </a:p>
        </p:txBody>
      </p:sp>
    </p:spTree>
    <p:extLst>
      <p:ext uri="{BB962C8B-B14F-4D97-AF65-F5344CB8AC3E}">
        <p14:creationId xmlns:p14="http://schemas.microsoft.com/office/powerpoint/2010/main" val="2094499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Wait(chopstick[</a:t>
            </a:r>
            <a:r>
              <a:rPr lang="en-US" dirty="0" err="1"/>
              <a:t>i</a:t>
            </a:r>
            <a:r>
              <a:rPr lang="en-US" dirty="0"/>
              <a:t>]):  </a:t>
            </a:r>
            <a:r>
              <a:rPr lang="en-US" dirty="0" err="1"/>
              <a:t>mỗi</a:t>
            </a:r>
            <a:r>
              <a:rPr lang="en-US" dirty="0"/>
              <a:t> ng </a:t>
            </a:r>
            <a:r>
              <a:rPr lang="en-US" dirty="0" err="1"/>
              <a:t>lấy</a:t>
            </a:r>
            <a:r>
              <a:rPr lang="en-US" dirty="0"/>
              <a:t> </a:t>
            </a:r>
            <a:r>
              <a:rPr lang="en-US" dirty="0" err="1"/>
              <a:t>chiếc</a:t>
            </a:r>
            <a:r>
              <a:rPr lang="en-US" dirty="0"/>
              <a:t> </a:t>
            </a:r>
            <a:r>
              <a:rPr lang="en-US" dirty="0" err="1"/>
              <a:t>đũa</a:t>
            </a:r>
            <a:r>
              <a:rPr lang="en-US" dirty="0"/>
              <a:t> </a:t>
            </a:r>
            <a:r>
              <a:rPr lang="en-US" dirty="0" err="1"/>
              <a:t>đầu</a:t>
            </a:r>
            <a:r>
              <a:rPr lang="en-US" dirty="0"/>
              <a:t> </a:t>
            </a:r>
            <a:r>
              <a:rPr lang="en-US" dirty="0" err="1"/>
              <a:t>tiên</a:t>
            </a:r>
            <a:r>
              <a:rPr lang="en-US" dirty="0"/>
              <a:t> =&gt; semaphore 1-&gt;0</a:t>
            </a:r>
          </a:p>
          <a:p>
            <a:r>
              <a:rPr lang="en-US" dirty="0"/>
              <a:t>Wait(</a:t>
            </a:r>
            <a:r>
              <a:rPr lang="en-US" dirty="0" err="1"/>
              <a:t>choStick</a:t>
            </a:r>
            <a:r>
              <a:rPr lang="en-US" dirty="0"/>
              <a:t>[(i+1)%5]) </a:t>
            </a:r>
            <a:r>
              <a:rPr lang="en-US" dirty="0" err="1"/>
              <a:t>lấy</a:t>
            </a:r>
            <a:r>
              <a:rPr lang="en-US" dirty="0"/>
              <a:t> </a:t>
            </a:r>
            <a:r>
              <a:rPr lang="en-US" dirty="0" err="1"/>
              <a:t>chiếc</a:t>
            </a:r>
            <a:r>
              <a:rPr lang="en-US" dirty="0"/>
              <a:t> </a:t>
            </a:r>
            <a:r>
              <a:rPr lang="en-US" dirty="0" err="1"/>
              <a:t>bên</a:t>
            </a:r>
            <a:r>
              <a:rPr lang="en-US" dirty="0"/>
              <a:t> </a:t>
            </a:r>
            <a:r>
              <a:rPr lang="en-US" dirty="0" err="1"/>
              <a:t>phải</a:t>
            </a:r>
            <a:r>
              <a:rPr lang="en-US" dirty="0"/>
              <a:t>, </a:t>
            </a:r>
            <a:r>
              <a:rPr lang="en-US" dirty="0" err="1"/>
              <a:t>nma</a:t>
            </a:r>
            <a:r>
              <a:rPr lang="en-US" dirty="0"/>
              <a:t> </a:t>
            </a:r>
            <a:r>
              <a:rPr lang="en-US" dirty="0" err="1"/>
              <a:t>người</a:t>
            </a:r>
            <a:r>
              <a:rPr lang="en-US" dirty="0"/>
              <a:t> </a:t>
            </a:r>
            <a:r>
              <a:rPr lang="en-US" dirty="0" err="1"/>
              <a:t>thứ</a:t>
            </a:r>
            <a:r>
              <a:rPr lang="en-US" dirty="0"/>
              <a:t> 2 </a:t>
            </a:r>
            <a:r>
              <a:rPr lang="en-US" dirty="0" err="1"/>
              <a:t>bị</a:t>
            </a:r>
            <a:r>
              <a:rPr lang="en-US" dirty="0"/>
              <a:t> </a:t>
            </a:r>
            <a:r>
              <a:rPr lang="en-US" dirty="0" err="1"/>
              <a:t>chờ</a:t>
            </a:r>
            <a:r>
              <a:rPr lang="en-US" dirty="0"/>
              <a:t> </a:t>
            </a:r>
            <a:r>
              <a:rPr lang="en-US" dirty="0" err="1"/>
              <a:t>chiếc</a:t>
            </a:r>
            <a:r>
              <a:rPr lang="en-US" dirty="0"/>
              <a:t> </a:t>
            </a:r>
            <a:r>
              <a:rPr lang="en-US" dirty="0" err="1"/>
              <a:t>đũa</a:t>
            </a:r>
            <a:r>
              <a:rPr lang="en-US" dirty="0"/>
              <a:t> </a:t>
            </a:r>
            <a:r>
              <a:rPr lang="en-US" dirty="0" err="1"/>
              <a:t>bên</a:t>
            </a:r>
            <a:r>
              <a:rPr lang="en-US" dirty="0"/>
              <a:t> </a:t>
            </a:r>
            <a:r>
              <a:rPr lang="en-US" dirty="0" err="1"/>
              <a:t>trái</a:t>
            </a:r>
            <a:r>
              <a:rPr lang="en-US" dirty="0"/>
              <a:t> </a:t>
            </a:r>
            <a:r>
              <a:rPr lang="en-US" dirty="0" err="1"/>
              <a:t>của</a:t>
            </a:r>
            <a:r>
              <a:rPr lang="en-US" dirty="0"/>
              <a:t> ng </a:t>
            </a:r>
            <a:r>
              <a:rPr lang="en-US" dirty="0" err="1"/>
              <a:t>thứ</a:t>
            </a:r>
            <a:r>
              <a:rPr lang="en-US" dirty="0"/>
              <a:t> 1 </a:t>
            </a:r>
            <a:r>
              <a:rPr lang="en-US" dirty="0" err="1"/>
              <a:t>và</a:t>
            </a:r>
            <a:r>
              <a:rPr lang="en-US" dirty="0"/>
              <a:t> </a:t>
            </a:r>
            <a:r>
              <a:rPr lang="en-US" dirty="0" err="1"/>
              <a:t>những</a:t>
            </a:r>
            <a:r>
              <a:rPr lang="en-US" dirty="0"/>
              <a:t> ng </a:t>
            </a:r>
            <a:r>
              <a:rPr lang="en-US" dirty="0" err="1"/>
              <a:t>sau</a:t>
            </a:r>
            <a:r>
              <a:rPr lang="en-US" dirty="0"/>
              <a:t> </a:t>
            </a:r>
            <a:r>
              <a:rPr lang="en-US" dirty="0" err="1"/>
              <a:t>cũng</a:t>
            </a:r>
            <a:r>
              <a:rPr lang="en-US" dirty="0"/>
              <a:t> </a:t>
            </a:r>
            <a:r>
              <a:rPr lang="en-US" dirty="0" err="1"/>
              <a:t>chờ</a:t>
            </a:r>
            <a:r>
              <a:rPr lang="en-US" dirty="0"/>
              <a:t> </a:t>
            </a:r>
            <a:r>
              <a:rPr lang="en-US" dirty="0" err="1"/>
              <a:t>như</a:t>
            </a:r>
            <a:r>
              <a:rPr lang="en-US" dirty="0"/>
              <a:t> </a:t>
            </a:r>
            <a:r>
              <a:rPr lang="en-US" dirty="0" err="1"/>
              <a:t>vậy</a:t>
            </a:r>
            <a:endParaRPr lang="en-US" dirty="0"/>
          </a:p>
          <a:p>
            <a:pPr marL="171450" indent="-171450">
              <a:buFont typeface="Symbol" panose="05050102010706020507" pitchFamily="18" charset="2"/>
              <a:buChar char="Þ"/>
            </a:pPr>
            <a:r>
              <a:rPr lang="en-US" dirty="0"/>
              <a:t>Deadlock ở Wait(</a:t>
            </a:r>
            <a:r>
              <a:rPr lang="en-US" dirty="0" err="1"/>
              <a:t>choStick</a:t>
            </a:r>
            <a:r>
              <a:rPr lang="en-US" dirty="0"/>
              <a:t>[(i+1)%5]) </a:t>
            </a:r>
          </a:p>
          <a:p>
            <a:pPr marL="171450" indent="-171450">
              <a:buFont typeface="Symbol" panose="05050102010706020507" pitchFamily="18" charset="2"/>
              <a:buChar char="Þ"/>
            </a:pPr>
            <a:endParaRPr lang="en-US" dirty="0"/>
          </a:p>
          <a:p>
            <a:pPr marL="0" indent="0">
              <a:buFont typeface="Symbol" panose="05050102010706020507" pitchFamily="18" charset="2"/>
              <a:buNone/>
            </a:pPr>
            <a:r>
              <a:rPr lang="en-US" dirty="0"/>
              <a:t>Signal() ko dc </a:t>
            </a:r>
            <a:r>
              <a:rPr lang="en-US" dirty="0" err="1"/>
              <a:t>chạy</a:t>
            </a:r>
            <a:r>
              <a:rPr lang="en-US" dirty="0"/>
              <a:t> </a:t>
            </a:r>
            <a:r>
              <a:rPr lang="en-US" dirty="0" err="1"/>
              <a:t>vì</a:t>
            </a:r>
            <a:r>
              <a:rPr lang="en-US" dirty="0"/>
              <a:t> deadlock </a:t>
            </a:r>
          </a:p>
        </p:txBody>
      </p:sp>
      <p:sp>
        <p:nvSpPr>
          <p:cNvPr id="4" name="Slide Number Placeholder 3"/>
          <p:cNvSpPr>
            <a:spLocks noGrp="1"/>
          </p:cNvSpPr>
          <p:nvPr>
            <p:ph type="sldNum" sz="quarter" idx="10"/>
          </p:nvPr>
        </p:nvSpPr>
        <p:spPr/>
        <p:txBody>
          <a:bodyPr/>
          <a:lstStyle/>
          <a:p>
            <a:fld id="{A69E7F38-9500-43BA-AA14-C8ECA0FAF65C}" type="slidenum">
              <a:rPr lang="en-US" smtClean="0"/>
              <a:t>30</a:t>
            </a:fld>
            <a:endParaRPr lang="en-US"/>
          </a:p>
        </p:txBody>
      </p:sp>
    </p:spTree>
    <p:extLst>
      <p:ext uri="{BB962C8B-B14F-4D97-AF65-F5344CB8AC3E}">
        <p14:creationId xmlns:p14="http://schemas.microsoft.com/office/powerpoint/2010/main" val="1916512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Calling Signal(mutex) before wait(mutex)</a:t>
            </a:r>
          </a:p>
          <a:p>
            <a:pPr marL="0" indent="0">
              <a:buNone/>
            </a:pPr>
            <a:r>
              <a:rPr lang="en-US" dirty="0"/>
              <a:t>Signal(mutex)   </a:t>
            </a:r>
            <a:r>
              <a:rPr lang="en-US" dirty="0" err="1"/>
              <a:t>PA:Signal</a:t>
            </a:r>
            <a:r>
              <a:rPr lang="en-US" dirty="0"/>
              <a:t>(mutex) -&gt; mutex=2	</a:t>
            </a:r>
            <a:r>
              <a:rPr lang="en-US" dirty="0" err="1"/>
              <a:t>vì</a:t>
            </a:r>
            <a:r>
              <a:rPr lang="en-US" dirty="0"/>
              <a:t> ban </a:t>
            </a:r>
            <a:r>
              <a:rPr lang="en-US" dirty="0" err="1"/>
              <a:t>đầu</a:t>
            </a:r>
            <a:r>
              <a:rPr lang="en-US" dirty="0"/>
              <a:t> mutex = 1 </a:t>
            </a:r>
            <a:r>
              <a:rPr lang="en-US" dirty="0" err="1"/>
              <a:t>mà</a:t>
            </a:r>
            <a:r>
              <a:rPr lang="en-US" dirty="0"/>
              <a:t> </a:t>
            </a:r>
            <a:r>
              <a:rPr lang="en-US" dirty="0" err="1"/>
              <a:t>gọi</a:t>
            </a:r>
            <a:r>
              <a:rPr lang="en-US" dirty="0"/>
              <a:t> signal </a:t>
            </a:r>
            <a:r>
              <a:rPr lang="en-US" dirty="0" err="1"/>
              <a:t>trước</a:t>
            </a:r>
            <a:r>
              <a:rPr lang="en-US" dirty="0"/>
              <a:t> </a:t>
            </a:r>
            <a:r>
              <a:rPr lang="en-US" dirty="0" err="1"/>
              <a:t>nên</a:t>
            </a:r>
            <a:r>
              <a:rPr lang="en-US" dirty="0"/>
              <a:t> </a:t>
            </a:r>
            <a:r>
              <a:rPr lang="en-US" dirty="0" err="1"/>
              <a:t>khiên</a:t>
            </a:r>
            <a:r>
              <a:rPr lang="en-US"/>
              <a:t> mutex++ =&gt; </a:t>
            </a:r>
            <a:r>
              <a:rPr lang="en-US" dirty="0"/>
              <a:t>mutex = 2 =&gt; </a:t>
            </a:r>
            <a:r>
              <a:rPr lang="en-US" dirty="0" err="1"/>
              <a:t>dẫn</a:t>
            </a:r>
            <a:r>
              <a:rPr lang="en-US" dirty="0"/>
              <a:t> </a:t>
            </a:r>
            <a:r>
              <a:rPr lang="en-US" dirty="0" err="1"/>
              <a:t>đến</a:t>
            </a:r>
            <a:r>
              <a:rPr lang="en-US" dirty="0"/>
              <a:t> 2 process </a:t>
            </a:r>
            <a:r>
              <a:rPr lang="en-US" dirty="0" err="1"/>
              <a:t>vào</a:t>
            </a:r>
            <a:r>
              <a:rPr lang="en-US" dirty="0"/>
              <a:t> critical section </a:t>
            </a:r>
            <a:r>
              <a:rPr lang="en-US" dirty="0" err="1"/>
              <a:t>cùng</a:t>
            </a:r>
            <a:r>
              <a:rPr lang="en-US" dirty="0"/>
              <a:t> </a:t>
            </a:r>
            <a:r>
              <a:rPr lang="en-US" dirty="0" err="1"/>
              <a:t>lúc</a:t>
            </a:r>
            <a:endParaRPr lang="en-US" dirty="0"/>
          </a:p>
          <a:p>
            <a:pPr marL="0" indent="0">
              <a:buNone/>
            </a:pPr>
            <a:r>
              <a:rPr lang="en-US" dirty="0"/>
              <a:t>//critical section   PB: Wait(mutex) -&gt; mutex=1(enters)</a:t>
            </a:r>
          </a:p>
          <a:p>
            <a:pPr marL="0" indent="0">
              <a:buNone/>
            </a:pPr>
            <a:r>
              <a:rPr lang="en-US" dirty="0"/>
              <a:t>Wait(mutex)     </a:t>
            </a:r>
            <a:r>
              <a:rPr lang="en-US" dirty="0" err="1"/>
              <a:t>PA:wait</a:t>
            </a:r>
            <a:r>
              <a:rPr lang="en-US" dirty="0"/>
              <a:t>(</a:t>
            </a:r>
            <a:r>
              <a:rPr lang="en-US" dirty="0" err="1"/>
              <a:t>nutex</a:t>
            </a:r>
            <a:r>
              <a:rPr lang="en-US" dirty="0"/>
              <a:t>) -&gt;mutex=0(enters)</a:t>
            </a:r>
          </a:p>
          <a:p>
            <a:pPr marL="0" indent="0">
              <a:buNone/>
            </a:pPr>
            <a:endParaRPr lang="en-US" dirty="0"/>
          </a:p>
          <a:p>
            <a:pPr marL="0" indent="0">
              <a:buNone/>
            </a:pPr>
            <a:r>
              <a:rPr lang="en-US" dirty="0"/>
              <a:t>2) Calling wait(mutex) twice</a:t>
            </a:r>
          </a:p>
          <a:p>
            <a:pPr marL="0" indent="0">
              <a:buNone/>
            </a:pPr>
            <a:endParaRPr lang="en-US" dirty="0"/>
          </a:p>
          <a:p>
            <a:pPr marL="0" indent="0">
              <a:buNone/>
            </a:pPr>
            <a:endParaRPr lang="en-US" dirty="0"/>
          </a:p>
          <a:p>
            <a:pPr marL="0" indent="0">
              <a:buNone/>
            </a:pPr>
            <a:r>
              <a:rPr lang="en-US" dirty="0"/>
              <a:t>Mutex </a:t>
            </a:r>
            <a:r>
              <a:rPr lang="en-US" dirty="0" err="1"/>
              <a:t>giống</a:t>
            </a:r>
            <a:r>
              <a:rPr lang="en-US" dirty="0"/>
              <a:t> key, process </a:t>
            </a:r>
            <a:r>
              <a:rPr lang="en-US" dirty="0" err="1"/>
              <a:t>nào</a:t>
            </a:r>
            <a:r>
              <a:rPr lang="en-US" dirty="0"/>
              <a:t> </a:t>
            </a:r>
            <a:r>
              <a:rPr lang="en-US" dirty="0" err="1"/>
              <a:t>lấy</a:t>
            </a:r>
            <a:r>
              <a:rPr lang="en-US" dirty="0"/>
              <a:t> key </a:t>
            </a:r>
            <a:r>
              <a:rPr lang="en-US" dirty="0" err="1"/>
              <a:t>trước</a:t>
            </a:r>
            <a:r>
              <a:rPr lang="en-US" dirty="0"/>
              <a:t> </a:t>
            </a:r>
            <a:r>
              <a:rPr lang="en-US" dirty="0" err="1"/>
              <a:t>thì</a:t>
            </a:r>
            <a:r>
              <a:rPr lang="en-US" dirty="0"/>
              <a:t> </a:t>
            </a:r>
            <a:r>
              <a:rPr lang="en-US" dirty="0" err="1"/>
              <a:t>vào</a:t>
            </a:r>
            <a:r>
              <a:rPr lang="en-US" dirty="0"/>
              <a:t> critical section</a:t>
            </a:r>
          </a:p>
          <a:p>
            <a:pPr marL="0" indent="0">
              <a:buNone/>
            </a:pPr>
            <a:r>
              <a:rPr lang="en-US" dirty="0"/>
              <a:t>Code </a:t>
            </a:r>
            <a:r>
              <a:rPr lang="en-US" dirty="0" err="1"/>
              <a:t>đúng</a:t>
            </a:r>
            <a:r>
              <a:rPr lang="en-US" dirty="0"/>
              <a:t>:</a:t>
            </a:r>
          </a:p>
          <a:p>
            <a:pPr marL="0" indent="0">
              <a:buNone/>
            </a:pPr>
            <a:r>
              <a:rPr lang="en-US" dirty="0"/>
              <a:t>Wait(mutex) -&gt; critical section -&gt; signal(mutex) </a:t>
            </a:r>
          </a:p>
        </p:txBody>
      </p:sp>
      <p:sp>
        <p:nvSpPr>
          <p:cNvPr id="4" name="Slide Number Placeholder 3"/>
          <p:cNvSpPr>
            <a:spLocks noGrp="1"/>
          </p:cNvSpPr>
          <p:nvPr>
            <p:ph type="sldNum" sz="quarter" idx="5"/>
          </p:nvPr>
        </p:nvSpPr>
        <p:spPr/>
        <p:txBody>
          <a:bodyPr/>
          <a:lstStyle/>
          <a:p>
            <a:fld id="{A69E7F38-9500-43BA-AA14-C8ECA0FAF65C}" type="slidenum">
              <a:rPr lang="en-US" smtClean="0"/>
              <a:t>32</a:t>
            </a:fld>
            <a:endParaRPr lang="en-US"/>
          </a:p>
        </p:txBody>
      </p:sp>
    </p:spTree>
    <p:extLst>
      <p:ext uri="{BB962C8B-B14F-4D97-AF65-F5344CB8AC3E}">
        <p14:creationId xmlns:p14="http://schemas.microsoft.com/office/powerpoint/2010/main" val="1230859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a:t>
            </a:r>
            <a:r>
              <a:rPr lang="en-US" dirty="0" err="1"/>
              <a:t>là</a:t>
            </a:r>
            <a:r>
              <a:rPr lang="en-US" dirty="0"/>
              <a:t> </a:t>
            </a:r>
            <a:r>
              <a:rPr lang="en-US" dirty="0" err="1"/>
              <a:t>cơ</a:t>
            </a:r>
            <a:r>
              <a:rPr lang="en-US" dirty="0"/>
              <a:t> </a:t>
            </a:r>
            <a:r>
              <a:rPr lang="en-US" dirty="0" err="1"/>
              <a:t>chế</a:t>
            </a:r>
            <a:r>
              <a:rPr lang="en-US" dirty="0"/>
              <a:t> </a:t>
            </a:r>
            <a:r>
              <a:rPr lang="en-US" dirty="0" err="1"/>
              <a:t>đồng</a:t>
            </a:r>
            <a:r>
              <a:rPr lang="en-US" dirty="0"/>
              <a:t> </a:t>
            </a:r>
            <a:r>
              <a:rPr lang="en-US" dirty="0" err="1"/>
              <a:t>bộ</a:t>
            </a:r>
            <a:r>
              <a:rPr lang="en-US" dirty="0"/>
              <a:t> </a:t>
            </a:r>
            <a:r>
              <a:rPr lang="en-US" dirty="0" err="1"/>
              <a:t>hóa</a:t>
            </a:r>
            <a:r>
              <a:rPr lang="en-US" dirty="0"/>
              <a:t> </a:t>
            </a:r>
            <a:r>
              <a:rPr lang="en-US" dirty="0" err="1"/>
              <a:t>để</a:t>
            </a:r>
            <a:r>
              <a:rPr lang="en-US" dirty="0"/>
              <a:t> </a:t>
            </a:r>
            <a:r>
              <a:rPr lang="en-US" dirty="0" err="1"/>
              <a:t>bảo</a:t>
            </a:r>
            <a:r>
              <a:rPr lang="en-US" dirty="0"/>
              <a:t> </a:t>
            </a:r>
            <a:r>
              <a:rPr lang="en-US" dirty="0" err="1"/>
              <a:t>vệ</a:t>
            </a:r>
            <a:r>
              <a:rPr lang="en-US" dirty="0"/>
              <a:t> shared data </a:t>
            </a:r>
            <a:r>
              <a:rPr lang="en-US" dirty="0" err="1"/>
              <a:t>và</a:t>
            </a:r>
            <a:r>
              <a:rPr lang="en-US" dirty="0"/>
              <a:t> </a:t>
            </a:r>
            <a:r>
              <a:rPr lang="en-US" dirty="0" err="1"/>
              <a:t>các</a:t>
            </a:r>
            <a:r>
              <a:rPr lang="en-US" dirty="0"/>
              <a:t> </a:t>
            </a:r>
            <a:r>
              <a:rPr lang="en-US" dirty="0" err="1"/>
              <a:t>hàm</a:t>
            </a:r>
            <a:r>
              <a:rPr lang="en-US" dirty="0"/>
              <a:t> </a:t>
            </a:r>
            <a:r>
              <a:rPr lang="en-US" dirty="0" err="1"/>
              <a:t>xử</a:t>
            </a:r>
            <a:r>
              <a:rPr lang="en-US" dirty="0"/>
              <a:t> </a:t>
            </a:r>
            <a:r>
              <a:rPr lang="en-US" dirty="0" err="1"/>
              <a:t>lí</a:t>
            </a:r>
            <a:r>
              <a:rPr lang="en-US" dirty="0"/>
              <a:t> shared data</a:t>
            </a:r>
          </a:p>
          <a:p>
            <a:pPr marL="171450" indent="-171450">
              <a:buFont typeface="Symbol" panose="05050102010706020507" pitchFamily="18" charset="2"/>
              <a:buChar char="Þ"/>
            </a:pPr>
            <a:r>
              <a:rPr lang="en-US" dirty="0" err="1"/>
              <a:t>chỉ</a:t>
            </a:r>
            <a:r>
              <a:rPr lang="en-US" dirty="0"/>
              <a:t> </a:t>
            </a:r>
            <a:r>
              <a:rPr lang="en-US" dirty="0" err="1"/>
              <a:t>cho</a:t>
            </a:r>
            <a:r>
              <a:rPr lang="en-US" dirty="0"/>
              <a:t> 1 process </a:t>
            </a:r>
            <a:r>
              <a:rPr lang="en-US" dirty="0" err="1"/>
              <a:t>chạy</a:t>
            </a:r>
            <a:r>
              <a:rPr lang="en-US" dirty="0"/>
              <a:t> </a:t>
            </a:r>
            <a:r>
              <a:rPr lang="en-US" dirty="0" err="1"/>
              <a:t>trong</a:t>
            </a:r>
            <a:r>
              <a:rPr lang="en-US" dirty="0"/>
              <a:t> monitor </a:t>
            </a:r>
            <a:r>
              <a:rPr lang="en-US" dirty="0" err="1"/>
              <a:t>tại</a:t>
            </a:r>
            <a:r>
              <a:rPr lang="en-US" dirty="0"/>
              <a:t> </a:t>
            </a:r>
            <a:r>
              <a:rPr lang="en-US" dirty="0" err="1"/>
              <a:t>thời</a:t>
            </a:r>
            <a:r>
              <a:rPr lang="en-US" dirty="0"/>
              <a:t> </a:t>
            </a:r>
            <a:r>
              <a:rPr lang="en-US" dirty="0" err="1"/>
              <a:t>điểm</a:t>
            </a:r>
            <a:endParaRPr lang="en-US" dirty="0"/>
          </a:p>
          <a:p>
            <a:pPr marL="171450" indent="-171450">
              <a:buFont typeface="Symbol" panose="05050102010706020507" pitchFamily="18" charset="2"/>
              <a:buChar char="Þ"/>
            </a:pPr>
            <a:endParaRPr lang="en-US" dirty="0"/>
          </a:p>
          <a:p>
            <a:pPr marL="0" indent="0">
              <a:buFont typeface="Symbol" panose="05050102010706020507" pitchFamily="18" charset="2"/>
              <a:buNone/>
            </a:pPr>
            <a:r>
              <a:rPr lang="en-US" dirty="0"/>
              <a:t>Monitor </a:t>
            </a:r>
            <a:r>
              <a:rPr lang="en-US" dirty="0" err="1"/>
              <a:t>là</a:t>
            </a:r>
            <a:r>
              <a:rPr lang="en-US" dirty="0"/>
              <a:t> 1 object class </a:t>
            </a:r>
            <a:r>
              <a:rPr lang="en-US" dirty="0" err="1"/>
              <a:t>đặc</a:t>
            </a:r>
            <a:r>
              <a:rPr lang="en-US" dirty="0"/>
              <a:t> </a:t>
            </a:r>
            <a:r>
              <a:rPr lang="en-US" dirty="0" err="1"/>
              <a:t>biệt</a:t>
            </a:r>
            <a:r>
              <a:rPr lang="en-US" dirty="0"/>
              <a:t> (Abstract data type, </a:t>
            </a:r>
            <a:r>
              <a:rPr lang="en-US" dirty="0" err="1"/>
              <a:t>giống</a:t>
            </a:r>
            <a:r>
              <a:rPr lang="en-US" dirty="0"/>
              <a:t> stack: </a:t>
            </a:r>
            <a:r>
              <a:rPr lang="en-US" dirty="0" err="1"/>
              <a:t>chỉ</a:t>
            </a:r>
            <a:r>
              <a:rPr lang="en-US" dirty="0"/>
              <a:t> dc </a:t>
            </a:r>
            <a:r>
              <a:rPr lang="en-US" dirty="0" err="1"/>
              <a:t>gọi</a:t>
            </a:r>
            <a:r>
              <a:rPr lang="en-US" dirty="0"/>
              <a:t> </a:t>
            </a:r>
            <a:r>
              <a:rPr lang="en-US" dirty="0" err="1"/>
              <a:t>hàm</a:t>
            </a:r>
            <a:r>
              <a:rPr lang="en-US" dirty="0"/>
              <a:t> </a:t>
            </a:r>
            <a:r>
              <a:rPr lang="en-US" dirty="0" err="1"/>
              <a:t>trong</a:t>
            </a:r>
            <a:r>
              <a:rPr lang="en-US" dirty="0"/>
              <a:t> stack </a:t>
            </a:r>
            <a:r>
              <a:rPr lang="en-US" dirty="0" err="1"/>
              <a:t>ra</a:t>
            </a:r>
            <a:r>
              <a:rPr lang="en-US" dirty="0"/>
              <a:t> </a:t>
            </a:r>
            <a:r>
              <a:rPr lang="en-US" dirty="0" err="1"/>
              <a:t>dùng</a:t>
            </a:r>
            <a:r>
              <a:rPr lang="en-US" dirty="0"/>
              <a:t> </a:t>
            </a:r>
            <a:r>
              <a:rPr lang="en-US" dirty="0" err="1"/>
              <a:t>chứ</a:t>
            </a:r>
            <a:r>
              <a:rPr lang="en-US" dirty="0"/>
              <a:t> ko </a:t>
            </a:r>
            <a:r>
              <a:rPr lang="en-US" dirty="0" err="1"/>
              <a:t>quan</a:t>
            </a:r>
            <a:r>
              <a:rPr lang="en-US" dirty="0"/>
              <a:t> </a:t>
            </a:r>
            <a:r>
              <a:rPr lang="en-US" dirty="0" err="1"/>
              <a:t>tâm</a:t>
            </a:r>
            <a:r>
              <a:rPr lang="en-US" dirty="0"/>
              <a:t> </a:t>
            </a:r>
            <a:r>
              <a:rPr lang="en-US" dirty="0" err="1"/>
              <a:t>bên</a:t>
            </a:r>
            <a:r>
              <a:rPr lang="en-US" dirty="0"/>
              <a:t> </a:t>
            </a:r>
            <a:r>
              <a:rPr lang="en-US" dirty="0" err="1"/>
              <a:t>trong</a:t>
            </a:r>
            <a:r>
              <a:rPr lang="en-US" dirty="0"/>
              <a:t> stack </a:t>
            </a:r>
            <a:r>
              <a:rPr lang="en-US" dirty="0" err="1"/>
              <a:t>dùng</a:t>
            </a:r>
            <a:r>
              <a:rPr lang="en-US" dirty="0"/>
              <a:t> </a:t>
            </a:r>
            <a:r>
              <a:rPr lang="en-US" dirty="0" err="1"/>
              <a:t>gì</a:t>
            </a:r>
            <a:r>
              <a:rPr lang="en-US" dirty="0"/>
              <a:t>)</a:t>
            </a:r>
          </a:p>
          <a:p>
            <a:pPr marL="0" indent="0">
              <a:buFont typeface="Symbol" panose="05050102010706020507" pitchFamily="18" charset="2"/>
              <a:buNone/>
            </a:pPr>
            <a:r>
              <a:rPr lang="en-US" dirty="0"/>
              <a:t>+ </a:t>
            </a:r>
            <a:r>
              <a:rPr lang="en-US" dirty="0" err="1"/>
              <a:t>biến</a:t>
            </a:r>
            <a:r>
              <a:rPr lang="en-US" dirty="0"/>
              <a:t>: shared data</a:t>
            </a:r>
          </a:p>
          <a:p>
            <a:pPr marL="0" indent="0">
              <a:buFont typeface="Symbol" panose="05050102010706020507" pitchFamily="18" charset="2"/>
              <a:buNone/>
            </a:pPr>
            <a:r>
              <a:rPr lang="en-US" dirty="0"/>
              <a:t>+ </a:t>
            </a:r>
            <a:r>
              <a:rPr lang="en-US" dirty="0" err="1"/>
              <a:t>và</a:t>
            </a:r>
            <a:r>
              <a:rPr lang="en-US" dirty="0"/>
              <a:t> </a:t>
            </a:r>
            <a:r>
              <a:rPr lang="en-US" dirty="0" err="1"/>
              <a:t>hàm</a:t>
            </a:r>
            <a:r>
              <a:rPr lang="en-US" dirty="0"/>
              <a:t> </a:t>
            </a:r>
            <a:r>
              <a:rPr lang="en-US" dirty="0" err="1"/>
              <a:t>xử</a:t>
            </a:r>
            <a:r>
              <a:rPr lang="en-US" dirty="0"/>
              <a:t> </a:t>
            </a:r>
            <a:r>
              <a:rPr lang="en-US" dirty="0" err="1"/>
              <a:t>lí</a:t>
            </a:r>
            <a:r>
              <a:rPr lang="en-US" dirty="0"/>
              <a:t> shared data</a:t>
            </a:r>
          </a:p>
        </p:txBody>
      </p:sp>
      <p:sp>
        <p:nvSpPr>
          <p:cNvPr id="4" name="Slide Number Placeholder 3"/>
          <p:cNvSpPr>
            <a:spLocks noGrp="1"/>
          </p:cNvSpPr>
          <p:nvPr>
            <p:ph type="sldNum" sz="quarter" idx="5"/>
          </p:nvPr>
        </p:nvSpPr>
        <p:spPr/>
        <p:txBody>
          <a:bodyPr/>
          <a:lstStyle/>
          <a:p>
            <a:fld id="{A69E7F38-9500-43BA-AA14-C8ECA0FAF65C}" type="slidenum">
              <a:rPr lang="en-US" smtClean="0"/>
              <a:t>33</a:t>
            </a:fld>
            <a:endParaRPr lang="en-US"/>
          </a:p>
        </p:txBody>
      </p:sp>
    </p:spTree>
    <p:extLst>
      <p:ext uri="{BB962C8B-B14F-4D97-AF65-F5344CB8AC3E}">
        <p14:creationId xmlns:p14="http://schemas.microsoft.com/office/powerpoint/2010/main" val="12521017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9E7F38-9500-43BA-AA14-C8ECA0FAF65C}" type="slidenum">
              <a:rPr lang="en-US" smtClean="0"/>
              <a:t>34</a:t>
            </a:fld>
            <a:endParaRPr lang="en-US"/>
          </a:p>
        </p:txBody>
      </p:sp>
    </p:spTree>
    <p:extLst>
      <p:ext uri="{BB962C8B-B14F-4D97-AF65-F5344CB8AC3E}">
        <p14:creationId xmlns:p14="http://schemas.microsoft.com/office/powerpoint/2010/main" val="2915431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variables: </a:t>
            </a:r>
            <a:r>
              <a:rPr lang="en-US" dirty="0" err="1"/>
              <a:t>giống</a:t>
            </a:r>
            <a:r>
              <a:rPr lang="en-US" dirty="0"/>
              <a:t> </a:t>
            </a:r>
            <a:r>
              <a:rPr lang="en-US" dirty="0" err="1"/>
              <a:t>phòng</a:t>
            </a:r>
            <a:r>
              <a:rPr lang="en-US" dirty="0"/>
              <a:t> </a:t>
            </a:r>
            <a:r>
              <a:rPr lang="en-US" dirty="0" err="1"/>
              <a:t>chờ</a:t>
            </a:r>
            <a:r>
              <a:rPr lang="en-US" dirty="0"/>
              <a:t> </a:t>
            </a:r>
            <a:r>
              <a:rPr lang="en-US" dirty="0" err="1"/>
              <a:t>cho</a:t>
            </a:r>
            <a:r>
              <a:rPr lang="en-US" dirty="0"/>
              <a:t> process/thread </a:t>
            </a:r>
            <a:r>
              <a:rPr lang="en-US" dirty="0" err="1"/>
              <a:t>mà</a:t>
            </a:r>
            <a:r>
              <a:rPr lang="en-US" dirty="0"/>
              <a:t> </a:t>
            </a:r>
            <a:r>
              <a:rPr lang="en-US" dirty="0" err="1"/>
              <a:t>thoát</a:t>
            </a:r>
            <a:r>
              <a:rPr lang="en-US" dirty="0"/>
              <a:t> </a:t>
            </a:r>
            <a:r>
              <a:rPr lang="en-US" dirty="0" err="1"/>
              <a:t>khỏi</a:t>
            </a:r>
            <a:r>
              <a:rPr lang="en-US"/>
              <a:t> monitor</a:t>
            </a:r>
            <a:endParaRPr lang="en-US" dirty="0"/>
          </a:p>
          <a:p>
            <a:endParaRPr lang="en-US" dirty="0"/>
          </a:p>
          <a:p>
            <a:r>
              <a:rPr lang="en-US" dirty="0" err="1"/>
              <a:t>x.wait</a:t>
            </a:r>
            <a:r>
              <a:rPr lang="en-US" dirty="0"/>
              <a:t>(): process </a:t>
            </a:r>
            <a:r>
              <a:rPr lang="en-US" dirty="0" err="1"/>
              <a:t>sẽ</a:t>
            </a:r>
            <a:r>
              <a:rPr lang="en-US" dirty="0"/>
              <a:t> </a:t>
            </a:r>
            <a:r>
              <a:rPr lang="en-US" dirty="0" err="1"/>
              <a:t>dừng</a:t>
            </a:r>
            <a:r>
              <a:rPr lang="en-US" dirty="0"/>
              <a:t> </a:t>
            </a:r>
            <a:r>
              <a:rPr lang="en-US" dirty="0" err="1"/>
              <a:t>và</a:t>
            </a:r>
            <a:r>
              <a:rPr lang="en-US" dirty="0"/>
              <a:t> </a:t>
            </a:r>
            <a:r>
              <a:rPr lang="en-US" dirty="0" err="1"/>
              <a:t>rời</a:t>
            </a:r>
            <a:r>
              <a:rPr lang="en-US" dirty="0"/>
              <a:t> </a:t>
            </a:r>
            <a:r>
              <a:rPr lang="en-US" dirty="0" err="1"/>
              <a:t>khỏi</a:t>
            </a:r>
            <a:r>
              <a:rPr lang="en-US" dirty="0"/>
              <a:t> monitor </a:t>
            </a:r>
            <a:r>
              <a:rPr lang="en-US" dirty="0" err="1"/>
              <a:t>và</a:t>
            </a:r>
            <a:r>
              <a:rPr lang="en-US" dirty="0"/>
              <a:t> </a:t>
            </a:r>
            <a:r>
              <a:rPr lang="en-US" dirty="0" err="1"/>
              <a:t>vào</a:t>
            </a:r>
            <a:r>
              <a:rPr lang="en-US" dirty="0"/>
              <a:t> </a:t>
            </a:r>
            <a:r>
              <a:rPr lang="en-US" dirty="0" err="1"/>
              <a:t>hàng</a:t>
            </a:r>
            <a:r>
              <a:rPr lang="en-US" dirty="0"/>
              <a:t> </a:t>
            </a:r>
            <a:r>
              <a:rPr lang="en-US" dirty="0" err="1"/>
              <a:t>đợi</a:t>
            </a:r>
            <a:endParaRPr lang="en-US" dirty="0"/>
          </a:p>
          <a:p>
            <a:r>
              <a:rPr lang="en-US" dirty="0" err="1"/>
              <a:t>x.signal</a:t>
            </a:r>
            <a:r>
              <a:rPr lang="en-US" dirty="0"/>
              <a:t>(): </a:t>
            </a:r>
            <a:r>
              <a:rPr lang="en-US" dirty="0" err="1"/>
              <a:t>đánh</a:t>
            </a:r>
            <a:r>
              <a:rPr lang="en-US" dirty="0"/>
              <a:t> </a:t>
            </a:r>
            <a:r>
              <a:rPr lang="en-US" dirty="0" err="1"/>
              <a:t>thức</a:t>
            </a:r>
            <a:r>
              <a:rPr lang="en-US" dirty="0"/>
              <a:t> 1 process </a:t>
            </a:r>
            <a:r>
              <a:rPr lang="en-US" dirty="0" err="1"/>
              <a:t>đang</a:t>
            </a:r>
            <a:r>
              <a:rPr lang="en-US" dirty="0"/>
              <a:t> </a:t>
            </a:r>
            <a:r>
              <a:rPr lang="en-US" dirty="0" err="1"/>
              <a:t>chờ</a:t>
            </a:r>
            <a:r>
              <a:rPr lang="en-US" dirty="0"/>
              <a:t> </a:t>
            </a:r>
            <a:r>
              <a:rPr lang="en-US" dirty="0" err="1"/>
              <a:t>và</a:t>
            </a:r>
            <a:r>
              <a:rPr lang="en-US" dirty="0"/>
              <a:t> </a:t>
            </a:r>
            <a:r>
              <a:rPr lang="en-US" dirty="0" err="1"/>
              <a:t>dừng</a:t>
            </a:r>
            <a:r>
              <a:rPr lang="en-US" dirty="0"/>
              <a:t> </a:t>
            </a:r>
            <a:r>
              <a:rPr lang="en-US" dirty="0" err="1"/>
              <a:t>ngay</a:t>
            </a:r>
            <a:endParaRPr lang="en-US" dirty="0"/>
          </a:p>
          <a:p>
            <a:endParaRPr lang="en-US" dirty="0"/>
          </a:p>
          <a:p>
            <a:r>
              <a:rPr lang="en-US" dirty="0" err="1"/>
              <a:t>Khác</a:t>
            </a:r>
            <a:r>
              <a:rPr lang="en-US" dirty="0"/>
              <a:t> semaphore: semaphore </a:t>
            </a:r>
            <a:r>
              <a:rPr lang="en-US" dirty="0" err="1"/>
              <a:t>có</a:t>
            </a:r>
            <a:r>
              <a:rPr lang="en-US" dirty="0"/>
              <a:t> </a:t>
            </a:r>
            <a:r>
              <a:rPr lang="en-US" dirty="0" err="1"/>
              <a:t>lưu</a:t>
            </a:r>
            <a:r>
              <a:rPr lang="en-US" dirty="0"/>
              <a:t> </a:t>
            </a:r>
            <a:r>
              <a:rPr lang="en-US" dirty="0" err="1"/>
              <a:t>giá</a:t>
            </a:r>
            <a:r>
              <a:rPr lang="en-US" dirty="0"/>
              <a:t> </a:t>
            </a:r>
            <a:r>
              <a:rPr lang="en-US" dirty="0" err="1"/>
              <a:t>trị</a:t>
            </a:r>
            <a:r>
              <a:rPr lang="en-US" dirty="0"/>
              <a:t> S++ S– </a:t>
            </a:r>
            <a:r>
              <a:rPr lang="en-US" dirty="0" err="1"/>
              <a:t>và</a:t>
            </a:r>
            <a:r>
              <a:rPr lang="en-US" dirty="0"/>
              <a:t> </a:t>
            </a:r>
            <a:r>
              <a:rPr lang="en-US" dirty="0" err="1"/>
              <a:t>quản</a:t>
            </a:r>
            <a:r>
              <a:rPr lang="en-US" dirty="0"/>
              <a:t> </a:t>
            </a:r>
            <a:r>
              <a:rPr lang="en-US" dirty="0" err="1"/>
              <a:t>lí</a:t>
            </a:r>
            <a:r>
              <a:rPr lang="en-US" dirty="0"/>
              <a:t> </a:t>
            </a:r>
            <a:r>
              <a:rPr lang="en-US" dirty="0" err="1"/>
              <a:t>truy</a:t>
            </a:r>
            <a:r>
              <a:rPr lang="en-US" dirty="0"/>
              <a:t> </a:t>
            </a:r>
            <a:r>
              <a:rPr lang="en-US" dirty="0" err="1"/>
              <a:t>cập</a:t>
            </a:r>
            <a:r>
              <a:rPr lang="en-US" dirty="0"/>
              <a:t> </a:t>
            </a:r>
            <a:r>
              <a:rPr lang="en-US" dirty="0" err="1"/>
              <a:t>bằng</a:t>
            </a:r>
            <a:r>
              <a:rPr lang="en-US" dirty="0"/>
              <a:t> </a:t>
            </a:r>
            <a:r>
              <a:rPr lang="en-US" dirty="0" err="1"/>
              <a:t>bộ</a:t>
            </a:r>
            <a:r>
              <a:rPr lang="en-US" dirty="0"/>
              <a:t> </a:t>
            </a:r>
            <a:r>
              <a:rPr lang="en-US" dirty="0" err="1"/>
              <a:t>đếm</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35</a:t>
            </a:fld>
            <a:endParaRPr lang="en-US"/>
          </a:p>
        </p:txBody>
      </p:sp>
    </p:spTree>
    <p:extLst>
      <p:ext uri="{BB962C8B-B14F-4D97-AF65-F5344CB8AC3E}">
        <p14:creationId xmlns:p14="http://schemas.microsoft.com/office/powerpoint/2010/main" val="33558011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and wait: P </a:t>
            </a:r>
            <a:r>
              <a:rPr lang="en-US" dirty="0" err="1"/>
              <a:t>gọi</a:t>
            </a:r>
            <a:r>
              <a:rPr lang="en-US" dirty="0"/>
              <a:t> signal </a:t>
            </a:r>
            <a:r>
              <a:rPr lang="en-US" dirty="0" err="1"/>
              <a:t>và</a:t>
            </a:r>
            <a:r>
              <a:rPr lang="en-US" dirty="0"/>
              <a:t> Q </a:t>
            </a:r>
            <a:r>
              <a:rPr lang="en-US" dirty="0" err="1"/>
              <a:t>chạy</a:t>
            </a:r>
            <a:r>
              <a:rPr lang="en-US" dirty="0"/>
              <a:t> </a:t>
            </a:r>
            <a:r>
              <a:rPr lang="en-US" dirty="0" err="1"/>
              <a:t>ngay</a:t>
            </a:r>
            <a:r>
              <a:rPr lang="en-US" dirty="0"/>
              <a:t>. P </a:t>
            </a:r>
            <a:r>
              <a:rPr lang="en-US" dirty="0" err="1"/>
              <a:t>vào</a:t>
            </a:r>
            <a:r>
              <a:rPr lang="en-US" dirty="0"/>
              <a:t> </a:t>
            </a:r>
            <a:r>
              <a:rPr lang="en-US" dirty="0" err="1"/>
              <a:t>hàng</a:t>
            </a:r>
            <a:r>
              <a:rPr lang="en-US" dirty="0"/>
              <a:t> </a:t>
            </a:r>
            <a:r>
              <a:rPr lang="en-US" dirty="0" err="1"/>
              <a:t>chờ</a:t>
            </a:r>
            <a:r>
              <a:rPr lang="en-US" dirty="0"/>
              <a:t> until Q </a:t>
            </a:r>
            <a:r>
              <a:rPr lang="en-US" dirty="0" err="1"/>
              <a:t>rời</a:t>
            </a:r>
            <a:r>
              <a:rPr lang="en-US" dirty="0"/>
              <a:t> monitor </a:t>
            </a:r>
            <a:r>
              <a:rPr lang="en-US" dirty="0" err="1"/>
              <a:t>hoặc</a:t>
            </a:r>
            <a:r>
              <a:rPr lang="en-US" dirty="0"/>
              <a:t> wait</a:t>
            </a:r>
          </a:p>
          <a:p>
            <a:endParaRPr lang="en-US" dirty="0"/>
          </a:p>
          <a:p>
            <a:r>
              <a:rPr lang="en-US" dirty="0"/>
              <a:t>Concurrent Pascal: P </a:t>
            </a:r>
            <a:r>
              <a:rPr lang="en-US" dirty="0" err="1"/>
              <a:t>gọi</a:t>
            </a:r>
            <a:r>
              <a:rPr lang="en-US" dirty="0"/>
              <a:t> signal, P </a:t>
            </a:r>
            <a:r>
              <a:rPr lang="en-US" dirty="0" err="1"/>
              <a:t>rời</a:t>
            </a:r>
            <a:r>
              <a:rPr lang="en-US" dirty="0"/>
              <a:t> monitor </a:t>
            </a:r>
            <a:r>
              <a:rPr lang="en-US" dirty="0" err="1"/>
              <a:t>ngay</a:t>
            </a:r>
            <a:r>
              <a:rPr lang="en-US" dirty="0"/>
              <a:t>, Q </a:t>
            </a:r>
            <a:r>
              <a:rPr lang="en-US" dirty="0" err="1"/>
              <a:t>chạy</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37</a:t>
            </a:fld>
            <a:endParaRPr lang="en-US"/>
          </a:p>
        </p:txBody>
      </p:sp>
    </p:spTree>
    <p:extLst>
      <p:ext uri="{BB962C8B-B14F-4D97-AF65-F5344CB8AC3E}">
        <p14:creationId xmlns:p14="http://schemas.microsoft.com/office/powerpoint/2010/main" val="189826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self[5]: </a:t>
            </a:r>
            <a:r>
              <a:rPr lang="en-US" dirty="0" err="1"/>
              <a:t>mỗi</a:t>
            </a:r>
            <a:r>
              <a:rPr lang="en-US" dirty="0"/>
              <a:t> </a:t>
            </a:r>
            <a:r>
              <a:rPr lang="en-US" dirty="0" err="1"/>
              <a:t>triết</a:t>
            </a:r>
            <a:r>
              <a:rPr lang="en-US" dirty="0"/>
              <a:t> </a:t>
            </a:r>
            <a:r>
              <a:rPr lang="en-US" dirty="0" err="1"/>
              <a:t>gia</a:t>
            </a:r>
            <a:r>
              <a:rPr lang="en-US" dirty="0"/>
              <a:t> </a:t>
            </a:r>
            <a:r>
              <a:rPr lang="en-US" dirty="0" err="1"/>
              <a:t>có</a:t>
            </a:r>
            <a:r>
              <a:rPr lang="en-US" dirty="0"/>
              <a:t>  </a:t>
            </a:r>
            <a:r>
              <a:rPr lang="en-US" dirty="0" err="1"/>
              <a:t>hàng</a:t>
            </a:r>
            <a:r>
              <a:rPr lang="en-US" dirty="0"/>
              <a:t> </a:t>
            </a:r>
            <a:r>
              <a:rPr lang="en-US" dirty="0" err="1"/>
              <a:t>chờ</a:t>
            </a:r>
            <a:r>
              <a:rPr lang="en-US" dirty="0"/>
              <a:t> </a:t>
            </a:r>
            <a:r>
              <a:rPr lang="en-US" dirty="0" err="1"/>
              <a:t>riêng</a:t>
            </a:r>
            <a:endParaRPr lang="en-US" dirty="0"/>
          </a:p>
          <a:p>
            <a:endParaRPr lang="en-US" dirty="0"/>
          </a:p>
          <a:p>
            <a:r>
              <a:rPr lang="en-US" dirty="0"/>
              <a:t>Void pickup(): </a:t>
            </a:r>
            <a:r>
              <a:rPr lang="en-US" dirty="0" err="1"/>
              <a:t>là</a:t>
            </a:r>
            <a:r>
              <a:rPr lang="en-US" dirty="0"/>
              <a:t> </a:t>
            </a:r>
            <a:r>
              <a:rPr lang="en-US" dirty="0" err="1"/>
              <a:t>hàm</a:t>
            </a:r>
            <a:r>
              <a:rPr lang="en-US" dirty="0"/>
              <a:t> </a:t>
            </a:r>
            <a:r>
              <a:rPr lang="en-US" dirty="0" err="1"/>
              <a:t>để</a:t>
            </a:r>
            <a:r>
              <a:rPr lang="en-US" dirty="0"/>
              <a:t> </a:t>
            </a:r>
            <a:r>
              <a:rPr lang="en-US" dirty="0" err="1"/>
              <a:t>triết</a:t>
            </a:r>
            <a:r>
              <a:rPr lang="en-US" dirty="0"/>
              <a:t> </a:t>
            </a:r>
            <a:r>
              <a:rPr lang="en-US" dirty="0" err="1"/>
              <a:t>gia</a:t>
            </a:r>
            <a:r>
              <a:rPr lang="en-US" dirty="0"/>
              <a:t> </a:t>
            </a:r>
            <a:r>
              <a:rPr lang="en-US" dirty="0" err="1"/>
              <a:t>xin</a:t>
            </a:r>
            <a:r>
              <a:rPr lang="en-US" dirty="0"/>
              <a:t> </a:t>
            </a:r>
            <a:r>
              <a:rPr lang="en-US" dirty="0" err="1"/>
              <a:t>phép</a:t>
            </a:r>
            <a:r>
              <a:rPr lang="en-US" dirty="0"/>
              <a:t> </a:t>
            </a:r>
            <a:r>
              <a:rPr lang="en-US" dirty="0" err="1"/>
              <a:t>bắt</a:t>
            </a:r>
            <a:r>
              <a:rPr lang="en-US" dirty="0"/>
              <a:t> </a:t>
            </a:r>
            <a:r>
              <a:rPr lang="en-US" dirty="0" err="1"/>
              <a:t>đầu</a:t>
            </a:r>
            <a:r>
              <a:rPr lang="en-US" dirty="0"/>
              <a:t> </a:t>
            </a:r>
            <a:r>
              <a:rPr lang="en-US" dirty="0" err="1"/>
              <a:t>ăn</a:t>
            </a:r>
            <a:endParaRPr lang="en-US" dirty="0"/>
          </a:p>
          <a:p>
            <a:r>
              <a:rPr lang="en-US" dirty="0"/>
              <a:t>Test(): </a:t>
            </a:r>
            <a:r>
              <a:rPr lang="en-US" dirty="0" err="1"/>
              <a:t>kiểm</a:t>
            </a:r>
            <a:r>
              <a:rPr lang="en-US" dirty="0"/>
              <a:t> </a:t>
            </a:r>
            <a:r>
              <a:rPr lang="en-US" dirty="0" err="1"/>
              <a:t>tra</a:t>
            </a:r>
            <a:r>
              <a:rPr lang="en-US" dirty="0"/>
              <a:t> 2 </a:t>
            </a:r>
            <a:r>
              <a:rPr lang="en-US" dirty="0" err="1"/>
              <a:t>người</a:t>
            </a:r>
            <a:r>
              <a:rPr lang="en-US" dirty="0"/>
              <a:t> </a:t>
            </a:r>
            <a:r>
              <a:rPr lang="en-US" dirty="0" err="1"/>
              <a:t>bên</a:t>
            </a:r>
            <a:r>
              <a:rPr lang="en-US" dirty="0"/>
              <a:t> </a:t>
            </a:r>
            <a:r>
              <a:rPr lang="en-US" dirty="0" err="1"/>
              <a:t>cạnh</a:t>
            </a:r>
            <a:r>
              <a:rPr lang="en-US" dirty="0"/>
              <a:t> </a:t>
            </a:r>
            <a:r>
              <a:rPr lang="en-US" dirty="0" err="1"/>
              <a:t>có</a:t>
            </a:r>
            <a:r>
              <a:rPr lang="en-US" dirty="0"/>
              <a:t> </a:t>
            </a:r>
            <a:r>
              <a:rPr lang="en-US" dirty="0" err="1"/>
              <a:t>ăn</a:t>
            </a:r>
            <a:r>
              <a:rPr lang="en-US" dirty="0"/>
              <a:t> ko, </a:t>
            </a:r>
            <a:r>
              <a:rPr lang="en-US" dirty="0" err="1"/>
              <a:t>có</a:t>
            </a:r>
            <a:r>
              <a:rPr lang="en-US" dirty="0"/>
              <a:t> </a:t>
            </a:r>
            <a:r>
              <a:rPr lang="en-US" dirty="0" err="1"/>
              <a:t>đang</a:t>
            </a:r>
            <a:r>
              <a:rPr lang="en-US" dirty="0"/>
              <a:t> </a:t>
            </a:r>
            <a:r>
              <a:rPr lang="en-US" dirty="0" err="1"/>
              <a:t>ăn</a:t>
            </a:r>
            <a:r>
              <a:rPr lang="en-US" dirty="0"/>
              <a:t> </a:t>
            </a:r>
            <a:r>
              <a:rPr lang="en-US" dirty="0" err="1"/>
              <a:t>thì</a:t>
            </a:r>
            <a:r>
              <a:rPr lang="en-US" dirty="0"/>
              <a:t> </a:t>
            </a:r>
            <a:r>
              <a:rPr lang="en-US" dirty="0" err="1"/>
              <a:t>triết</a:t>
            </a:r>
            <a:r>
              <a:rPr lang="en-US" dirty="0"/>
              <a:t> </a:t>
            </a:r>
            <a:r>
              <a:rPr lang="en-US" dirty="0" err="1"/>
              <a:t>gia</a:t>
            </a:r>
            <a:r>
              <a:rPr lang="en-US" dirty="0"/>
              <a:t> wait</a:t>
            </a:r>
          </a:p>
          <a:p>
            <a:endParaRPr lang="en-US" dirty="0"/>
          </a:p>
          <a:p>
            <a:r>
              <a:rPr lang="en-US" dirty="0"/>
              <a:t>Void putdown(): </a:t>
            </a:r>
            <a:r>
              <a:rPr lang="en-US" dirty="0" err="1"/>
              <a:t>triết</a:t>
            </a:r>
            <a:r>
              <a:rPr lang="en-US" dirty="0"/>
              <a:t> </a:t>
            </a:r>
            <a:r>
              <a:rPr lang="en-US" dirty="0" err="1"/>
              <a:t>gia</a:t>
            </a:r>
            <a:r>
              <a:rPr lang="en-US" dirty="0"/>
              <a:t> </a:t>
            </a:r>
            <a:r>
              <a:rPr lang="en-US" dirty="0" err="1"/>
              <a:t>i</a:t>
            </a:r>
            <a:r>
              <a:rPr lang="en-US" dirty="0"/>
              <a:t> </a:t>
            </a:r>
            <a:r>
              <a:rPr lang="en-US" dirty="0" err="1"/>
              <a:t>ăn</a:t>
            </a:r>
            <a:r>
              <a:rPr lang="en-US" dirty="0"/>
              <a:t> </a:t>
            </a:r>
            <a:r>
              <a:rPr lang="en-US" dirty="0" err="1"/>
              <a:t>xong</a:t>
            </a:r>
            <a:r>
              <a:rPr lang="en-US" dirty="0"/>
              <a:t> </a:t>
            </a:r>
            <a:r>
              <a:rPr lang="en-US" dirty="0" err="1"/>
              <a:t>thì</a:t>
            </a:r>
            <a:r>
              <a:rPr lang="en-US" dirty="0"/>
              <a:t> </a:t>
            </a:r>
            <a:r>
              <a:rPr lang="en-US" dirty="0" err="1"/>
              <a:t>ktra</a:t>
            </a:r>
            <a:r>
              <a:rPr lang="en-US" dirty="0"/>
              <a:t> </a:t>
            </a:r>
            <a:r>
              <a:rPr lang="en-US" dirty="0" err="1"/>
              <a:t>xem</a:t>
            </a:r>
            <a:r>
              <a:rPr lang="en-US" dirty="0"/>
              <a:t> 2 ng </a:t>
            </a:r>
            <a:r>
              <a:rPr lang="en-US" dirty="0" err="1"/>
              <a:t>bên</a:t>
            </a:r>
            <a:r>
              <a:rPr lang="en-US" dirty="0"/>
              <a:t> </a:t>
            </a:r>
            <a:r>
              <a:rPr lang="en-US" dirty="0" err="1"/>
              <a:t>cạnh</a:t>
            </a:r>
            <a:r>
              <a:rPr lang="en-US" dirty="0"/>
              <a:t> </a:t>
            </a:r>
            <a:r>
              <a:rPr lang="en-US" dirty="0" err="1"/>
              <a:t>có</a:t>
            </a:r>
            <a:r>
              <a:rPr lang="en-US" dirty="0"/>
              <a:t> </a:t>
            </a:r>
            <a:r>
              <a:rPr lang="en-US" dirty="0" err="1"/>
              <a:t>đang</a:t>
            </a:r>
            <a:r>
              <a:rPr lang="en-US" dirty="0"/>
              <a:t> </a:t>
            </a:r>
            <a:r>
              <a:rPr lang="en-US" dirty="0" err="1"/>
              <a:t>ăn</a:t>
            </a:r>
            <a:r>
              <a:rPr lang="en-US" dirty="0"/>
              <a:t> ko</a:t>
            </a:r>
          </a:p>
          <a:p>
            <a:endParaRPr lang="en-US" dirty="0"/>
          </a:p>
          <a:p>
            <a:r>
              <a:rPr lang="en-US" dirty="0"/>
              <a:t>self[</a:t>
            </a:r>
            <a:r>
              <a:rPr lang="en-US" dirty="0" err="1"/>
              <a:t>i</a:t>
            </a:r>
            <a:r>
              <a:rPr lang="en-US" dirty="0"/>
              <a:t>].wait(): </a:t>
            </a:r>
            <a:r>
              <a:rPr lang="en-US" dirty="0" err="1"/>
              <a:t>triết</a:t>
            </a:r>
            <a:r>
              <a:rPr lang="en-US" dirty="0"/>
              <a:t> </a:t>
            </a:r>
            <a:r>
              <a:rPr lang="en-US" dirty="0" err="1"/>
              <a:t>gia</a:t>
            </a:r>
            <a:r>
              <a:rPr lang="en-US" dirty="0"/>
              <a:t> </a:t>
            </a:r>
            <a:r>
              <a:rPr lang="en-US" dirty="0" err="1"/>
              <a:t>i</a:t>
            </a:r>
            <a:r>
              <a:rPr lang="en-US" dirty="0"/>
              <a:t> </a:t>
            </a:r>
            <a:r>
              <a:rPr lang="en-US" dirty="0" err="1"/>
              <a:t>xin</a:t>
            </a:r>
            <a:r>
              <a:rPr lang="en-US" dirty="0"/>
              <a:t> </a:t>
            </a:r>
            <a:r>
              <a:rPr lang="en-US" dirty="0" err="1"/>
              <a:t>quyền</a:t>
            </a:r>
            <a:r>
              <a:rPr lang="en-US" dirty="0"/>
              <a:t> </a:t>
            </a:r>
            <a:r>
              <a:rPr lang="en-US" dirty="0" err="1"/>
              <a:t>ăn</a:t>
            </a:r>
            <a:r>
              <a:rPr lang="en-US" dirty="0"/>
              <a:t>, </a:t>
            </a:r>
            <a:r>
              <a:rPr lang="en-US" dirty="0" err="1"/>
              <a:t>chưa</a:t>
            </a:r>
            <a:r>
              <a:rPr lang="en-US" dirty="0"/>
              <a:t> </a:t>
            </a:r>
            <a:r>
              <a:rPr lang="en-US" dirty="0" err="1"/>
              <a:t>đủ</a:t>
            </a:r>
            <a:r>
              <a:rPr lang="en-US" dirty="0"/>
              <a:t> dk </a:t>
            </a:r>
            <a:r>
              <a:rPr lang="en-US" dirty="0" err="1"/>
              <a:t>nên</a:t>
            </a:r>
            <a:r>
              <a:rPr lang="en-US" dirty="0"/>
              <a:t> ko dc </a:t>
            </a:r>
            <a:r>
              <a:rPr lang="en-US" dirty="0" err="1"/>
              <a:t>ăn</a:t>
            </a:r>
            <a:r>
              <a:rPr lang="en-US" dirty="0"/>
              <a:t>, </a:t>
            </a:r>
            <a:r>
              <a:rPr lang="en-US" dirty="0" err="1"/>
              <a:t>thoát</a:t>
            </a:r>
            <a:r>
              <a:rPr lang="en-US" dirty="0"/>
              <a:t> </a:t>
            </a:r>
            <a:r>
              <a:rPr lang="en-US" dirty="0" err="1"/>
              <a:t>khỏi</a:t>
            </a:r>
            <a:r>
              <a:rPr lang="en-US" dirty="0"/>
              <a:t> monitor </a:t>
            </a:r>
            <a:r>
              <a:rPr lang="en-US" dirty="0" err="1"/>
              <a:t>để</a:t>
            </a:r>
            <a:r>
              <a:rPr lang="en-US" dirty="0"/>
              <a:t> </a:t>
            </a:r>
            <a:r>
              <a:rPr lang="en-US" dirty="0" err="1"/>
              <a:t>triết</a:t>
            </a:r>
            <a:r>
              <a:rPr lang="en-US" dirty="0"/>
              <a:t> </a:t>
            </a:r>
            <a:r>
              <a:rPr lang="en-US" dirty="0" err="1"/>
              <a:t>gia</a:t>
            </a:r>
            <a:r>
              <a:rPr lang="en-US" dirty="0"/>
              <a:t> </a:t>
            </a:r>
            <a:r>
              <a:rPr lang="en-US" dirty="0" err="1"/>
              <a:t>khác</a:t>
            </a:r>
            <a:r>
              <a:rPr lang="en-US" dirty="0"/>
              <a:t>(process </a:t>
            </a:r>
            <a:r>
              <a:rPr lang="en-US" dirty="0" err="1"/>
              <a:t>khác</a:t>
            </a:r>
            <a:r>
              <a:rPr lang="en-US" dirty="0"/>
              <a:t>) </a:t>
            </a:r>
            <a:r>
              <a:rPr lang="en-US" dirty="0" err="1"/>
              <a:t>có</a:t>
            </a:r>
            <a:r>
              <a:rPr lang="en-US" dirty="0"/>
              <a:t> </a:t>
            </a:r>
            <a:r>
              <a:rPr lang="en-US" dirty="0" err="1"/>
              <a:t>thể</a:t>
            </a:r>
            <a:r>
              <a:rPr lang="en-US" dirty="0"/>
              <a:t> </a:t>
            </a:r>
            <a:r>
              <a:rPr lang="en-US" dirty="0" err="1"/>
              <a:t>gọi</a:t>
            </a:r>
            <a:r>
              <a:rPr lang="en-US" dirty="0"/>
              <a:t> putdown() </a:t>
            </a:r>
            <a:r>
              <a:rPr lang="en-US" dirty="0" err="1"/>
              <a:t>rồi</a:t>
            </a:r>
            <a:r>
              <a:rPr lang="en-US" dirty="0"/>
              <a:t> </a:t>
            </a:r>
            <a:r>
              <a:rPr lang="en-US" dirty="0" err="1"/>
              <a:t>mới</a:t>
            </a:r>
            <a:r>
              <a:rPr lang="en-US" dirty="0"/>
              <a:t> signal </a:t>
            </a:r>
            <a:r>
              <a:rPr lang="en-US" dirty="0" err="1"/>
              <a:t>thì</a:t>
            </a:r>
            <a:r>
              <a:rPr lang="en-US" dirty="0"/>
              <a:t> </a:t>
            </a:r>
            <a:r>
              <a:rPr lang="en-US" dirty="0" err="1"/>
              <a:t>tiết</a:t>
            </a:r>
            <a:r>
              <a:rPr lang="en-US" dirty="0"/>
              <a:t> </a:t>
            </a:r>
            <a:r>
              <a:rPr lang="en-US" dirty="0" err="1"/>
              <a:t>gia</a:t>
            </a:r>
            <a:r>
              <a:rPr lang="en-US" dirty="0"/>
              <a:t> </a:t>
            </a:r>
            <a:r>
              <a:rPr lang="en-US" dirty="0" err="1"/>
              <a:t>i</a:t>
            </a:r>
            <a:r>
              <a:rPr lang="en-US" dirty="0"/>
              <a:t> </a:t>
            </a:r>
            <a:r>
              <a:rPr lang="en-US" dirty="0" err="1"/>
              <a:t>mới</a:t>
            </a:r>
            <a:r>
              <a:rPr lang="en-US" dirty="0"/>
              <a:t> quay </a:t>
            </a:r>
            <a:r>
              <a:rPr lang="en-US" dirty="0" err="1"/>
              <a:t>lại</a:t>
            </a:r>
            <a:endParaRPr lang="en-US" dirty="0"/>
          </a:p>
          <a:p>
            <a:r>
              <a:rPr lang="en-US" dirty="0"/>
              <a:t>=&gt; Ko </a:t>
            </a:r>
            <a:r>
              <a:rPr lang="en-US" dirty="0" err="1"/>
              <a:t>thoát</a:t>
            </a:r>
            <a:r>
              <a:rPr lang="en-US" dirty="0"/>
              <a:t> monitor </a:t>
            </a:r>
            <a:r>
              <a:rPr lang="en-US" dirty="0" err="1"/>
              <a:t>thì</a:t>
            </a:r>
            <a:r>
              <a:rPr lang="en-US" dirty="0"/>
              <a:t> </a:t>
            </a:r>
            <a:r>
              <a:rPr lang="en-US" dirty="0" err="1"/>
              <a:t>triết</a:t>
            </a:r>
            <a:r>
              <a:rPr lang="en-US" dirty="0"/>
              <a:t> </a:t>
            </a:r>
            <a:r>
              <a:rPr lang="en-US" dirty="0" err="1"/>
              <a:t>gia</a:t>
            </a:r>
            <a:r>
              <a:rPr lang="en-US" dirty="0"/>
              <a:t> </a:t>
            </a:r>
            <a:r>
              <a:rPr lang="en-US" dirty="0" err="1"/>
              <a:t>i</a:t>
            </a:r>
            <a:r>
              <a:rPr lang="en-US" dirty="0"/>
              <a:t> </a:t>
            </a:r>
            <a:r>
              <a:rPr lang="en-US" dirty="0" err="1"/>
              <a:t>sẽ</a:t>
            </a:r>
            <a:r>
              <a:rPr lang="en-US" dirty="0"/>
              <a:t> </a:t>
            </a:r>
            <a:r>
              <a:rPr lang="en-US" dirty="0" err="1"/>
              <a:t>đợi</a:t>
            </a:r>
            <a:r>
              <a:rPr lang="en-US" dirty="0"/>
              <a:t> </a:t>
            </a:r>
            <a:r>
              <a:rPr lang="en-US" dirty="0" err="1"/>
              <a:t>mãi</a:t>
            </a:r>
            <a:r>
              <a:rPr lang="en-US" dirty="0"/>
              <a:t> </a:t>
            </a:r>
            <a:r>
              <a:rPr lang="en-US" dirty="0" err="1"/>
              <a:t>mãi</a:t>
            </a:r>
            <a:r>
              <a:rPr lang="en-US" dirty="0"/>
              <a:t> </a:t>
            </a:r>
            <a:r>
              <a:rPr lang="en-US" dirty="0" err="1"/>
              <a:t>vì</a:t>
            </a:r>
            <a:r>
              <a:rPr lang="en-US" dirty="0"/>
              <a:t> monitor </a:t>
            </a:r>
            <a:r>
              <a:rPr lang="en-US" dirty="0" err="1"/>
              <a:t>chỉ</a:t>
            </a:r>
            <a:r>
              <a:rPr lang="en-US" dirty="0"/>
              <a:t> </a:t>
            </a:r>
            <a:r>
              <a:rPr lang="en-US" dirty="0" err="1"/>
              <a:t>cho</a:t>
            </a:r>
            <a:r>
              <a:rPr lang="en-US" dirty="0"/>
              <a:t> 1 process </a:t>
            </a:r>
            <a:r>
              <a:rPr lang="en-US" dirty="0" err="1"/>
              <a:t>vào</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38</a:t>
            </a:fld>
            <a:endParaRPr lang="en-US"/>
          </a:p>
        </p:txBody>
      </p:sp>
    </p:spTree>
    <p:extLst>
      <p:ext uri="{BB962C8B-B14F-4D97-AF65-F5344CB8AC3E}">
        <p14:creationId xmlns:p14="http://schemas.microsoft.com/office/powerpoint/2010/main" val="9002562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Hàm</a:t>
            </a:r>
            <a:r>
              <a:rPr lang="en-US" dirty="0"/>
              <a:t> test(): check 2 ng </a:t>
            </a:r>
            <a:r>
              <a:rPr lang="en-US" dirty="0" err="1"/>
              <a:t>bên</a:t>
            </a:r>
            <a:r>
              <a:rPr lang="en-US" dirty="0"/>
              <a:t> </a:t>
            </a:r>
            <a:r>
              <a:rPr lang="en-US" dirty="0" err="1"/>
              <a:t>cạnh</a:t>
            </a:r>
            <a:r>
              <a:rPr lang="en-US" dirty="0"/>
              <a:t> </a:t>
            </a:r>
            <a:r>
              <a:rPr lang="en-US" dirty="0" err="1"/>
              <a:t>có</a:t>
            </a:r>
            <a:r>
              <a:rPr lang="en-US" dirty="0"/>
              <a:t> </a:t>
            </a:r>
            <a:r>
              <a:rPr lang="en-US" dirty="0" err="1"/>
              <a:t>đang</a:t>
            </a:r>
            <a:r>
              <a:rPr lang="en-US" dirty="0"/>
              <a:t> </a:t>
            </a:r>
            <a:r>
              <a:rPr lang="en-US" dirty="0" err="1"/>
              <a:t>ăn</a:t>
            </a:r>
            <a:r>
              <a:rPr lang="en-US" dirty="0"/>
              <a:t> hay ko</a:t>
            </a:r>
          </a:p>
          <a:p>
            <a:r>
              <a:rPr lang="en-US" dirty="0"/>
              <a:t>=&gt; Ko </a:t>
            </a:r>
            <a:r>
              <a:rPr lang="en-US" dirty="0" err="1"/>
              <a:t>ăn</a:t>
            </a:r>
            <a:r>
              <a:rPr lang="en-US" dirty="0"/>
              <a:t> </a:t>
            </a:r>
            <a:r>
              <a:rPr lang="en-US" dirty="0" err="1"/>
              <a:t>thì</a:t>
            </a:r>
            <a:r>
              <a:rPr lang="en-US" dirty="0"/>
              <a:t> set self[</a:t>
            </a:r>
            <a:r>
              <a:rPr lang="en-US" dirty="0" err="1"/>
              <a:t>i</a:t>
            </a:r>
            <a:r>
              <a:rPr lang="en-US" dirty="0"/>
              <a:t>] </a:t>
            </a:r>
            <a:r>
              <a:rPr lang="en-US" dirty="0" err="1"/>
              <a:t>của</a:t>
            </a:r>
            <a:r>
              <a:rPr lang="en-US" dirty="0"/>
              <a:t> </a:t>
            </a:r>
            <a:r>
              <a:rPr lang="en-US" dirty="0" err="1"/>
              <a:t>triết</a:t>
            </a:r>
            <a:r>
              <a:rPr lang="en-US" dirty="0"/>
              <a:t> </a:t>
            </a:r>
            <a:r>
              <a:rPr lang="en-US" dirty="0" err="1"/>
              <a:t>gia</a:t>
            </a:r>
            <a:r>
              <a:rPr lang="en-US" dirty="0"/>
              <a:t> </a:t>
            </a:r>
            <a:r>
              <a:rPr lang="en-US" dirty="0" err="1"/>
              <a:t>đang</a:t>
            </a:r>
            <a:r>
              <a:rPr lang="en-US" dirty="0"/>
              <a:t> </a:t>
            </a:r>
            <a:r>
              <a:rPr lang="en-US" dirty="0" err="1"/>
              <a:t>xin</a:t>
            </a:r>
            <a:r>
              <a:rPr lang="en-US" dirty="0"/>
              <a:t> </a:t>
            </a:r>
            <a:r>
              <a:rPr lang="en-US" dirty="0" err="1"/>
              <a:t>về</a:t>
            </a:r>
            <a:r>
              <a:rPr lang="en-US" dirty="0"/>
              <a:t> state[</a:t>
            </a:r>
            <a:r>
              <a:rPr lang="en-US" dirty="0" err="1"/>
              <a:t>i</a:t>
            </a:r>
            <a:r>
              <a:rPr lang="en-US" dirty="0"/>
              <a:t>] = Eating </a:t>
            </a:r>
            <a:r>
              <a:rPr lang="en-US" dirty="0" err="1"/>
              <a:t>và</a:t>
            </a:r>
            <a:r>
              <a:rPr lang="en-US" dirty="0"/>
              <a:t> signal() </a:t>
            </a:r>
            <a:r>
              <a:rPr lang="en-US" dirty="0" err="1"/>
              <a:t>cho</a:t>
            </a:r>
            <a:r>
              <a:rPr lang="en-US" dirty="0"/>
              <a:t> </a:t>
            </a:r>
            <a:r>
              <a:rPr lang="en-US" dirty="0" err="1"/>
              <a:t>triết</a:t>
            </a:r>
            <a:r>
              <a:rPr lang="en-US" dirty="0"/>
              <a:t> </a:t>
            </a:r>
            <a:r>
              <a:rPr lang="en-US" dirty="0" err="1"/>
              <a:t>gia</a:t>
            </a:r>
            <a:r>
              <a:rPr lang="en-US" dirty="0"/>
              <a:t> </a:t>
            </a:r>
            <a:r>
              <a:rPr lang="en-US" dirty="0" err="1"/>
              <a:t>đó</a:t>
            </a:r>
            <a:r>
              <a:rPr lang="en-US" dirty="0"/>
              <a:t> </a:t>
            </a:r>
            <a:r>
              <a:rPr lang="en-US" dirty="0" err="1"/>
              <a:t>để</a:t>
            </a:r>
            <a:r>
              <a:rPr lang="en-US" dirty="0"/>
              <a:t> dc </a:t>
            </a:r>
            <a:r>
              <a:rPr lang="en-US" dirty="0" err="1"/>
              <a:t>ăn</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39</a:t>
            </a:fld>
            <a:endParaRPr lang="en-US"/>
          </a:p>
        </p:txBody>
      </p:sp>
    </p:spTree>
    <p:extLst>
      <p:ext uri="{BB962C8B-B14F-4D97-AF65-F5344CB8AC3E}">
        <p14:creationId xmlns:p14="http://schemas.microsoft.com/office/powerpoint/2010/main" val="34924527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B[N]; B </a:t>
            </a:r>
            <a:r>
              <a:rPr lang="en-US" dirty="0" err="1"/>
              <a:t>là</a:t>
            </a:r>
            <a:r>
              <a:rPr lang="en-US" dirty="0"/>
              <a:t> </a:t>
            </a:r>
            <a:r>
              <a:rPr lang="en-US" dirty="0" err="1"/>
              <a:t>mảng</a:t>
            </a:r>
            <a:r>
              <a:rPr lang="en-US" dirty="0"/>
              <a:t> buffer</a:t>
            </a:r>
          </a:p>
          <a:p>
            <a:r>
              <a:rPr lang="en-US" dirty="0"/>
              <a:t>int in: </a:t>
            </a:r>
            <a:r>
              <a:rPr lang="en-US" dirty="0" err="1"/>
              <a:t>vị</a:t>
            </a:r>
            <a:r>
              <a:rPr lang="en-US" dirty="0"/>
              <a:t> </a:t>
            </a:r>
            <a:r>
              <a:rPr lang="en-US" dirty="0" err="1"/>
              <a:t>trí</a:t>
            </a:r>
            <a:r>
              <a:rPr lang="en-US" dirty="0"/>
              <a:t> producer </a:t>
            </a:r>
            <a:r>
              <a:rPr lang="en-US" dirty="0" err="1"/>
              <a:t>sẽ</a:t>
            </a:r>
            <a:r>
              <a:rPr lang="en-US" dirty="0"/>
              <a:t> </a:t>
            </a:r>
            <a:r>
              <a:rPr lang="en-US" dirty="0" err="1"/>
              <a:t>ghi</a:t>
            </a:r>
            <a:r>
              <a:rPr lang="en-US" dirty="0"/>
              <a:t> </a:t>
            </a:r>
            <a:r>
              <a:rPr lang="en-US" dirty="0" err="1"/>
              <a:t>dữ</a:t>
            </a:r>
            <a:r>
              <a:rPr lang="en-US" dirty="0"/>
              <a:t> </a:t>
            </a:r>
            <a:r>
              <a:rPr lang="en-US" dirty="0" err="1"/>
              <a:t>liệu</a:t>
            </a:r>
            <a:endParaRPr lang="en-US" dirty="0"/>
          </a:p>
          <a:p>
            <a:r>
              <a:rPr lang="en-US" dirty="0"/>
              <a:t>out: </a:t>
            </a:r>
            <a:r>
              <a:rPr lang="en-US" dirty="0" err="1"/>
              <a:t>vị</a:t>
            </a:r>
            <a:r>
              <a:rPr lang="en-US" dirty="0"/>
              <a:t> </a:t>
            </a:r>
            <a:r>
              <a:rPr lang="en-US" dirty="0" err="1"/>
              <a:t>trí</a:t>
            </a:r>
            <a:r>
              <a:rPr lang="en-US" dirty="0"/>
              <a:t> consumer </a:t>
            </a:r>
            <a:r>
              <a:rPr lang="en-US" dirty="0" err="1"/>
              <a:t>sẽ</a:t>
            </a:r>
            <a:r>
              <a:rPr lang="en-US" dirty="0"/>
              <a:t> </a:t>
            </a:r>
            <a:r>
              <a:rPr lang="en-US" dirty="0" err="1"/>
              <a:t>lấy</a:t>
            </a:r>
            <a:r>
              <a:rPr lang="en-US" dirty="0"/>
              <a:t> </a:t>
            </a:r>
            <a:r>
              <a:rPr lang="en-US" dirty="0" err="1"/>
              <a:t>dữ</a:t>
            </a:r>
            <a:r>
              <a:rPr lang="en-US" dirty="0"/>
              <a:t> </a:t>
            </a:r>
            <a:r>
              <a:rPr lang="en-US" dirty="0" err="1"/>
              <a:t>liệu</a:t>
            </a:r>
            <a:endParaRPr lang="en-US" dirty="0"/>
          </a:p>
          <a:p>
            <a:r>
              <a:rPr lang="en-US" dirty="0"/>
              <a:t> count: </a:t>
            </a:r>
            <a:r>
              <a:rPr lang="en-US" dirty="0" err="1"/>
              <a:t>số</a:t>
            </a:r>
            <a:r>
              <a:rPr lang="en-US" dirty="0"/>
              <a:t> </a:t>
            </a:r>
            <a:r>
              <a:rPr lang="en-US" dirty="0" err="1"/>
              <a:t>phần</a:t>
            </a:r>
            <a:r>
              <a:rPr lang="en-US" dirty="0"/>
              <a:t> </a:t>
            </a:r>
            <a:r>
              <a:rPr lang="en-US" dirty="0" err="1"/>
              <a:t>tử</a:t>
            </a:r>
            <a:r>
              <a:rPr lang="en-US" dirty="0"/>
              <a:t> </a:t>
            </a:r>
            <a:r>
              <a:rPr lang="en-US" dirty="0" err="1"/>
              <a:t>hiện</a:t>
            </a:r>
            <a:r>
              <a:rPr lang="en-US" dirty="0"/>
              <a:t> </a:t>
            </a:r>
            <a:r>
              <a:rPr lang="en-US" dirty="0" err="1"/>
              <a:t>có</a:t>
            </a:r>
            <a:r>
              <a:rPr lang="en-US" dirty="0"/>
              <a:t> </a:t>
            </a:r>
            <a:r>
              <a:rPr lang="en-US" dirty="0" err="1"/>
              <a:t>trong</a:t>
            </a:r>
            <a:r>
              <a:rPr lang="en-US" dirty="0"/>
              <a:t> buffer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condition </a:t>
            </a:r>
            <a:r>
              <a:rPr lang="en-US" dirty="0" err="1"/>
              <a:t>nonfull</a:t>
            </a:r>
            <a:r>
              <a:rPr lang="en-US" dirty="0"/>
              <a:t>: producer </a:t>
            </a:r>
            <a:r>
              <a:rPr lang="en-US" dirty="0" err="1"/>
              <a:t>chờ</a:t>
            </a:r>
            <a:r>
              <a:rPr lang="en-US" dirty="0"/>
              <a:t> ở condition </a:t>
            </a:r>
            <a:r>
              <a:rPr lang="en-US" dirty="0" err="1"/>
              <a:t>khi</a:t>
            </a:r>
            <a:r>
              <a:rPr lang="en-US" dirty="0"/>
              <a:t> buffer </a:t>
            </a:r>
            <a:r>
              <a:rPr lang="en-US" dirty="0" err="1"/>
              <a:t>đầy</a:t>
            </a:r>
            <a:r>
              <a:rPr lang="en-US" dirty="0"/>
              <a:t> </a:t>
            </a:r>
            <a:r>
              <a:rPr lang="en-US" dirty="0" err="1"/>
              <a:t>và</a:t>
            </a:r>
            <a:r>
              <a:rPr lang="en-US" dirty="0"/>
              <a:t> </a:t>
            </a:r>
            <a:r>
              <a:rPr lang="en-US" dirty="0" err="1"/>
              <a:t>rỗng</a:t>
            </a:r>
            <a:endParaRPr lang="en-US" dirty="0"/>
          </a:p>
          <a:p>
            <a:r>
              <a:rPr lang="en-US" dirty="0"/>
              <a:t>nonempty;    consumer </a:t>
            </a:r>
            <a:r>
              <a:rPr lang="en-US" dirty="0" err="1"/>
              <a:t>chờ</a:t>
            </a:r>
            <a:r>
              <a:rPr lang="en-US" dirty="0"/>
              <a:t> ở </a:t>
            </a:r>
            <a:r>
              <a:rPr lang="en-US" dirty="0" err="1"/>
              <a:t>đây</a:t>
            </a:r>
            <a:r>
              <a:rPr lang="en-US" dirty="0"/>
              <a:t> </a:t>
            </a:r>
            <a:r>
              <a:rPr lang="en-US" dirty="0" err="1"/>
              <a:t>khi</a:t>
            </a:r>
            <a:r>
              <a:rPr lang="en-US" dirty="0"/>
              <a:t> buffer </a:t>
            </a:r>
            <a:r>
              <a:rPr lang="en-US" dirty="0" err="1"/>
              <a:t>rỗng</a:t>
            </a:r>
            <a:endParaRPr lang="en-US" dirty="0"/>
          </a:p>
          <a:p>
            <a:endParaRPr lang="en-US" dirty="0"/>
          </a:p>
          <a:p>
            <a:r>
              <a:rPr lang="en-US" dirty="0"/>
              <a:t>Void place(): </a:t>
            </a:r>
            <a:r>
              <a:rPr lang="en-US" dirty="0" err="1"/>
              <a:t>dùng</a:t>
            </a:r>
            <a:r>
              <a:rPr lang="en-US" dirty="0"/>
              <a:t> </a:t>
            </a:r>
            <a:r>
              <a:rPr lang="en-US" dirty="0" err="1"/>
              <a:t>để</a:t>
            </a:r>
            <a:r>
              <a:rPr lang="en-US" dirty="0"/>
              <a:t> producer </a:t>
            </a:r>
            <a:r>
              <a:rPr lang="en-US" dirty="0" err="1"/>
              <a:t>đưa</a:t>
            </a:r>
            <a:r>
              <a:rPr lang="en-US" dirty="0"/>
              <a:t> </a:t>
            </a:r>
            <a:r>
              <a:rPr lang="en-US" dirty="0" err="1"/>
              <a:t>dữ</a:t>
            </a:r>
            <a:r>
              <a:rPr lang="en-US" dirty="0"/>
              <a:t> </a:t>
            </a:r>
            <a:r>
              <a:rPr lang="en-US" dirty="0" err="1"/>
              <a:t>liệu</a:t>
            </a:r>
            <a:r>
              <a:rPr lang="en-US" dirty="0"/>
              <a:t> </a:t>
            </a:r>
            <a:r>
              <a:rPr lang="en-US" dirty="0" err="1"/>
              <a:t>vào</a:t>
            </a:r>
            <a:r>
              <a:rPr lang="en-US" dirty="0"/>
              <a:t> buffer</a:t>
            </a:r>
          </a:p>
          <a:p>
            <a:r>
              <a:rPr lang="en-US" dirty="0" err="1"/>
              <a:t>Ktra</a:t>
            </a:r>
            <a:r>
              <a:rPr lang="en-US" dirty="0"/>
              <a:t> </a:t>
            </a:r>
            <a:r>
              <a:rPr lang="en-US" dirty="0" err="1"/>
              <a:t>nếu</a:t>
            </a:r>
            <a:r>
              <a:rPr lang="en-US" dirty="0"/>
              <a:t> buffer </a:t>
            </a:r>
            <a:r>
              <a:rPr lang="en-US" dirty="0" err="1"/>
              <a:t>đầy</a:t>
            </a:r>
            <a:r>
              <a:rPr lang="en-US" dirty="0"/>
              <a:t> </a:t>
            </a:r>
            <a:r>
              <a:rPr lang="en-US" dirty="0" err="1"/>
              <a:t>thì</a:t>
            </a:r>
            <a:r>
              <a:rPr lang="en-US" dirty="0"/>
              <a:t> </a:t>
            </a:r>
            <a:r>
              <a:rPr lang="en-US" dirty="0" err="1"/>
              <a:t>nonfull.wait</a:t>
            </a:r>
            <a:r>
              <a:rPr lang="en-US" dirty="0"/>
              <a:t> </a:t>
            </a:r>
            <a:r>
              <a:rPr lang="en-US" dirty="0" err="1"/>
              <a:t>và</a:t>
            </a:r>
            <a:r>
              <a:rPr lang="en-US" dirty="0"/>
              <a:t> </a:t>
            </a:r>
            <a:r>
              <a:rPr lang="en-US" dirty="0" err="1"/>
              <a:t>thoát</a:t>
            </a:r>
            <a:r>
              <a:rPr lang="en-US" dirty="0"/>
              <a:t> </a:t>
            </a:r>
            <a:r>
              <a:rPr lang="en-US" dirty="0" err="1"/>
              <a:t>khỏi</a:t>
            </a:r>
            <a:r>
              <a:rPr lang="en-US" dirty="0"/>
              <a:t> monitor </a:t>
            </a:r>
            <a:r>
              <a:rPr lang="en-US" dirty="0" err="1"/>
              <a:t>để</a:t>
            </a:r>
            <a:r>
              <a:rPr lang="en-US" dirty="0"/>
              <a:t> consumer </a:t>
            </a:r>
            <a:r>
              <a:rPr lang="en-US" dirty="0" err="1"/>
              <a:t>vào</a:t>
            </a:r>
            <a:endParaRPr lang="en-US" dirty="0"/>
          </a:p>
          <a:p>
            <a:endParaRPr lang="en-US" dirty="0"/>
          </a:p>
          <a:p>
            <a:r>
              <a:rPr lang="en-US" dirty="0"/>
              <a:t>B[in] = x   </a:t>
            </a:r>
            <a:r>
              <a:rPr lang="en-US" dirty="0" err="1"/>
              <a:t>ghi</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vị</a:t>
            </a:r>
            <a:r>
              <a:rPr lang="en-US" dirty="0"/>
              <a:t> </a:t>
            </a:r>
            <a:r>
              <a:rPr lang="en-US" dirty="0" err="1"/>
              <a:t>trí</a:t>
            </a:r>
            <a:r>
              <a:rPr lang="en-US" dirty="0"/>
              <a:t> in</a:t>
            </a:r>
          </a:p>
          <a:p>
            <a:endParaRPr lang="en-US" dirty="0"/>
          </a:p>
          <a:p>
            <a:r>
              <a:rPr lang="en-US" dirty="0"/>
              <a:t>%N </a:t>
            </a:r>
            <a:r>
              <a:rPr lang="en-US" dirty="0" err="1"/>
              <a:t>là</a:t>
            </a:r>
            <a:r>
              <a:rPr lang="en-US" dirty="0"/>
              <a:t> circular buffer </a:t>
            </a:r>
            <a:r>
              <a:rPr lang="en-US" dirty="0" err="1"/>
              <a:t>để</a:t>
            </a:r>
            <a:r>
              <a:rPr lang="en-US" dirty="0"/>
              <a:t> di </a:t>
            </a:r>
            <a:r>
              <a:rPr lang="en-US" dirty="0" err="1"/>
              <a:t>chuyển</a:t>
            </a:r>
            <a:r>
              <a:rPr lang="en-US" dirty="0"/>
              <a:t> </a:t>
            </a:r>
            <a:r>
              <a:rPr lang="en-US" dirty="0" err="1"/>
              <a:t>dữ</a:t>
            </a:r>
            <a:r>
              <a:rPr lang="en-US" dirty="0"/>
              <a:t> </a:t>
            </a:r>
            <a:r>
              <a:rPr lang="en-US" dirty="0" err="1"/>
              <a:t>liệu</a:t>
            </a:r>
            <a:r>
              <a:rPr lang="en-US" dirty="0"/>
              <a:t> sang ô </a:t>
            </a:r>
            <a:r>
              <a:rPr lang="en-US" dirty="0" err="1"/>
              <a:t>tiếp</a:t>
            </a:r>
            <a:r>
              <a:rPr lang="en-US" dirty="0"/>
              <a:t> </a:t>
            </a:r>
            <a:r>
              <a:rPr lang="en-US" dirty="0" err="1"/>
              <a:t>theo</a:t>
            </a:r>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41</a:t>
            </a:fld>
            <a:endParaRPr lang="en-US"/>
          </a:p>
        </p:txBody>
      </p:sp>
    </p:spTree>
    <p:extLst>
      <p:ext uri="{BB962C8B-B14F-4D97-AF65-F5344CB8AC3E}">
        <p14:creationId xmlns:p14="http://schemas.microsoft.com/office/powerpoint/2010/main" val="1051938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Void remove(): </a:t>
            </a:r>
            <a:r>
              <a:rPr lang="en-US" dirty="0" err="1"/>
              <a:t>lấy</a:t>
            </a:r>
            <a:r>
              <a:rPr lang="en-US" dirty="0"/>
              <a:t> </a:t>
            </a:r>
            <a:r>
              <a:rPr lang="en-US" dirty="0" err="1"/>
              <a:t>dữ</a:t>
            </a:r>
            <a:r>
              <a:rPr lang="en-US" dirty="0"/>
              <a:t> </a:t>
            </a:r>
            <a:r>
              <a:rPr lang="en-US" dirty="0" err="1"/>
              <a:t>liệu</a:t>
            </a:r>
            <a:r>
              <a:rPr lang="en-US" dirty="0"/>
              <a:t> </a:t>
            </a:r>
            <a:r>
              <a:rPr lang="en-US" dirty="0" err="1"/>
              <a:t>ra</a:t>
            </a:r>
            <a:r>
              <a:rPr lang="en-US" dirty="0"/>
              <a:t> </a:t>
            </a:r>
            <a:r>
              <a:rPr lang="en-US" dirty="0" err="1"/>
              <a:t>khỏi</a:t>
            </a:r>
            <a:r>
              <a:rPr lang="en-US" dirty="0"/>
              <a:t> buffer</a:t>
            </a:r>
          </a:p>
          <a:p>
            <a:r>
              <a:rPr lang="en-US" dirty="0" err="1"/>
              <a:t>Ktra</a:t>
            </a:r>
            <a:r>
              <a:rPr lang="en-US" dirty="0"/>
              <a:t> buffer </a:t>
            </a:r>
            <a:r>
              <a:rPr lang="en-US" dirty="0" err="1"/>
              <a:t>rỗng</a:t>
            </a:r>
            <a:r>
              <a:rPr lang="en-US" dirty="0"/>
              <a:t> </a:t>
            </a:r>
            <a:r>
              <a:rPr lang="en-US" dirty="0" err="1"/>
              <a:t>thì</a:t>
            </a:r>
            <a:r>
              <a:rPr lang="en-US" dirty="0"/>
              <a:t> consumer </a:t>
            </a:r>
            <a:r>
              <a:rPr lang="en-US" dirty="0" err="1"/>
              <a:t>gọi</a:t>
            </a:r>
            <a:r>
              <a:rPr lang="en-US" dirty="0"/>
              <a:t> wait(), consumer </a:t>
            </a:r>
            <a:r>
              <a:rPr lang="en-US" dirty="0" err="1"/>
              <a:t>thoát</a:t>
            </a:r>
            <a:r>
              <a:rPr lang="en-US" dirty="0"/>
              <a:t> </a:t>
            </a:r>
            <a:r>
              <a:rPr lang="en-US" dirty="0" err="1"/>
              <a:t>ra</a:t>
            </a:r>
            <a:r>
              <a:rPr lang="en-US" dirty="0"/>
              <a:t> monitor </a:t>
            </a:r>
            <a:r>
              <a:rPr lang="en-US" dirty="0" err="1"/>
              <a:t>và</a:t>
            </a:r>
            <a:r>
              <a:rPr lang="en-US" dirty="0"/>
              <a:t> </a:t>
            </a:r>
            <a:r>
              <a:rPr lang="en-US" dirty="0" err="1"/>
              <a:t>vào</a:t>
            </a:r>
            <a:r>
              <a:rPr lang="en-US" dirty="0"/>
              <a:t> </a:t>
            </a:r>
            <a:r>
              <a:rPr lang="en-US" dirty="0" err="1"/>
              <a:t>hàng</a:t>
            </a:r>
            <a:r>
              <a:rPr lang="en-US" dirty="0"/>
              <a:t> </a:t>
            </a:r>
            <a:r>
              <a:rPr lang="en-US" dirty="0" err="1"/>
              <a:t>đợi</a:t>
            </a:r>
            <a:endParaRPr lang="en-US" dirty="0"/>
          </a:p>
          <a:p>
            <a:endParaRPr lang="en-US" dirty="0"/>
          </a:p>
          <a:p>
            <a:r>
              <a:rPr lang="en-US" dirty="0" err="1"/>
              <a:t>Initilization</a:t>
            </a:r>
            <a:r>
              <a:rPr lang="en-US" dirty="0"/>
              <a:t> code: = 0 </a:t>
            </a:r>
            <a:r>
              <a:rPr lang="en-US" dirty="0" err="1"/>
              <a:t>là</a:t>
            </a:r>
            <a:r>
              <a:rPr lang="en-US" dirty="0"/>
              <a:t> ô </a:t>
            </a:r>
            <a:r>
              <a:rPr lang="en-US" dirty="0" err="1"/>
              <a:t>đầu</a:t>
            </a:r>
            <a:r>
              <a:rPr lang="en-US" dirty="0"/>
              <a:t> </a:t>
            </a:r>
            <a:r>
              <a:rPr lang="en-US" dirty="0" err="1"/>
              <a:t>tiên</a:t>
            </a:r>
            <a:r>
              <a:rPr lang="en-US" dirty="0"/>
              <a:t> </a:t>
            </a:r>
            <a:r>
              <a:rPr lang="en-US" dirty="0" err="1"/>
              <a:t>và</a:t>
            </a:r>
            <a:r>
              <a:rPr lang="en-US" dirty="0"/>
              <a:t> count = 0 </a:t>
            </a:r>
            <a:r>
              <a:rPr lang="en-US" dirty="0" err="1"/>
              <a:t>là</a:t>
            </a:r>
            <a:r>
              <a:rPr lang="en-US" dirty="0"/>
              <a:t> buffer </a:t>
            </a:r>
            <a:r>
              <a:rPr lang="en-US" dirty="0" err="1"/>
              <a:t>đang</a:t>
            </a:r>
            <a:r>
              <a:rPr lang="en-US" dirty="0"/>
              <a:t> </a:t>
            </a:r>
            <a:r>
              <a:rPr lang="en-US" dirty="0" err="1"/>
              <a:t>rỗng</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42</a:t>
            </a:fld>
            <a:endParaRPr lang="en-US"/>
          </a:p>
        </p:txBody>
      </p:sp>
    </p:spTree>
    <p:extLst>
      <p:ext uri="{BB962C8B-B14F-4D97-AF65-F5344CB8AC3E}">
        <p14:creationId xmlns:p14="http://schemas.microsoft.com/office/powerpoint/2010/main" val="2089244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Come</a:t>
            </a:r>
            <a:r>
              <a:rPr lang="en-US" baseline="0" dirty="0"/>
              <a:t> First Serve</a:t>
            </a:r>
            <a:endParaRPr lang="en-US" dirty="0"/>
          </a:p>
        </p:txBody>
      </p:sp>
      <p:sp>
        <p:nvSpPr>
          <p:cNvPr id="4" name="Slide Number Placeholder 3"/>
          <p:cNvSpPr>
            <a:spLocks noGrp="1"/>
          </p:cNvSpPr>
          <p:nvPr>
            <p:ph type="sldNum" sz="quarter" idx="10"/>
          </p:nvPr>
        </p:nvSpPr>
        <p:spPr/>
        <p:txBody>
          <a:bodyPr/>
          <a:lstStyle/>
          <a:p>
            <a:fld id="{A69E7F38-9500-43BA-AA14-C8ECA0FAF65C}" type="slidenum">
              <a:rPr lang="en-US" smtClean="0"/>
              <a:t>44</a:t>
            </a:fld>
            <a:endParaRPr lang="en-US"/>
          </a:p>
        </p:txBody>
      </p:sp>
    </p:spTree>
    <p:extLst>
      <p:ext uri="{BB962C8B-B14F-4D97-AF65-F5344CB8AC3E}">
        <p14:creationId xmlns:p14="http://schemas.microsoft.com/office/powerpoint/2010/main" val="3200381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Mục</a:t>
            </a:r>
            <a:r>
              <a:rPr lang="en-US" dirty="0"/>
              <a:t> </a:t>
            </a:r>
            <a:r>
              <a:rPr lang="en-US" dirty="0" err="1"/>
              <a:t>tiêu</a:t>
            </a:r>
            <a:r>
              <a:rPr lang="en-US" dirty="0"/>
              <a:t>: </a:t>
            </a:r>
            <a:r>
              <a:rPr lang="en-US" dirty="0" err="1"/>
              <a:t>cho</a:t>
            </a:r>
            <a:r>
              <a:rPr lang="en-US" dirty="0"/>
              <a:t> </a:t>
            </a:r>
            <a:r>
              <a:rPr lang="en-US" dirty="0" err="1"/>
              <a:t>nhiều</a:t>
            </a:r>
            <a:r>
              <a:rPr lang="en-US" dirty="0"/>
              <a:t> process </a:t>
            </a:r>
            <a:r>
              <a:rPr lang="en-US" dirty="0" err="1"/>
              <a:t>sử</a:t>
            </a:r>
            <a:r>
              <a:rPr lang="en-US" dirty="0"/>
              <a:t> </a:t>
            </a:r>
            <a:r>
              <a:rPr lang="en-US" dirty="0" err="1"/>
              <a:t>dụng</a:t>
            </a:r>
            <a:r>
              <a:rPr lang="en-US" dirty="0"/>
              <a:t> </a:t>
            </a:r>
            <a:r>
              <a:rPr lang="en-US" dirty="0" err="1"/>
              <a:t>tài</a:t>
            </a:r>
            <a:r>
              <a:rPr lang="en-US" dirty="0"/>
              <a:t> </a:t>
            </a:r>
            <a:r>
              <a:rPr lang="en-US" dirty="0" err="1"/>
              <a:t>nguyên</a:t>
            </a:r>
            <a:r>
              <a:rPr lang="en-US" dirty="0"/>
              <a:t> </a:t>
            </a:r>
            <a:r>
              <a:rPr lang="en-US" dirty="0" err="1"/>
              <a:t>duy</a:t>
            </a:r>
            <a:r>
              <a:rPr lang="en-US" dirty="0"/>
              <a:t> </a:t>
            </a:r>
            <a:r>
              <a:rPr lang="en-US" dirty="0" err="1"/>
              <a:t>nhất</a:t>
            </a:r>
            <a:r>
              <a:rPr lang="en-US" dirty="0"/>
              <a:t> </a:t>
            </a:r>
            <a:r>
              <a:rPr lang="en-US" dirty="0" err="1"/>
              <a:t>sao</a:t>
            </a:r>
            <a:r>
              <a:rPr lang="en-US" dirty="0"/>
              <a:t> </a:t>
            </a:r>
            <a:r>
              <a:rPr lang="en-US" dirty="0" err="1"/>
              <a:t>cho</a:t>
            </a:r>
            <a:r>
              <a:rPr lang="en-US" dirty="0"/>
              <a:t> 1 process </a:t>
            </a:r>
            <a:r>
              <a:rPr lang="en-US" dirty="0" err="1"/>
              <a:t>dùng</a:t>
            </a:r>
            <a:r>
              <a:rPr lang="en-US" dirty="0"/>
              <a:t> </a:t>
            </a:r>
            <a:r>
              <a:rPr lang="en-US" dirty="0" err="1"/>
              <a:t>tại</a:t>
            </a:r>
            <a:r>
              <a:rPr lang="en-US" dirty="0"/>
              <a:t> 1 </a:t>
            </a:r>
            <a:r>
              <a:rPr lang="en-US" dirty="0" err="1"/>
              <a:t>thời</a:t>
            </a:r>
            <a:r>
              <a:rPr lang="en-US" dirty="0"/>
              <a:t> </a:t>
            </a:r>
            <a:r>
              <a:rPr lang="en-US" dirty="0" err="1"/>
              <a:t>điểm</a:t>
            </a:r>
            <a:r>
              <a:rPr lang="en-US" dirty="0"/>
              <a:t> </a:t>
            </a:r>
            <a:r>
              <a:rPr lang="en-US" dirty="0" err="1"/>
              <a:t>dựa</a:t>
            </a:r>
            <a:r>
              <a:rPr lang="en-US" dirty="0"/>
              <a:t> </a:t>
            </a:r>
            <a:r>
              <a:rPr lang="en-US" dirty="0" err="1"/>
              <a:t>trên</a:t>
            </a:r>
            <a:r>
              <a:rPr lang="en-US" dirty="0"/>
              <a:t> </a:t>
            </a:r>
            <a:r>
              <a:rPr lang="en-US" dirty="0" err="1"/>
              <a:t>mức</a:t>
            </a:r>
            <a:r>
              <a:rPr lang="en-US" dirty="0"/>
              <a:t> </a:t>
            </a:r>
            <a:r>
              <a:rPr lang="en-US" dirty="0" err="1"/>
              <a:t>độ</a:t>
            </a:r>
            <a:r>
              <a:rPr lang="en-US" dirty="0"/>
              <a:t> </a:t>
            </a:r>
            <a:r>
              <a:rPr lang="en-US" dirty="0" err="1"/>
              <a:t>ưu</a:t>
            </a:r>
            <a:r>
              <a:rPr lang="en-US" dirty="0"/>
              <a:t> </a:t>
            </a:r>
            <a:r>
              <a:rPr lang="en-US" dirty="0" err="1"/>
              <a:t>tiên</a:t>
            </a:r>
            <a:endParaRPr lang="en-US" dirty="0"/>
          </a:p>
          <a:p>
            <a:endParaRPr lang="en-US" dirty="0"/>
          </a:p>
          <a:p>
            <a:r>
              <a:rPr lang="en-US" dirty="0" err="1"/>
              <a:t>Giống</a:t>
            </a:r>
            <a:r>
              <a:rPr lang="en-US" dirty="0"/>
              <a:t> semaphore </a:t>
            </a:r>
            <a:r>
              <a:rPr lang="en-US" dirty="0" err="1"/>
              <a:t>nhưng</a:t>
            </a:r>
            <a:r>
              <a:rPr lang="en-US" dirty="0"/>
              <a:t> Single resource </a:t>
            </a:r>
            <a:r>
              <a:rPr lang="en-US" dirty="0" err="1"/>
              <a:t>thì</a:t>
            </a:r>
            <a:r>
              <a:rPr lang="en-US" dirty="0"/>
              <a:t> </a:t>
            </a:r>
            <a:r>
              <a:rPr lang="en-US" dirty="0" err="1"/>
              <a:t>có</a:t>
            </a:r>
            <a:r>
              <a:rPr lang="en-US" dirty="0"/>
              <a:t> </a:t>
            </a:r>
            <a:r>
              <a:rPr lang="en-US" dirty="0" err="1"/>
              <a:t>thêm</a:t>
            </a:r>
            <a:r>
              <a:rPr lang="en-US" dirty="0"/>
              <a:t> </a:t>
            </a:r>
            <a:r>
              <a:rPr lang="en-US" dirty="0" err="1"/>
              <a:t>mức</a:t>
            </a:r>
            <a:r>
              <a:rPr lang="en-US" dirty="0"/>
              <a:t> </a:t>
            </a:r>
            <a:r>
              <a:rPr lang="en-US" dirty="0" err="1"/>
              <a:t>độ</a:t>
            </a:r>
            <a:r>
              <a:rPr lang="en-US" dirty="0"/>
              <a:t> </a:t>
            </a:r>
            <a:r>
              <a:rPr lang="en-US" dirty="0" err="1"/>
              <a:t>ưu</a:t>
            </a:r>
            <a:r>
              <a:rPr lang="en-US" dirty="0"/>
              <a:t> </a:t>
            </a:r>
            <a:r>
              <a:rPr lang="en-US" dirty="0" err="1"/>
              <a:t>tiên</a:t>
            </a:r>
            <a:endParaRPr lang="en-US" dirty="0"/>
          </a:p>
          <a:p>
            <a:endParaRPr lang="en-US" dirty="0"/>
          </a:p>
          <a:p>
            <a:r>
              <a:rPr lang="en-US" dirty="0"/>
              <a:t>Acquire(t): t </a:t>
            </a:r>
            <a:r>
              <a:rPr lang="en-US"/>
              <a:t>(time) </a:t>
            </a:r>
            <a:r>
              <a:rPr lang="en-US" dirty="0" err="1"/>
              <a:t>càng</a:t>
            </a:r>
            <a:r>
              <a:rPr lang="en-US" dirty="0"/>
              <a:t> </a:t>
            </a:r>
            <a:r>
              <a:rPr lang="en-US" dirty="0" err="1"/>
              <a:t>nhỏ</a:t>
            </a:r>
            <a:r>
              <a:rPr lang="en-US" dirty="0"/>
              <a:t> </a:t>
            </a:r>
            <a:r>
              <a:rPr lang="en-US" dirty="0" err="1"/>
              <a:t>thì</a:t>
            </a:r>
            <a:r>
              <a:rPr lang="en-US" dirty="0"/>
              <a:t> </a:t>
            </a:r>
            <a:r>
              <a:rPr lang="en-US" dirty="0" err="1"/>
              <a:t>ưu</a:t>
            </a:r>
            <a:r>
              <a:rPr lang="en-US" dirty="0"/>
              <a:t> </a:t>
            </a:r>
            <a:r>
              <a:rPr lang="en-US" dirty="0" err="1"/>
              <a:t>tiên</a:t>
            </a:r>
            <a:r>
              <a:rPr lang="en-US" dirty="0"/>
              <a:t> </a:t>
            </a:r>
            <a:r>
              <a:rPr lang="en-US" dirty="0" err="1"/>
              <a:t>càng</a:t>
            </a:r>
            <a:r>
              <a:rPr lang="en-US" dirty="0"/>
              <a:t> </a:t>
            </a:r>
            <a:r>
              <a:rPr lang="en-US" dirty="0" err="1"/>
              <a:t>cao</a:t>
            </a:r>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45</a:t>
            </a:fld>
            <a:endParaRPr lang="en-US"/>
          </a:p>
        </p:txBody>
      </p:sp>
    </p:spTree>
    <p:extLst>
      <p:ext uri="{BB962C8B-B14F-4D97-AF65-F5344CB8AC3E}">
        <p14:creationId xmlns:p14="http://schemas.microsoft.com/office/powerpoint/2010/main" val="7716865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Void acquire(): </a:t>
            </a:r>
            <a:r>
              <a:rPr lang="en-US" dirty="0" err="1"/>
              <a:t>yêu</a:t>
            </a:r>
            <a:r>
              <a:rPr lang="en-US" dirty="0"/>
              <a:t> </a:t>
            </a:r>
            <a:r>
              <a:rPr lang="en-US" dirty="0" err="1"/>
              <a:t>cầu</a:t>
            </a:r>
            <a:r>
              <a:rPr lang="en-US" dirty="0"/>
              <a:t> </a:t>
            </a:r>
            <a:r>
              <a:rPr lang="en-US" dirty="0" err="1"/>
              <a:t>truy</a:t>
            </a:r>
            <a:r>
              <a:rPr lang="en-US" dirty="0"/>
              <a:t> </a:t>
            </a:r>
            <a:r>
              <a:rPr lang="en-US" dirty="0" err="1"/>
              <a:t>cập</a:t>
            </a:r>
            <a:r>
              <a:rPr lang="en-US" dirty="0"/>
              <a:t> </a:t>
            </a:r>
            <a:r>
              <a:rPr lang="en-US" dirty="0" err="1"/>
              <a:t>tài</a:t>
            </a:r>
            <a:r>
              <a:rPr lang="en-US" dirty="0"/>
              <a:t> </a:t>
            </a:r>
            <a:r>
              <a:rPr lang="en-US" dirty="0" err="1"/>
              <a:t>nguyên</a:t>
            </a:r>
            <a:endParaRPr lang="en-US" dirty="0"/>
          </a:p>
          <a:p>
            <a:endParaRPr lang="en-US" dirty="0"/>
          </a:p>
          <a:p>
            <a:r>
              <a:rPr lang="en-US" dirty="0"/>
              <a:t>Release(): set busy = false </a:t>
            </a:r>
            <a:r>
              <a:rPr lang="en-US" dirty="0" err="1"/>
              <a:t>rồi</a:t>
            </a:r>
            <a:r>
              <a:rPr lang="en-US" dirty="0"/>
              <a:t> signal() </a:t>
            </a:r>
            <a:r>
              <a:rPr lang="en-US" dirty="0" err="1"/>
              <a:t>để</a:t>
            </a:r>
            <a:r>
              <a:rPr lang="en-US" dirty="0"/>
              <a:t> resource </a:t>
            </a:r>
            <a:r>
              <a:rPr lang="en-US" dirty="0" err="1"/>
              <a:t>đã</a:t>
            </a:r>
            <a:r>
              <a:rPr lang="en-US" dirty="0"/>
              <a:t> </a:t>
            </a:r>
            <a:r>
              <a:rPr lang="en-US" dirty="0" err="1"/>
              <a:t>rảnh</a:t>
            </a:r>
            <a:r>
              <a:rPr lang="en-US" dirty="0"/>
              <a:t> </a:t>
            </a:r>
            <a:r>
              <a:rPr lang="en-US" dirty="0" err="1"/>
              <a:t>và</a:t>
            </a:r>
            <a:r>
              <a:rPr lang="en-US" dirty="0"/>
              <a:t> process </a:t>
            </a:r>
            <a:r>
              <a:rPr lang="en-US" dirty="0" err="1"/>
              <a:t>có</a:t>
            </a:r>
            <a:r>
              <a:rPr lang="en-US" dirty="0"/>
              <a:t> </a:t>
            </a:r>
            <a:r>
              <a:rPr lang="en-US" dirty="0" err="1"/>
              <a:t>thể</a:t>
            </a:r>
            <a:r>
              <a:rPr lang="en-US" dirty="0"/>
              <a:t> </a:t>
            </a:r>
            <a:r>
              <a:rPr lang="en-US" dirty="0" err="1"/>
              <a:t>truy</a:t>
            </a:r>
            <a:r>
              <a:rPr lang="en-US" dirty="0"/>
              <a:t> </a:t>
            </a:r>
            <a:r>
              <a:rPr lang="en-US" dirty="0" err="1"/>
              <a:t>cập</a:t>
            </a:r>
            <a:endParaRPr lang="en-US" dirty="0"/>
          </a:p>
          <a:p>
            <a:endParaRPr lang="en-US" dirty="0"/>
          </a:p>
        </p:txBody>
      </p:sp>
      <p:sp>
        <p:nvSpPr>
          <p:cNvPr id="4" name="Slide Number Placeholder 3"/>
          <p:cNvSpPr>
            <a:spLocks noGrp="1"/>
          </p:cNvSpPr>
          <p:nvPr>
            <p:ph type="sldNum" sz="quarter" idx="5"/>
          </p:nvPr>
        </p:nvSpPr>
        <p:spPr/>
        <p:txBody>
          <a:bodyPr/>
          <a:lstStyle/>
          <a:p>
            <a:fld id="{A69E7F38-9500-43BA-AA14-C8ECA0FAF65C}" type="slidenum">
              <a:rPr lang="en-US" smtClean="0"/>
              <a:t>46</a:t>
            </a:fld>
            <a:endParaRPr lang="en-US"/>
          </a:p>
        </p:txBody>
      </p:sp>
    </p:spTree>
    <p:extLst>
      <p:ext uri="{BB962C8B-B14F-4D97-AF65-F5344CB8AC3E}">
        <p14:creationId xmlns:p14="http://schemas.microsoft.com/office/powerpoint/2010/main" val="335103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C9076C-3D55-4052-8204-498B1F2D35BD}"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203398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C9076C-3D55-4052-8204-498B1F2D35BD}"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269662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C9076C-3D55-4052-8204-498B1F2D35BD}"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915508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C9076C-3D55-4052-8204-498B1F2D35BD}"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1856590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C9076C-3D55-4052-8204-498B1F2D35BD}"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100224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C9076C-3D55-4052-8204-498B1F2D35BD}"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310898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9076C-3D55-4052-8204-498B1F2D35BD}"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1097985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C9076C-3D55-4052-8204-498B1F2D35BD}"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20847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C9076C-3D55-4052-8204-498B1F2D35BD}"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1215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C9076C-3D55-4052-8204-498B1F2D35BD}"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2100016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C9076C-3D55-4052-8204-498B1F2D35BD}"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1B2DB9-3415-4841-B97C-9B3730F7B2B5}" type="slidenum">
              <a:rPr lang="en-US" smtClean="0"/>
              <a:t>‹#›</a:t>
            </a:fld>
            <a:endParaRPr lang="en-US"/>
          </a:p>
        </p:txBody>
      </p:sp>
    </p:spTree>
    <p:extLst>
      <p:ext uri="{BB962C8B-B14F-4D97-AF65-F5344CB8AC3E}">
        <p14:creationId xmlns:p14="http://schemas.microsoft.com/office/powerpoint/2010/main" val="38966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C9076C-3D55-4052-8204-498B1F2D35BD}" type="datetimeFigureOut">
              <a:rPr lang="en-US" smtClean="0"/>
              <a:t>7/21/2026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1B2DB9-3415-4841-B97C-9B3730F7B2B5}" type="slidenum">
              <a:rPr lang="en-US" smtClean="0"/>
              <a:t>‹#›</a:t>
            </a:fld>
            <a:endParaRPr lang="en-US"/>
          </a:p>
        </p:txBody>
      </p:sp>
    </p:spTree>
    <p:extLst>
      <p:ext uri="{BB962C8B-B14F-4D97-AF65-F5344CB8AC3E}">
        <p14:creationId xmlns:p14="http://schemas.microsoft.com/office/powerpoint/2010/main" val="3532557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CECS 326</a:t>
            </a:r>
            <a:br>
              <a:rPr lang="en-US" dirty="0"/>
            </a:br>
            <a:r>
              <a:rPr lang="en-US" dirty="0"/>
              <a:t>Operating Systems</a:t>
            </a:r>
          </a:p>
        </p:txBody>
      </p:sp>
      <p:sp>
        <p:nvSpPr>
          <p:cNvPr id="3" name="Subtitle 2"/>
          <p:cNvSpPr>
            <a:spLocks noGrp="1"/>
          </p:cNvSpPr>
          <p:nvPr>
            <p:ph type="subTitle" idx="1"/>
          </p:nvPr>
        </p:nvSpPr>
        <p:spPr>
          <a:xfrm>
            <a:off x="1524000" y="3963545"/>
            <a:ext cx="9144000" cy="1655762"/>
          </a:xfrm>
        </p:spPr>
        <p:txBody>
          <a:bodyPr>
            <a:normAutofit/>
          </a:bodyPr>
          <a:lstStyle/>
          <a:p>
            <a:r>
              <a:rPr lang="en-US" sz="4000" dirty="0"/>
              <a:t>Process Synchronization</a:t>
            </a:r>
          </a:p>
          <a:p>
            <a:r>
              <a:rPr lang="en-US" sz="2200" dirty="0"/>
              <a:t>(Chapter 5, Operating system Concepts by </a:t>
            </a:r>
            <a:r>
              <a:rPr lang="en-US" sz="2200" dirty="0" err="1"/>
              <a:t>Silberschatz</a:t>
            </a:r>
            <a:r>
              <a:rPr lang="en-US" sz="2200" dirty="0"/>
              <a:t>, Galvin and Gagne)</a:t>
            </a:r>
          </a:p>
        </p:txBody>
      </p:sp>
    </p:spTree>
    <p:extLst>
      <p:ext uri="{BB962C8B-B14F-4D97-AF65-F5344CB8AC3E}">
        <p14:creationId xmlns:p14="http://schemas.microsoft.com/office/powerpoint/2010/main" val="3804541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4455"/>
          </a:xfrm>
        </p:spPr>
        <p:txBody>
          <a:bodyPr/>
          <a:lstStyle/>
          <a:p>
            <a:r>
              <a:rPr lang="en-US" dirty="0"/>
              <a:t>Background</a:t>
            </a:r>
          </a:p>
        </p:txBody>
      </p:sp>
      <p:sp>
        <p:nvSpPr>
          <p:cNvPr id="3" name="Content Placeholder 2"/>
          <p:cNvSpPr>
            <a:spLocks noGrp="1"/>
          </p:cNvSpPr>
          <p:nvPr>
            <p:ph idx="1"/>
          </p:nvPr>
        </p:nvSpPr>
        <p:spPr>
          <a:xfrm>
            <a:off x="838200" y="1336527"/>
            <a:ext cx="10515600" cy="5319454"/>
          </a:xfrm>
        </p:spPr>
        <p:txBody>
          <a:bodyPr>
            <a:normAutofit fontScale="92500" lnSpcReduction="10000"/>
          </a:bodyPr>
          <a:lstStyle/>
          <a:p>
            <a:pPr>
              <a:buFont typeface="Wingdings" panose="05000000000000000000" pitchFamily="2" charset="2"/>
              <a:buChar char="§"/>
            </a:pPr>
            <a:r>
              <a:rPr lang="en-US" sz="3200" dirty="0"/>
              <a:t>Processes can execute concurrently</a:t>
            </a:r>
          </a:p>
          <a:p>
            <a:pPr>
              <a:buFont typeface="Wingdings" panose="05000000000000000000" pitchFamily="2" charset="2"/>
              <a:buChar char="§"/>
            </a:pPr>
            <a:r>
              <a:rPr lang="en-US" sz="3200" dirty="0"/>
              <a:t>Process executes instructions one after another, but may be interrupted at any time between instruction execution</a:t>
            </a:r>
          </a:p>
          <a:p>
            <a:pPr>
              <a:buFont typeface="Wingdings" panose="05000000000000000000" pitchFamily="2" charset="2"/>
              <a:buChar char="§"/>
            </a:pPr>
            <a:r>
              <a:rPr lang="en-US" sz="3200" dirty="0"/>
              <a:t>Concurrent access to shared data may lead to race condition, resulting in data inconsistency</a:t>
            </a:r>
          </a:p>
          <a:p>
            <a:pPr>
              <a:buFont typeface="Wingdings" panose="05000000000000000000" pitchFamily="2" charset="2"/>
              <a:buChar char="§"/>
            </a:pPr>
            <a:r>
              <a:rPr lang="en-US" sz="3200" dirty="0"/>
              <a:t>Maintaining data consistency requires mechanisms to ensure orderly execution of cooperating processes</a:t>
            </a:r>
          </a:p>
          <a:p>
            <a:pPr>
              <a:buFont typeface="Wingdings" panose="05000000000000000000" pitchFamily="2" charset="2"/>
              <a:buChar char="§"/>
            </a:pPr>
            <a:r>
              <a:rPr lang="en-US" sz="3200" dirty="0"/>
              <a:t>Illustration of the problem:</a:t>
            </a:r>
          </a:p>
          <a:p>
            <a:pPr lvl="1"/>
            <a:r>
              <a:rPr lang="en-US" dirty="0"/>
              <a:t>Previous solution to the producer-consumer problem leaves one slot unused to enable distinction between the conditions of full vs. empty buffer.  This deficiency may be overcome by using an integer counter that keeps track of the number of filled buffer slots.  The counter is set to 0 initially, incremented by the producer after each data it places in the buffer and decremented by the consumer after it removes a data from it.</a:t>
            </a:r>
          </a:p>
        </p:txBody>
      </p:sp>
    </p:spTree>
    <p:extLst>
      <p:ext uri="{BB962C8B-B14F-4D97-AF65-F5344CB8AC3E}">
        <p14:creationId xmlns:p14="http://schemas.microsoft.com/office/powerpoint/2010/main" val="229260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Producer-Consumer Problem</a:t>
            </a:r>
          </a:p>
        </p:txBody>
      </p:sp>
      <p:sp>
        <p:nvSpPr>
          <p:cNvPr id="3" name="Text Placeholder 2"/>
          <p:cNvSpPr>
            <a:spLocks noGrp="1"/>
          </p:cNvSpPr>
          <p:nvPr>
            <p:ph type="body" idx="1"/>
          </p:nvPr>
        </p:nvSpPr>
        <p:spPr>
          <a:xfrm>
            <a:off x="656492" y="1585379"/>
            <a:ext cx="5341083" cy="535924"/>
          </a:xfrm>
        </p:spPr>
        <p:txBody>
          <a:bodyPr/>
          <a:lstStyle/>
          <a:p>
            <a:pPr>
              <a:lnSpc>
                <a:spcPct val="100000"/>
              </a:lnSpc>
              <a:spcBef>
                <a:spcPts val="0"/>
              </a:spcBef>
            </a:pPr>
            <a:r>
              <a:rPr lang="en-US" dirty="0"/>
              <a:t>Producer</a:t>
            </a:r>
          </a:p>
        </p:txBody>
      </p:sp>
      <p:sp>
        <p:nvSpPr>
          <p:cNvPr id="4" name="Content Placeholder 3"/>
          <p:cNvSpPr>
            <a:spLocks noGrp="1"/>
          </p:cNvSpPr>
          <p:nvPr>
            <p:ph sz="half" idx="2"/>
          </p:nvPr>
        </p:nvSpPr>
        <p:spPr>
          <a:xfrm>
            <a:off x="656492" y="2505075"/>
            <a:ext cx="5341083" cy="3684588"/>
          </a:xfrm>
        </p:spPr>
        <p:txBody>
          <a:bodyPr>
            <a:normAutofit fontScale="85000" lnSpcReduction="20000"/>
          </a:bodyPr>
          <a:lstStyle/>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while (true)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 produce an item in </a:t>
            </a:r>
            <a:r>
              <a:rPr lang="en-US" altLang="en-US" dirty="0" err="1">
                <a:latin typeface="Courier New" panose="02070309020205020404" pitchFamily="49" charset="0"/>
                <a:cs typeface="Courier New" panose="02070309020205020404" pitchFamily="49" charset="0"/>
              </a:rPr>
              <a:t>next_produced</a:t>
            </a:r>
            <a:r>
              <a:rPr lang="en-US" altLang="en-US" dirty="0">
                <a:latin typeface="Courier New" panose="02070309020205020404" pitchFamily="49" charset="0"/>
                <a:cs typeface="Courier New" panose="02070309020205020404" pitchFamily="49" charset="0"/>
              </a:rPr>
              <a:t> */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while (counter==BUFFER_SIZE);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 do nothing */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buffer[in]=</a:t>
            </a:r>
            <a:r>
              <a:rPr lang="en-US" altLang="en-US" dirty="0" err="1">
                <a:latin typeface="Courier New" panose="02070309020205020404" pitchFamily="49" charset="0"/>
                <a:cs typeface="Courier New" panose="02070309020205020404" pitchFamily="49" charset="0"/>
              </a:rPr>
              <a:t>next_produced</a:t>
            </a:r>
            <a:r>
              <a:rPr lang="en-US" altLang="en-US" dirty="0">
                <a:latin typeface="Courier New" panose="02070309020205020404" pitchFamily="49" charset="0"/>
                <a:cs typeface="Courier New" panose="02070309020205020404" pitchFamily="49" charset="0"/>
              </a:rPr>
              <a:t>;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in=(in+1)%BUFFER_SIZE;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counter++;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a:t>
            </a:r>
          </a:p>
        </p:txBody>
      </p:sp>
      <p:sp>
        <p:nvSpPr>
          <p:cNvPr id="5" name="Text Placeholder 4"/>
          <p:cNvSpPr>
            <a:spLocks noGrp="1"/>
          </p:cNvSpPr>
          <p:nvPr>
            <p:ph type="body" sz="quarter" idx="3"/>
          </p:nvPr>
        </p:nvSpPr>
        <p:spPr>
          <a:xfrm>
            <a:off x="6172199" y="1669807"/>
            <a:ext cx="5183188" cy="407194"/>
          </a:xfrm>
        </p:spPr>
        <p:txBody>
          <a:bodyPr>
            <a:normAutofit fontScale="92500" lnSpcReduction="10000"/>
          </a:bodyPr>
          <a:lstStyle/>
          <a:p>
            <a:pPr>
              <a:lnSpc>
                <a:spcPct val="100000"/>
              </a:lnSpc>
              <a:spcBef>
                <a:spcPts val="0"/>
              </a:spcBef>
            </a:pPr>
            <a:r>
              <a:rPr lang="en-US" dirty="0"/>
              <a:t>Consumer</a:t>
            </a:r>
          </a:p>
        </p:txBody>
      </p:sp>
      <p:sp>
        <p:nvSpPr>
          <p:cNvPr id="6" name="Content Placeholder 5"/>
          <p:cNvSpPr>
            <a:spLocks noGrp="1"/>
          </p:cNvSpPr>
          <p:nvPr>
            <p:ph sz="quarter" idx="4"/>
          </p:nvPr>
        </p:nvSpPr>
        <p:spPr>
          <a:xfrm>
            <a:off x="6172199" y="2505075"/>
            <a:ext cx="5503985" cy="3684588"/>
          </a:xfrm>
        </p:spPr>
        <p:txBody>
          <a:bodyPr>
            <a:normAutofit fontScale="85000" lnSpcReduction="20000"/>
          </a:bodyPr>
          <a:lstStyle/>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while (true)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while (counter==0);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 do nothing */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next_consumed</a:t>
            </a:r>
            <a:r>
              <a:rPr lang="en-US" altLang="en-US" dirty="0">
                <a:latin typeface="Courier New" panose="02070309020205020404" pitchFamily="49" charset="0"/>
                <a:cs typeface="Courier New" panose="02070309020205020404" pitchFamily="49" charset="0"/>
              </a:rPr>
              <a:t>=buffer[out];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out = (out+1)% BUFFER_SIZE;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counter--;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 consume the item in </a:t>
            </a:r>
            <a:r>
              <a:rPr lang="en-US" altLang="en-US" dirty="0" err="1">
                <a:latin typeface="Courier New" panose="02070309020205020404" pitchFamily="49" charset="0"/>
                <a:cs typeface="Courier New" panose="02070309020205020404" pitchFamily="49" charset="0"/>
              </a:rPr>
              <a:t>next_consumed</a:t>
            </a:r>
            <a:r>
              <a:rPr lang="en-US" altLang="en-US" dirty="0">
                <a:latin typeface="Courier New" panose="02070309020205020404" pitchFamily="49" charset="0"/>
                <a:cs typeface="Courier New" panose="02070309020205020404" pitchFamily="49" charset="0"/>
              </a:rPr>
              <a:t> */ </a:t>
            </a:r>
          </a:p>
          <a:p>
            <a:pPr marL="0" indent="0">
              <a:buFont typeface="Monotype Sorts" pitchFamily="-84" charset="2"/>
              <a:buNone/>
            </a:pPr>
            <a:r>
              <a:rPr lang="en-US" alt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31151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8373"/>
          </a:xfrm>
        </p:spPr>
        <p:txBody>
          <a:bodyPr/>
          <a:lstStyle/>
          <a:p>
            <a:r>
              <a:rPr lang="en-US" dirty="0"/>
              <a:t>Race Condition</a:t>
            </a:r>
          </a:p>
        </p:txBody>
      </p:sp>
      <p:sp>
        <p:nvSpPr>
          <p:cNvPr id="3" name="Content Placeholder 2"/>
          <p:cNvSpPr>
            <a:spLocks noGrp="1"/>
          </p:cNvSpPr>
          <p:nvPr>
            <p:ph idx="1"/>
          </p:nvPr>
        </p:nvSpPr>
        <p:spPr>
          <a:xfrm>
            <a:off x="838200" y="1403498"/>
            <a:ext cx="10515600" cy="5255210"/>
          </a:xfrm>
        </p:spPr>
        <p:txBody>
          <a:bodyPr>
            <a:normAutofit fontScale="92500" lnSpcReduction="20000"/>
          </a:bodyPr>
          <a:lstStyle/>
          <a:p>
            <a:pPr>
              <a:buFont typeface="Wingdings" panose="05000000000000000000" pitchFamily="2" charset="2"/>
              <a:buChar char="§"/>
            </a:pPr>
            <a:r>
              <a:rPr lang="en-US" dirty="0"/>
              <a:t>counter++ could be implemented as</a:t>
            </a:r>
          </a:p>
          <a:p>
            <a:pPr marL="0" indent="457200">
              <a:spcBef>
                <a:spcPts val="0"/>
              </a:spcBef>
              <a:buNone/>
            </a:pPr>
            <a:r>
              <a:rPr lang="en-US" dirty="0"/>
              <a:t>(INC1)	register1 = counter</a:t>
            </a:r>
          </a:p>
          <a:p>
            <a:pPr marL="0" indent="457200">
              <a:spcBef>
                <a:spcPts val="0"/>
              </a:spcBef>
              <a:buNone/>
            </a:pPr>
            <a:r>
              <a:rPr lang="en-US" dirty="0"/>
              <a:t>(INC2)	register1 = register1 + 1</a:t>
            </a:r>
          </a:p>
          <a:p>
            <a:pPr marL="0" indent="457200">
              <a:spcBef>
                <a:spcPts val="0"/>
              </a:spcBef>
              <a:buNone/>
            </a:pPr>
            <a:r>
              <a:rPr lang="en-US" dirty="0"/>
              <a:t>(INC3)	counter = register1</a:t>
            </a:r>
          </a:p>
          <a:p>
            <a:pPr>
              <a:buFont typeface="Wingdings" panose="05000000000000000000" pitchFamily="2" charset="2"/>
              <a:buChar char="§"/>
            </a:pPr>
            <a:r>
              <a:rPr lang="en-US" dirty="0"/>
              <a:t>counter–- could be implemented as</a:t>
            </a:r>
          </a:p>
          <a:p>
            <a:pPr marL="0" indent="457200">
              <a:spcBef>
                <a:spcPts val="0"/>
              </a:spcBef>
              <a:buNone/>
            </a:pPr>
            <a:r>
              <a:rPr lang="en-US" dirty="0"/>
              <a:t>(DEC1)	register2 = counter</a:t>
            </a:r>
          </a:p>
          <a:p>
            <a:pPr marL="0" indent="457200">
              <a:spcBef>
                <a:spcPts val="0"/>
              </a:spcBef>
              <a:buNone/>
            </a:pPr>
            <a:r>
              <a:rPr lang="en-US" dirty="0"/>
              <a:t>(DEC2)	register2 = register2 - 1</a:t>
            </a:r>
          </a:p>
          <a:p>
            <a:pPr marL="0" indent="457200">
              <a:spcBef>
                <a:spcPts val="0"/>
              </a:spcBef>
              <a:buNone/>
            </a:pPr>
            <a:r>
              <a:rPr lang="en-US" dirty="0"/>
              <a:t>(DEC3)	counter = register2</a:t>
            </a:r>
          </a:p>
          <a:p>
            <a:pPr>
              <a:buFont typeface="Wingdings" panose="05000000000000000000" pitchFamily="2" charset="2"/>
              <a:buChar char="§"/>
            </a:pPr>
            <a:r>
              <a:rPr lang="en-US" dirty="0"/>
              <a:t>Consider the following execution interleaving with counter = 5 initially:</a:t>
            </a:r>
          </a:p>
          <a:p>
            <a:pPr marL="457200" lvl="1" indent="0">
              <a:buNone/>
            </a:pPr>
            <a:r>
              <a:rPr lang="en-US" dirty="0"/>
              <a:t>Producer execute INC1			(counter = 5, register1 = 5)</a:t>
            </a:r>
          </a:p>
          <a:p>
            <a:pPr marL="457200" lvl="1" indent="0">
              <a:buNone/>
            </a:pPr>
            <a:r>
              <a:rPr lang="en-US" dirty="0"/>
              <a:t>Producer execute INC2			(counter = 5, register1 = 6)</a:t>
            </a:r>
          </a:p>
          <a:p>
            <a:pPr marL="457200" lvl="1" indent="0">
              <a:buNone/>
            </a:pPr>
            <a:r>
              <a:rPr lang="en-US" dirty="0"/>
              <a:t>Consumer execute DEC1			(counter = 5, register2 = 5)</a:t>
            </a:r>
          </a:p>
          <a:p>
            <a:pPr marL="457200" lvl="1" indent="0">
              <a:buNone/>
            </a:pPr>
            <a:r>
              <a:rPr lang="en-US" dirty="0"/>
              <a:t>Consumer execute DEC2			(counter = 5, register2 = 4)</a:t>
            </a:r>
          </a:p>
          <a:p>
            <a:pPr marL="457200" lvl="1" indent="0">
              <a:buNone/>
            </a:pPr>
            <a:r>
              <a:rPr lang="en-US" dirty="0"/>
              <a:t>Producer execute INC3			(counter = 6, register1 = 6)</a:t>
            </a:r>
          </a:p>
          <a:p>
            <a:pPr marL="457200" lvl="1" indent="0">
              <a:buNone/>
            </a:pPr>
            <a:r>
              <a:rPr lang="en-US" dirty="0"/>
              <a:t>Consumer execute DEC3			(counter = 4, register2 = 4)</a:t>
            </a:r>
          </a:p>
          <a:p>
            <a:pPr lvl="1"/>
            <a:r>
              <a:rPr lang="en-US" dirty="0"/>
              <a:t>Value of counter is erroneous (correct value is 5) (This is race a condition)</a:t>
            </a:r>
          </a:p>
          <a:p>
            <a:endParaRPr lang="en-US" dirty="0"/>
          </a:p>
        </p:txBody>
      </p:sp>
    </p:spTree>
    <p:extLst>
      <p:ext uri="{BB962C8B-B14F-4D97-AF65-F5344CB8AC3E}">
        <p14:creationId xmlns:p14="http://schemas.microsoft.com/office/powerpoint/2010/main" val="3930343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8373"/>
          </a:xfrm>
        </p:spPr>
        <p:txBody>
          <a:bodyPr/>
          <a:lstStyle/>
          <a:p>
            <a:r>
              <a:rPr lang="en-US" dirty="0"/>
              <a:t>Race Condition</a:t>
            </a:r>
          </a:p>
        </p:txBody>
      </p:sp>
      <p:pic>
        <p:nvPicPr>
          <p:cNvPr id="7" name="Content Placeholder 6">
            <a:extLst>
              <a:ext uri="{FF2B5EF4-FFF2-40B4-BE49-F238E27FC236}">
                <a16:creationId xmlns:a16="http://schemas.microsoft.com/office/drawing/2014/main" id="{06D91D35-C0A6-2CE9-86B7-BF995FF652E1}"/>
              </a:ext>
            </a:extLst>
          </p:cNvPr>
          <p:cNvPicPr>
            <a:picLocks noGrp="1" noChangeAspect="1"/>
          </p:cNvPicPr>
          <p:nvPr>
            <p:ph idx="1"/>
          </p:nvPr>
        </p:nvPicPr>
        <p:blipFill>
          <a:blip r:embed="rId2"/>
          <a:stretch>
            <a:fillRect/>
          </a:stretch>
        </p:blipFill>
        <p:spPr>
          <a:xfrm>
            <a:off x="473033" y="1221217"/>
            <a:ext cx="6944924" cy="4229088"/>
          </a:xfrm>
        </p:spPr>
      </p:pic>
    </p:spTree>
    <p:extLst>
      <p:ext uri="{BB962C8B-B14F-4D97-AF65-F5344CB8AC3E}">
        <p14:creationId xmlns:p14="http://schemas.microsoft.com/office/powerpoint/2010/main" val="3183571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Section (CS)</a:t>
            </a:r>
          </a:p>
        </p:txBody>
      </p:sp>
      <p:sp>
        <p:nvSpPr>
          <p:cNvPr id="3" name="Content Placeholder 2"/>
          <p:cNvSpPr>
            <a:spLocks noGrp="1"/>
          </p:cNvSpPr>
          <p:nvPr>
            <p:ph idx="1"/>
          </p:nvPr>
        </p:nvSpPr>
        <p:spPr>
          <a:xfrm>
            <a:off x="838200" y="1576021"/>
            <a:ext cx="10515600" cy="4929281"/>
          </a:xfrm>
        </p:spPr>
        <p:txBody>
          <a:bodyPr>
            <a:normAutofit/>
          </a:bodyPr>
          <a:lstStyle/>
          <a:p>
            <a:pPr>
              <a:buFont typeface="Wingdings" panose="05000000000000000000" pitchFamily="2" charset="2"/>
              <a:buChar char="§"/>
            </a:pPr>
            <a:r>
              <a:rPr lang="en-US" dirty="0"/>
              <a:t>Cause of inconsistency in shared data counter is that it is manipulated concurrently by two processes</a:t>
            </a:r>
          </a:p>
          <a:p>
            <a:pPr>
              <a:buFont typeface="Wingdings" panose="05000000000000000000" pitchFamily="2" charset="2"/>
              <a:buChar char="§"/>
            </a:pPr>
            <a:r>
              <a:rPr lang="en-US" dirty="0"/>
              <a:t>Process requires mutually exclusive access to shared data to ensure integrity  </a:t>
            </a:r>
          </a:p>
          <a:p>
            <a:pPr>
              <a:buFont typeface="Wingdings" panose="05000000000000000000" pitchFamily="2" charset="2"/>
              <a:buChar char="§"/>
            </a:pPr>
            <a:r>
              <a:rPr lang="en-US" dirty="0"/>
              <a:t>Section of code where such exclusive access is required is called Critical Section</a:t>
            </a:r>
          </a:p>
          <a:p>
            <a:pPr>
              <a:buFont typeface="Wingdings" panose="05000000000000000000" pitchFamily="2" charset="2"/>
              <a:buChar char="§"/>
            </a:pPr>
            <a:r>
              <a:rPr lang="en-US" dirty="0"/>
              <a:t>Critical sections in the producer-consumer implementation:</a:t>
            </a:r>
          </a:p>
          <a:p>
            <a:pPr lvl="1"/>
            <a:r>
              <a:rPr lang="en-US" dirty="0"/>
              <a:t>All statements where counter is referenced</a:t>
            </a:r>
          </a:p>
          <a:p>
            <a:pPr>
              <a:buFont typeface="Wingdings" panose="05000000000000000000" pitchFamily="2" charset="2"/>
              <a:buChar char="§"/>
            </a:pPr>
            <a:r>
              <a:rPr lang="en-US" dirty="0"/>
              <a:t>Critical section problem is to design protocol to ensure that when one process is in its critical section, no other may be in its critical section </a:t>
            </a:r>
          </a:p>
        </p:txBody>
      </p:sp>
    </p:spTree>
    <p:extLst>
      <p:ext uri="{BB962C8B-B14F-4D97-AF65-F5344CB8AC3E}">
        <p14:creationId xmlns:p14="http://schemas.microsoft.com/office/powerpoint/2010/main" val="488782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046" y="365125"/>
            <a:ext cx="10949354" cy="1325563"/>
          </a:xfrm>
        </p:spPr>
        <p:txBody>
          <a:bodyPr>
            <a:normAutofit/>
          </a:bodyPr>
          <a:lstStyle/>
          <a:p>
            <a:r>
              <a:rPr lang="en-US" sz="4000" dirty="0"/>
              <a:t>Requirements of Solution to Critical-Section Problem</a:t>
            </a:r>
          </a:p>
        </p:txBody>
      </p:sp>
      <p:sp>
        <p:nvSpPr>
          <p:cNvPr id="3" name="Content Placeholder 2"/>
          <p:cNvSpPr>
            <a:spLocks noGrp="1"/>
          </p:cNvSpPr>
          <p:nvPr>
            <p:ph idx="1"/>
          </p:nvPr>
        </p:nvSpPr>
        <p:spPr>
          <a:xfrm>
            <a:off x="838200" y="1690688"/>
            <a:ext cx="10515600" cy="4803897"/>
          </a:xfrm>
        </p:spPr>
        <p:txBody>
          <a:bodyPr>
            <a:normAutofit/>
          </a:bodyPr>
          <a:lstStyle/>
          <a:p>
            <a:pPr>
              <a:buFont typeface="Wingdings" panose="05000000000000000000" pitchFamily="2" charset="2"/>
              <a:buChar char="§"/>
            </a:pPr>
            <a:r>
              <a:rPr lang="en-US" dirty="0">
                <a:solidFill>
                  <a:srgbClr val="FF0000"/>
                </a:solidFill>
              </a:rPr>
              <a:t>Mutual Exclusion</a:t>
            </a:r>
            <a:r>
              <a:rPr lang="en-US" dirty="0"/>
              <a:t> – If process P</a:t>
            </a:r>
            <a:r>
              <a:rPr lang="en-US" baseline="-25000" dirty="0"/>
              <a:t>i</a:t>
            </a:r>
            <a:r>
              <a:rPr lang="en-US" dirty="0"/>
              <a:t> is executing in its critical section, then no other process can be executing in their critical sections (turn)</a:t>
            </a:r>
          </a:p>
          <a:p>
            <a:pPr>
              <a:buFont typeface="Wingdings" panose="05000000000000000000" pitchFamily="2" charset="2"/>
              <a:buChar char="§"/>
            </a:pPr>
            <a:r>
              <a:rPr lang="en-US" dirty="0">
                <a:solidFill>
                  <a:srgbClr val="FF0000"/>
                </a:solidFill>
              </a:rPr>
              <a:t>Progress</a:t>
            </a:r>
            <a:r>
              <a:rPr lang="en-US" dirty="0"/>
              <a:t> – If no process is executing in its </a:t>
            </a:r>
            <a:r>
              <a:rPr lang="en-US" b="1" dirty="0"/>
              <a:t>critical section</a:t>
            </a:r>
            <a:r>
              <a:rPr lang="en-US" dirty="0"/>
              <a:t> and some processes wish to enter their </a:t>
            </a:r>
            <a:r>
              <a:rPr lang="en-US" b="1" dirty="0"/>
              <a:t>critical sections</a:t>
            </a:r>
            <a:r>
              <a:rPr lang="en-US" dirty="0"/>
              <a:t>, then only those processes that are not executing in their remainder </a:t>
            </a:r>
            <a:r>
              <a:rPr lang="en-US" b="1" dirty="0"/>
              <a:t>section</a:t>
            </a:r>
            <a:r>
              <a:rPr lang="en-US" dirty="0"/>
              <a:t> can participate in deciding which will enter its </a:t>
            </a:r>
            <a:r>
              <a:rPr lang="en-US" b="1" dirty="0"/>
              <a:t>critical section</a:t>
            </a:r>
            <a:r>
              <a:rPr lang="en-US" dirty="0"/>
              <a:t> next, and this selection cannot be postponed  ( no blocking - intention)</a:t>
            </a:r>
          </a:p>
          <a:p>
            <a:pPr>
              <a:buFont typeface="Wingdings" panose="05000000000000000000" pitchFamily="2" charset="2"/>
              <a:buChar char="§"/>
            </a:pPr>
            <a:r>
              <a:rPr lang="en-US" dirty="0">
                <a:solidFill>
                  <a:srgbClr val="FF0000"/>
                </a:solidFill>
              </a:rPr>
              <a:t>Bounded Waiting </a:t>
            </a:r>
            <a:r>
              <a:rPr lang="en-US" dirty="0"/>
              <a:t>– A bound must exist on the number of times that other processes are allowed to enter their critical sections after a process has made a request to enter its critical section and before that request is granted</a:t>
            </a:r>
          </a:p>
        </p:txBody>
      </p:sp>
    </p:spTree>
    <p:extLst>
      <p:ext uri="{BB962C8B-B14F-4D97-AF65-F5344CB8AC3E}">
        <p14:creationId xmlns:p14="http://schemas.microsoft.com/office/powerpoint/2010/main" val="1588993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Algorithm (1) for Two Processes</a:t>
            </a:r>
          </a:p>
        </p:txBody>
      </p:sp>
      <p:sp>
        <p:nvSpPr>
          <p:cNvPr id="3" name="Content Placeholder 2"/>
          <p:cNvSpPr>
            <a:spLocks noGrp="1"/>
          </p:cNvSpPr>
          <p:nvPr>
            <p:ph idx="1"/>
          </p:nvPr>
        </p:nvSpPr>
        <p:spPr>
          <a:xfrm>
            <a:off x="838200" y="1529129"/>
            <a:ext cx="10515600" cy="4965455"/>
          </a:xfrm>
        </p:spPr>
        <p:txBody>
          <a:bodyPr>
            <a:normAutofit fontScale="92500" lnSpcReduction="20000"/>
          </a:bodyPr>
          <a:lstStyle/>
          <a:p>
            <a:pPr>
              <a:buFont typeface="Wingdings" panose="05000000000000000000" pitchFamily="2" charset="2"/>
              <a:buChar char="§"/>
            </a:pPr>
            <a:r>
              <a:rPr lang="en-US" sz="3200" dirty="0"/>
              <a:t>Given processes P</a:t>
            </a:r>
            <a:r>
              <a:rPr lang="en-US" sz="3200" baseline="-25000" dirty="0"/>
              <a:t>0</a:t>
            </a:r>
            <a:r>
              <a:rPr lang="en-US" sz="3200" dirty="0"/>
              <a:t> and P</a:t>
            </a:r>
            <a:r>
              <a:rPr lang="en-US" sz="3200" baseline="-25000" dirty="0"/>
              <a:t>1</a:t>
            </a:r>
          </a:p>
          <a:p>
            <a:pPr>
              <a:buFont typeface="Wingdings" panose="05000000000000000000" pitchFamily="2" charset="2"/>
              <a:buChar char="§"/>
            </a:pPr>
            <a:r>
              <a:rPr lang="en-US" sz="3200" dirty="0"/>
              <a:t>Use a shared variable “turn” to control which process can enter critical section</a:t>
            </a:r>
          </a:p>
          <a:p>
            <a:pPr>
              <a:buFont typeface="Wingdings" panose="05000000000000000000" pitchFamily="2" charset="2"/>
              <a:buChar char="§"/>
            </a:pPr>
            <a:r>
              <a:rPr lang="en-US" sz="3200" dirty="0"/>
              <a:t>Initialize turn to 0</a:t>
            </a:r>
          </a:p>
          <a:p>
            <a:pPr marL="0" indent="0">
              <a:buNone/>
            </a:pPr>
            <a:r>
              <a:rPr lang="en-US" sz="3200" dirty="0"/>
              <a:t>P</a:t>
            </a:r>
            <a:r>
              <a:rPr lang="en-US" sz="3200" baseline="-25000" dirty="0"/>
              <a:t>0 </a:t>
            </a:r>
            <a:r>
              <a:rPr lang="en-US" sz="3200" dirty="0"/>
              <a:t>:						P</a:t>
            </a:r>
            <a:r>
              <a:rPr lang="en-US" sz="3200" baseline="-25000" dirty="0"/>
              <a:t>1</a:t>
            </a:r>
            <a:r>
              <a:rPr lang="en-US" sz="3200" dirty="0"/>
              <a:t>:</a:t>
            </a:r>
          </a:p>
          <a:p>
            <a:pPr marL="0" indent="0">
              <a:buNone/>
            </a:pPr>
            <a:r>
              <a:rPr lang="en-US" sz="3000" dirty="0">
                <a:latin typeface="Courier New" panose="02070309020205020404" pitchFamily="49" charset="0"/>
                <a:cs typeface="Courier New" panose="02070309020205020404" pitchFamily="49" charset="0"/>
              </a:rPr>
              <a:t>while (turn != 0)			while (turn != 1)</a:t>
            </a:r>
          </a:p>
          <a:p>
            <a:pPr marL="0" indent="0">
              <a:buNone/>
            </a:pPr>
            <a:r>
              <a:rPr lang="en-US" sz="3000" dirty="0">
                <a:latin typeface="Courier New" panose="02070309020205020404" pitchFamily="49" charset="0"/>
                <a:cs typeface="Courier New" panose="02070309020205020404" pitchFamily="49" charset="0"/>
              </a:rPr>
              <a:t>   /* do nothing */ ;	   	   /* do nothing */ ;</a:t>
            </a:r>
          </a:p>
          <a:p>
            <a:pPr marL="0" indent="0">
              <a:buNone/>
            </a:pPr>
            <a:r>
              <a:rPr lang="en-US" sz="3000" dirty="0">
                <a:latin typeface="Courier New" panose="02070309020205020404" pitchFamily="49" charset="0"/>
                <a:cs typeface="Courier New" panose="02070309020205020404" pitchFamily="49" charset="0"/>
              </a:rPr>
              <a:t>&lt;critical section&gt;		&lt;critical section&gt;</a:t>
            </a:r>
          </a:p>
          <a:p>
            <a:pPr marL="0" indent="0">
              <a:buNone/>
            </a:pPr>
            <a:r>
              <a:rPr lang="en-US" sz="3000" dirty="0">
                <a:latin typeface="Courier New" panose="02070309020205020404" pitchFamily="49" charset="0"/>
                <a:cs typeface="Courier New" panose="02070309020205020404" pitchFamily="49" charset="0"/>
              </a:rPr>
              <a:t>turn = 1;				turn = 0;</a:t>
            </a:r>
          </a:p>
          <a:p>
            <a:pPr>
              <a:buFont typeface="Wingdings" panose="05000000000000000000" pitchFamily="2" charset="2"/>
              <a:buChar char="§"/>
            </a:pPr>
            <a:endParaRPr lang="en-US" sz="3200" dirty="0"/>
          </a:p>
          <a:p>
            <a:pPr>
              <a:buFont typeface="Wingdings" panose="05000000000000000000" pitchFamily="2" charset="2"/>
              <a:buChar char="§"/>
            </a:pPr>
            <a:r>
              <a:rPr lang="en-US" sz="3200" dirty="0"/>
              <a:t>Problem with solution? Progress rule problem</a:t>
            </a:r>
          </a:p>
          <a:p>
            <a:pPr marL="0" indent="0">
              <a:buNone/>
            </a:pPr>
            <a:endParaRPr lang="en-US" sz="3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17345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8373"/>
          </a:xfrm>
        </p:spPr>
        <p:txBody>
          <a:bodyPr/>
          <a:lstStyle/>
          <a:p>
            <a:r>
              <a:rPr lang="en-US" dirty="0"/>
              <a:t>Simple Algorithm (2) for Two Processes</a:t>
            </a:r>
          </a:p>
        </p:txBody>
      </p:sp>
      <p:sp>
        <p:nvSpPr>
          <p:cNvPr id="3" name="Content Placeholder 2"/>
          <p:cNvSpPr>
            <a:spLocks noGrp="1"/>
          </p:cNvSpPr>
          <p:nvPr>
            <p:ph idx="1"/>
          </p:nvPr>
        </p:nvSpPr>
        <p:spPr>
          <a:xfrm>
            <a:off x="838200" y="1403497"/>
            <a:ext cx="10515600" cy="5454503"/>
          </a:xfrm>
        </p:spPr>
        <p:txBody>
          <a:bodyPr>
            <a:normAutofit fontScale="77500" lnSpcReduction="20000"/>
          </a:bodyPr>
          <a:lstStyle/>
          <a:p>
            <a:pPr>
              <a:buFont typeface="Wingdings" panose="05000000000000000000" pitchFamily="2" charset="2"/>
              <a:buChar char="§"/>
            </a:pPr>
            <a:r>
              <a:rPr lang="en-US" sz="3100" dirty="0"/>
              <a:t>Given processes P</a:t>
            </a:r>
            <a:r>
              <a:rPr lang="en-US" sz="3100" baseline="-25000" dirty="0"/>
              <a:t>0</a:t>
            </a:r>
            <a:r>
              <a:rPr lang="en-US" sz="3100" dirty="0"/>
              <a:t> and P</a:t>
            </a:r>
            <a:r>
              <a:rPr lang="en-US" sz="3100" baseline="-25000" dirty="0"/>
              <a:t>1</a:t>
            </a:r>
          </a:p>
          <a:p>
            <a:pPr>
              <a:buFont typeface="Wingdings" panose="05000000000000000000" pitchFamily="2" charset="2"/>
              <a:buChar char="§"/>
            </a:pPr>
            <a:r>
              <a:rPr lang="en-US" sz="3100" dirty="0"/>
              <a:t>Use shared Boolean array “flag” to control which process can enter critical section</a:t>
            </a:r>
          </a:p>
          <a:p>
            <a:pPr>
              <a:buFont typeface="Wingdings" panose="05000000000000000000" pitchFamily="2" charset="2"/>
              <a:buChar char="§"/>
            </a:pPr>
            <a:r>
              <a:rPr lang="en-US" sz="3100" dirty="0"/>
              <a:t>Initialize both flag[0] and flag[1] to false</a:t>
            </a:r>
          </a:p>
          <a:p>
            <a:pPr marL="0" indent="0">
              <a:buNone/>
            </a:pPr>
            <a:r>
              <a:rPr lang="en-US" dirty="0"/>
              <a:t>P</a:t>
            </a:r>
            <a:r>
              <a:rPr lang="en-US" baseline="-25000" dirty="0"/>
              <a:t>0 </a:t>
            </a:r>
            <a:r>
              <a:rPr lang="en-US" dirty="0"/>
              <a:t>:					P</a:t>
            </a:r>
            <a:r>
              <a:rPr lang="en-US" baseline="-25000" dirty="0"/>
              <a:t>1</a:t>
            </a:r>
            <a:r>
              <a:rPr lang="en-US" dirty="0"/>
              <a:t>:</a:t>
            </a:r>
          </a:p>
          <a:p>
            <a:pPr marL="0" indent="0">
              <a:buNone/>
            </a:pPr>
            <a:r>
              <a:rPr lang="en-US" dirty="0">
                <a:latin typeface="Courier New" panose="02070309020205020404" pitchFamily="49" charset="0"/>
                <a:cs typeface="Courier New" panose="02070309020205020404" pitchFamily="49" charset="0"/>
              </a:rPr>
              <a:t>flag[0] = true;			flag[1] = true;</a:t>
            </a:r>
          </a:p>
          <a:p>
            <a:pPr marL="0" indent="0">
              <a:buNone/>
            </a:pPr>
            <a:r>
              <a:rPr lang="en-US" dirty="0">
                <a:latin typeface="Courier New" panose="02070309020205020404" pitchFamily="49" charset="0"/>
                <a:cs typeface="Courier New" panose="02070309020205020404" pitchFamily="49" charset="0"/>
              </a:rPr>
              <a:t>while (flag[1]){			while (flag[0]){</a:t>
            </a:r>
          </a:p>
          <a:p>
            <a:pPr marL="0" indent="0">
              <a:buNone/>
            </a:pPr>
            <a:r>
              <a:rPr lang="en-US" dirty="0">
                <a:latin typeface="Courier New" panose="02070309020205020404" pitchFamily="49" charset="0"/>
                <a:cs typeface="Courier New" panose="02070309020205020404" pitchFamily="49" charset="0"/>
              </a:rPr>
              <a:t>   flag[0] = false;		   flag[1] := false;</a:t>
            </a:r>
          </a:p>
          <a:p>
            <a:pPr marL="0" indent="0">
              <a:buNone/>
            </a:pPr>
            <a:r>
              <a:rPr lang="en-US" dirty="0">
                <a:latin typeface="Courier New" panose="02070309020205020404" pitchFamily="49" charset="0"/>
                <a:cs typeface="Courier New" panose="02070309020205020404" pitchFamily="49" charset="0"/>
              </a:rPr>
              <a:t>   /* delay */			   /* delay */</a:t>
            </a:r>
          </a:p>
          <a:p>
            <a:pPr marL="0" indent="0">
              <a:buNone/>
            </a:pPr>
            <a:r>
              <a:rPr lang="en-US" dirty="0">
                <a:latin typeface="Courier New" panose="02070309020205020404" pitchFamily="49" charset="0"/>
                <a:cs typeface="Courier New" panose="02070309020205020404" pitchFamily="49" charset="0"/>
              </a:rPr>
              <a:t>   flag[0] = true;		   flag[1] := true;</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&lt;critical section&gt;		&lt;critical section&gt;</a:t>
            </a:r>
          </a:p>
          <a:p>
            <a:pPr marL="0" indent="0">
              <a:buNone/>
            </a:pPr>
            <a:r>
              <a:rPr lang="en-US" dirty="0">
                <a:latin typeface="Courier New" panose="02070309020205020404" pitchFamily="49" charset="0"/>
                <a:cs typeface="Courier New" panose="02070309020205020404" pitchFamily="49" charset="0"/>
              </a:rPr>
              <a:t>flag[0] = false;			flag[1] := false;</a:t>
            </a:r>
          </a:p>
          <a:p>
            <a:endParaRPr lang="en-US" dirty="0"/>
          </a:p>
          <a:p>
            <a:pPr>
              <a:buFont typeface="Wingdings" panose="05000000000000000000" pitchFamily="2" charset="2"/>
              <a:buChar char="§"/>
            </a:pPr>
            <a:r>
              <a:rPr lang="en-US" sz="3100" dirty="0"/>
              <a:t>Problem with solution? Deadlock problem if flag[0] = flag[1] = true</a:t>
            </a:r>
          </a:p>
        </p:txBody>
      </p:sp>
    </p:spTree>
    <p:extLst>
      <p:ext uri="{BB962C8B-B14F-4D97-AF65-F5344CB8AC3E}">
        <p14:creationId xmlns:p14="http://schemas.microsoft.com/office/powerpoint/2010/main" val="3372934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48861"/>
          </a:xfrm>
        </p:spPr>
        <p:txBody>
          <a:bodyPr/>
          <a:lstStyle/>
          <a:p>
            <a:r>
              <a:rPr lang="en-US" dirty="0"/>
              <a:t>Peterson’s Algorithm for Two Processes</a:t>
            </a:r>
          </a:p>
        </p:txBody>
      </p:sp>
      <p:sp>
        <p:nvSpPr>
          <p:cNvPr id="3" name="Content Placeholder 2"/>
          <p:cNvSpPr>
            <a:spLocks noGrp="1"/>
          </p:cNvSpPr>
          <p:nvPr>
            <p:ph idx="1"/>
          </p:nvPr>
        </p:nvSpPr>
        <p:spPr>
          <a:xfrm>
            <a:off x="838200" y="937846"/>
            <a:ext cx="10515600" cy="5920154"/>
          </a:xfrm>
        </p:spPr>
        <p:txBody>
          <a:bodyPr>
            <a:normAutofit fontScale="92500" lnSpcReduction="10000"/>
          </a:bodyPr>
          <a:lstStyle/>
          <a:p>
            <a:pPr>
              <a:buFont typeface="Wingdings" panose="05000000000000000000" pitchFamily="2" charset="2"/>
              <a:buChar char="§"/>
            </a:pPr>
            <a:r>
              <a:rPr lang="en-US" dirty="0"/>
              <a:t>Given processes P</a:t>
            </a:r>
            <a:r>
              <a:rPr lang="en-US" baseline="-25000" dirty="0"/>
              <a:t>0</a:t>
            </a:r>
            <a:r>
              <a:rPr lang="en-US" dirty="0"/>
              <a:t> and P</a:t>
            </a:r>
            <a:r>
              <a:rPr lang="en-US" baseline="-25000" dirty="0"/>
              <a:t>1</a:t>
            </a:r>
          </a:p>
          <a:p>
            <a:pPr>
              <a:buFont typeface="Wingdings" panose="05000000000000000000" pitchFamily="2" charset="2"/>
              <a:buChar char="§"/>
            </a:pPr>
            <a:r>
              <a:rPr lang="en-US" dirty="0"/>
              <a:t>Use two shared variables </a:t>
            </a:r>
          </a:p>
          <a:p>
            <a:pPr lvl="1"/>
            <a:r>
              <a:rPr lang="en-US" dirty="0" err="1"/>
              <a:t>int</a:t>
            </a:r>
            <a:r>
              <a:rPr lang="en-US" dirty="0"/>
              <a:t> turn		/* indicates whose turn it is to enter CS */</a:t>
            </a:r>
          </a:p>
          <a:p>
            <a:pPr lvl="1"/>
            <a:r>
              <a:rPr lang="en-US" dirty="0"/>
              <a:t>Boolean flag[2]	/* flag[</a:t>
            </a:r>
            <a:r>
              <a:rPr lang="en-US" dirty="0" err="1"/>
              <a:t>i</a:t>
            </a:r>
            <a:r>
              <a:rPr lang="en-US" dirty="0"/>
              <a:t>] = true indicates that process is ready to enter CS */</a:t>
            </a:r>
          </a:p>
          <a:p>
            <a:pPr marL="0" indent="0">
              <a:buNone/>
            </a:pPr>
            <a:r>
              <a:rPr lang="en-US" dirty="0"/>
              <a:t>P</a:t>
            </a:r>
            <a:r>
              <a:rPr lang="en-US" baseline="-25000" dirty="0"/>
              <a:t>i</a:t>
            </a:r>
            <a:r>
              <a:rPr lang="en-US" dirty="0"/>
              <a:t>:</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do { </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flag[</a:t>
            </a:r>
            <a:r>
              <a:rPr lang="en-US" altLang="en-US" sz="2600" b="1" dirty="0" err="1">
                <a:solidFill>
                  <a:srgbClr val="000000"/>
                </a:solidFill>
                <a:latin typeface="Courier New" panose="02070309020205020404" pitchFamily="49" charset="0"/>
                <a:cs typeface="Courier New" panose="02070309020205020404" pitchFamily="49" charset="0"/>
              </a:rPr>
              <a:t>i</a:t>
            </a:r>
            <a:r>
              <a:rPr lang="en-US" altLang="en-US" sz="2600" b="1" dirty="0">
                <a:solidFill>
                  <a:srgbClr val="000000"/>
                </a:solidFill>
                <a:latin typeface="Courier New" panose="02070309020205020404" pitchFamily="49" charset="0"/>
                <a:cs typeface="Courier New" panose="02070309020205020404" pitchFamily="49" charset="0"/>
              </a:rPr>
              <a:t>] = true; </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turn = j; </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while (flag[j] &amp;&amp; turn == j) /* do nothing */ ;</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&lt;critical section&gt;</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flag[</a:t>
            </a:r>
            <a:r>
              <a:rPr lang="en-US" altLang="en-US" sz="2600" b="1" dirty="0" err="1">
                <a:solidFill>
                  <a:srgbClr val="000000"/>
                </a:solidFill>
                <a:latin typeface="Courier New" panose="02070309020205020404" pitchFamily="49" charset="0"/>
                <a:cs typeface="Courier New" panose="02070309020205020404" pitchFamily="49" charset="0"/>
              </a:rPr>
              <a:t>i</a:t>
            </a:r>
            <a:r>
              <a:rPr lang="en-US" altLang="en-US" sz="2600" b="1" dirty="0">
                <a:solidFill>
                  <a:srgbClr val="000000"/>
                </a:solidFill>
                <a:latin typeface="Courier New" panose="02070309020205020404" pitchFamily="49" charset="0"/>
                <a:cs typeface="Courier New" panose="02070309020205020404" pitchFamily="49" charset="0"/>
              </a:rPr>
              <a:t>] = false; </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&lt;remainder section&gt;</a:t>
            </a:r>
          </a:p>
          <a:p>
            <a:pPr>
              <a:spcBef>
                <a:spcPts val="0"/>
              </a:spcBef>
              <a:buFont typeface="Monotype Sorts" pitchFamily="-84" charset="2"/>
              <a:buNone/>
            </a:pPr>
            <a:r>
              <a:rPr lang="en-US" altLang="en-US" sz="2600" b="1" dirty="0">
                <a:solidFill>
                  <a:srgbClr val="000000"/>
                </a:solidFill>
                <a:latin typeface="Courier New" panose="02070309020205020404" pitchFamily="49" charset="0"/>
                <a:cs typeface="Courier New" panose="02070309020205020404" pitchFamily="49" charset="0"/>
              </a:rPr>
              <a:t>} while (true);</a:t>
            </a:r>
            <a:endParaRPr lang="en-US" sz="2600" dirty="0"/>
          </a:p>
          <a:p>
            <a:pPr>
              <a:buFont typeface="Wingdings" panose="05000000000000000000" pitchFamily="2" charset="2"/>
              <a:buChar char="§"/>
            </a:pPr>
            <a:r>
              <a:rPr lang="en-US" dirty="0"/>
              <a:t>Provable that the three CS requirements are met:</a:t>
            </a:r>
          </a:p>
          <a:p>
            <a:pPr lvl="1">
              <a:lnSpc>
                <a:spcPct val="80000"/>
              </a:lnSpc>
            </a:pPr>
            <a:r>
              <a:rPr lang="en-US" dirty="0"/>
              <a:t>Mutual exclusion is preserved (P</a:t>
            </a:r>
            <a:r>
              <a:rPr lang="en-US" baseline="-25000" dirty="0"/>
              <a:t>i</a:t>
            </a:r>
            <a:r>
              <a:rPr lang="en-US" dirty="0"/>
              <a:t> enters CS only if either flag[j]= false or turn=</a:t>
            </a:r>
            <a:r>
              <a:rPr lang="en-US" dirty="0" err="1"/>
              <a:t>i</a:t>
            </a:r>
            <a:r>
              <a:rPr lang="en-US" dirty="0"/>
              <a:t>)</a:t>
            </a:r>
          </a:p>
          <a:p>
            <a:pPr lvl="1">
              <a:lnSpc>
                <a:spcPct val="80000"/>
              </a:lnSpc>
            </a:pPr>
            <a:r>
              <a:rPr lang="en-US" dirty="0"/>
              <a:t>Progress requirement is satisfied</a:t>
            </a:r>
          </a:p>
          <a:p>
            <a:pPr lvl="1">
              <a:lnSpc>
                <a:spcPct val="80000"/>
              </a:lnSpc>
            </a:pPr>
            <a:r>
              <a:rPr lang="en-US" dirty="0"/>
              <a:t>Bounded waiting requirement is met</a:t>
            </a:r>
          </a:p>
          <a:p>
            <a:endParaRPr lang="en-US" dirty="0"/>
          </a:p>
        </p:txBody>
      </p:sp>
    </p:spTree>
    <p:extLst>
      <p:ext uri="{BB962C8B-B14F-4D97-AF65-F5344CB8AC3E}">
        <p14:creationId xmlns:p14="http://schemas.microsoft.com/office/powerpoint/2010/main" val="46408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Critical Section Handling in OS</a:t>
            </a:r>
          </a:p>
        </p:txBody>
      </p:sp>
      <p:sp>
        <p:nvSpPr>
          <p:cNvPr id="3" name="Content Placeholder 2"/>
          <p:cNvSpPr>
            <a:spLocks noGrp="1"/>
          </p:cNvSpPr>
          <p:nvPr>
            <p:ph idx="1"/>
          </p:nvPr>
        </p:nvSpPr>
        <p:spPr>
          <a:xfrm>
            <a:off x="838200" y="1325563"/>
            <a:ext cx="10515600" cy="5262806"/>
          </a:xfrm>
        </p:spPr>
        <p:txBody>
          <a:bodyPr/>
          <a:lstStyle/>
          <a:p>
            <a:pPr>
              <a:buFont typeface="Wingdings" panose="05000000000000000000" pitchFamily="2" charset="2"/>
              <a:buChar char="§"/>
            </a:pPr>
            <a:r>
              <a:rPr lang="en-US" sz="3000" dirty="0"/>
              <a:t>At any given time, many kernel-mode processes may be active in the OS</a:t>
            </a:r>
          </a:p>
          <a:p>
            <a:pPr>
              <a:buFont typeface="Wingdings" panose="05000000000000000000" pitchFamily="2" charset="2"/>
              <a:buChar char="§"/>
            </a:pPr>
            <a:r>
              <a:rPr lang="en-US" sz="3000" dirty="0"/>
              <a:t>These processes may need to manipulate shared data structures (e.g., ready queue, wait queues for various resources, file descriptors) and hence are subject to possible race conditions</a:t>
            </a:r>
          </a:p>
          <a:p>
            <a:pPr>
              <a:buFont typeface="Wingdings" panose="05000000000000000000" pitchFamily="2" charset="2"/>
              <a:buChar char="§"/>
            </a:pPr>
            <a:r>
              <a:rPr lang="en-US" sz="3000" dirty="0"/>
              <a:t>Two approaches are used to handle critical sections in OS:</a:t>
            </a:r>
          </a:p>
          <a:p>
            <a:pPr lvl="1"/>
            <a:r>
              <a:rPr lang="en-US" sz="2600" dirty="0"/>
              <a:t>Preemptive kernel – allows preemption of process when running in kernel mode</a:t>
            </a:r>
          </a:p>
          <a:p>
            <a:pPr lvl="1"/>
            <a:r>
              <a:rPr lang="en-US" sz="2600" dirty="0"/>
              <a:t>Non-preemptive kernel – a kernel-mode process runs until it exits kernel mode, blocks, or voluntarily yields CPU (essentially free of race conditions)</a:t>
            </a:r>
          </a:p>
        </p:txBody>
      </p:sp>
    </p:spTree>
    <p:extLst>
      <p:ext uri="{BB962C8B-B14F-4D97-AF65-F5344CB8AC3E}">
        <p14:creationId xmlns:p14="http://schemas.microsoft.com/office/powerpoint/2010/main" val="978065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Synchronization Hardware</a:t>
            </a:r>
          </a:p>
        </p:txBody>
      </p:sp>
      <p:sp>
        <p:nvSpPr>
          <p:cNvPr id="3" name="Content Placeholder 2"/>
          <p:cNvSpPr>
            <a:spLocks noGrp="1"/>
          </p:cNvSpPr>
          <p:nvPr>
            <p:ph idx="1"/>
          </p:nvPr>
        </p:nvSpPr>
        <p:spPr>
          <a:xfrm>
            <a:off x="838200" y="1325563"/>
            <a:ext cx="10515600" cy="5813791"/>
          </a:xfrm>
        </p:spPr>
        <p:txBody>
          <a:bodyPr>
            <a:normAutofit/>
          </a:bodyPr>
          <a:lstStyle/>
          <a:p>
            <a:pPr>
              <a:buFont typeface="Wingdings" panose="05000000000000000000" pitchFamily="2" charset="2"/>
              <a:buChar char="§"/>
            </a:pPr>
            <a:r>
              <a:rPr lang="en-US" sz="3000" dirty="0"/>
              <a:t>Many systems provide hardware support for implementing the critical section code</a:t>
            </a:r>
          </a:p>
          <a:p>
            <a:pPr>
              <a:buFont typeface="Wingdings" panose="05000000000000000000" pitchFamily="2" charset="2"/>
              <a:buChar char="§"/>
            </a:pPr>
            <a:r>
              <a:rPr lang="en-US" sz="3000" dirty="0"/>
              <a:t>One HD solution could be disabling interrupts</a:t>
            </a:r>
          </a:p>
          <a:p>
            <a:pPr lvl="1"/>
            <a:r>
              <a:rPr lang="en-US" sz="2600" dirty="0"/>
              <a:t>Currently running code would execute without preemption (not bad)</a:t>
            </a:r>
          </a:p>
          <a:p>
            <a:pPr lvl="1"/>
            <a:r>
              <a:rPr lang="en-US" sz="2600" dirty="0"/>
              <a:t>Won’t work unless on a uniprocessor system, or all CPUs are disabled of interrupts at the same time.  Too inefficient.</a:t>
            </a:r>
          </a:p>
          <a:p>
            <a:pPr>
              <a:buFont typeface="Wingdings" panose="05000000000000000000" pitchFamily="2" charset="2"/>
              <a:buChar char="§"/>
            </a:pPr>
            <a:r>
              <a:rPr lang="en-US" sz="3000" dirty="0"/>
              <a:t>Modern machines provide special atomic hardware instructions that can be used to implement a “locking” mechanism </a:t>
            </a:r>
          </a:p>
          <a:p>
            <a:pPr lvl="1"/>
            <a:r>
              <a:rPr lang="en-US" sz="2600" dirty="0"/>
              <a:t>Atomic means non-interruptible</a:t>
            </a:r>
          </a:p>
          <a:p>
            <a:pPr lvl="1"/>
            <a:r>
              <a:rPr lang="en-US" sz="2600" dirty="0"/>
              <a:t>A “</a:t>
            </a:r>
            <a:r>
              <a:rPr lang="en-US" sz="2600" dirty="0" err="1"/>
              <a:t>test_and_set</a:t>
            </a:r>
            <a:r>
              <a:rPr lang="en-US" sz="2600" dirty="0"/>
              <a:t>” instruction to test memory word and set value</a:t>
            </a:r>
          </a:p>
          <a:p>
            <a:pPr lvl="1"/>
            <a:r>
              <a:rPr lang="en-US" sz="2600" dirty="0"/>
              <a:t>A “swap” instruction to swap contents of two memory words</a:t>
            </a:r>
          </a:p>
        </p:txBody>
      </p:sp>
    </p:spTree>
    <p:extLst>
      <p:ext uri="{BB962C8B-B14F-4D97-AF65-F5344CB8AC3E}">
        <p14:creationId xmlns:p14="http://schemas.microsoft.com/office/powerpoint/2010/main" val="4072325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Idea For N Processes</a:t>
            </a:r>
          </a:p>
        </p:txBody>
      </p:sp>
      <p:sp>
        <p:nvSpPr>
          <p:cNvPr id="3" name="Content Placeholder 2"/>
          <p:cNvSpPr>
            <a:spLocks noGrp="1"/>
          </p:cNvSpPr>
          <p:nvPr>
            <p:ph idx="1"/>
          </p:nvPr>
        </p:nvSpPr>
        <p:spPr>
          <a:xfrm>
            <a:off x="609600" y="1529129"/>
            <a:ext cx="10925908" cy="5059239"/>
          </a:xfrm>
        </p:spPr>
        <p:txBody>
          <a:bodyPr>
            <a:normAutofit fontScale="92500" lnSpcReduction="10000"/>
          </a:bodyPr>
          <a:lstStyle/>
          <a:p>
            <a:pPr>
              <a:buFont typeface="Wingdings" panose="05000000000000000000" pitchFamily="2" charset="2"/>
              <a:buChar char="§"/>
            </a:pPr>
            <a:r>
              <a:rPr lang="en-US" dirty="0"/>
              <a:t>Given processes P</a:t>
            </a:r>
            <a:r>
              <a:rPr lang="en-US" baseline="-25000" dirty="0"/>
              <a:t>0</a:t>
            </a:r>
            <a:r>
              <a:rPr lang="en-US" dirty="0"/>
              <a:t>, P</a:t>
            </a:r>
            <a:r>
              <a:rPr lang="en-US" baseline="-25000" dirty="0"/>
              <a:t>1</a:t>
            </a:r>
            <a:r>
              <a:rPr lang="en-US" dirty="0"/>
              <a:t>,and P</a:t>
            </a:r>
            <a:r>
              <a:rPr lang="en-US" baseline="-25000" dirty="0"/>
              <a:t>n-1</a:t>
            </a:r>
          </a:p>
          <a:p>
            <a:pPr>
              <a:buFont typeface="Wingdings" panose="05000000000000000000" pitchFamily="2" charset="2"/>
              <a:buChar char="§"/>
            </a:pPr>
            <a:r>
              <a:rPr lang="en-US" dirty="0"/>
              <a:t>Use a Boolean shared variable flag to indicate status of shared resource</a:t>
            </a:r>
          </a:p>
          <a:p>
            <a:pPr lvl="1"/>
            <a:r>
              <a:rPr lang="en-US" dirty="0"/>
              <a:t>flag = true mean shared resource is available, OK to enter CS</a:t>
            </a:r>
          </a:p>
          <a:p>
            <a:pPr lvl="1"/>
            <a:r>
              <a:rPr lang="en-US" dirty="0"/>
              <a:t>flag = false means shared resource is in use, DO NOT enter CS</a:t>
            </a:r>
          </a:p>
          <a:p>
            <a:pPr lvl="1"/>
            <a:r>
              <a:rPr lang="en-US" dirty="0"/>
              <a:t>flag is initialized to true </a:t>
            </a:r>
          </a:p>
          <a:p>
            <a:pPr marL="0" indent="0">
              <a:buNone/>
            </a:pPr>
            <a:r>
              <a:rPr lang="en-US" dirty="0"/>
              <a:t>P</a:t>
            </a:r>
            <a:r>
              <a:rPr lang="en-US" baseline="-25000" dirty="0"/>
              <a:t>i</a:t>
            </a:r>
            <a:r>
              <a:rPr lang="en-US" dirty="0"/>
              <a:t>:</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do { </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   while (!flag); /* keep testing, stay out until true */ </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   flag = false;  /* set flag to block out other processes */</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	  &lt;critical section&gt;</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   flag = true;   /* reset flag */</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   &lt;remainder section&gt;</a:t>
            </a:r>
          </a:p>
          <a:p>
            <a:pPr>
              <a:spcBef>
                <a:spcPts val="0"/>
              </a:spcBef>
              <a:buFont typeface="Monotype Sorts" pitchFamily="-84" charset="2"/>
              <a:buNone/>
            </a:pPr>
            <a:r>
              <a:rPr lang="en-US" altLang="en-US" sz="2400" b="1" dirty="0">
                <a:solidFill>
                  <a:srgbClr val="000000"/>
                </a:solidFill>
                <a:latin typeface="Courier New" panose="02070309020205020404" pitchFamily="49" charset="0"/>
                <a:cs typeface="Courier New" panose="02070309020205020404" pitchFamily="49" charset="0"/>
              </a:rPr>
              <a:t>} while (true);</a:t>
            </a:r>
            <a:endParaRPr lang="en-US" sz="2400" dirty="0"/>
          </a:p>
          <a:p>
            <a:pPr>
              <a:buFont typeface="Wingdings" panose="05000000000000000000" pitchFamily="2" charset="2"/>
              <a:buChar char="§"/>
            </a:pPr>
            <a:r>
              <a:rPr lang="en-US" dirty="0"/>
              <a:t>Solution does not enforce mutual exclusion.  Two or more processes may find flag = true, exit while loop, set flag to false, and enter CS</a:t>
            </a:r>
          </a:p>
          <a:p>
            <a:endParaRPr lang="en-US" dirty="0"/>
          </a:p>
        </p:txBody>
      </p:sp>
    </p:spTree>
    <p:extLst>
      <p:ext uri="{BB962C8B-B14F-4D97-AF65-F5344CB8AC3E}">
        <p14:creationId xmlns:p14="http://schemas.microsoft.com/office/powerpoint/2010/main" val="2239849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A Simple Idea For N Processes (cont.)</a:t>
            </a:r>
          </a:p>
        </p:txBody>
      </p:sp>
      <p:sp>
        <p:nvSpPr>
          <p:cNvPr id="3" name="Content Placeholder 2"/>
          <p:cNvSpPr>
            <a:spLocks noGrp="1"/>
          </p:cNvSpPr>
          <p:nvPr>
            <p:ph idx="1"/>
          </p:nvPr>
        </p:nvSpPr>
        <p:spPr>
          <a:xfrm>
            <a:off x="838200" y="1325562"/>
            <a:ext cx="10515600" cy="5532437"/>
          </a:xfrm>
        </p:spPr>
        <p:txBody>
          <a:bodyPr>
            <a:normAutofit fontScale="92500" lnSpcReduction="20000"/>
          </a:bodyPr>
          <a:lstStyle/>
          <a:p>
            <a:pPr>
              <a:buFont typeface="Wingdings" panose="05000000000000000000" pitchFamily="2" charset="2"/>
              <a:buChar char="§"/>
            </a:pPr>
            <a:r>
              <a:rPr lang="en-US" dirty="0"/>
              <a:t>Problem with this solution</a:t>
            </a:r>
          </a:p>
          <a:p>
            <a:pPr lvl="1"/>
            <a:r>
              <a:rPr lang="en-US" dirty="0"/>
              <a:t>Operations for testing value of flag and setting it to a specific value can be interrupted</a:t>
            </a:r>
          </a:p>
          <a:p>
            <a:pPr lvl="1"/>
            <a:r>
              <a:rPr lang="en-US" dirty="0"/>
              <a:t>For this idea to work, these operations must be atomic (indivisible)</a:t>
            </a:r>
          </a:p>
          <a:p>
            <a:pPr lvl="1"/>
            <a:r>
              <a:rPr lang="en-US" dirty="0"/>
              <a:t>A “</a:t>
            </a:r>
            <a:r>
              <a:rPr lang="en-US" dirty="0" err="1"/>
              <a:t>test_and_set</a:t>
            </a:r>
            <a:r>
              <a:rPr lang="en-US" dirty="0"/>
              <a:t>” instruction is designed to meet this need</a:t>
            </a:r>
          </a:p>
          <a:p>
            <a:pPr>
              <a:buNone/>
              <a:tabLst>
                <a:tab pos="739775" algn="l"/>
                <a:tab pos="1020763" algn="l"/>
                <a:tab pos="1257300" algn="l"/>
              </a:tabLst>
            </a:pPr>
            <a:r>
              <a:rPr lang="en-US" altLang="en-US" dirty="0"/>
              <a:t>Definition:</a:t>
            </a:r>
            <a:endParaRPr lang="en-US" altLang="en-US" b="1" dirty="0">
              <a:solidFill>
                <a:srgbClr val="000000"/>
              </a:solidFill>
              <a:latin typeface="Courier New" panose="02070309020205020404" pitchFamily="49" charset="0"/>
              <a:cs typeface="Courier New" panose="02070309020205020404" pitchFamily="49" charset="0"/>
            </a:endParaRPr>
          </a:p>
          <a:p>
            <a:pPr>
              <a:buNone/>
              <a:tabLst>
                <a:tab pos="739775" algn="l"/>
                <a:tab pos="1020763" algn="l"/>
                <a:tab pos="1257300" algn="l"/>
              </a:tabLst>
            </a:pPr>
            <a:r>
              <a:rPr lang="en-US" altLang="en-US" b="1" dirty="0">
                <a:solidFill>
                  <a:srgbClr val="000000"/>
                </a:solidFill>
                <a:latin typeface="Courier New" panose="02070309020205020404" pitchFamily="49" charset="0"/>
                <a:cs typeface="Courier New" panose="02070309020205020404" pitchFamily="49" charset="0"/>
              </a:rPr>
              <a:t>  Boolean </a:t>
            </a:r>
            <a:r>
              <a:rPr lang="en-US" altLang="en-US" b="1" dirty="0" err="1">
                <a:solidFill>
                  <a:srgbClr val="000000"/>
                </a:solidFill>
                <a:latin typeface="Courier New" panose="02070309020205020404" pitchFamily="49" charset="0"/>
                <a:cs typeface="Courier New" panose="02070309020205020404" pitchFamily="49" charset="0"/>
              </a:rPr>
              <a:t>test_and_set</a:t>
            </a:r>
            <a:r>
              <a:rPr lang="en-US" altLang="en-US" b="1" dirty="0">
                <a:solidFill>
                  <a:srgbClr val="000000"/>
                </a:solidFill>
                <a:latin typeface="Courier New" panose="02070309020205020404" pitchFamily="49" charset="0"/>
                <a:cs typeface="Courier New" panose="02070309020205020404" pitchFamily="49" charset="0"/>
              </a:rPr>
              <a:t> (Boolean *target){</a:t>
            </a:r>
          </a:p>
          <a:p>
            <a:pPr>
              <a:buNone/>
              <a:tabLst>
                <a:tab pos="739775" algn="l"/>
                <a:tab pos="1020763" algn="l"/>
                <a:tab pos="1257300" algn="l"/>
              </a:tabLst>
            </a:pPr>
            <a:r>
              <a:rPr lang="en-US" altLang="en-US" b="1" dirty="0">
                <a:solidFill>
                  <a:srgbClr val="000000"/>
                </a:solidFill>
                <a:latin typeface="Courier New" panose="02070309020205020404" pitchFamily="49" charset="0"/>
                <a:cs typeface="Courier New" panose="02070309020205020404" pitchFamily="49" charset="0"/>
              </a:rPr>
              <a:t>     Boolean </a:t>
            </a:r>
            <a:r>
              <a:rPr lang="en-US" altLang="en-US" b="1" dirty="0" err="1">
                <a:solidFill>
                  <a:srgbClr val="000000"/>
                </a:solidFill>
                <a:latin typeface="Courier New" panose="02070309020205020404" pitchFamily="49" charset="0"/>
                <a:cs typeface="Courier New" panose="02070309020205020404" pitchFamily="49" charset="0"/>
              </a:rPr>
              <a:t>rv</a:t>
            </a:r>
            <a:r>
              <a:rPr lang="en-US" altLang="en-US" b="1" dirty="0">
                <a:solidFill>
                  <a:srgbClr val="000000"/>
                </a:solidFill>
                <a:latin typeface="Courier New" panose="02070309020205020404" pitchFamily="49" charset="0"/>
                <a:cs typeface="Courier New" panose="02070309020205020404" pitchFamily="49" charset="0"/>
              </a:rPr>
              <a:t> = *target;</a:t>
            </a:r>
          </a:p>
          <a:p>
            <a:pPr>
              <a:buNone/>
              <a:tabLst>
                <a:tab pos="739775" algn="l"/>
                <a:tab pos="1020763" algn="l"/>
                <a:tab pos="1257300" algn="l"/>
              </a:tabLst>
            </a:pPr>
            <a:r>
              <a:rPr lang="en-US" altLang="en-US" b="1" dirty="0">
                <a:solidFill>
                  <a:srgbClr val="000000"/>
                </a:solidFill>
                <a:latin typeface="Courier New" panose="02070309020205020404" pitchFamily="49" charset="0"/>
                <a:cs typeface="Courier New" panose="02070309020205020404" pitchFamily="49" charset="0"/>
              </a:rPr>
              <a:t>     *target = TRUE;</a:t>
            </a:r>
          </a:p>
          <a:p>
            <a:pPr>
              <a:buNone/>
              <a:tabLst>
                <a:tab pos="739775" algn="l"/>
                <a:tab pos="1020763" algn="l"/>
                <a:tab pos="1257300" algn="l"/>
              </a:tabLst>
            </a:pPr>
            <a:r>
              <a:rPr lang="en-US" altLang="en-US" b="1" dirty="0">
                <a:solidFill>
                  <a:srgbClr val="000000"/>
                </a:solidFill>
                <a:latin typeface="Courier New" panose="02070309020205020404" pitchFamily="49" charset="0"/>
                <a:cs typeface="Courier New" panose="02070309020205020404" pitchFamily="49" charset="0"/>
              </a:rPr>
              <a:t>     return </a:t>
            </a:r>
            <a:r>
              <a:rPr lang="en-US" altLang="en-US" b="1" dirty="0" err="1">
                <a:solidFill>
                  <a:srgbClr val="000000"/>
                </a:solidFill>
                <a:latin typeface="Courier New" panose="02070309020205020404" pitchFamily="49" charset="0"/>
                <a:cs typeface="Courier New" panose="02070309020205020404" pitchFamily="49" charset="0"/>
              </a:rPr>
              <a:t>rv</a:t>
            </a:r>
            <a:r>
              <a:rPr lang="en-US" altLang="en-US" b="1" dirty="0">
                <a:solidFill>
                  <a:srgbClr val="000000"/>
                </a:solidFill>
                <a:latin typeface="Courier New" panose="02070309020205020404" pitchFamily="49" charset="0"/>
                <a:cs typeface="Courier New" panose="02070309020205020404" pitchFamily="49" charset="0"/>
              </a:rPr>
              <a:t>;</a:t>
            </a:r>
          </a:p>
          <a:p>
            <a:pPr>
              <a:buNone/>
              <a:tabLst>
                <a:tab pos="739775" algn="l"/>
                <a:tab pos="1020763" algn="l"/>
                <a:tab pos="1257300" algn="l"/>
              </a:tabLst>
            </a:pPr>
            <a:r>
              <a:rPr lang="en-US" altLang="en-US" b="1" dirty="0">
                <a:solidFill>
                  <a:srgbClr val="000000"/>
                </a:solidFill>
                <a:latin typeface="Courier New" panose="02070309020205020404" pitchFamily="49" charset="0"/>
                <a:cs typeface="Courier New" panose="02070309020205020404" pitchFamily="49" charset="0"/>
              </a:rPr>
              <a:t>}</a:t>
            </a:r>
            <a:endParaRPr lang="en-US" altLang="en-US" dirty="0">
              <a:solidFill>
                <a:srgbClr val="0000FF"/>
              </a:solidFill>
            </a:endParaRPr>
          </a:p>
          <a:p>
            <a:pPr>
              <a:buFont typeface="Wingdings" panose="05000000000000000000" pitchFamily="2" charset="2"/>
              <a:buChar char="§"/>
            </a:pPr>
            <a:r>
              <a:rPr lang="en-US" dirty="0"/>
              <a:t>Executed atomically</a:t>
            </a:r>
          </a:p>
          <a:p>
            <a:pPr>
              <a:buFont typeface="Wingdings" panose="05000000000000000000" pitchFamily="2" charset="2"/>
              <a:buChar char="§"/>
            </a:pPr>
            <a:r>
              <a:rPr lang="en-US" dirty="0"/>
              <a:t>Returns the original value of passed parameter</a:t>
            </a:r>
          </a:p>
          <a:p>
            <a:pPr>
              <a:buFont typeface="Wingdings" panose="05000000000000000000" pitchFamily="2" charset="2"/>
              <a:buChar char="§"/>
            </a:pPr>
            <a:r>
              <a:rPr lang="en-US" dirty="0"/>
              <a:t>Set new value of passed parameter to true</a:t>
            </a:r>
          </a:p>
          <a:p>
            <a:pPr lvl="1"/>
            <a:endParaRPr lang="en-US" dirty="0"/>
          </a:p>
          <a:p>
            <a:endParaRPr lang="en-US" dirty="0"/>
          </a:p>
        </p:txBody>
      </p:sp>
    </p:spTree>
    <p:extLst>
      <p:ext uri="{BB962C8B-B14F-4D97-AF65-F5344CB8AC3E}">
        <p14:creationId xmlns:p14="http://schemas.microsoft.com/office/powerpoint/2010/main" val="814891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Using </a:t>
            </a:r>
            <a:r>
              <a:rPr lang="en-US" dirty="0" err="1"/>
              <a:t>test_and_set</a:t>
            </a:r>
            <a:r>
              <a:rPr lang="en-US" dirty="0"/>
              <a:t>()</a:t>
            </a:r>
          </a:p>
        </p:txBody>
      </p:sp>
      <p:sp>
        <p:nvSpPr>
          <p:cNvPr id="3" name="Content Placeholder 2"/>
          <p:cNvSpPr>
            <a:spLocks noGrp="1"/>
          </p:cNvSpPr>
          <p:nvPr>
            <p:ph idx="1"/>
          </p:nvPr>
        </p:nvSpPr>
        <p:spPr/>
        <p:txBody>
          <a:bodyPr>
            <a:normAutofit lnSpcReduction="10000"/>
          </a:bodyPr>
          <a:lstStyle/>
          <a:p>
            <a:r>
              <a:rPr lang="en-US" dirty="0"/>
              <a:t>Shared Boolean variable lock, initialized to FALSE</a:t>
            </a:r>
          </a:p>
          <a:p>
            <a:r>
              <a:rPr lang="en-US" dirty="0"/>
              <a:t>Solution</a:t>
            </a:r>
          </a:p>
          <a:p>
            <a:pPr marL="0" indent="0">
              <a:buFont typeface="Monotype Sorts" pitchFamily="-84" charset="2"/>
              <a:buNone/>
              <a:defRPr/>
            </a:pPr>
            <a:r>
              <a:rPr lang="en-US" altLang="en-US" b="1" dirty="0">
                <a:solidFill>
                  <a:srgbClr val="000000"/>
                </a:solidFill>
                <a:latin typeface="Courier New" pitchFamily="49" charset="0"/>
                <a:cs typeface="Courier New" pitchFamily="49" charset="0"/>
              </a:rPr>
              <a:t>do {</a:t>
            </a:r>
            <a:br>
              <a:rPr lang="en-US" altLang="en-US" b="1" dirty="0">
                <a:solidFill>
                  <a:srgbClr val="000000"/>
                </a:solidFill>
                <a:latin typeface="Courier New" pitchFamily="49" charset="0"/>
                <a:cs typeface="Courier New" pitchFamily="49" charset="0"/>
              </a:rPr>
            </a:br>
            <a:r>
              <a:rPr lang="en-US" altLang="en-US" b="1" dirty="0">
                <a:solidFill>
                  <a:srgbClr val="000000"/>
                </a:solidFill>
                <a:latin typeface="Courier New" pitchFamily="49" charset="0"/>
                <a:cs typeface="Courier New" pitchFamily="49" charset="0"/>
              </a:rPr>
              <a:t>   while (</a:t>
            </a:r>
            <a:r>
              <a:rPr lang="en-US" altLang="en-US" b="1" dirty="0" err="1">
                <a:solidFill>
                  <a:srgbClr val="000000"/>
                </a:solidFill>
                <a:latin typeface="Courier New" pitchFamily="49" charset="0"/>
                <a:cs typeface="Courier New" pitchFamily="49" charset="0"/>
              </a:rPr>
              <a:t>test_and_set</a:t>
            </a:r>
            <a:r>
              <a:rPr lang="en-US" altLang="en-US" b="1" dirty="0">
                <a:solidFill>
                  <a:srgbClr val="000000"/>
                </a:solidFill>
                <a:latin typeface="Courier New" pitchFamily="49" charset="0"/>
                <a:cs typeface="Courier New" pitchFamily="49" charset="0"/>
              </a:rPr>
              <a:t>(&amp;lock)); /* condition not</a:t>
            </a:r>
          </a:p>
          <a:p>
            <a:pPr marL="0" indent="0">
              <a:buFont typeface="Monotype Sorts" pitchFamily="-84" charset="2"/>
              <a:buNone/>
              <a:defRPr/>
            </a:pPr>
            <a:r>
              <a:rPr lang="en-US" altLang="en-US" b="1" dirty="0">
                <a:solidFill>
                  <a:srgbClr val="000000"/>
                </a:solidFill>
                <a:latin typeface="Courier New" pitchFamily="49" charset="0"/>
                <a:cs typeface="Courier New" pitchFamily="49" charset="0"/>
              </a:rPr>
              <a:t>      right, stay out, keep checking */ </a:t>
            </a:r>
          </a:p>
          <a:p>
            <a:pPr marL="0" indent="0">
              <a:buFont typeface="Monotype Sorts" pitchFamily="-84" charset="2"/>
              <a:buNone/>
              <a:defRPr/>
            </a:pPr>
            <a:r>
              <a:rPr lang="en-US" altLang="en-US" b="1" dirty="0">
                <a:solidFill>
                  <a:srgbClr val="000000"/>
                </a:solidFill>
                <a:latin typeface="Courier New" pitchFamily="49" charset="0"/>
                <a:cs typeface="Courier New" pitchFamily="49" charset="0"/>
              </a:rPr>
              <a:t>   &lt; critical section &gt;</a:t>
            </a:r>
          </a:p>
          <a:p>
            <a:pPr marL="0" indent="0">
              <a:buFont typeface="Monotype Sorts" pitchFamily="-84" charset="2"/>
              <a:buNone/>
              <a:defRPr/>
            </a:pPr>
            <a:r>
              <a:rPr lang="en-US" altLang="en-US" b="1" dirty="0">
                <a:solidFill>
                  <a:srgbClr val="000000"/>
                </a:solidFill>
                <a:latin typeface="Courier New" pitchFamily="49" charset="0"/>
                <a:cs typeface="Courier New" pitchFamily="49" charset="0"/>
              </a:rPr>
              <a:t>   lock = false; </a:t>
            </a:r>
          </a:p>
          <a:p>
            <a:pPr marL="0" indent="0">
              <a:buFont typeface="Monotype Sorts" pitchFamily="-84" charset="2"/>
              <a:buNone/>
              <a:defRPr/>
            </a:pPr>
            <a:r>
              <a:rPr lang="en-US" altLang="en-US" b="1" dirty="0">
                <a:solidFill>
                  <a:srgbClr val="000000"/>
                </a:solidFill>
                <a:latin typeface="Courier New" pitchFamily="49" charset="0"/>
                <a:cs typeface="Courier New" pitchFamily="49" charset="0"/>
              </a:rPr>
              <a:t>   &lt; remainder section &gt; </a:t>
            </a:r>
          </a:p>
          <a:p>
            <a:pPr marL="0" indent="0">
              <a:buFont typeface="Monotype Sorts" pitchFamily="-84" charset="2"/>
              <a:buNone/>
              <a:defRPr/>
            </a:pPr>
            <a:r>
              <a:rPr lang="en-US" altLang="en-US" b="1" dirty="0">
                <a:solidFill>
                  <a:srgbClr val="000000"/>
                </a:solidFill>
                <a:latin typeface="Courier New" pitchFamily="49" charset="0"/>
                <a:cs typeface="Courier New" pitchFamily="49" charset="0"/>
              </a:rPr>
              <a:t>} while (true); </a:t>
            </a:r>
            <a:endParaRPr lang="en-US" dirty="0"/>
          </a:p>
        </p:txBody>
      </p:sp>
    </p:spTree>
    <p:extLst>
      <p:ext uri="{BB962C8B-B14F-4D97-AF65-F5344CB8AC3E}">
        <p14:creationId xmlns:p14="http://schemas.microsoft.com/office/powerpoint/2010/main" val="3190338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Bounded-waiting Mutual Exclusion with </a:t>
            </a:r>
            <a:r>
              <a:rPr lang="en-US" dirty="0" err="1"/>
              <a:t>test_and_set</a:t>
            </a:r>
            <a:r>
              <a:rPr lang="en-US" dirty="0"/>
              <a:t>()</a:t>
            </a:r>
          </a:p>
        </p:txBody>
      </p:sp>
      <p:sp>
        <p:nvSpPr>
          <p:cNvPr id="3" name="Content Placeholder 2"/>
          <p:cNvSpPr>
            <a:spLocks noGrp="1"/>
          </p:cNvSpPr>
          <p:nvPr>
            <p:ph idx="1"/>
          </p:nvPr>
        </p:nvSpPr>
        <p:spPr>
          <a:xfrm>
            <a:off x="838200" y="1325562"/>
            <a:ext cx="10515600" cy="5532437"/>
          </a:xfrm>
        </p:spPr>
        <p:txBody>
          <a:bodyPr>
            <a:normAutofit fontScale="92500" lnSpcReduction="10000"/>
          </a:bodyPr>
          <a:lstStyle/>
          <a:p>
            <a:pPr>
              <a:buFont typeface="Wingdings" panose="05000000000000000000" pitchFamily="2" charset="2"/>
              <a:buChar char="§"/>
            </a:pPr>
            <a:r>
              <a:rPr lang="en-US" dirty="0"/>
              <a:t>Given processes P</a:t>
            </a:r>
            <a:r>
              <a:rPr lang="en-US" baseline="-25000" dirty="0"/>
              <a:t>0</a:t>
            </a:r>
            <a:r>
              <a:rPr lang="en-US" dirty="0"/>
              <a:t>, P</a:t>
            </a:r>
            <a:r>
              <a:rPr lang="en-US" baseline="-25000" dirty="0"/>
              <a:t>1</a:t>
            </a:r>
            <a:r>
              <a:rPr lang="en-US" dirty="0"/>
              <a:t>,and P</a:t>
            </a:r>
            <a:r>
              <a:rPr lang="en-US" baseline="-25000" dirty="0"/>
              <a:t>n-1</a:t>
            </a:r>
            <a:r>
              <a:rPr lang="en-US" dirty="0"/>
              <a:t> ; lock is a shared variable initialized to false</a:t>
            </a:r>
            <a:endParaRPr lang="en-US" altLang="en-US" b="1" dirty="0">
              <a:latin typeface="Courier New" panose="02070309020205020404" pitchFamily="49" charset="0"/>
              <a:cs typeface="Courier New" panose="02070309020205020404" pitchFamily="49" charset="0"/>
            </a:endParaRP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Code for </a:t>
            </a:r>
            <a:r>
              <a:rPr lang="en-US" sz="2400" dirty="0"/>
              <a:t>P</a:t>
            </a:r>
            <a:r>
              <a:rPr lang="en-US" sz="2400" baseline="-25000" dirty="0"/>
              <a:t>i</a:t>
            </a:r>
            <a:r>
              <a:rPr lang="en-US" altLang="en-US" sz="2600" b="1" dirty="0">
                <a:latin typeface="Courier New" panose="02070309020205020404" pitchFamily="49" charset="0"/>
                <a:cs typeface="Courier New" panose="02070309020205020404" pitchFamily="49" charset="0"/>
              </a:rPr>
              <a:t>:</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do {</a:t>
            </a:r>
            <a:br>
              <a:rPr lang="en-US" altLang="en-US" sz="2600" b="1" dirty="0">
                <a:latin typeface="Courier New" panose="02070309020205020404" pitchFamily="49" charset="0"/>
                <a:cs typeface="Courier New" panose="02070309020205020404" pitchFamily="49" charset="0"/>
              </a:rPr>
            </a:br>
            <a:r>
              <a:rPr lang="en-US" altLang="en-US" sz="2600" b="1" dirty="0">
                <a:latin typeface="Courier New" panose="02070309020205020404" pitchFamily="49" charset="0"/>
                <a:cs typeface="Courier New" panose="02070309020205020404" pitchFamily="49" charset="0"/>
              </a:rPr>
              <a:t>   waiting[</a:t>
            </a:r>
            <a:r>
              <a:rPr lang="en-US" altLang="en-US" sz="2600" b="1" dirty="0" err="1">
                <a:latin typeface="Courier New" panose="02070309020205020404" pitchFamily="49" charset="0"/>
                <a:cs typeface="Courier New" panose="02070309020205020404" pitchFamily="49" charset="0"/>
              </a:rPr>
              <a:t>i</a:t>
            </a:r>
            <a:r>
              <a:rPr lang="en-US" altLang="en-US" sz="2600" b="1" dirty="0">
                <a:latin typeface="Courier New" panose="02070309020205020404" pitchFamily="49" charset="0"/>
                <a:cs typeface="Courier New" panose="02070309020205020404" pitchFamily="49" charset="0"/>
              </a:rPr>
              <a:t>] = true;</a:t>
            </a:r>
            <a:br>
              <a:rPr lang="en-US" altLang="en-US" sz="2600" b="1" dirty="0">
                <a:latin typeface="Courier New" panose="02070309020205020404" pitchFamily="49" charset="0"/>
                <a:cs typeface="Courier New" panose="02070309020205020404" pitchFamily="49" charset="0"/>
              </a:rPr>
            </a:br>
            <a:r>
              <a:rPr lang="en-US" altLang="en-US" sz="2600" b="1" dirty="0">
                <a:latin typeface="Courier New" panose="02070309020205020404" pitchFamily="49" charset="0"/>
                <a:cs typeface="Courier New" panose="02070309020205020404" pitchFamily="49" charset="0"/>
              </a:rPr>
              <a:t>   key = true;</a:t>
            </a:r>
            <a:br>
              <a:rPr lang="en-US" altLang="en-US" sz="2600" b="1" dirty="0">
                <a:latin typeface="Courier New" panose="02070309020205020404" pitchFamily="49" charset="0"/>
                <a:cs typeface="Courier New" panose="02070309020205020404" pitchFamily="49" charset="0"/>
              </a:rPr>
            </a:br>
            <a:r>
              <a:rPr lang="en-US" altLang="en-US" sz="2600" b="1" dirty="0">
                <a:latin typeface="Courier New" panose="02070309020205020404" pitchFamily="49" charset="0"/>
                <a:cs typeface="Courier New" panose="02070309020205020404" pitchFamily="49" charset="0"/>
              </a:rPr>
              <a:t>   while (waiting[</a:t>
            </a:r>
            <a:r>
              <a:rPr lang="en-US" altLang="en-US" sz="2600" b="1" dirty="0" err="1">
                <a:latin typeface="Courier New" panose="02070309020205020404" pitchFamily="49" charset="0"/>
                <a:cs typeface="Courier New" panose="02070309020205020404" pitchFamily="49" charset="0"/>
              </a:rPr>
              <a:t>i</a:t>
            </a:r>
            <a:r>
              <a:rPr lang="en-US" altLang="en-US" sz="2600" b="1" dirty="0">
                <a:latin typeface="Courier New" panose="02070309020205020404" pitchFamily="49" charset="0"/>
                <a:cs typeface="Courier New" panose="02070309020205020404" pitchFamily="49" charset="0"/>
              </a:rPr>
              <a:t>] &amp;&amp; key)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key = </a:t>
            </a:r>
            <a:r>
              <a:rPr lang="en-US" altLang="en-US" sz="2600" b="1" dirty="0" err="1">
                <a:latin typeface="Courier New" panose="02070309020205020404" pitchFamily="49" charset="0"/>
                <a:cs typeface="Courier New" panose="02070309020205020404" pitchFamily="49" charset="0"/>
              </a:rPr>
              <a:t>test_and_set</a:t>
            </a:r>
            <a:r>
              <a:rPr lang="en-US" altLang="en-US" sz="2600" b="1" dirty="0">
                <a:latin typeface="Courier New" panose="02070309020205020404" pitchFamily="49" charset="0"/>
                <a:cs typeface="Courier New" panose="02070309020205020404" pitchFamily="49" charset="0"/>
              </a:rPr>
              <a:t>(&amp;lock);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waiting[</a:t>
            </a:r>
            <a:r>
              <a:rPr lang="en-US" altLang="en-US" sz="2600" b="1" dirty="0" err="1">
                <a:latin typeface="Courier New" panose="02070309020205020404" pitchFamily="49" charset="0"/>
                <a:cs typeface="Courier New" panose="02070309020205020404" pitchFamily="49" charset="0"/>
              </a:rPr>
              <a:t>i</a:t>
            </a:r>
            <a:r>
              <a:rPr lang="en-US" altLang="en-US" sz="2600" b="1" dirty="0">
                <a:latin typeface="Courier New" panose="02070309020205020404" pitchFamily="49" charset="0"/>
                <a:cs typeface="Courier New" panose="02070309020205020404" pitchFamily="49" charset="0"/>
              </a:rPr>
              <a:t>] = false;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&lt; critical section &gt;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j = (</a:t>
            </a:r>
            <a:r>
              <a:rPr lang="en-US" altLang="en-US" sz="2600" b="1" dirty="0" err="1">
                <a:latin typeface="Courier New" panose="02070309020205020404" pitchFamily="49" charset="0"/>
                <a:cs typeface="Courier New" panose="02070309020205020404" pitchFamily="49" charset="0"/>
              </a:rPr>
              <a:t>i</a:t>
            </a:r>
            <a:r>
              <a:rPr lang="en-US" altLang="en-US" sz="2600" b="1" dirty="0">
                <a:latin typeface="Courier New" panose="02070309020205020404" pitchFamily="49" charset="0"/>
                <a:cs typeface="Courier New" panose="02070309020205020404" pitchFamily="49" charset="0"/>
              </a:rPr>
              <a:t> + 1) % n;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while ((j != </a:t>
            </a:r>
            <a:r>
              <a:rPr lang="en-US" altLang="en-US" sz="2600" b="1" dirty="0" err="1">
                <a:latin typeface="Courier New" panose="02070309020205020404" pitchFamily="49" charset="0"/>
                <a:cs typeface="Courier New" panose="02070309020205020404" pitchFamily="49" charset="0"/>
              </a:rPr>
              <a:t>i</a:t>
            </a:r>
            <a:r>
              <a:rPr lang="en-US" altLang="en-US" sz="2600" b="1" dirty="0">
                <a:latin typeface="Courier New" panose="02070309020205020404" pitchFamily="49" charset="0"/>
                <a:cs typeface="Courier New" panose="02070309020205020404" pitchFamily="49" charset="0"/>
              </a:rPr>
              <a:t>) &amp;&amp; !waiting[j]) /* find next waiting</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j = (j + 1) % n;   /* process &amp; pass lock to it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if (j == </a:t>
            </a:r>
            <a:r>
              <a:rPr lang="en-US" altLang="en-US" sz="2600" b="1" dirty="0" err="1">
                <a:latin typeface="Courier New" panose="02070309020205020404" pitchFamily="49" charset="0"/>
                <a:cs typeface="Courier New" panose="02070309020205020404" pitchFamily="49" charset="0"/>
              </a:rPr>
              <a:t>i</a:t>
            </a:r>
            <a:r>
              <a:rPr lang="en-US" altLang="en-US" sz="2600" b="1" dirty="0">
                <a:latin typeface="Courier New" panose="02070309020205020404" pitchFamily="49" charset="0"/>
                <a:cs typeface="Courier New" panose="02070309020205020404" pitchFamily="49" charset="0"/>
              </a:rPr>
              <a:t>)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lock = false;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else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waiting[j] = false;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&lt; remainder section &gt; </a:t>
            </a:r>
          </a:p>
          <a:p>
            <a:pPr marL="0" indent="0">
              <a:spcBef>
                <a:spcPts val="0"/>
              </a:spcBef>
              <a:buFont typeface="Monotype Sorts" pitchFamily="-84" charset="2"/>
              <a:buNone/>
            </a:pPr>
            <a:r>
              <a:rPr lang="en-US" altLang="en-US" sz="2600" b="1" dirty="0">
                <a:latin typeface="Courier New" panose="02070309020205020404" pitchFamily="49" charset="0"/>
                <a:cs typeface="Courier New" panose="02070309020205020404" pitchFamily="49" charset="0"/>
              </a:rPr>
              <a:t>} while (true); </a:t>
            </a:r>
          </a:p>
          <a:p>
            <a:pPr marL="0" indent="0">
              <a:buNone/>
            </a:pPr>
            <a:endParaRPr lang="en-US" dirty="0"/>
          </a:p>
        </p:txBody>
      </p:sp>
    </p:spTree>
    <p:extLst>
      <p:ext uri="{BB962C8B-B14F-4D97-AF65-F5344CB8AC3E}">
        <p14:creationId xmlns:p14="http://schemas.microsoft.com/office/powerpoint/2010/main" val="2672737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4413"/>
          </a:xfrm>
        </p:spPr>
        <p:txBody>
          <a:bodyPr/>
          <a:lstStyle/>
          <a:p>
            <a:r>
              <a:rPr lang="en-US" dirty="0" err="1"/>
              <a:t>Mutex</a:t>
            </a:r>
            <a:r>
              <a:rPr lang="en-US" dirty="0"/>
              <a:t> Lock</a:t>
            </a:r>
          </a:p>
        </p:txBody>
      </p:sp>
      <p:sp>
        <p:nvSpPr>
          <p:cNvPr id="3" name="Content Placeholder 2"/>
          <p:cNvSpPr>
            <a:spLocks noGrp="1"/>
          </p:cNvSpPr>
          <p:nvPr>
            <p:ph idx="1"/>
          </p:nvPr>
        </p:nvSpPr>
        <p:spPr>
          <a:xfrm>
            <a:off x="838200" y="1289538"/>
            <a:ext cx="10515600" cy="5275385"/>
          </a:xfrm>
        </p:spPr>
        <p:txBody>
          <a:bodyPr/>
          <a:lstStyle/>
          <a:p>
            <a:pPr>
              <a:buFont typeface="Wingdings" panose="05000000000000000000" pitchFamily="2" charset="2"/>
              <a:buChar char="§"/>
            </a:pPr>
            <a:r>
              <a:rPr lang="en-US" sz="3200" dirty="0"/>
              <a:t>Previous solution is complicated and generally inaccessible to application programmers</a:t>
            </a:r>
          </a:p>
          <a:p>
            <a:pPr>
              <a:buFont typeface="Wingdings" panose="05000000000000000000" pitchFamily="2" charset="2"/>
              <a:buChar char="§"/>
            </a:pPr>
            <a:r>
              <a:rPr lang="en-US" sz="3200" dirty="0"/>
              <a:t>OS designers proposed </a:t>
            </a:r>
            <a:r>
              <a:rPr lang="en-US" sz="3200"/>
              <a:t>new software </a:t>
            </a:r>
            <a:r>
              <a:rPr lang="en-US" sz="3200" dirty="0"/>
              <a:t>tools to solve CS problem</a:t>
            </a:r>
          </a:p>
          <a:p>
            <a:pPr>
              <a:buFont typeface="Wingdings" panose="05000000000000000000" pitchFamily="2" charset="2"/>
              <a:buChar char="§"/>
            </a:pPr>
            <a:r>
              <a:rPr lang="en-US" sz="3200" dirty="0"/>
              <a:t>The simplest is </a:t>
            </a:r>
            <a:r>
              <a:rPr lang="en-US" sz="3200" dirty="0" err="1"/>
              <a:t>mutex</a:t>
            </a:r>
            <a:r>
              <a:rPr lang="en-US" sz="3200" dirty="0"/>
              <a:t> lock</a:t>
            </a:r>
          </a:p>
          <a:p>
            <a:pPr lvl="1"/>
            <a:r>
              <a:rPr lang="en-US" sz="2800" dirty="0"/>
              <a:t>CS is protected using acquire() and release(), which are defined based on a Boolean variable that indicates if lock is available or not</a:t>
            </a:r>
          </a:p>
          <a:p>
            <a:pPr lvl="1"/>
            <a:r>
              <a:rPr lang="en-US" sz="2800" dirty="0"/>
              <a:t>Calls to acquire() and release() must be atomic, usually implemented via hardware atomic instructions</a:t>
            </a:r>
          </a:p>
          <a:p>
            <a:pPr lvl="1"/>
            <a:r>
              <a:rPr lang="en-US" sz="2800" dirty="0"/>
              <a:t>This solution requires busy waiting.  This lock is therefore called a spinlock.</a:t>
            </a:r>
          </a:p>
        </p:txBody>
      </p:sp>
    </p:spTree>
    <p:extLst>
      <p:ext uri="{BB962C8B-B14F-4D97-AF65-F5344CB8AC3E}">
        <p14:creationId xmlns:p14="http://schemas.microsoft.com/office/powerpoint/2010/main" val="2118190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459"/>
            <a:ext cx="10515600" cy="1325563"/>
          </a:xfrm>
        </p:spPr>
        <p:txBody>
          <a:bodyPr/>
          <a:lstStyle/>
          <a:p>
            <a:r>
              <a:rPr lang="en-US" dirty="0"/>
              <a:t>acquire() and release()</a:t>
            </a:r>
          </a:p>
        </p:txBody>
      </p:sp>
      <p:sp>
        <p:nvSpPr>
          <p:cNvPr id="3" name="Content Placeholder 2"/>
          <p:cNvSpPr>
            <a:spLocks noGrp="1"/>
          </p:cNvSpPr>
          <p:nvPr>
            <p:ph idx="1"/>
          </p:nvPr>
        </p:nvSpPr>
        <p:spPr>
          <a:xfrm>
            <a:off x="838200" y="1388453"/>
            <a:ext cx="10515600" cy="5199916"/>
          </a:xfrm>
        </p:spPr>
        <p:txBody>
          <a:bodyPr>
            <a:normAutofit fontScale="77500" lnSpcReduction="20000"/>
          </a:bodyPr>
          <a:lstStyle/>
          <a:p>
            <a:pPr marL="0" indent="0">
              <a:buNone/>
            </a:pPr>
            <a:r>
              <a:rPr lang="en-US" altLang="en-US" b="1" dirty="0">
                <a:latin typeface="Courier New" panose="02070309020205020404" pitchFamily="49" charset="0"/>
                <a:cs typeface="Courier New" panose="02070309020205020404" pitchFamily="49" charset="0"/>
              </a:rPr>
              <a:t>acquire()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(!available)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 /* busy wait */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available = false;;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release() {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available = true;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do { </a:t>
            </a:r>
          </a:p>
          <a:p>
            <a:pPr marL="0" indent="0">
              <a:buFont typeface="Monotype Sorts" pitchFamily="-84" charset="2"/>
              <a:buNone/>
            </a:pPr>
            <a:r>
              <a:rPr lang="en-US" altLang="en-US" b="1" i="1" dirty="0">
                <a:latin typeface="Courier New" panose="02070309020205020404" pitchFamily="49" charset="0"/>
                <a:cs typeface="Courier New" panose="02070309020205020404" pitchFamily="49" charset="0"/>
              </a:rPr>
              <a:t>   acquire lock</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&lt; critical section &gt;</a:t>
            </a:r>
          </a:p>
          <a:p>
            <a:pPr marL="0" indent="0">
              <a:buFont typeface="Monotype Sorts" pitchFamily="-84" charset="2"/>
              <a:buNone/>
            </a:pPr>
            <a:r>
              <a:rPr lang="en-US" altLang="en-US" b="1" i="1" dirty="0">
                <a:latin typeface="Courier New" panose="02070309020205020404" pitchFamily="49" charset="0"/>
                <a:cs typeface="Courier New" panose="02070309020205020404" pitchFamily="49" charset="0"/>
              </a:rPr>
              <a:t>   release lock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&lt; remainder section &gt;</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while (true);</a:t>
            </a:r>
            <a:endParaRPr lang="en-US" dirty="0"/>
          </a:p>
        </p:txBody>
      </p:sp>
    </p:spTree>
    <p:extLst>
      <p:ext uri="{BB962C8B-B14F-4D97-AF65-F5344CB8AC3E}">
        <p14:creationId xmlns:p14="http://schemas.microsoft.com/office/powerpoint/2010/main" val="3677277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48862"/>
          </a:xfrm>
        </p:spPr>
        <p:txBody>
          <a:bodyPr/>
          <a:lstStyle/>
          <a:p>
            <a:r>
              <a:rPr lang="en-US" dirty="0"/>
              <a:t>Semaphore – with busy waiting</a:t>
            </a:r>
          </a:p>
        </p:txBody>
      </p:sp>
      <p:sp>
        <p:nvSpPr>
          <p:cNvPr id="3" name="Content Placeholder 2"/>
          <p:cNvSpPr>
            <a:spLocks noGrp="1"/>
          </p:cNvSpPr>
          <p:nvPr>
            <p:ph idx="1"/>
          </p:nvPr>
        </p:nvSpPr>
        <p:spPr>
          <a:xfrm>
            <a:off x="838200" y="1148862"/>
            <a:ext cx="10515600" cy="5275383"/>
          </a:xfrm>
        </p:spPr>
        <p:txBody>
          <a:bodyPr>
            <a:normAutofit fontScale="92500" lnSpcReduction="10000"/>
          </a:bodyPr>
          <a:lstStyle/>
          <a:p>
            <a:pPr>
              <a:buFont typeface="Wingdings" panose="05000000000000000000" pitchFamily="2" charset="2"/>
              <a:buChar char="§"/>
            </a:pPr>
            <a:r>
              <a:rPr lang="en-US" dirty="0"/>
              <a:t>Synchronization tool that provides more sophisticated ways than </a:t>
            </a:r>
            <a:r>
              <a:rPr lang="en-US" dirty="0" err="1"/>
              <a:t>mutex</a:t>
            </a:r>
            <a:r>
              <a:rPr lang="en-US" dirty="0"/>
              <a:t> locks for processes to synchronize their activities</a:t>
            </a:r>
          </a:p>
          <a:p>
            <a:pPr>
              <a:buFont typeface="Wingdings" panose="05000000000000000000" pitchFamily="2" charset="2"/>
              <a:buChar char="§"/>
            </a:pPr>
            <a:r>
              <a:rPr lang="en-US" dirty="0"/>
              <a:t>Semaphore S</a:t>
            </a:r>
          </a:p>
          <a:p>
            <a:pPr>
              <a:buFont typeface="Wingdings" panose="05000000000000000000" pitchFamily="2" charset="2"/>
              <a:buChar char="§"/>
            </a:pPr>
            <a:r>
              <a:rPr lang="en-US" dirty="0"/>
              <a:t>Can only be accessed via two indivisible (atomic) operations wait() and signal() (originally called P() and V() )</a:t>
            </a:r>
          </a:p>
          <a:p>
            <a:pPr>
              <a:buFont typeface="Wingdings" panose="05000000000000000000" pitchFamily="2" charset="2"/>
              <a:buChar char="§"/>
            </a:pPr>
            <a:r>
              <a:rPr lang="en-US" dirty="0"/>
              <a:t>Definition involving busy waiting – S, an integer variable</a:t>
            </a:r>
          </a:p>
          <a:p>
            <a:pPr lvl="1">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buNone/>
            </a:pPr>
            <a:r>
              <a:rPr lang="en-US" altLang="en-US" b="1" dirty="0">
                <a:latin typeface="Courier New" panose="02070309020205020404" pitchFamily="49" charset="0"/>
                <a:sym typeface="Symbol" panose="05050102010706020507" pitchFamily="18" charset="2"/>
              </a:rPr>
              <a:t>    while (S &lt;= 0)</a:t>
            </a:r>
          </a:p>
          <a:p>
            <a:pPr lvl="1">
              <a:buNone/>
            </a:pPr>
            <a:r>
              <a:rPr lang="en-US" altLang="en-US" b="1" dirty="0">
                <a:latin typeface="Courier New" panose="02070309020205020404" pitchFamily="49" charset="0"/>
                <a:sym typeface="Symbol" panose="05050102010706020507" pitchFamily="18" charset="2"/>
              </a:rPr>
              <a:t>       ; // busy wait</a:t>
            </a:r>
          </a:p>
          <a:p>
            <a:pPr lvl="1">
              <a:buNone/>
            </a:pPr>
            <a:r>
              <a:rPr lang="en-US" altLang="en-US" b="1" dirty="0">
                <a:latin typeface="Courier New" panose="02070309020205020404" pitchFamily="49" charset="0"/>
                <a:sym typeface="Symbol" panose="05050102010706020507" pitchFamily="18" charset="2"/>
              </a:rPr>
              <a:t>    S--;</a:t>
            </a:r>
          </a:p>
          <a:p>
            <a:pPr lvl="1">
              <a:buNone/>
            </a:pPr>
            <a:r>
              <a:rPr lang="en-US" altLang="en-US" b="1" dirty="0">
                <a:latin typeface="Courier New" panose="02070309020205020404" pitchFamily="49" charset="0"/>
                <a:sym typeface="Symbol" panose="05050102010706020507" pitchFamily="18" charset="2"/>
              </a:rPr>
              <a:t>}</a:t>
            </a:r>
            <a:endParaRPr lang="en-US" altLang="en-US" b="1" dirty="0">
              <a:latin typeface="Courier New" panose="02070309020205020404" pitchFamily="49" charset="0"/>
              <a:cs typeface="Courier New" panose="02070309020205020404" pitchFamily="49" charset="0"/>
              <a:sym typeface="Symbol" panose="05050102010706020507" pitchFamily="18" charset="2"/>
            </a:endParaRPr>
          </a:p>
          <a:p>
            <a:pPr lvl="1">
              <a:buNone/>
            </a:pPr>
            <a:r>
              <a:rPr lang="en-US" altLang="en-US" b="1" dirty="0">
                <a:latin typeface="Courier New" panose="02070309020205020404" pitchFamily="49" charset="0"/>
                <a:sym typeface="Symbol" panose="05050102010706020507" pitchFamily="18" charset="2"/>
              </a:rPr>
              <a:t>signal(S) { </a:t>
            </a:r>
          </a:p>
          <a:p>
            <a:pPr lvl="1">
              <a:buNone/>
            </a:pPr>
            <a:r>
              <a:rPr lang="en-US" altLang="en-US" b="1" dirty="0">
                <a:latin typeface="Courier New" panose="02070309020205020404" pitchFamily="49" charset="0"/>
                <a:sym typeface="Symbol" panose="05050102010706020507" pitchFamily="18" charset="2"/>
              </a:rPr>
              <a:t>    S++;</a:t>
            </a:r>
          </a:p>
          <a:p>
            <a:pPr lvl="1">
              <a:buNone/>
            </a:pPr>
            <a:r>
              <a:rPr lang="en-US" altLang="en-US" b="1" dirty="0">
                <a:latin typeface="Courier New" panose="02070309020205020404" pitchFamily="49" charset="0"/>
                <a:sym typeface="Symbol" panose="05050102010706020507" pitchFamily="18" charset="2"/>
              </a:rPr>
              <a:t>}</a:t>
            </a:r>
          </a:p>
          <a:p>
            <a:endParaRPr lang="en-US" dirty="0"/>
          </a:p>
        </p:txBody>
      </p:sp>
    </p:spTree>
    <p:extLst>
      <p:ext uri="{BB962C8B-B14F-4D97-AF65-F5344CB8AC3E}">
        <p14:creationId xmlns:p14="http://schemas.microsoft.com/office/powerpoint/2010/main" val="1202402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Semaphore Usage</a:t>
            </a:r>
          </a:p>
        </p:txBody>
      </p:sp>
      <p:sp>
        <p:nvSpPr>
          <p:cNvPr id="3" name="Content Placeholder 2"/>
          <p:cNvSpPr>
            <a:spLocks noGrp="1"/>
          </p:cNvSpPr>
          <p:nvPr>
            <p:ph idx="1"/>
          </p:nvPr>
        </p:nvSpPr>
        <p:spPr>
          <a:xfrm>
            <a:off x="838200" y="1825624"/>
            <a:ext cx="10515600" cy="4856529"/>
          </a:xfrm>
        </p:spPr>
        <p:txBody>
          <a:bodyPr/>
          <a:lstStyle/>
          <a:p>
            <a:pPr>
              <a:buFont typeface="Wingdings" panose="05000000000000000000" pitchFamily="2" charset="2"/>
              <a:buChar char="§"/>
            </a:pPr>
            <a:r>
              <a:rPr lang="en-US" sz="3000" dirty="0"/>
              <a:t>Can solve various synchronization problems</a:t>
            </a:r>
          </a:p>
          <a:p>
            <a:pPr>
              <a:buFont typeface="Wingdings" panose="05000000000000000000" pitchFamily="2" charset="2"/>
              <a:buChar char="§"/>
            </a:pPr>
            <a:r>
              <a:rPr lang="en-US" sz="3000" dirty="0"/>
              <a:t>For example, consider processes </a:t>
            </a:r>
            <a:r>
              <a:rPr lang="en-US" altLang="en-US" sz="3000" b="1" i="1" dirty="0">
                <a:sym typeface="MT Extra" panose="05050102010205020202" pitchFamily="18" charset="2"/>
              </a:rPr>
              <a:t>P</a:t>
            </a:r>
            <a:r>
              <a:rPr lang="en-US" altLang="en-US" sz="3000" b="1" i="1" baseline="-25000" dirty="0">
                <a:sym typeface="MT Extra" panose="05050102010205020202" pitchFamily="18" charset="2"/>
              </a:rPr>
              <a:t>1</a:t>
            </a:r>
            <a:r>
              <a:rPr lang="en-US" altLang="en-US" sz="3000" b="1" i="1" dirty="0">
                <a:sym typeface="MT Extra" panose="05050102010205020202" pitchFamily="18" charset="2"/>
              </a:rPr>
              <a:t> </a:t>
            </a:r>
            <a:r>
              <a:rPr lang="en-US" altLang="en-US" sz="3000" dirty="0">
                <a:sym typeface="MT Extra" panose="05050102010205020202" pitchFamily="18" charset="2"/>
              </a:rPr>
              <a:t> and </a:t>
            </a:r>
            <a:r>
              <a:rPr lang="en-US" altLang="en-US" sz="3000" b="1" i="1" dirty="0">
                <a:sym typeface="MT Extra" panose="05050102010205020202" pitchFamily="18" charset="2"/>
              </a:rPr>
              <a:t>P</a:t>
            </a:r>
            <a:r>
              <a:rPr lang="en-US" altLang="en-US" sz="3000" b="1" i="1" baseline="-25000" dirty="0">
                <a:sym typeface="MT Extra" panose="05050102010205020202" pitchFamily="18" charset="2"/>
              </a:rPr>
              <a:t>2</a:t>
            </a:r>
            <a:r>
              <a:rPr lang="en-US" altLang="en-US" sz="3000" dirty="0">
                <a:sym typeface="MT Extra" panose="05050102010205020202" pitchFamily="18" charset="2"/>
              </a:rPr>
              <a:t> that require</a:t>
            </a:r>
            <a:r>
              <a:rPr lang="en-US" altLang="en-US" sz="3000" b="1" i="1" dirty="0">
                <a:sym typeface="MT Extra" panose="05050102010205020202" pitchFamily="18" charset="2"/>
              </a:rPr>
              <a:t> S</a:t>
            </a:r>
            <a:r>
              <a:rPr lang="en-US" altLang="en-US" sz="3000" b="1" i="1" baseline="-25000" dirty="0">
                <a:sym typeface="MT Extra" panose="05050102010205020202" pitchFamily="18" charset="2"/>
              </a:rPr>
              <a:t>1</a:t>
            </a:r>
            <a:r>
              <a:rPr lang="en-US" altLang="en-US" sz="3000" b="1" i="1" dirty="0">
                <a:sym typeface="MT Extra" panose="05050102010205020202" pitchFamily="18" charset="2"/>
              </a:rPr>
              <a:t> </a:t>
            </a:r>
            <a:r>
              <a:rPr lang="en-US" altLang="en-US" sz="3000" dirty="0">
                <a:sym typeface="MT Extra" panose="05050102010205020202" pitchFamily="18" charset="2"/>
              </a:rPr>
              <a:t>to happen before </a:t>
            </a:r>
            <a:r>
              <a:rPr lang="en-US" altLang="en-US" sz="3000" b="1" i="1" dirty="0">
                <a:sym typeface="MT Extra" panose="05050102010205020202" pitchFamily="18" charset="2"/>
              </a:rPr>
              <a:t>S</a:t>
            </a:r>
            <a:r>
              <a:rPr lang="en-US" altLang="en-US" sz="3000" b="1" i="1" baseline="-25000" dirty="0">
                <a:sym typeface="MT Extra" panose="05050102010205020202" pitchFamily="18" charset="2"/>
              </a:rPr>
              <a:t>2</a:t>
            </a:r>
            <a:r>
              <a:rPr lang="en-US" altLang="en-US" sz="3000" b="1" i="1" dirty="0">
                <a:sym typeface="MT Extra" panose="05050102010205020202" pitchFamily="18" charset="2"/>
              </a:rPr>
              <a:t> :</a:t>
            </a:r>
          </a:p>
          <a:p>
            <a:pPr lvl="1"/>
            <a:r>
              <a:rPr lang="en-US" sz="2800" dirty="0"/>
              <a:t>Create a semaphore “synch” initialized to 0</a:t>
            </a:r>
          </a:p>
          <a:p>
            <a:pPr lvl="1">
              <a:buFont typeface="Monotype Sorts" pitchFamily="-84" charset="2"/>
              <a:buNone/>
              <a:tabLst>
                <a:tab pos="2001838" algn="ctr"/>
                <a:tab pos="4513263" algn="ctr"/>
              </a:tabLst>
            </a:pP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P1:</a:t>
            </a:r>
          </a:p>
          <a:p>
            <a:pPr lvl="1">
              <a:buFont typeface="Monotype Sorts" pitchFamily="-84" charset="2"/>
              <a:buNone/>
              <a:tabLst>
                <a:tab pos="2001838" algn="ctr"/>
                <a:tab pos="4513263" algn="ctr"/>
              </a:tabLst>
            </a:pP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S</a:t>
            </a:r>
            <a:r>
              <a:rPr lang="en-US" altLang="en-US" sz="2600" b="1" baseline="-25000" dirty="0">
                <a:solidFill>
                  <a:srgbClr val="000000"/>
                </a:solidFill>
                <a:latin typeface="Courier New" panose="02070309020205020404" pitchFamily="49" charset="0"/>
                <a:cs typeface="Courier New" panose="02070309020205020404" pitchFamily="49" charset="0"/>
                <a:sym typeface="MT Extra" panose="05050102010205020202" pitchFamily="18" charset="2"/>
              </a:rPr>
              <a:t>1</a:t>
            </a: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a:t>
            </a:r>
          </a:p>
          <a:p>
            <a:pPr lvl="1">
              <a:buFont typeface="Monotype Sorts" pitchFamily="-84" charset="2"/>
              <a:buNone/>
              <a:tabLst>
                <a:tab pos="2001838" algn="ctr"/>
                <a:tab pos="4513263" algn="ctr"/>
              </a:tabLst>
            </a:pP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signal(synch);</a:t>
            </a:r>
          </a:p>
          <a:p>
            <a:pPr lvl="1">
              <a:buFont typeface="Monotype Sorts" pitchFamily="-84" charset="2"/>
              <a:buNone/>
              <a:tabLst>
                <a:tab pos="2001838" algn="ctr"/>
                <a:tab pos="4513263" algn="ctr"/>
              </a:tabLst>
            </a:pP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P2:</a:t>
            </a:r>
          </a:p>
          <a:p>
            <a:pPr lvl="1">
              <a:buFont typeface="Monotype Sorts" pitchFamily="-84" charset="2"/>
              <a:buNone/>
              <a:tabLst>
                <a:tab pos="2001838" algn="ctr"/>
                <a:tab pos="4513263" algn="ctr"/>
              </a:tabLst>
            </a:pP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wait(synch)</a:t>
            </a:r>
            <a:r>
              <a:rPr lang="en-US" altLang="en-US" sz="2600" dirty="0">
                <a:solidFill>
                  <a:srgbClr val="0000FF"/>
                </a:solidFill>
                <a:sym typeface="MT Extra" panose="05050102010205020202" pitchFamily="18" charset="2"/>
              </a:rPr>
              <a:t>;</a:t>
            </a:r>
            <a:endPar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endParaRPr>
          </a:p>
          <a:p>
            <a:pPr lvl="1">
              <a:buFont typeface="Monotype Sorts" pitchFamily="-84" charset="2"/>
              <a:buNone/>
              <a:tabLst>
                <a:tab pos="2001838" algn="ctr"/>
                <a:tab pos="4513263" algn="ctr"/>
              </a:tabLst>
            </a:pP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   S</a:t>
            </a:r>
            <a:r>
              <a:rPr lang="en-US" altLang="en-US" sz="2600" b="1" baseline="-25000" dirty="0">
                <a:solidFill>
                  <a:srgbClr val="000000"/>
                </a:solidFill>
                <a:latin typeface="Courier New" panose="02070309020205020404" pitchFamily="49" charset="0"/>
                <a:cs typeface="Courier New" panose="02070309020205020404" pitchFamily="49" charset="0"/>
                <a:sym typeface="MT Extra" panose="05050102010205020202" pitchFamily="18" charset="2"/>
              </a:rPr>
              <a:t>2</a:t>
            </a:r>
            <a:r>
              <a:rPr lang="en-US" altLang="en-US" sz="2600" b="1" dirty="0">
                <a:solidFill>
                  <a:srgbClr val="000000"/>
                </a:solidFill>
                <a:latin typeface="Courier New" panose="02070309020205020404" pitchFamily="49" charset="0"/>
                <a:cs typeface="Courier New" panose="02070309020205020404" pitchFamily="49" charset="0"/>
                <a:sym typeface="MT Extra" panose="05050102010205020202" pitchFamily="18" charset="2"/>
              </a:rPr>
              <a:t>;</a:t>
            </a:r>
            <a:endParaRPr lang="en-US" altLang="en-US" sz="2600" dirty="0">
              <a:sym typeface="MT Extra" panose="05050102010205020202" pitchFamily="18" charset="2"/>
            </a:endParaRPr>
          </a:p>
          <a:p>
            <a:pPr marL="0" indent="0">
              <a:buNone/>
            </a:pPr>
            <a:endParaRPr lang="en-US" dirty="0"/>
          </a:p>
        </p:txBody>
      </p:sp>
    </p:spTree>
    <p:extLst>
      <p:ext uri="{BB962C8B-B14F-4D97-AF65-F5344CB8AC3E}">
        <p14:creationId xmlns:p14="http://schemas.microsoft.com/office/powerpoint/2010/main" val="1630761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Semaphore Implementation</a:t>
            </a:r>
          </a:p>
        </p:txBody>
      </p:sp>
      <p:sp>
        <p:nvSpPr>
          <p:cNvPr id="3" name="Content Placeholder 2"/>
          <p:cNvSpPr>
            <a:spLocks noGrp="1"/>
          </p:cNvSpPr>
          <p:nvPr>
            <p:ph idx="1"/>
          </p:nvPr>
        </p:nvSpPr>
        <p:spPr>
          <a:xfrm>
            <a:off x="838200" y="1529130"/>
            <a:ext cx="10515600" cy="4895116"/>
          </a:xfrm>
        </p:spPr>
        <p:txBody>
          <a:bodyPr>
            <a:normAutofit/>
          </a:bodyPr>
          <a:lstStyle/>
          <a:p>
            <a:pPr>
              <a:buFont typeface="Wingdings" panose="05000000000000000000" pitchFamily="2" charset="2"/>
              <a:buChar char="§"/>
            </a:pPr>
            <a:r>
              <a:rPr lang="en-US" sz="3200" dirty="0"/>
              <a:t>Must guarantee that no two processes can execute wait() and signal() on the same semaphore at the same time</a:t>
            </a:r>
          </a:p>
          <a:p>
            <a:pPr>
              <a:buFont typeface="Wingdings" panose="05000000000000000000" pitchFamily="2" charset="2"/>
              <a:buChar char="§"/>
            </a:pPr>
            <a:r>
              <a:rPr lang="en-US" sz="3200" dirty="0"/>
              <a:t>Thus, implementation of these operations becomes a critical section problem where the wait and signal code are critical sections</a:t>
            </a:r>
          </a:p>
          <a:p>
            <a:pPr>
              <a:buFont typeface="Wingdings" panose="05000000000000000000" pitchFamily="2" charset="2"/>
              <a:buChar char="§"/>
            </a:pPr>
            <a:r>
              <a:rPr lang="en-US" sz="3200" dirty="0"/>
              <a:t>When a process is executing a long CS, other processes block themselves out of their CS in busy waiting occupying CPU non-productively.  It is therefore desirable to have an implementation with no busy waiting.</a:t>
            </a:r>
          </a:p>
        </p:txBody>
      </p:sp>
    </p:spTree>
    <p:extLst>
      <p:ext uri="{BB962C8B-B14F-4D97-AF65-F5344CB8AC3E}">
        <p14:creationId xmlns:p14="http://schemas.microsoft.com/office/powerpoint/2010/main" val="2711690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Semaphore Implementation with No Busy Waiting</a:t>
            </a:r>
          </a:p>
        </p:txBody>
      </p:sp>
      <p:sp>
        <p:nvSpPr>
          <p:cNvPr id="3" name="Content Placeholder 2"/>
          <p:cNvSpPr>
            <a:spLocks noGrp="1"/>
          </p:cNvSpPr>
          <p:nvPr>
            <p:ph idx="1"/>
          </p:nvPr>
        </p:nvSpPr>
        <p:spPr>
          <a:xfrm>
            <a:off x="838200" y="1552576"/>
            <a:ext cx="10515600" cy="4351338"/>
          </a:xfrm>
        </p:spPr>
        <p:txBody>
          <a:bodyPr>
            <a:normAutofit lnSpcReduction="10000"/>
          </a:bodyPr>
          <a:lstStyle/>
          <a:p>
            <a:pPr>
              <a:buFont typeface="Wingdings" panose="05000000000000000000" pitchFamily="2" charset="2"/>
              <a:buChar char="§"/>
            </a:pPr>
            <a:r>
              <a:rPr lang="en-US" dirty="0"/>
              <a:t>Each semaphore consists of an integer and a queue, defined as</a:t>
            </a:r>
          </a:p>
          <a:p>
            <a:pPr marL="0" indent="0">
              <a:buNone/>
            </a:pPr>
            <a:r>
              <a:rPr lang="en-US" altLang="en-US" b="1" dirty="0" err="1">
                <a:latin typeface="Courier New" panose="02070309020205020404" pitchFamily="49" charset="0"/>
                <a:cs typeface="Courier New" panose="02070309020205020404" pitchFamily="49" charset="0"/>
              </a:rPr>
              <a:t>typedef</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struct</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int</a:t>
            </a:r>
            <a:r>
              <a:rPr lang="en-US" altLang="en-US" b="1" dirty="0">
                <a:latin typeface="Courier New" panose="02070309020205020404" pitchFamily="49" charset="0"/>
                <a:cs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struct</a:t>
            </a:r>
            <a:r>
              <a:rPr lang="en-US" altLang="en-US" b="1" dirty="0">
                <a:latin typeface="Courier New" panose="02070309020205020404" pitchFamily="49" charset="0"/>
                <a:cs typeface="Courier New" panose="02070309020205020404" pitchFamily="49" charset="0"/>
              </a:rPr>
              <a:t> process *list;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semaphore; </a:t>
            </a:r>
          </a:p>
          <a:p>
            <a:pPr>
              <a:buFont typeface="Wingdings" panose="05000000000000000000" pitchFamily="2" charset="2"/>
              <a:buChar char="§"/>
            </a:pPr>
            <a:r>
              <a:rPr lang="en-US" dirty="0"/>
              <a:t>To eliminate busy waiting, the following two operations are needed:</a:t>
            </a:r>
          </a:p>
          <a:p>
            <a:pPr lvl="1"/>
            <a:r>
              <a:rPr lang="en-US" dirty="0"/>
              <a:t>Block – place the process invoking the operation on an appropriate waiting queue</a:t>
            </a:r>
          </a:p>
          <a:p>
            <a:pPr lvl="1"/>
            <a:r>
              <a:rPr lang="en-US" dirty="0"/>
              <a:t>Wakeup – remove one of the processes in the waiting queue and place it in the ready queue</a:t>
            </a:r>
          </a:p>
          <a:p>
            <a:endParaRPr lang="en-US" dirty="0"/>
          </a:p>
        </p:txBody>
      </p:sp>
    </p:spTree>
    <p:extLst>
      <p:ext uri="{BB962C8B-B14F-4D97-AF65-F5344CB8AC3E}">
        <p14:creationId xmlns:p14="http://schemas.microsoft.com/office/powerpoint/2010/main" val="2843377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4000" dirty="0"/>
              <a:t>Semaphore Implementation with No Busy Waiting</a:t>
            </a:r>
          </a:p>
        </p:txBody>
      </p:sp>
      <p:sp>
        <p:nvSpPr>
          <p:cNvPr id="3" name="Content Placeholder 2"/>
          <p:cNvSpPr>
            <a:spLocks noGrp="1"/>
          </p:cNvSpPr>
          <p:nvPr>
            <p:ph idx="1"/>
          </p:nvPr>
        </p:nvSpPr>
        <p:spPr>
          <a:xfrm>
            <a:off x="838200" y="1314694"/>
            <a:ext cx="10515600" cy="5543305"/>
          </a:xfrm>
        </p:spPr>
        <p:txBody>
          <a:bodyPr>
            <a:normAutofit fontScale="85000" lnSpcReduction="20000"/>
          </a:bodyPr>
          <a:lstStyle/>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wait(semaphore *S) {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S-&gt;value--;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if (S-&gt;value &lt; 0)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add this process to S-&gt;list;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block();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a:t>
            </a:r>
          </a:p>
          <a:p>
            <a:pPr marL="0" indent="0">
              <a:buFont typeface="Monotype Sorts" pitchFamily="-84" charset="2"/>
              <a:buNone/>
            </a:pPr>
            <a:endParaRPr lang="en-US" altLang="en-US" b="1" dirty="0">
              <a:latin typeface="Courier New" panose="02070309020205020404" pitchFamily="49" charset="0"/>
              <a:cs typeface="Courier New" panose="02070309020205020404" pitchFamily="49" charset="0"/>
            </a:endParaRP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signal(semaphore *S) {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S-&gt;value++;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if (S-&gt;value &lt;= 0)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remove a process P from S-&gt;list;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wakeup(P);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 </a:t>
            </a:r>
          </a:p>
          <a:p>
            <a:pPr marL="0" indent="0">
              <a:buFont typeface="Monotype Sorts" pitchFamily="-84" charset="2"/>
              <a:buNone/>
            </a:pPr>
            <a:r>
              <a:rPr lang="en-US" altLang="en-US" b="1" dirty="0">
                <a:latin typeface="Courier New" panose="02070309020205020404" pitchFamily="49" charset="0"/>
                <a:cs typeface="Courier New" panose="02070309020205020404" pitchFamily="49" charset="0"/>
              </a:rPr>
              <a:t>} </a:t>
            </a:r>
          </a:p>
          <a:p>
            <a:pPr marL="0" indent="0">
              <a:buNone/>
            </a:pPr>
            <a:endParaRPr lang="en-US" dirty="0"/>
          </a:p>
        </p:txBody>
      </p:sp>
    </p:spTree>
    <p:extLst>
      <p:ext uri="{BB962C8B-B14F-4D97-AF65-F5344CB8AC3E}">
        <p14:creationId xmlns:p14="http://schemas.microsoft.com/office/powerpoint/2010/main" val="804136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Problems of Synchronization</a:t>
            </a:r>
          </a:p>
        </p:txBody>
      </p:sp>
      <p:sp>
        <p:nvSpPr>
          <p:cNvPr id="3" name="Content Placeholder 2"/>
          <p:cNvSpPr>
            <a:spLocks noGrp="1"/>
          </p:cNvSpPr>
          <p:nvPr>
            <p:ph idx="1"/>
          </p:nvPr>
        </p:nvSpPr>
        <p:spPr>
          <a:xfrm>
            <a:off x="838200" y="1974607"/>
            <a:ext cx="10515600" cy="4351338"/>
          </a:xfrm>
        </p:spPr>
        <p:txBody>
          <a:bodyPr/>
          <a:lstStyle/>
          <a:p>
            <a:pPr>
              <a:buFont typeface="Wingdings" panose="05000000000000000000" pitchFamily="2" charset="2"/>
              <a:buChar char="§"/>
            </a:pPr>
            <a:r>
              <a:rPr lang="en-US" sz="3200" dirty="0"/>
              <a:t>Problems that have different synchronization requirements:</a:t>
            </a:r>
          </a:p>
          <a:p>
            <a:pPr lvl="1"/>
            <a:r>
              <a:rPr lang="en-US" sz="2800" dirty="0"/>
              <a:t>Bounded-buffer problem</a:t>
            </a:r>
          </a:p>
          <a:p>
            <a:pPr lvl="1"/>
            <a:r>
              <a:rPr lang="en-US" sz="2800" dirty="0"/>
              <a:t>Readers and writers problem</a:t>
            </a:r>
          </a:p>
          <a:p>
            <a:pPr lvl="1"/>
            <a:r>
              <a:rPr lang="en-US" sz="2800" dirty="0"/>
              <a:t>Dining philosophers problem</a:t>
            </a:r>
          </a:p>
          <a:p>
            <a:endParaRPr lang="en-US" dirty="0"/>
          </a:p>
        </p:txBody>
      </p:sp>
    </p:spTree>
    <p:extLst>
      <p:ext uri="{BB962C8B-B14F-4D97-AF65-F5344CB8AC3E}">
        <p14:creationId xmlns:p14="http://schemas.microsoft.com/office/powerpoint/2010/main" val="1226890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Bounded-Buffer Problem</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A buffer with n slots, each can hold one data item</a:t>
            </a:r>
          </a:p>
          <a:p>
            <a:pPr>
              <a:buFont typeface="Wingdings" panose="05000000000000000000" pitchFamily="2" charset="2"/>
              <a:buChar char="§"/>
            </a:pPr>
            <a:r>
              <a:rPr lang="en-US" sz="3200" dirty="0"/>
              <a:t>Semaphore solution:</a:t>
            </a:r>
          </a:p>
          <a:p>
            <a:pPr lvl="1"/>
            <a:r>
              <a:rPr lang="en-US" sz="2800" dirty="0"/>
              <a:t>Semaphore </a:t>
            </a:r>
            <a:r>
              <a:rPr lang="en-US" sz="2800" b="1" dirty="0" err="1"/>
              <a:t>mutex</a:t>
            </a:r>
            <a:r>
              <a:rPr lang="en-US" sz="2800" dirty="0"/>
              <a:t> initialized to 1</a:t>
            </a:r>
          </a:p>
          <a:p>
            <a:pPr lvl="2"/>
            <a:r>
              <a:rPr lang="en-US" sz="1800" dirty="0"/>
              <a:t>The </a:t>
            </a:r>
            <a:r>
              <a:rPr lang="en-US" sz="1800" dirty="0" err="1"/>
              <a:t>mutex</a:t>
            </a:r>
            <a:r>
              <a:rPr lang="en-US" sz="1800" dirty="0"/>
              <a:t> semaphore provides mutual exclusion for access to the buffer pool and initialized to the value 1.</a:t>
            </a:r>
          </a:p>
          <a:p>
            <a:pPr lvl="1"/>
            <a:r>
              <a:rPr lang="en-US" sz="2800" dirty="0"/>
              <a:t>Semaphore </a:t>
            </a:r>
            <a:r>
              <a:rPr lang="en-US" sz="2800" b="1" dirty="0"/>
              <a:t>full</a:t>
            </a:r>
            <a:r>
              <a:rPr lang="en-US" sz="2800" dirty="0"/>
              <a:t> initialized to 0</a:t>
            </a:r>
          </a:p>
          <a:p>
            <a:pPr lvl="1"/>
            <a:r>
              <a:rPr lang="en-US" sz="2800" dirty="0"/>
              <a:t>Semaphore </a:t>
            </a:r>
            <a:r>
              <a:rPr lang="en-US" sz="2800" b="1" dirty="0"/>
              <a:t>empty</a:t>
            </a:r>
            <a:r>
              <a:rPr lang="en-US" sz="2800" dirty="0"/>
              <a:t> initialized to n</a:t>
            </a:r>
          </a:p>
          <a:p>
            <a:pPr lvl="2"/>
            <a:r>
              <a:rPr lang="en-US" sz="2400" dirty="0"/>
              <a:t>Empty and full semaphores counts the number of empty and full buffers.</a:t>
            </a:r>
          </a:p>
        </p:txBody>
      </p:sp>
    </p:spTree>
    <p:extLst>
      <p:ext uri="{BB962C8B-B14F-4D97-AF65-F5344CB8AC3E}">
        <p14:creationId xmlns:p14="http://schemas.microsoft.com/office/powerpoint/2010/main" val="2234815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6492" y="0"/>
            <a:ext cx="11043138" cy="1125415"/>
          </a:xfrm>
        </p:spPr>
        <p:txBody>
          <a:bodyPr/>
          <a:lstStyle/>
          <a:p>
            <a:r>
              <a:rPr lang="en-US"/>
              <a:t>Bounded-Buffer Problem - Semaphore </a:t>
            </a:r>
            <a:r>
              <a:rPr lang="en-US" dirty="0"/>
              <a:t>Solution</a:t>
            </a:r>
          </a:p>
        </p:txBody>
      </p:sp>
      <p:sp>
        <p:nvSpPr>
          <p:cNvPr id="3" name="Content Placeholder 2"/>
          <p:cNvSpPr>
            <a:spLocks noGrp="1"/>
          </p:cNvSpPr>
          <p:nvPr>
            <p:ph sz="half" idx="1"/>
          </p:nvPr>
        </p:nvSpPr>
        <p:spPr>
          <a:xfrm>
            <a:off x="656492" y="1125414"/>
            <a:ext cx="5363308" cy="5732585"/>
          </a:xfrm>
        </p:spPr>
        <p:txBody>
          <a:bodyPr>
            <a:normAutofit fontScale="92500" lnSpcReduction="20000"/>
          </a:bodyPr>
          <a:lstStyle/>
          <a:p>
            <a:r>
              <a:rPr lang="en-US" dirty="0"/>
              <a:t>Producer process</a:t>
            </a:r>
          </a:p>
          <a:p>
            <a:pPr>
              <a:buFont typeface="Monotype Sorts" pitchFamily="-84" charset="2"/>
              <a:buNone/>
            </a:pPr>
            <a:r>
              <a:rPr lang="en-US" altLang="en-US" sz="2400" b="1"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do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 produce an item in </a:t>
            </a:r>
            <a:r>
              <a:rPr lang="en-US" altLang="en-US" b="1" dirty="0" err="1">
                <a:latin typeface="Courier New" panose="02070309020205020404" pitchFamily="49" charset="0"/>
                <a:cs typeface="Courier New" panose="02070309020205020404" pitchFamily="49" charset="0"/>
              </a:rPr>
              <a:t>next_produced</a:t>
            </a:r>
            <a:r>
              <a:rPr lang="en-US" altLang="en-US" b="1" dirty="0">
                <a:latin typeface="Courier New" panose="02070309020205020404" pitchFamily="49" charset="0"/>
                <a:cs typeface="Courier New" panose="02070309020205020404" pitchFamily="49" charset="0"/>
              </a:rPr>
              <a:t>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wait(empty);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wait(</a:t>
            </a:r>
            <a:r>
              <a:rPr lang="en-US" altLang="en-US" b="1" dirty="0" err="1">
                <a:latin typeface="Courier New" panose="02070309020205020404" pitchFamily="49" charset="0"/>
                <a:cs typeface="Courier New" panose="02070309020205020404" pitchFamily="49" charset="0"/>
              </a:rPr>
              <a:t>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 add </a:t>
            </a:r>
            <a:r>
              <a:rPr lang="en-US" altLang="en-US" b="1" dirty="0" err="1">
                <a:latin typeface="Courier New" panose="02070309020205020404" pitchFamily="49" charset="0"/>
                <a:cs typeface="Courier New" panose="02070309020205020404" pitchFamily="49" charset="0"/>
              </a:rPr>
              <a:t>next_produced</a:t>
            </a:r>
            <a:r>
              <a:rPr lang="en-US" altLang="en-US" b="1" dirty="0">
                <a:latin typeface="Courier New" panose="02070309020205020404" pitchFamily="49" charset="0"/>
                <a:cs typeface="Courier New" panose="02070309020205020404" pitchFamily="49" charset="0"/>
              </a:rPr>
              <a:t> to the buffer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signal(</a:t>
            </a:r>
            <a:r>
              <a:rPr lang="en-US" altLang="en-US" b="1" dirty="0" err="1">
                <a:latin typeface="Courier New" panose="02070309020205020404" pitchFamily="49" charset="0"/>
                <a:cs typeface="Courier New" panose="02070309020205020404" pitchFamily="49" charset="0"/>
              </a:rPr>
              <a:t>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signal(full);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while (true);</a:t>
            </a:r>
            <a:endParaRPr lang="en-US" dirty="0"/>
          </a:p>
        </p:txBody>
      </p:sp>
      <p:sp>
        <p:nvSpPr>
          <p:cNvPr id="4" name="Content Placeholder 3"/>
          <p:cNvSpPr>
            <a:spLocks noGrp="1"/>
          </p:cNvSpPr>
          <p:nvPr>
            <p:ph sz="half" idx="2"/>
          </p:nvPr>
        </p:nvSpPr>
        <p:spPr>
          <a:xfrm>
            <a:off x="6201507" y="1125413"/>
            <a:ext cx="5498123" cy="5732585"/>
          </a:xfrm>
        </p:spPr>
        <p:txBody>
          <a:bodyPr>
            <a:normAutofit fontScale="92500" lnSpcReduction="20000"/>
          </a:bodyPr>
          <a:lstStyle/>
          <a:p>
            <a:r>
              <a:rPr lang="en-US" dirty="0"/>
              <a:t>Consumer process</a:t>
            </a:r>
          </a:p>
          <a:p>
            <a:pPr marL="0" indent="0">
              <a:buFont typeface="Monotype Sorts" pitchFamily="-84" charset="2"/>
              <a:buNone/>
              <a:defRPr/>
            </a:pPr>
            <a:r>
              <a:rPr lang="en-US" sz="2400" b="1" dirty="0">
                <a:latin typeface="Courier New"/>
                <a:ea typeface="ＭＳ Ｐゴシック" pitchFamily="-84" charset="-128"/>
                <a:cs typeface="Courier New"/>
              </a:rPr>
              <a:t>d</a:t>
            </a:r>
            <a:r>
              <a:rPr lang="en-US" b="1" dirty="0">
                <a:latin typeface="Courier New"/>
                <a:ea typeface="ＭＳ Ｐゴシック" pitchFamily="-84" charset="-128"/>
                <a:cs typeface="Courier New"/>
              </a:rPr>
              <a:t>o { </a:t>
            </a:r>
          </a:p>
          <a:p>
            <a:pPr marL="0" indent="0">
              <a:buFont typeface="Monotype Sorts" pitchFamily="-84" charset="2"/>
              <a:buNone/>
              <a:defRPr/>
            </a:pPr>
            <a:r>
              <a:rPr lang="en-US" b="1" dirty="0">
                <a:latin typeface="Courier New"/>
                <a:ea typeface="ＭＳ Ｐゴシック" pitchFamily="-84" charset="-128"/>
                <a:cs typeface="Courier New"/>
              </a:rPr>
              <a:t>    wait(full); </a:t>
            </a:r>
          </a:p>
          <a:p>
            <a:pPr marL="0" indent="0">
              <a:buFont typeface="Monotype Sorts" pitchFamily="-84" charset="2"/>
              <a:buNone/>
              <a:defRPr/>
            </a:pPr>
            <a:r>
              <a:rPr lang="en-US" b="1" dirty="0">
                <a:latin typeface="Courier New"/>
                <a:ea typeface="ＭＳ Ｐゴシック" pitchFamily="-84" charset="-128"/>
                <a:cs typeface="Courier New"/>
              </a:rPr>
              <a:t>    wait(</a:t>
            </a:r>
            <a:r>
              <a:rPr lang="en-US" b="1" dirty="0" err="1">
                <a:latin typeface="Courier New"/>
                <a:ea typeface="ＭＳ Ｐゴシック" pitchFamily="-84" charset="-128"/>
                <a:cs typeface="Courier New"/>
              </a:rPr>
              <a:t>mutex</a:t>
            </a:r>
            <a:r>
              <a:rPr lang="en-US" b="1" dirty="0">
                <a:latin typeface="Courier New"/>
                <a:ea typeface="ＭＳ Ｐゴシック" pitchFamily="-84" charset="-128"/>
                <a:cs typeface="Courier New"/>
              </a:rPr>
              <a:t>); </a:t>
            </a:r>
          </a:p>
          <a:p>
            <a:pPr marL="0" indent="0">
              <a:buFont typeface="Monotype Sorts" pitchFamily="-84" charset="2"/>
              <a:buNone/>
              <a:defRPr/>
            </a:pPr>
            <a:r>
              <a:rPr lang="en-US" b="1" dirty="0">
                <a:latin typeface="Courier New"/>
                <a:ea typeface="ＭＳ Ｐゴシック" pitchFamily="-84" charset="-128"/>
                <a:cs typeface="Courier New"/>
              </a:rPr>
              <a:t>     ...</a:t>
            </a:r>
            <a:br>
              <a:rPr lang="en-US" b="1" dirty="0">
                <a:latin typeface="Courier New"/>
                <a:ea typeface="ＭＳ Ｐゴシック" pitchFamily="-84" charset="-128"/>
                <a:cs typeface="Courier New"/>
              </a:rPr>
            </a:br>
            <a:r>
              <a:rPr lang="en-US" b="1" dirty="0">
                <a:latin typeface="Courier New"/>
                <a:ea typeface="ＭＳ Ｐゴシック" pitchFamily="-84" charset="-128"/>
                <a:cs typeface="Courier New"/>
              </a:rPr>
              <a:t>    /* remove an item from buffer to </a:t>
            </a:r>
            <a:r>
              <a:rPr lang="en-US" b="1" dirty="0" err="1">
                <a:latin typeface="Courier New"/>
                <a:ea typeface="ＭＳ Ｐゴシック" pitchFamily="-84" charset="-128"/>
                <a:cs typeface="Courier New"/>
              </a:rPr>
              <a:t>next_consumed</a:t>
            </a:r>
            <a:r>
              <a:rPr lang="en-US" b="1" dirty="0">
                <a:latin typeface="Courier New"/>
                <a:ea typeface="ＭＳ Ｐゴシック" pitchFamily="-84" charset="-128"/>
                <a:cs typeface="Courier New"/>
              </a:rPr>
              <a:t> */ </a:t>
            </a:r>
          </a:p>
          <a:p>
            <a:pPr marL="0" indent="0">
              <a:buFont typeface="Monotype Sorts" pitchFamily="-84" charset="2"/>
              <a:buNone/>
              <a:defRPr/>
            </a:pPr>
            <a:r>
              <a:rPr lang="en-US" b="1" dirty="0">
                <a:latin typeface="Courier New"/>
                <a:ea typeface="ＭＳ Ｐゴシック" pitchFamily="-84" charset="-128"/>
                <a:cs typeface="Courier New"/>
              </a:rPr>
              <a:t>     ... </a:t>
            </a:r>
          </a:p>
          <a:p>
            <a:pPr marL="0" indent="0">
              <a:buFont typeface="Monotype Sorts" pitchFamily="-84" charset="2"/>
              <a:buNone/>
              <a:defRPr/>
            </a:pPr>
            <a:r>
              <a:rPr lang="en-US" b="1" dirty="0">
                <a:latin typeface="Courier New"/>
                <a:ea typeface="ＭＳ Ｐゴシック" pitchFamily="-84" charset="-128"/>
                <a:cs typeface="Courier New"/>
              </a:rPr>
              <a:t>    signal(</a:t>
            </a:r>
            <a:r>
              <a:rPr lang="en-US" b="1" dirty="0" err="1">
                <a:latin typeface="Courier New"/>
                <a:ea typeface="ＭＳ Ｐゴシック" pitchFamily="-84" charset="-128"/>
                <a:cs typeface="Courier New"/>
              </a:rPr>
              <a:t>mutex</a:t>
            </a:r>
            <a:r>
              <a:rPr lang="en-US" b="1" dirty="0">
                <a:latin typeface="Courier New"/>
                <a:ea typeface="ＭＳ Ｐゴシック" pitchFamily="-84" charset="-128"/>
                <a:cs typeface="Courier New"/>
              </a:rPr>
              <a:t>); </a:t>
            </a:r>
          </a:p>
          <a:p>
            <a:pPr marL="0" indent="0">
              <a:buFont typeface="Monotype Sorts" pitchFamily="-84" charset="2"/>
              <a:buNone/>
              <a:defRPr/>
            </a:pPr>
            <a:r>
              <a:rPr lang="en-US" b="1" dirty="0">
                <a:latin typeface="Courier New"/>
                <a:ea typeface="ＭＳ Ｐゴシック" pitchFamily="-84" charset="-128"/>
                <a:cs typeface="Courier New"/>
              </a:rPr>
              <a:t>    signal(empty); </a:t>
            </a:r>
          </a:p>
          <a:p>
            <a:pPr marL="0" indent="0">
              <a:buFont typeface="Monotype Sorts" pitchFamily="-84" charset="2"/>
              <a:buNone/>
              <a:defRPr/>
            </a:pPr>
            <a:r>
              <a:rPr lang="en-US" b="1" dirty="0">
                <a:latin typeface="Courier New"/>
                <a:ea typeface="ＭＳ Ｐゴシック" pitchFamily="-84" charset="-128"/>
                <a:cs typeface="Courier New"/>
              </a:rPr>
              <a:t>     ...</a:t>
            </a:r>
            <a:br>
              <a:rPr lang="en-US" b="1" dirty="0">
                <a:latin typeface="Courier New"/>
                <a:ea typeface="ＭＳ Ｐゴシック" pitchFamily="-84" charset="-128"/>
                <a:cs typeface="Courier New"/>
              </a:rPr>
            </a:br>
            <a:r>
              <a:rPr lang="en-US" b="1" dirty="0">
                <a:latin typeface="Courier New"/>
                <a:ea typeface="ＭＳ Ｐゴシック" pitchFamily="-84" charset="-128"/>
                <a:cs typeface="Courier New"/>
              </a:rPr>
              <a:t>    /* consume the item in </a:t>
            </a:r>
            <a:r>
              <a:rPr lang="en-US" b="1" dirty="0" err="1">
                <a:latin typeface="Courier New"/>
                <a:ea typeface="ＭＳ Ｐゴシック" pitchFamily="-84" charset="-128"/>
                <a:cs typeface="Courier New"/>
              </a:rPr>
              <a:t>next_consumed</a:t>
            </a:r>
            <a:r>
              <a:rPr lang="en-US" b="1" dirty="0">
                <a:latin typeface="Courier New"/>
                <a:ea typeface="ＭＳ Ｐゴシック" pitchFamily="-84" charset="-128"/>
                <a:cs typeface="Courier New"/>
              </a:rPr>
              <a:t> */ </a:t>
            </a:r>
          </a:p>
          <a:p>
            <a:pPr marL="0" indent="0">
              <a:buFont typeface="Monotype Sorts" pitchFamily="-84" charset="2"/>
              <a:buNone/>
              <a:defRPr/>
            </a:pPr>
            <a:r>
              <a:rPr lang="en-US" b="1" dirty="0">
                <a:latin typeface="Courier New"/>
                <a:ea typeface="ＭＳ Ｐゴシック" pitchFamily="-84" charset="-128"/>
                <a:cs typeface="Courier New"/>
              </a:rPr>
              <a:t>     ...</a:t>
            </a:r>
            <a:br>
              <a:rPr lang="en-US" b="1" dirty="0">
                <a:latin typeface="Courier New"/>
                <a:ea typeface="ＭＳ Ｐゴシック" pitchFamily="-84" charset="-128"/>
                <a:cs typeface="Courier New"/>
              </a:rPr>
            </a:br>
            <a:r>
              <a:rPr lang="en-US" b="1" dirty="0">
                <a:latin typeface="Courier New"/>
                <a:ea typeface="ＭＳ Ｐゴシック" pitchFamily="-84" charset="-128"/>
                <a:cs typeface="Courier New"/>
              </a:rPr>
              <a:t>} while (true); </a:t>
            </a:r>
            <a:endParaRPr lang="en-US" dirty="0"/>
          </a:p>
        </p:txBody>
      </p:sp>
    </p:spTree>
    <p:extLst>
      <p:ext uri="{BB962C8B-B14F-4D97-AF65-F5344CB8AC3E}">
        <p14:creationId xmlns:p14="http://schemas.microsoft.com/office/powerpoint/2010/main" val="2768124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Readers-Writers Problem</a:t>
            </a:r>
          </a:p>
        </p:txBody>
      </p:sp>
      <p:sp>
        <p:nvSpPr>
          <p:cNvPr id="3" name="Content Placeholder 2"/>
          <p:cNvSpPr>
            <a:spLocks noGrp="1"/>
          </p:cNvSpPr>
          <p:nvPr>
            <p:ph idx="1"/>
          </p:nvPr>
        </p:nvSpPr>
        <p:spPr>
          <a:xfrm>
            <a:off x="838200" y="1098793"/>
            <a:ext cx="10515600" cy="5161330"/>
          </a:xfrm>
        </p:spPr>
        <p:txBody>
          <a:bodyPr>
            <a:normAutofit fontScale="92500" lnSpcReduction="10000"/>
          </a:bodyPr>
          <a:lstStyle/>
          <a:p>
            <a:pPr>
              <a:buFont typeface="Wingdings" panose="05000000000000000000" pitchFamily="2" charset="2"/>
              <a:buChar char="§"/>
            </a:pPr>
            <a:r>
              <a:rPr lang="en-US" dirty="0"/>
              <a:t>A data set is shared among a number of concurrent processes</a:t>
            </a:r>
          </a:p>
          <a:p>
            <a:pPr lvl="1"/>
            <a:r>
              <a:rPr lang="en-US" dirty="0"/>
              <a:t>Readers – only read the data set, they do not perform any updates</a:t>
            </a:r>
          </a:p>
          <a:p>
            <a:pPr lvl="1"/>
            <a:r>
              <a:rPr lang="en-US" dirty="0"/>
              <a:t>Writers – can both read and write</a:t>
            </a:r>
          </a:p>
          <a:p>
            <a:pPr>
              <a:buFont typeface="Wingdings" panose="05000000000000000000" pitchFamily="2" charset="2"/>
              <a:buChar char="§"/>
            </a:pPr>
            <a:r>
              <a:rPr lang="en-US" dirty="0"/>
              <a:t>Issues to address</a:t>
            </a:r>
          </a:p>
          <a:p>
            <a:pPr lvl="1"/>
            <a:r>
              <a:rPr lang="en-US" dirty="0"/>
              <a:t>Allow multiple readers to read at the same time</a:t>
            </a:r>
          </a:p>
          <a:p>
            <a:pPr lvl="1"/>
            <a:r>
              <a:rPr lang="en-US" dirty="0"/>
              <a:t>Only one single writer can access at a time</a:t>
            </a:r>
          </a:p>
          <a:p>
            <a:pPr>
              <a:buFont typeface="Wingdings" panose="05000000000000000000" pitchFamily="2" charset="2"/>
              <a:buChar char="§"/>
            </a:pPr>
            <a:r>
              <a:rPr lang="en-US" dirty="0"/>
              <a:t>Several variations of how readers and writers are considered in providing their access, all involve some form of priorities</a:t>
            </a:r>
          </a:p>
          <a:p>
            <a:pPr>
              <a:buFont typeface="Wingdings" panose="05000000000000000000" pitchFamily="2" charset="2"/>
              <a:buChar char="§"/>
            </a:pPr>
            <a:r>
              <a:rPr lang="en-US" dirty="0"/>
              <a:t>Shared data</a:t>
            </a:r>
          </a:p>
          <a:p>
            <a:pPr lvl="1"/>
            <a:r>
              <a:rPr lang="en-US" dirty="0"/>
              <a:t>Data set</a:t>
            </a:r>
          </a:p>
          <a:p>
            <a:pPr lvl="1"/>
            <a:r>
              <a:rPr lang="en-US" dirty="0"/>
              <a:t>Semaphore </a:t>
            </a:r>
            <a:r>
              <a:rPr lang="en-US" dirty="0" err="1"/>
              <a:t>rw_mutex</a:t>
            </a:r>
            <a:r>
              <a:rPr lang="en-US" dirty="0"/>
              <a:t> initialized to 1</a:t>
            </a:r>
          </a:p>
          <a:p>
            <a:pPr lvl="1"/>
            <a:r>
              <a:rPr lang="en-US" dirty="0"/>
              <a:t>Semaphore </a:t>
            </a:r>
            <a:r>
              <a:rPr lang="en-US" dirty="0" err="1"/>
              <a:t>mutex</a:t>
            </a:r>
            <a:r>
              <a:rPr lang="en-US" dirty="0"/>
              <a:t> initialized to 1</a:t>
            </a:r>
          </a:p>
          <a:p>
            <a:pPr lvl="1"/>
            <a:r>
              <a:rPr lang="en-US" dirty="0"/>
              <a:t>Integer </a:t>
            </a:r>
            <a:r>
              <a:rPr lang="en-US" dirty="0" err="1"/>
              <a:t>read_count</a:t>
            </a:r>
            <a:r>
              <a:rPr lang="en-US" dirty="0"/>
              <a:t> initialized to 0</a:t>
            </a:r>
          </a:p>
        </p:txBody>
      </p:sp>
    </p:spTree>
    <p:extLst>
      <p:ext uri="{BB962C8B-B14F-4D97-AF65-F5344CB8AC3E}">
        <p14:creationId xmlns:p14="http://schemas.microsoft.com/office/powerpoint/2010/main" val="2063284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Readers-Writers Problem</a:t>
            </a:r>
          </a:p>
        </p:txBody>
      </p:sp>
      <p:sp>
        <p:nvSpPr>
          <p:cNvPr id="3" name="Content Placeholder 2"/>
          <p:cNvSpPr>
            <a:spLocks noGrp="1"/>
          </p:cNvSpPr>
          <p:nvPr>
            <p:ph sz="half" idx="1"/>
          </p:nvPr>
        </p:nvSpPr>
        <p:spPr>
          <a:xfrm>
            <a:off x="838200" y="1008186"/>
            <a:ext cx="5181600" cy="5849814"/>
          </a:xfrm>
        </p:spPr>
        <p:txBody>
          <a:bodyPr>
            <a:normAutofit fontScale="85000" lnSpcReduction="20000"/>
          </a:bodyPr>
          <a:lstStyle/>
          <a:p>
            <a:r>
              <a:rPr lang="en-US" dirty="0"/>
              <a:t>Reader</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wait(</a:t>
            </a:r>
            <a:r>
              <a:rPr lang="en-US" altLang="en-US" b="1" dirty="0" err="1">
                <a:latin typeface="Courier New" panose="02070309020205020404" pitchFamily="49" charset="0"/>
                <a:cs typeface="Courier New" panose="02070309020205020404" pitchFamily="49" charset="0"/>
              </a:rPr>
              <a:t>mutex</a:t>
            </a: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read_count</a:t>
            </a: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if (</a:t>
            </a:r>
            <a:r>
              <a:rPr lang="en-US" altLang="en-US" b="1" dirty="0" err="1">
                <a:latin typeface="Courier New" panose="02070309020205020404" pitchFamily="49" charset="0"/>
                <a:cs typeface="Courier New" panose="02070309020205020404" pitchFamily="49" charset="0"/>
              </a:rPr>
              <a:t>read_count</a:t>
            </a:r>
            <a:r>
              <a:rPr lang="en-US" altLang="en-US" b="1" dirty="0">
                <a:latin typeface="Courier New" panose="02070309020205020404" pitchFamily="49" charset="0"/>
                <a:cs typeface="Courier New" panose="02070309020205020404" pitchFamily="49" charset="0"/>
              </a:rPr>
              <a:t> == 1)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wait(</a:t>
            </a:r>
            <a:r>
              <a:rPr lang="en-US" altLang="en-US" b="1" dirty="0" err="1">
                <a:latin typeface="Courier New" panose="02070309020205020404" pitchFamily="49" charset="0"/>
                <a:cs typeface="Courier New" panose="02070309020205020404" pitchFamily="49" charset="0"/>
              </a:rPr>
              <a:t>rw_mutex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signal(</a:t>
            </a:r>
            <a:r>
              <a:rPr lang="en-US" altLang="en-US" b="1" dirty="0" err="1">
                <a:latin typeface="Courier New" panose="02070309020205020404" pitchFamily="49" charset="0"/>
                <a:cs typeface="Courier New" panose="02070309020205020404" pitchFamily="49" charset="0"/>
              </a:rPr>
              <a:t>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 reading is performed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wait(</a:t>
            </a:r>
            <a:r>
              <a:rPr lang="en-US" altLang="en-US" b="1" dirty="0" err="1">
                <a:latin typeface="Courier New" panose="02070309020205020404" pitchFamily="49" charset="0"/>
                <a:cs typeface="Courier New" panose="02070309020205020404" pitchFamily="49" charset="0"/>
              </a:rPr>
              <a:t>mutex</a:t>
            </a: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read count--;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if (</a:t>
            </a:r>
            <a:r>
              <a:rPr lang="en-US" altLang="en-US" b="1" dirty="0" err="1">
                <a:latin typeface="Courier New" panose="02070309020205020404" pitchFamily="49" charset="0"/>
                <a:cs typeface="Courier New" panose="02070309020205020404" pitchFamily="49" charset="0"/>
              </a:rPr>
              <a:t>read_count</a:t>
            </a:r>
            <a:r>
              <a:rPr lang="en-US" altLang="en-US" b="1" dirty="0">
                <a:latin typeface="Courier New" panose="02070309020205020404" pitchFamily="49" charset="0"/>
                <a:cs typeface="Courier New" panose="02070309020205020404" pitchFamily="49" charset="0"/>
              </a:rPr>
              <a:t> == 0)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signal(</a:t>
            </a:r>
            <a:r>
              <a:rPr lang="en-US" altLang="en-US" b="1" dirty="0" err="1">
                <a:latin typeface="Courier New" panose="02070309020205020404" pitchFamily="49" charset="0"/>
                <a:cs typeface="Courier New" panose="02070309020205020404" pitchFamily="49" charset="0"/>
              </a:rPr>
              <a:t>rw_mutex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signal(</a:t>
            </a:r>
            <a:r>
              <a:rPr lang="en-US" altLang="en-US" b="1" dirty="0" err="1">
                <a:latin typeface="Courier New" panose="02070309020205020404" pitchFamily="49" charset="0"/>
                <a:cs typeface="Courier New" panose="02070309020205020404" pitchFamily="49" charset="0"/>
              </a:rPr>
              <a:t>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while (true);</a:t>
            </a:r>
            <a:endParaRPr lang="en-US" dirty="0"/>
          </a:p>
        </p:txBody>
      </p:sp>
      <p:sp>
        <p:nvSpPr>
          <p:cNvPr id="4" name="Content Placeholder 3"/>
          <p:cNvSpPr>
            <a:spLocks noGrp="1"/>
          </p:cNvSpPr>
          <p:nvPr>
            <p:ph sz="half" idx="2"/>
          </p:nvPr>
        </p:nvSpPr>
        <p:spPr>
          <a:xfrm>
            <a:off x="6148754" y="1008186"/>
            <a:ext cx="5181600" cy="4351338"/>
          </a:xfrm>
        </p:spPr>
        <p:txBody>
          <a:bodyPr>
            <a:normAutofit fontScale="85000" lnSpcReduction="20000"/>
          </a:bodyPr>
          <a:lstStyle/>
          <a:p>
            <a:r>
              <a:rPr lang="en-US" dirty="0"/>
              <a:t>Writer</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wait(</a:t>
            </a:r>
            <a:r>
              <a:rPr lang="en-US" altLang="en-US" b="1" dirty="0" err="1">
                <a:latin typeface="Courier New" panose="02070309020205020404" pitchFamily="49" charset="0"/>
                <a:cs typeface="Courier New" panose="02070309020205020404" pitchFamily="49" charset="0"/>
              </a:rPr>
              <a:t>rw_mutex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 writing is performed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signal(</a:t>
            </a:r>
            <a:r>
              <a:rPr lang="en-US" altLang="en-US" b="1" dirty="0" err="1">
                <a:latin typeface="Courier New" panose="02070309020205020404" pitchFamily="49" charset="0"/>
                <a:cs typeface="Courier New" panose="02070309020205020404" pitchFamily="49" charset="0"/>
              </a:rPr>
              <a:t>rw_mutex</a:t>
            </a:r>
            <a:r>
              <a:rPr lang="en-US" altLang="en-US" b="1" dirty="0">
                <a:latin typeface="Courier New" panose="02070309020205020404" pitchFamily="49" charset="0"/>
                <a:cs typeface="Courier New" panose="02070309020205020404" pitchFamily="49" charset="0"/>
              </a:rPr>
              <a:t>); </a:t>
            </a:r>
          </a:p>
          <a:p>
            <a:pPr>
              <a:buFont typeface="Monotype Sorts" pitchFamily="-84" charset="2"/>
              <a:buNone/>
            </a:pPr>
            <a:r>
              <a:rPr lang="en-US" altLang="en-US" b="1" dirty="0">
                <a:latin typeface="Courier New" panose="02070309020205020404" pitchFamily="49" charset="0"/>
                <a:cs typeface="Courier New" panose="02070309020205020404" pitchFamily="49" charset="0"/>
              </a:rPr>
              <a:t>} while (true);</a:t>
            </a:r>
            <a:endParaRPr lang="en-US" dirty="0"/>
          </a:p>
        </p:txBody>
      </p:sp>
    </p:spTree>
    <p:extLst>
      <p:ext uri="{BB962C8B-B14F-4D97-AF65-F5344CB8AC3E}">
        <p14:creationId xmlns:p14="http://schemas.microsoft.com/office/powerpoint/2010/main" val="2673096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Dining-Philosophers Problem</a:t>
            </a:r>
          </a:p>
        </p:txBody>
      </p:sp>
      <p:sp>
        <p:nvSpPr>
          <p:cNvPr id="3" name="Content Placeholder 2"/>
          <p:cNvSpPr>
            <a:spLocks noGrp="1"/>
          </p:cNvSpPr>
          <p:nvPr>
            <p:ph idx="1"/>
          </p:nvPr>
        </p:nvSpPr>
        <p:spPr>
          <a:xfrm>
            <a:off x="838200" y="1044208"/>
            <a:ext cx="10515600" cy="5614499"/>
          </a:xfrm>
        </p:spPr>
        <p:txBody>
          <a:bodyPr/>
          <a:lstStyle/>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r>
              <a:rPr lang="en-US" dirty="0"/>
              <a:t>Philosophers spend their lives alternating thinking and eating</a:t>
            </a:r>
          </a:p>
          <a:p>
            <a:pPr>
              <a:buFont typeface="Wingdings" panose="05000000000000000000" pitchFamily="2" charset="2"/>
              <a:buChar char="§"/>
            </a:pPr>
            <a:r>
              <a:rPr lang="en-US" dirty="0"/>
              <a:t>No interaction with neighbors.  Occasionally try to pick up 2 chopsticks (one at a time) to eat from bowl.  Need both to eat, then release both when done</a:t>
            </a:r>
          </a:p>
          <a:p>
            <a:pPr>
              <a:buFont typeface="Wingdings" panose="05000000000000000000" pitchFamily="2" charset="2"/>
              <a:buChar char="§"/>
            </a:pPr>
            <a:r>
              <a:rPr lang="en-US" dirty="0"/>
              <a:t>Shared data, for the case with 5 philosophers</a:t>
            </a:r>
          </a:p>
          <a:p>
            <a:pPr lvl="1"/>
            <a:r>
              <a:rPr lang="en-US" dirty="0"/>
              <a:t>Bowl of rice (data set)</a:t>
            </a:r>
          </a:p>
          <a:p>
            <a:pPr lvl="1"/>
            <a:r>
              <a:rPr lang="en-US" dirty="0"/>
              <a:t>Semaphore chopsticks[5], all initialized to 1</a:t>
            </a:r>
          </a:p>
        </p:txBody>
      </p:sp>
      <p:pic>
        <p:nvPicPr>
          <p:cNvPr id="4" name="Picture 5"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4525" y="1044208"/>
            <a:ext cx="2583106" cy="248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59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Dining-Philosophers Problem</a:t>
            </a:r>
          </a:p>
        </p:txBody>
      </p:sp>
      <p:sp>
        <p:nvSpPr>
          <p:cNvPr id="3" name="Content Placeholder 2"/>
          <p:cNvSpPr>
            <a:spLocks noGrp="1"/>
          </p:cNvSpPr>
          <p:nvPr>
            <p:ph idx="1"/>
          </p:nvPr>
        </p:nvSpPr>
        <p:spPr>
          <a:xfrm>
            <a:off x="838200" y="1055077"/>
            <a:ext cx="10515600" cy="5439508"/>
          </a:xfrm>
        </p:spPr>
        <p:txBody>
          <a:bodyPr>
            <a:normAutofit fontScale="92500" lnSpcReduction="10000"/>
          </a:bodyPr>
          <a:lstStyle/>
          <a:p>
            <a:pPr>
              <a:buFont typeface="Wingdings" panose="05000000000000000000" pitchFamily="2" charset="2"/>
              <a:buChar char="§"/>
            </a:pPr>
            <a:r>
              <a:rPr lang="en-US" sz="3000" dirty="0"/>
              <a:t>Philosopher </a:t>
            </a:r>
            <a:r>
              <a:rPr lang="en-US" sz="3000" dirty="0" err="1"/>
              <a:t>i</a:t>
            </a:r>
            <a:endParaRPr lang="en-US" sz="3000" dirty="0"/>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do { </a:t>
            </a: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  think</a:t>
            </a:r>
          </a:p>
          <a:p>
            <a:pPr marL="280988" indent="-338138">
              <a:buNone/>
              <a:tabLst>
                <a:tab pos="1709738" algn="l"/>
                <a:tab pos="2001838" algn="l"/>
                <a:tab pos="2227263" algn="l"/>
                <a:tab pos="2454275" algn="l"/>
              </a:tabLst>
            </a:pPr>
            <a:endParaRPr lang="en-US" altLang="en-US" b="1" dirty="0">
              <a:solidFill>
                <a:srgbClr val="000000"/>
              </a:solidFill>
              <a:latin typeface="Courier New" panose="02070309020205020404" pitchFamily="49" charset="0"/>
            </a:endParaRP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wait (chopstick[</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wait (</a:t>
            </a:r>
            <a:r>
              <a:rPr lang="en-US" altLang="en-US" b="1" dirty="0" err="1">
                <a:solidFill>
                  <a:srgbClr val="000000"/>
                </a:solidFill>
                <a:latin typeface="Courier New" panose="02070309020205020404" pitchFamily="49" charset="0"/>
              </a:rPr>
              <a:t>chopStick</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+ 1) % 5] );</a:t>
            </a: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  eat</a:t>
            </a: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signal (chopstick[</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signal (chopstick[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+ 1) % 5] );</a:t>
            </a:r>
          </a:p>
          <a:p>
            <a:pPr marL="280988" indent="-338138">
              <a:buNone/>
              <a:tabLst>
                <a:tab pos="1709738" algn="l"/>
                <a:tab pos="2001838" algn="l"/>
                <a:tab pos="2227263" algn="l"/>
                <a:tab pos="2454275" algn="l"/>
              </a:tabLst>
            </a:pPr>
            <a:r>
              <a:rPr lang="en-US" altLang="en-US" b="1" dirty="0">
                <a:solidFill>
                  <a:srgbClr val="000000"/>
                </a:solidFill>
                <a:latin typeface="Courier New" panose="02070309020205020404" pitchFamily="49" charset="0"/>
              </a:rPr>
              <a:t>} while (TRUE);</a:t>
            </a:r>
            <a:endParaRPr lang="en-US" altLang="en-US" dirty="0">
              <a:solidFill>
                <a:srgbClr val="0000FF"/>
              </a:solidFill>
            </a:endParaRPr>
          </a:p>
          <a:p>
            <a:pPr>
              <a:buFont typeface="Wingdings" panose="05000000000000000000" pitchFamily="2" charset="2"/>
              <a:buChar char="§"/>
            </a:pPr>
            <a:endParaRPr lang="en-US" sz="3000" dirty="0"/>
          </a:p>
          <a:p>
            <a:pPr>
              <a:buFont typeface="Wingdings" panose="05000000000000000000" pitchFamily="2" charset="2"/>
              <a:buChar char="§"/>
            </a:pPr>
            <a:r>
              <a:rPr lang="en-US" sz="3000" dirty="0"/>
              <a:t>Problem with this solution?</a:t>
            </a:r>
          </a:p>
        </p:txBody>
      </p:sp>
    </p:spTree>
    <p:extLst>
      <p:ext uri="{BB962C8B-B14F-4D97-AF65-F5344CB8AC3E}">
        <p14:creationId xmlns:p14="http://schemas.microsoft.com/office/powerpoint/2010/main" val="3619453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Dining-Philosophers Problem</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Deadlock handling</a:t>
            </a:r>
          </a:p>
          <a:p>
            <a:pPr lvl="1"/>
            <a:r>
              <a:rPr lang="en-US" sz="2800" dirty="0"/>
              <a:t>Allow at most 4 philosophers to be sitting simultaneously at the table</a:t>
            </a:r>
          </a:p>
          <a:p>
            <a:pPr lvl="1"/>
            <a:r>
              <a:rPr lang="en-US" sz="2800" dirty="0"/>
              <a:t>Allow a philosopher to pick up the chopsticks only if both are available (i.e., picking must be done in a critical section)</a:t>
            </a:r>
          </a:p>
          <a:p>
            <a:pPr lvl="1"/>
            <a:r>
              <a:rPr lang="en-US" sz="2800" dirty="0"/>
              <a:t>Use an asymmetric solution – an odd-numbered philosopher picks up first the left chopstick and then the right chopstick, and even-numbered philosopher picks up first the right chopstick and then the left chopstick</a:t>
            </a:r>
          </a:p>
        </p:txBody>
      </p:sp>
    </p:spTree>
    <p:extLst>
      <p:ext uri="{BB962C8B-B14F-4D97-AF65-F5344CB8AC3E}">
        <p14:creationId xmlns:p14="http://schemas.microsoft.com/office/powerpoint/2010/main" val="3314553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Semaphores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Incorrect use of semaphore operations</a:t>
            </a:r>
          </a:p>
          <a:p>
            <a:pPr lvl="1"/>
            <a:r>
              <a:rPr lang="en-US" sz="2800" dirty="0"/>
              <a:t>signal(</a:t>
            </a:r>
            <a:r>
              <a:rPr lang="en-US" sz="2800" dirty="0" err="1"/>
              <a:t>mutex</a:t>
            </a:r>
            <a:r>
              <a:rPr lang="en-US" sz="2800" dirty="0"/>
              <a:t>) … wait (</a:t>
            </a:r>
            <a:r>
              <a:rPr lang="en-US" sz="2800" dirty="0" err="1"/>
              <a:t>mutex</a:t>
            </a:r>
            <a:r>
              <a:rPr lang="en-US" sz="2800" dirty="0"/>
              <a:t>)</a:t>
            </a:r>
          </a:p>
          <a:p>
            <a:pPr lvl="1"/>
            <a:r>
              <a:rPr lang="en-US" sz="2800" dirty="0"/>
              <a:t>wait(</a:t>
            </a:r>
            <a:r>
              <a:rPr lang="en-US" sz="2800" dirty="0" err="1"/>
              <a:t>mutex</a:t>
            </a:r>
            <a:r>
              <a:rPr lang="en-US" sz="2800" dirty="0"/>
              <a:t>) … wait (</a:t>
            </a:r>
            <a:r>
              <a:rPr lang="en-US" sz="2800" dirty="0" err="1"/>
              <a:t>mutex</a:t>
            </a:r>
            <a:r>
              <a:rPr lang="en-US" sz="2800" dirty="0"/>
              <a:t>)</a:t>
            </a:r>
          </a:p>
          <a:p>
            <a:pPr lvl="1"/>
            <a:r>
              <a:rPr lang="en-US" sz="2800" dirty="0"/>
              <a:t>Omitting of wait (</a:t>
            </a:r>
            <a:r>
              <a:rPr lang="en-US" sz="2800" dirty="0" err="1"/>
              <a:t>mutex</a:t>
            </a:r>
            <a:r>
              <a:rPr lang="en-US" sz="2800" dirty="0"/>
              <a:t>) or signal (</a:t>
            </a:r>
            <a:r>
              <a:rPr lang="en-US" sz="2800" dirty="0" err="1"/>
              <a:t>mutex</a:t>
            </a:r>
            <a:r>
              <a:rPr lang="en-US" sz="2800" dirty="0"/>
              <a:t>) or both</a:t>
            </a:r>
          </a:p>
          <a:p>
            <a:pPr>
              <a:buFont typeface="Wingdings" panose="05000000000000000000" pitchFamily="2" charset="2"/>
              <a:buChar char="§"/>
            </a:pPr>
            <a:r>
              <a:rPr lang="en-US" sz="3200" dirty="0"/>
              <a:t>Deadlock and starvation are possible</a:t>
            </a:r>
          </a:p>
        </p:txBody>
      </p:sp>
    </p:spTree>
    <p:extLst>
      <p:ext uri="{BB962C8B-B14F-4D97-AF65-F5344CB8AC3E}">
        <p14:creationId xmlns:p14="http://schemas.microsoft.com/office/powerpoint/2010/main" val="2675711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25415"/>
          </a:xfrm>
        </p:spPr>
        <p:txBody>
          <a:bodyPr/>
          <a:lstStyle/>
          <a:p>
            <a:r>
              <a:rPr lang="en-US" dirty="0"/>
              <a:t>Monitors</a:t>
            </a:r>
          </a:p>
        </p:txBody>
      </p:sp>
      <p:sp>
        <p:nvSpPr>
          <p:cNvPr id="3" name="Content Placeholder 2"/>
          <p:cNvSpPr>
            <a:spLocks noGrp="1"/>
          </p:cNvSpPr>
          <p:nvPr>
            <p:ph idx="1"/>
          </p:nvPr>
        </p:nvSpPr>
        <p:spPr>
          <a:xfrm>
            <a:off x="838200" y="890954"/>
            <a:ext cx="10515600" cy="5967046"/>
          </a:xfrm>
        </p:spPr>
        <p:txBody>
          <a:bodyPr>
            <a:normAutofit/>
          </a:bodyPr>
          <a:lstStyle/>
          <a:p>
            <a:pPr>
              <a:buFont typeface="Wingdings" panose="05000000000000000000" pitchFamily="2" charset="2"/>
              <a:buChar char="§"/>
            </a:pPr>
            <a:r>
              <a:rPr lang="en-US" dirty="0"/>
              <a:t>A high-level abstraction that provides a convenient and effective mechanism for process synchronization</a:t>
            </a:r>
          </a:p>
          <a:p>
            <a:pPr>
              <a:buFont typeface="Wingdings" panose="05000000000000000000" pitchFamily="2" charset="2"/>
              <a:buChar char="§"/>
            </a:pPr>
            <a:r>
              <a:rPr lang="en-US" dirty="0"/>
              <a:t>Abstract data type, internal variables only accessible by code in procedures within it</a:t>
            </a:r>
          </a:p>
          <a:p>
            <a:pPr>
              <a:buFont typeface="Wingdings" panose="05000000000000000000" pitchFamily="2" charset="2"/>
              <a:buChar char="§"/>
            </a:pPr>
            <a:r>
              <a:rPr lang="en-US" dirty="0"/>
              <a:t>Only one process may be active within the monitor at a time</a:t>
            </a:r>
          </a:p>
          <a:p>
            <a:pPr>
              <a:buFont typeface="Wingdings" panose="05000000000000000000" pitchFamily="2" charset="2"/>
              <a:buChar char="§"/>
            </a:pPr>
            <a:r>
              <a:rPr lang="en-US" dirty="0"/>
              <a:t>But not powerful enough to model all synchronization schemes</a:t>
            </a:r>
          </a:p>
          <a:p>
            <a:pPr>
              <a:buFont typeface="Wingdings" panose="05000000000000000000" pitchFamily="2" charset="2"/>
              <a:buChar char="§"/>
            </a:pPr>
            <a:r>
              <a:rPr lang="en-US" dirty="0"/>
              <a:t>Structure or a monitor</a:t>
            </a:r>
          </a:p>
          <a:p>
            <a:pPr marL="0" indent="0">
              <a:lnSpc>
                <a:spcPct val="80000"/>
              </a:lnSpc>
              <a:spcBef>
                <a:spcPts val="0"/>
              </a:spcBef>
              <a:buNone/>
            </a:pPr>
            <a:r>
              <a:rPr lang="en-US" dirty="0"/>
              <a:t>Monitor monitor-name</a:t>
            </a:r>
          </a:p>
          <a:p>
            <a:pPr marL="0" indent="0">
              <a:lnSpc>
                <a:spcPct val="80000"/>
              </a:lnSpc>
              <a:spcBef>
                <a:spcPts val="0"/>
              </a:spcBef>
              <a:buNone/>
            </a:pPr>
            <a:r>
              <a:rPr lang="en-US" dirty="0"/>
              <a:t>{</a:t>
            </a:r>
          </a:p>
          <a:p>
            <a:pPr marL="0" indent="0">
              <a:lnSpc>
                <a:spcPct val="80000"/>
              </a:lnSpc>
              <a:spcBef>
                <a:spcPts val="0"/>
              </a:spcBef>
              <a:buNone/>
            </a:pPr>
            <a:r>
              <a:rPr lang="en-US" dirty="0"/>
              <a:t>    // shared variable declarations</a:t>
            </a:r>
          </a:p>
          <a:p>
            <a:pPr marL="0" indent="0">
              <a:lnSpc>
                <a:spcPct val="80000"/>
              </a:lnSpc>
              <a:spcBef>
                <a:spcPts val="0"/>
              </a:spcBef>
              <a:buNone/>
            </a:pPr>
            <a:r>
              <a:rPr lang="en-US" dirty="0"/>
              <a:t>    procedure P1 ( … ) { … }</a:t>
            </a:r>
          </a:p>
          <a:p>
            <a:pPr marL="0" indent="0">
              <a:lnSpc>
                <a:spcPct val="80000"/>
              </a:lnSpc>
              <a:spcBef>
                <a:spcPts val="0"/>
              </a:spcBef>
              <a:buNone/>
            </a:pPr>
            <a:r>
              <a:rPr lang="en-US" dirty="0"/>
              <a:t>    procedure P2 ( … ) { … }</a:t>
            </a:r>
          </a:p>
          <a:p>
            <a:pPr marL="0" indent="0">
              <a:lnSpc>
                <a:spcPct val="80000"/>
              </a:lnSpc>
              <a:spcBef>
                <a:spcPts val="0"/>
              </a:spcBef>
              <a:buNone/>
            </a:pPr>
            <a:r>
              <a:rPr lang="en-US" dirty="0"/>
              <a:t>    Initialization code </a:t>
            </a:r>
          </a:p>
          <a:p>
            <a:pPr marL="0" indent="0">
              <a:lnSpc>
                <a:spcPct val="80000"/>
              </a:lnSpc>
              <a:spcBef>
                <a:spcPts val="0"/>
              </a:spcBef>
              <a:buNone/>
            </a:pPr>
            <a:r>
              <a:rPr lang="en-US" dirty="0"/>
              <a:t>}</a:t>
            </a:r>
          </a:p>
          <a:p>
            <a:pPr marL="0" indent="0">
              <a:lnSpc>
                <a:spcPct val="80000"/>
              </a:lnSpc>
              <a:spcBef>
                <a:spcPts val="0"/>
              </a:spcBef>
              <a:buNone/>
            </a:pPr>
            <a:endParaRPr lang="en-US" dirty="0"/>
          </a:p>
        </p:txBody>
      </p:sp>
    </p:spTree>
    <p:extLst>
      <p:ext uri="{BB962C8B-B14F-4D97-AF65-F5344CB8AC3E}">
        <p14:creationId xmlns:p14="http://schemas.microsoft.com/office/powerpoint/2010/main" val="2704526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95754"/>
          </a:xfrm>
        </p:spPr>
        <p:txBody>
          <a:bodyPr/>
          <a:lstStyle/>
          <a:p>
            <a:r>
              <a:rPr lang="en-US" dirty="0"/>
              <a:t>Schematic View of a Monitor</a:t>
            </a:r>
          </a:p>
        </p:txBody>
      </p:sp>
      <p:pic>
        <p:nvPicPr>
          <p:cNvPr id="4" name="Picture 4" descr="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18914" y="1195754"/>
            <a:ext cx="5955715" cy="56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0012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95754"/>
          </a:xfrm>
        </p:spPr>
        <p:txBody>
          <a:bodyPr/>
          <a:lstStyle/>
          <a:p>
            <a:r>
              <a:rPr lang="en-US" dirty="0"/>
              <a:t>Condition Variables</a:t>
            </a:r>
          </a:p>
        </p:txBody>
      </p:sp>
      <p:sp>
        <p:nvSpPr>
          <p:cNvPr id="3" name="Content Placeholder 2"/>
          <p:cNvSpPr>
            <a:spLocks noGrp="1"/>
          </p:cNvSpPr>
          <p:nvPr>
            <p:ph idx="1"/>
          </p:nvPr>
        </p:nvSpPr>
        <p:spPr>
          <a:xfrm>
            <a:off x="838200" y="1195755"/>
            <a:ext cx="10515600" cy="4981208"/>
          </a:xfrm>
        </p:spPr>
        <p:txBody>
          <a:bodyPr/>
          <a:lstStyle/>
          <a:p>
            <a:pPr>
              <a:buFont typeface="Wingdings" panose="05000000000000000000" pitchFamily="2" charset="2"/>
              <a:buChar char="§"/>
            </a:pPr>
            <a:r>
              <a:rPr lang="en-US" sz="3200" dirty="0"/>
              <a:t>Declaration</a:t>
            </a:r>
          </a:p>
          <a:p>
            <a:pPr marL="0" indent="0">
              <a:buNone/>
            </a:pPr>
            <a:r>
              <a:rPr lang="en-US" dirty="0"/>
              <a:t>	condition x, y;</a:t>
            </a:r>
          </a:p>
          <a:p>
            <a:pPr>
              <a:buFont typeface="Wingdings" panose="05000000000000000000" pitchFamily="2" charset="2"/>
              <a:buChar char="§"/>
            </a:pPr>
            <a:r>
              <a:rPr lang="en-US" sz="3200" dirty="0"/>
              <a:t>Two operations are available on a condition variable x:</a:t>
            </a:r>
          </a:p>
          <a:p>
            <a:pPr lvl="1"/>
            <a:r>
              <a:rPr lang="en-US" sz="2800" dirty="0" err="1"/>
              <a:t>x.wait</a:t>
            </a:r>
            <a:r>
              <a:rPr lang="en-US" sz="2800" dirty="0"/>
              <a:t>() – a process that invokes this operation is suspended until </a:t>
            </a:r>
            <a:r>
              <a:rPr lang="en-US" sz="2800" dirty="0" err="1"/>
              <a:t>x.signal</a:t>
            </a:r>
            <a:r>
              <a:rPr lang="en-US" sz="2800" dirty="0"/>
              <a:t>()</a:t>
            </a:r>
          </a:p>
          <a:p>
            <a:pPr lvl="1"/>
            <a:r>
              <a:rPr lang="en-US" sz="2800" dirty="0" err="1"/>
              <a:t>x.signal</a:t>
            </a:r>
            <a:r>
              <a:rPr lang="en-US" sz="2800" dirty="0"/>
              <a:t>() – resumes one of the processes (if any) that invoked </a:t>
            </a:r>
            <a:r>
              <a:rPr lang="en-US" sz="2800" dirty="0" err="1"/>
              <a:t>x.wait</a:t>
            </a:r>
            <a:r>
              <a:rPr lang="en-US" sz="2800" dirty="0"/>
              <a:t>().  No </a:t>
            </a:r>
            <a:r>
              <a:rPr lang="en-US" sz="2800"/>
              <a:t>effect if </a:t>
            </a:r>
            <a:r>
              <a:rPr lang="en-US" sz="2800" dirty="0"/>
              <a:t>no </a:t>
            </a:r>
            <a:r>
              <a:rPr lang="en-US" sz="2800" dirty="0" err="1"/>
              <a:t>x.wait</a:t>
            </a:r>
            <a:r>
              <a:rPr lang="en-US" sz="2800" dirty="0"/>
              <a:t>() on the variable x.</a:t>
            </a:r>
          </a:p>
        </p:txBody>
      </p:sp>
    </p:spTree>
    <p:extLst>
      <p:ext uri="{BB962C8B-B14F-4D97-AF65-F5344CB8AC3E}">
        <p14:creationId xmlns:p14="http://schemas.microsoft.com/office/powerpoint/2010/main" val="3474334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Schematic View of Monitor with Condition Variables</a:t>
            </a:r>
          </a:p>
        </p:txBody>
      </p:sp>
      <p:pic>
        <p:nvPicPr>
          <p:cNvPr id="4" name="Picture 4" descr="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0549" y="1325562"/>
            <a:ext cx="7749093" cy="553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736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01969"/>
          </a:xfrm>
        </p:spPr>
        <p:txBody>
          <a:bodyPr>
            <a:normAutofit/>
          </a:bodyPr>
          <a:lstStyle/>
          <a:p>
            <a:r>
              <a:rPr lang="en-US" sz="4000" dirty="0"/>
              <a:t>Choice of Implementation of Condition Variables</a:t>
            </a:r>
          </a:p>
        </p:txBody>
      </p:sp>
      <p:sp>
        <p:nvSpPr>
          <p:cNvPr id="3" name="Content Placeholder 2"/>
          <p:cNvSpPr>
            <a:spLocks noGrp="1"/>
          </p:cNvSpPr>
          <p:nvPr>
            <p:ph idx="1"/>
          </p:nvPr>
        </p:nvSpPr>
        <p:spPr>
          <a:xfrm>
            <a:off x="838200" y="1101970"/>
            <a:ext cx="10515600" cy="5756030"/>
          </a:xfrm>
        </p:spPr>
        <p:txBody>
          <a:bodyPr>
            <a:normAutofit/>
          </a:bodyPr>
          <a:lstStyle/>
          <a:p>
            <a:pPr>
              <a:buFont typeface="Wingdings" panose="05000000000000000000" pitchFamily="2" charset="2"/>
              <a:buChar char="§"/>
            </a:pPr>
            <a:r>
              <a:rPr lang="en-US" dirty="0"/>
              <a:t>If process P invokes </a:t>
            </a:r>
            <a:r>
              <a:rPr lang="en-US" dirty="0" err="1"/>
              <a:t>x.signal</a:t>
            </a:r>
            <a:r>
              <a:rPr lang="en-US" dirty="0"/>
              <a:t>(), and process Q is suspended in </a:t>
            </a:r>
            <a:r>
              <a:rPr lang="en-US" dirty="0" err="1"/>
              <a:t>x.wait</a:t>
            </a:r>
            <a:r>
              <a:rPr lang="en-US" dirty="0"/>
              <a:t>(), what should happen next?</a:t>
            </a:r>
          </a:p>
          <a:p>
            <a:pPr lvl="1"/>
            <a:r>
              <a:rPr lang="en-US" sz="2600" dirty="0"/>
              <a:t>Issue: both P and Q cannot execute concurrently.  If Q resumed then P must wait</a:t>
            </a:r>
          </a:p>
          <a:p>
            <a:pPr>
              <a:buFont typeface="Wingdings" panose="05000000000000000000" pitchFamily="2" charset="2"/>
              <a:buChar char="§"/>
            </a:pPr>
            <a:r>
              <a:rPr lang="en-US" dirty="0"/>
              <a:t>Options include</a:t>
            </a:r>
          </a:p>
          <a:p>
            <a:pPr lvl="1"/>
            <a:r>
              <a:rPr lang="en-US" sz="2600" dirty="0"/>
              <a:t>Signal and wait – P waits until Q either leaves the monitor or it waits for another condition</a:t>
            </a:r>
          </a:p>
          <a:p>
            <a:pPr lvl="1"/>
            <a:r>
              <a:rPr lang="en-US" sz="2600" dirty="0"/>
              <a:t>Signal and continue – Q waits until P either leaves the monitor or it waits for another condition.</a:t>
            </a:r>
          </a:p>
          <a:p>
            <a:pPr lvl="1"/>
            <a:r>
              <a:rPr lang="en-US" sz="2600" dirty="0"/>
              <a:t>Both have pros and cons – language implementer can decide</a:t>
            </a:r>
          </a:p>
          <a:p>
            <a:pPr lvl="1"/>
            <a:r>
              <a:rPr lang="en-US" sz="2600" dirty="0"/>
              <a:t>Monitors implemented in Concurrent Pascal compromise</a:t>
            </a:r>
          </a:p>
          <a:p>
            <a:pPr lvl="2"/>
            <a:r>
              <a:rPr lang="en-US" sz="2200" dirty="0"/>
              <a:t>P executing signal immediately leaves the monitor, Q is resumed</a:t>
            </a:r>
          </a:p>
          <a:p>
            <a:pPr lvl="1"/>
            <a:r>
              <a:rPr lang="en-US" sz="2600" dirty="0"/>
              <a:t>Implemented in other languages including Mesa, C#, Java</a:t>
            </a:r>
          </a:p>
        </p:txBody>
      </p:sp>
    </p:spTree>
    <p:extLst>
      <p:ext uri="{BB962C8B-B14F-4D97-AF65-F5344CB8AC3E}">
        <p14:creationId xmlns:p14="http://schemas.microsoft.com/office/powerpoint/2010/main" val="4850036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242646"/>
          </a:xfrm>
        </p:spPr>
        <p:txBody>
          <a:bodyPr/>
          <a:lstStyle/>
          <a:p>
            <a:r>
              <a:rPr lang="en-US" dirty="0"/>
              <a:t>Monitor Solution to Dining Philosophers</a:t>
            </a:r>
          </a:p>
        </p:txBody>
      </p:sp>
      <p:sp>
        <p:nvSpPr>
          <p:cNvPr id="3" name="Content Placeholder 2"/>
          <p:cNvSpPr>
            <a:spLocks noGrp="1"/>
          </p:cNvSpPr>
          <p:nvPr>
            <p:ph idx="1"/>
          </p:nvPr>
        </p:nvSpPr>
        <p:spPr>
          <a:xfrm>
            <a:off x="838200" y="1242646"/>
            <a:ext cx="10515600" cy="5615353"/>
          </a:xfrm>
        </p:spPr>
        <p:txBody>
          <a:bodyPr>
            <a:normAutofit fontScale="70000" lnSpcReduction="20000"/>
          </a:bodyPr>
          <a:lstStyle/>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monitor </a:t>
            </a:r>
            <a:r>
              <a:rPr lang="en-US" altLang="en-US" dirty="0" err="1">
                <a:solidFill>
                  <a:srgbClr val="000000"/>
                </a:solidFill>
                <a:latin typeface="Courier New" panose="02070309020205020404" pitchFamily="49" charset="0"/>
                <a:cs typeface="Courier New" panose="02070309020205020404" pitchFamily="49" charset="0"/>
              </a:rPr>
              <a:t>DiningPhilosophers</a:t>
            </a:r>
            <a:endParaRPr lang="en-US" altLang="en-US" dirty="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enum</a:t>
            </a:r>
            <a:r>
              <a:rPr lang="en-US" altLang="en-US" dirty="0">
                <a:solidFill>
                  <a:srgbClr val="000000"/>
                </a:solidFill>
                <a:latin typeface="Courier New" panose="02070309020205020404" pitchFamily="49" charset="0"/>
                <a:cs typeface="Courier New" panose="02070309020205020404" pitchFamily="49" charset="0"/>
              </a:rPr>
              <a:t> { THINKING; HUNGRY, EATING) state [5]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condition self [5];</a:t>
            </a:r>
          </a:p>
          <a:p>
            <a:pPr>
              <a:lnSpc>
                <a:spcPct val="80000"/>
              </a:lnSpc>
              <a:buFont typeface="Monotype Sorts" pitchFamily="-84" charset="2"/>
              <a:buNone/>
            </a:pPr>
            <a:endParaRPr lang="en-US" altLang="en-US" dirty="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void pickup (</a:t>
            </a:r>
            <a:r>
              <a:rPr lang="en-US" altLang="en-US" dirty="0" err="1">
                <a:solidFill>
                  <a:srgbClr val="000000"/>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HUNGRY;</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test(</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if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EATING) self[</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].wait;</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void putdown (</a:t>
            </a:r>
            <a:r>
              <a:rPr lang="en-US" altLang="en-US" dirty="0" err="1">
                <a:solidFill>
                  <a:srgbClr val="000000"/>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THINKING;</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 test left and right neighbors, enable them to eat</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 if hungry and waiting</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test((</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+ 4) % 5);</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test((</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+ 1) % 5);</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endParaRPr lang="en-US" dirty="0"/>
          </a:p>
        </p:txBody>
      </p:sp>
    </p:spTree>
    <p:extLst>
      <p:ext uri="{BB962C8B-B14F-4D97-AF65-F5344CB8AC3E}">
        <p14:creationId xmlns:p14="http://schemas.microsoft.com/office/powerpoint/2010/main" val="2071687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Solution to Dining Philosophers (cont.)</a:t>
            </a:r>
          </a:p>
        </p:txBody>
      </p:sp>
      <p:sp>
        <p:nvSpPr>
          <p:cNvPr id="3" name="Content Placeholder 2"/>
          <p:cNvSpPr>
            <a:spLocks noGrp="1"/>
          </p:cNvSpPr>
          <p:nvPr>
            <p:ph idx="1"/>
          </p:nvPr>
        </p:nvSpPr>
        <p:spPr>
          <a:xfrm>
            <a:off x="838200" y="1325563"/>
            <a:ext cx="10515600" cy="4851400"/>
          </a:xfrm>
        </p:spPr>
        <p:txBody>
          <a:bodyPr>
            <a:normAutofit fontScale="85000" lnSpcReduction="20000"/>
          </a:bodyPr>
          <a:lstStyle/>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void test (</a:t>
            </a:r>
            <a:r>
              <a:rPr lang="en-US" altLang="en-US" dirty="0" err="1">
                <a:solidFill>
                  <a:srgbClr val="000000"/>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if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+ 4) % 5] != EATING) &amp;&amp;</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+ 1) % 5] != EATING) &amp;&amp;</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HUNGRY)) {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EATING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self[</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].signal()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endParaRPr lang="en-US" altLang="en-US" dirty="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initialization_code</a:t>
            </a:r>
            <a:r>
              <a:rPr lang="en-US" altLang="en-US" dirty="0">
                <a:solidFill>
                  <a:srgbClr val="000000"/>
                </a:solidFill>
                <a:latin typeface="Courier New" panose="02070309020205020404" pitchFamily="49" charset="0"/>
                <a:cs typeface="Courier New" panose="02070309020205020404" pitchFamily="49" charset="0"/>
              </a:rPr>
              <a:t>() {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for (</a:t>
            </a:r>
            <a:r>
              <a:rPr lang="en-US" altLang="en-US" dirty="0" err="1">
                <a:solidFill>
                  <a:srgbClr val="000000"/>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0; </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&lt; 5; </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state[</a:t>
            </a:r>
            <a:r>
              <a:rPr lang="en-US" altLang="en-US" dirty="0" err="1">
                <a:solidFill>
                  <a:srgbClr val="000000"/>
                </a:solidFill>
                <a:latin typeface="Courier New" panose="02070309020205020404" pitchFamily="49" charset="0"/>
                <a:cs typeface="Courier New" panose="02070309020205020404" pitchFamily="49" charset="0"/>
              </a:rPr>
              <a:t>i</a:t>
            </a:r>
            <a:r>
              <a:rPr lang="en-US" altLang="en-US" dirty="0">
                <a:solidFill>
                  <a:srgbClr val="000000"/>
                </a:solidFill>
                <a:latin typeface="Courier New" panose="02070309020205020404" pitchFamily="49" charset="0"/>
                <a:cs typeface="Courier New" panose="02070309020205020404" pitchFamily="49" charset="0"/>
              </a:rPr>
              <a:t>] = THINKING;</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a:t>
            </a:r>
          </a:p>
          <a:p>
            <a:pPr marL="0" indent="0">
              <a:buNone/>
            </a:pPr>
            <a:endParaRPr lang="en-US" dirty="0"/>
          </a:p>
        </p:txBody>
      </p:sp>
    </p:spTree>
    <p:extLst>
      <p:ext uri="{BB962C8B-B14F-4D97-AF65-F5344CB8AC3E}">
        <p14:creationId xmlns:p14="http://schemas.microsoft.com/office/powerpoint/2010/main" val="3092802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to Dining Philosophers (cont.)</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Each philosopher </a:t>
            </a:r>
            <a:r>
              <a:rPr lang="en-US" sz="3200" dirty="0" err="1"/>
              <a:t>i</a:t>
            </a:r>
            <a:r>
              <a:rPr lang="en-US" sz="3200" dirty="0"/>
              <a:t> invokes the operations pickup() and putdown() in the following sequence:</a:t>
            </a:r>
          </a:p>
          <a:p>
            <a:pPr>
              <a:buFont typeface="Wingdings" panose="05000000000000000000" pitchFamily="2" charset="2"/>
              <a:buChar char="§"/>
            </a:pPr>
            <a:endParaRPr lang="en-US" sz="3200" dirty="0"/>
          </a:p>
          <a:p>
            <a:pPr marL="914400" lvl="2" indent="0">
              <a:buNone/>
            </a:pPr>
            <a:r>
              <a:rPr lang="en-US" sz="2800" dirty="0" err="1">
                <a:latin typeface="Courier New" panose="02070309020205020404" pitchFamily="49" charset="0"/>
                <a:cs typeface="Courier New" panose="02070309020205020404" pitchFamily="49" charset="0"/>
              </a:rPr>
              <a:t>DiningPhilosophers.pickup</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i</a:t>
            </a:r>
            <a:r>
              <a:rPr lang="en-US" sz="2800" dirty="0">
                <a:latin typeface="Courier New" panose="02070309020205020404" pitchFamily="49" charset="0"/>
                <a:cs typeface="Courier New" panose="02070309020205020404" pitchFamily="49" charset="0"/>
              </a:rPr>
              <a:t>);</a:t>
            </a:r>
          </a:p>
          <a:p>
            <a:pPr marL="914400" lvl="2" indent="0">
              <a:buNone/>
            </a:pPr>
            <a:r>
              <a:rPr lang="en-US" sz="2800" dirty="0">
                <a:latin typeface="Courier New" panose="02070309020205020404" pitchFamily="49" charset="0"/>
                <a:cs typeface="Courier New" panose="02070309020205020404" pitchFamily="49" charset="0"/>
              </a:rPr>
              <a:t>    EAT</a:t>
            </a:r>
          </a:p>
          <a:p>
            <a:pPr marL="914400" lvl="2" indent="0">
              <a:buNone/>
            </a:pPr>
            <a:r>
              <a:rPr lang="en-US" sz="2800" dirty="0" err="1">
                <a:latin typeface="Courier New" panose="02070309020205020404" pitchFamily="49" charset="0"/>
                <a:cs typeface="Courier New" panose="02070309020205020404" pitchFamily="49" charset="0"/>
              </a:rPr>
              <a:t>DiningPhilosophers.putdown</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i</a:t>
            </a:r>
            <a:r>
              <a:rPr lang="en-US" sz="2800" dirty="0">
                <a:latin typeface="Courier New" panose="02070309020205020404" pitchFamily="49" charset="0"/>
                <a:cs typeface="Courier New" panose="02070309020205020404" pitchFamily="49" charset="0"/>
              </a:rPr>
              <a:t>);</a:t>
            </a:r>
          </a:p>
          <a:p>
            <a:pPr marL="914400" lvl="2" indent="0">
              <a:buNone/>
            </a:pPr>
            <a:endParaRPr lang="en-US" sz="2800" dirty="0">
              <a:latin typeface="Courier New" panose="02070309020205020404" pitchFamily="49" charset="0"/>
              <a:cs typeface="Courier New" panose="02070309020205020404" pitchFamily="49" charset="0"/>
            </a:endParaRPr>
          </a:p>
          <a:p>
            <a:pPr>
              <a:buFont typeface="Wingdings" panose="05000000000000000000" pitchFamily="2" charset="2"/>
              <a:buChar char="§"/>
            </a:pPr>
            <a:r>
              <a:rPr lang="en-US" sz="3200" dirty="0"/>
              <a:t>No deadlock, but starvation is possible</a:t>
            </a:r>
          </a:p>
          <a:p>
            <a:endParaRPr lang="en-US" dirty="0"/>
          </a:p>
        </p:txBody>
      </p:sp>
    </p:spTree>
    <p:extLst>
      <p:ext uri="{BB962C8B-B14F-4D97-AF65-F5344CB8AC3E}">
        <p14:creationId xmlns:p14="http://schemas.microsoft.com/office/powerpoint/2010/main" val="4183389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219200"/>
          </a:xfrm>
        </p:spPr>
        <p:txBody>
          <a:bodyPr>
            <a:normAutofit/>
          </a:bodyPr>
          <a:lstStyle/>
          <a:p>
            <a:r>
              <a:rPr lang="en-US" sz="4000" dirty="0"/>
              <a:t>Monitor Solution to Producer/Consumer Problem</a:t>
            </a:r>
          </a:p>
        </p:txBody>
      </p:sp>
      <p:sp>
        <p:nvSpPr>
          <p:cNvPr id="3" name="Content Placeholder 2"/>
          <p:cNvSpPr>
            <a:spLocks noGrp="1"/>
          </p:cNvSpPr>
          <p:nvPr>
            <p:ph idx="1"/>
          </p:nvPr>
        </p:nvSpPr>
        <p:spPr>
          <a:xfrm>
            <a:off x="838200" y="1219200"/>
            <a:ext cx="10767646" cy="5439507"/>
          </a:xfrm>
        </p:spPr>
        <p:txBody>
          <a:bodyPr>
            <a:normAutofit/>
          </a:bodyPr>
          <a:lstStyle/>
          <a:p>
            <a:pPr>
              <a:lnSpc>
                <a:spcPct val="80000"/>
              </a:lnSpc>
              <a:spcBef>
                <a:spcPts val="0"/>
              </a:spcBef>
              <a:buNone/>
            </a:pPr>
            <a:r>
              <a:rPr lang="en-US" dirty="0">
                <a:latin typeface="Courier New" panose="02070309020205020404" pitchFamily="49" charset="0"/>
                <a:cs typeface="Courier New" panose="02070309020205020404" pitchFamily="49" charset="0"/>
              </a:rPr>
              <a:t>monitor bounded-buffer</a:t>
            </a:r>
          </a:p>
          <a:p>
            <a:pPr>
              <a:lnSpc>
                <a:spcPct val="80000"/>
              </a:lnSpc>
              <a:spcBef>
                <a:spcPts val="0"/>
              </a:spcBef>
              <a:buNone/>
            </a:pPr>
            <a:r>
              <a:rPr lang="en-US" dirty="0">
                <a:latin typeface="Courier New" panose="02070309020205020404" pitchFamily="49" charset="0"/>
                <a:cs typeface="Courier New" panose="02070309020205020404" pitchFamily="49" charset="0"/>
              </a:rPr>
              <a:t>{</a:t>
            </a:r>
          </a:p>
          <a:p>
            <a:pPr>
              <a:lnSpc>
                <a:spcPct val="80000"/>
              </a:lnSpc>
              <a:spcBef>
                <a:spcPts val="0"/>
              </a:spcBef>
              <a:buNone/>
            </a:pPr>
            <a:r>
              <a:rPr lang="en-US" dirty="0">
                <a:latin typeface="Courier New" panose="02070309020205020404" pitchFamily="49" charset="0"/>
                <a:cs typeface="Courier New" panose="02070309020205020404" pitchFamily="49" charset="0"/>
              </a:rPr>
              <a:t>	   message B[N]; // message: a user-defined type </a:t>
            </a:r>
          </a:p>
          <a:p>
            <a:pPr>
              <a:lnSpc>
                <a:spcPct val="80000"/>
              </a:lnSpc>
              <a:spcBef>
                <a:spcPts val="0"/>
              </a:spcBef>
              <a:buNone/>
            </a:pPr>
            <a:r>
              <a:rPr lang="en-US" dirty="0">
                <a:latin typeface="Courier New" panose="02070309020205020404" pitchFamily="49" charset="0"/>
                <a:cs typeface="Courier New" panose="02070309020205020404" pitchFamily="49" charset="0"/>
              </a:rPr>
              <a:t>					 // N a predefined constant</a:t>
            </a:r>
          </a:p>
          <a:p>
            <a:pPr>
              <a:lnSpc>
                <a:spcPct val="80000"/>
              </a:lnSpc>
              <a:spcBef>
                <a:spcPts val="0"/>
              </a:spcBef>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in, out, count;</a:t>
            </a:r>
          </a:p>
          <a:p>
            <a:pPr>
              <a:lnSpc>
                <a:spcPct val="80000"/>
              </a:lnSpc>
              <a:spcBef>
                <a:spcPts val="0"/>
              </a:spcBef>
              <a:buNone/>
            </a:pPr>
            <a:r>
              <a:rPr lang="en-US" dirty="0">
                <a:latin typeface="Courier New" panose="02070309020205020404" pitchFamily="49" charset="0"/>
                <a:cs typeface="Courier New" panose="02070309020205020404" pitchFamily="49" charset="0"/>
              </a:rPr>
              <a:t>	   condition </a:t>
            </a:r>
            <a:r>
              <a:rPr lang="en-US" dirty="0" err="1">
                <a:latin typeface="Courier New" panose="02070309020205020404" pitchFamily="49" charset="0"/>
                <a:cs typeface="Courier New" panose="02070309020205020404" pitchFamily="49" charset="0"/>
              </a:rPr>
              <a:t>nonfull</a:t>
            </a:r>
            <a:r>
              <a:rPr lang="en-US" dirty="0">
                <a:latin typeface="Courier New" panose="02070309020205020404" pitchFamily="49" charset="0"/>
                <a:cs typeface="Courier New" panose="02070309020205020404" pitchFamily="49" charset="0"/>
              </a:rPr>
              <a:t>, nonempty;</a:t>
            </a:r>
          </a:p>
          <a:p>
            <a:pPr>
              <a:lnSpc>
                <a:spcPct val="80000"/>
              </a:lnSpc>
              <a:spcBef>
                <a:spcPts val="0"/>
              </a:spcBef>
              <a:buNone/>
            </a:pPr>
            <a:r>
              <a:rPr lang="en-US" b="1"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pPr>
              <a:lnSpc>
                <a:spcPct val="80000"/>
              </a:lnSpc>
              <a:spcBef>
                <a:spcPts val="0"/>
              </a:spcBef>
              <a:buNone/>
            </a:pP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void place( message x) {</a:t>
            </a:r>
          </a:p>
          <a:p>
            <a:pPr>
              <a:lnSpc>
                <a:spcPct val="80000"/>
              </a:lnSpc>
              <a:spcBef>
                <a:spcPts val="0"/>
              </a:spcBef>
              <a:buNone/>
            </a:pP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if (count == N) </a:t>
            </a:r>
            <a:r>
              <a:rPr lang="en-US" dirty="0" err="1">
                <a:latin typeface="Courier New" panose="02070309020205020404" pitchFamily="49" charset="0"/>
                <a:cs typeface="Courier New" panose="02070309020205020404" pitchFamily="49" charset="0"/>
              </a:rPr>
              <a:t>nonfull.wait</a:t>
            </a:r>
            <a:r>
              <a:rPr lang="en-US" dirty="0">
                <a:latin typeface="Courier New" panose="02070309020205020404" pitchFamily="49" charset="0"/>
                <a:cs typeface="Courier New" panose="02070309020205020404" pitchFamily="49" charset="0"/>
              </a:rPr>
              <a:t>;</a:t>
            </a:r>
          </a:p>
          <a:p>
            <a:pPr>
              <a:lnSpc>
                <a:spcPct val="80000"/>
              </a:lnSpc>
              <a:spcBef>
                <a:spcPts val="0"/>
              </a:spcBef>
              <a:buNone/>
            </a:pPr>
            <a:r>
              <a:rPr lang="de-DE" dirty="0">
                <a:latin typeface="Courier New" panose="02070309020205020404" pitchFamily="49" charset="0"/>
                <a:cs typeface="Courier New" panose="02070309020205020404" pitchFamily="49" charset="0"/>
              </a:rPr>
              <a:t>	       B[in] = x;</a:t>
            </a:r>
            <a:endParaRPr lang="en-US" dirty="0">
              <a:latin typeface="Courier New" panose="02070309020205020404" pitchFamily="49" charset="0"/>
              <a:cs typeface="Courier New" panose="02070309020205020404" pitchFamily="49" charset="0"/>
            </a:endParaRPr>
          </a:p>
          <a:p>
            <a:pPr>
              <a:lnSpc>
                <a:spcPct val="80000"/>
              </a:lnSpc>
              <a:spcBef>
                <a:spcPts val="0"/>
              </a:spcBef>
              <a:buNone/>
            </a:pPr>
            <a:r>
              <a:rPr lang="de-DE" dirty="0">
                <a:latin typeface="Courier New" panose="02070309020205020404" pitchFamily="49" charset="0"/>
                <a:cs typeface="Courier New" panose="02070309020205020404" pitchFamily="49" charset="0"/>
              </a:rPr>
              <a:t>	       in = (in + 1) </a:t>
            </a:r>
            <a:r>
              <a:rPr lang="de-DE" b="1" dirty="0">
                <a:latin typeface="Courier New" panose="02070309020205020404" pitchFamily="49" charset="0"/>
                <a:cs typeface="Courier New" panose="02070309020205020404" pitchFamily="49" charset="0"/>
              </a:rPr>
              <a:t>%</a:t>
            </a:r>
            <a:r>
              <a:rPr lang="de-DE" dirty="0">
                <a:latin typeface="Courier New" panose="02070309020205020404" pitchFamily="49" charset="0"/>
                <a:cs typeface="Courier New" panose="02070309020205020404" pitchFamily="49" charset="0"/>
              </a:rPr>
              <a:t> N;</a:t>
            </a:r>
            <a:endParaRPr lang="en-US" dirty="0">
              <a:latin typeface="Courier New" panose="02070309020205020404" pitchFamily="49" charset="0"/>
              <a:cs typeface="Courier New" panose="02070309020205020404" pitchFamily="49" charset="0"/>
            </a:endParaRPr>
          </a:p>
          <a:p>
            <a:pPr>
              <a:lnSpc>
                <a:spcPct val="80000"/>
              </a:lnSpc>
              <a:spcBef>
                <a:spcPts val="0"/>
              </a:spcBef>
              <a:buNone/>
            </a:pPr>
            <a:r>
              <a:rPr lang="de-DE" dirty="0">
                <a:latin typeface="Courier New" panose="02070309020205020404" pitchFamily="49" charset="0"/>
                <a:cs typeface="Courier New" panose="02070309020205020404" pitchFamily="49" charset="0"/>
              </a:rPr>
              <a:t>	       count = count + 1;</a:t>
            </a:r>
            <a:endParaRPr lang="en-US" dirty="0">
              <a:latin typeface="Courier New" panose="02070309020205020404" pitchFamily="49" charset="0"/>
              <a:cs typeface="Courier New" panose="02070309020205020404" pitchFamily="49" charset="0"/>
            </a:endParaRPr>
          </a:p>
          <a:p>
            <a:pPr>
              <a:lnSpc>
                <a:spcPct val="80000"/>
              </a:lnSpc>
              <a:spcBef>
                <a:spcPts val="0"/>
              </a:spcBef>
              <a:buNone/>
            </a:pPr>
            <a:r>
              <a:rPr lang="de-DE" dirty="0">
                <a:latin typeface="Courier New" panose="02070309020205020404" pitchFamily="49" charset="0"/>
                <a:cs typeface="Courier New" panose="02070309020205020404" pitchFamily="49" charset="0"/>
              </a:rPr>
              <a:t>	       nonempty.signal;</a:t>
            </a:r>
            <a:endParaRPr lang="en-US" dirty="0">
              <a:latin typeface="Courier New" panose="02070309020205020404" pitchFamily="49" charset="0"/>
              <a:cs typeface="Courier New" panose="02070309020205020404" pitchFamily="49" charset="0"/>
            </a:endParaRPr>
          </a:p>
          <a:p>
            <a:pPr>
              <a:lnSpc>
                <a:spcPct val="80000"/>
              </a:lnSpc>
              <a:spcBef>
                <a:spcPts val="0"/>
              </a:spcBef>
              <a:buNone/>
            </a:pPr>
            <a:r>
              <a:rPr lang="de-DE"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pPr marL="0" indent="0">
              <a:buNone/>
            </a:pPr>
            <a:endParaRPr lang="en-US" dirty="0"/>
          </a:p>
        </p:txBody>
      </p:sp>
    </p:spTree>
    <p:extLst>
      <p:ext uri="{BB962C8B-B14F-4D97-AF65-F5344CB8AC3E}">
        <p14:creationId xmlns:p14="http://schemas.microsoft.com/office/powerpoint/2010/main" val="27928501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242646"/>
          </a:xfrm>
        </p:spPr>
        <p:txBody>
          <a:bodyPr/>
          <a:lstStyle/>
          <a:p>
            <a:r>
              <a:rPr lang="en-US" dirty="0"/>
              <a:t>Solution to Producer/Consumer (</a:t>
            </a:r>
            <a:r>
              <a:rPr lang="en-US" dirty="0" err="1"/>
              <a:t>cont</a:t>
            </a:r>
            <a:r>
              <a:rPr lang="en-US" dirty="0"/>
              <a:t>)</a:t>
            </a:r>
          </a:p>
        </p:txBody>
      </p:sp>
      <p:sp>
        <p:nvSpPr>
          <p:cNvPr id="3" name="Content Placeholder 2"/>
          <p:cNvSpPr>
            <a:spLocks noGrp="1"/>
          </p:cNvSpPr>
          <p:nvPr>
            <p:ph idx="1"/>
          </p:nvPr>
        </p:nvSpPr>
        <p:spPr>
          <a:xfrm>
            <a:off x="838200" y="1242647"/>
            <a:ext cx="10515600" cy="5462953"/>
          </a:xfrm>
        </p:spPr>
        <p:txBody>
          <a:bodyPr>
            <a:normAutofit lnSpcReduction="10000"/>
          </a:bodyPr>
          <a:lstStyle/>
          <a:p>
            <a:pPr>
              <a:lnSpc>
                <a:spcPct val="80000"/>
              </a:lnSpc>
              <a:spcBef>
                <a:spcPts val="0"/>
              </a:spcBef>
              <a:buNone/>
            </a:pP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void remove( message* x ) {</a:t>
            </a:r>
          </a:p>
          <a:p>
            <a:pPr>
              <a:lnSpc>
                <a:spcPct val="80000"/>
              </a:lnSpc>
              <a:spcBef>
                <a:spcPts val="0"/>
              </a:spcBef>
              <a:buNone/>
            </a:pPr>
            <a:r>
              <a:rPr lang="en-US" dirty="0">
                <a:latin typeface="Courier New" panose="02070309020205020404" pitchFamily="49" charset="0"/>
                <a:cs typeface="Courier New" panose="02070309020205020404" pitchFamily="49" charset="0"/>
              </a:rPr>
              <a:t>		    if (count == 0) </a:t>
            </a:r>
            <a:r>
              <a:rPr lang="en-US" dirty="0" err="1">
                <a:latin typeface="Courier New" panose="02070309020205020404" pitchFamily="49" charset="0"/>
                <a:cs typeface="Courier New" panose="02070309020205020404" pitchFamily="49" charset="0"/>
              </a:rPr>
              <a:t>nonempty.wait</a:t>
            </a:r>
            <a:r>
              <a:rPr lang="en-US" dirty="0">
                <a:latin typeface="Courier New" panose="02070309020205020404" pitchFamily="49" charset="0"/>
                <a:cs typeface="Courier New" panose="02070309020205020404" pitchFamily="49" charset="0"/>
              </a:rPr>
              <a:t>;</a:t>
            </a:r>
          </a:p>
          <a:p>
            <a:pPr>
              <a:lnSpc>
                <a:spcPct val="80000"/>
              </a:lnSpc>
              <a:spcBef>
                <a:spcPts val="0"/>
              </a:spcBef>
              <a:buNone/>
            </a:pPr>
            <a:r>
              <a:rPr lang="en-US" dirty="0">
                <a:latin typeface="Courier New" panose="02070309020205020404" pitchFamily="49" charset="0"/>
                <a:cs typeface="Courier New" panose="02070309020205020404" pitchFamily="49" charset="0"/>
              </a:rPr>
              <a:t>	           x = B[out];</a:t>
            </a:r>
          </a:p>
          <a:p>
            <a:pPr>
              <a:lnSpc>
                <a:spcPct val="80000"/>
              </a:lnSpc>
              <a:spcBef>
                <a:spcPts val="0"/>
              </a:spcBef>
              <a:buNone/>
            </a:pPr>
            <a:r>
              <a:rPr lang="en-US" dirty="0">
                <a:latin typeface="Courier New" panose="02070309020205020404" pitchFamily="49" charset="0"/>
                <a:cs typeface="Courier New" panose="02070309020205020404" pitchFamily="49" charset="0"/>
              </a:rPr>
              <a:t>	           out = (out + 1) % N;</a:t>
            </a:r>
          </a:p>
          <a:p>
            <a:pPr>
              <a:lnSpc>
                <a:spcPct val="80000"/>
              </a:lnSpc>
              <a:spcBef>
                <a:spcPts val="0"/>
              </a:spcBef>
              <a:buNone/>
            </a:pPr>
            <a:r>
              <a:rPr lang="en-US" dirty="0">
                <a:latin typeface="Courier New" panose="02070309020205020404" pitchFamily="49" charset="0"/>
                <a:cs typeface="Courier New" panose="02070309020205020404" pitchFamily="49" charset="0"/>
              </a:rPr>
              <a:t>	           count = count - 1;</a:t>
            </a:r>
          </a:p>
          <a:p>
            <a:pPr>
              <a:lnSpc>
                <a:spcPct val="80000"/>
              </a:lnSpc>
              <a:spcBef>
                <a:spcPts val="0"/>
              </a:spcBef>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nonfull.signal</a:t>
            </a:r>
            <a:r>
              <a:rPr lang="en-US" dirty="0">
                <a:latin typeface="Courier New" panose="02070309020205020404" pitchFamily="49" charset="0"/>
                <a:cs typeface="Courier New" panose="02070309020205020404" pitchFamily="49" charset="0"/>
              </a:rPr>
              <a:t>;</a:t>
            </a:r>
          </a:p>
          <a:p>
            <a:pPr>
              <a:lnSpc>
                <a:spcPct val="80000"/>
              </a:lnSpc>
              <a:spcBef>
                <a:spcPts val="0"/>
              </a:spcBef>
              <a:buNone/>
            </a:pPr>
            <a:r>
              <a:rPr lang="en-US" dirty="0">
                <a:latin typeface="Courier New" panose="02070309020205020404" pitchFamily="49" charset="0"/>
                <a:cs typeface="Courier New" panose="02070309020205020404" pitchFamily="49" charset="0"/>
              </a:rPr>
              <a:t>    }	  </a:t>
            </a:r>
          </a:p>
          <a:p>
            <a:pPr>
              <a:lnSpc>
                <a:spcPct val="80000"/>
              </a:lnSpc>
              <a:spcBef>
                <a:spcPts val="0"/>
              </a:spcBef>
              <a:buNone/>
            </a:pPr>
            <a:r>
              <a:rPr lang="en-US" dirty="0">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dirty="0">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initialization_code</a:t>
            </a:r>
            <a:r>
              <a:rPr lang="en-US" altLang="en-US" dirty="0">
                <a:solidFill>
                  <a:srgbClr val="000000"/>
                </a:solidFill>
                <a:latin typeface="Courier New" panose="02070309020205020404" pitchFamily="49" charset="0"/>
                <a:cs typeface="Courier New" panose="02070309020205020404" pitchFamily="49" charset="0"/>
              </a:rPr>
              <a:t>() { </a:t>
            </a:r>
          </a:p>
          <a:p>
            <a:pPr>
              <a:lnSpc>
                <a:spcPct val="80000"/>
              </a:lnSpc>
              <a:spcBef>
                <a:spcPts val="0"/>
              </a:spcBef>
              <a:buNone/>
            </a:pPr>
            <a:r>
              <a:rPr lang="en-US" altLang="en-US" dirty="0">
                <a:solidFill>
                  <a:srgbClr val="00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in = 0; </a:t>
            </a:r>
          </a:p>
          <a:p>
            <a:pPr>
              <a:lnSpc>
                <a:spcPct val="80000"/>
              </a:lnSpc>
              <a:spcBef>
                <a:spcPts val="0"/>
              </a:spcBef>
              <a:buNone/>
            </a:pPr>
            <a:r>
              <a:rPr lang="en-US" dirty="0">
                <a:latin typeface="Courier New" panose="02070309020205020404" pitchFamily="49" charset="0"/>
                <a:cs typeface="Courier New" panose="02070309020205020404" pitchFamily="49" charset="0"/>
              </a:rPr>
              <a:t>        out = 0; </a:t>
            </a:r>
          </a:p>
          <a:p>
            <a:pPr>
              <a:lnSpc>
                <a:spcPct val="80000"/>
              </a:lnSpc>
              <a:spcBef>
                <a:spcPts val="0"/>
              </a:spcBef>
              <a:buNone/>
            </a:pPr>
            <a:r>
              <a:rPr lang="en-US" dirty="0">
                <a:latin typeface="Courier New" panose="02070309020205020404" pitchFamily="49" charset="0"/>
                <a:cs typeface="Courier New" panose="02070309020205020404" pitchFamily="49" charset="0"/>
              </a:rPr>
              <a:t>        count = 0;</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dirty="0">
                <a:solidFill>
                  <a:srgbClr val="000000"/>
                </a:solidFill>
                <a:latin typeface="Courier New" panose="02070309020205020404" pitchFamily="49" charset="0"/>
                <a:cs typeface="Courier New" panose="02070309020205020404" pitchFamily="49" charset="0"/>
              </a:rPr>
              <a:t>}</a:t>
            </a:r>
          </a:p>
          <a:p>
            <a:pPr>
              <a:lnSpc>
                <a:spcPct val="80000"/>
              </a:lnSpc>
              <a:spcBef>
                <a:spcPts val="0"/>
              </a:spcBef>
              <a:buNone/>
            </a:pPr>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024587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48861"/>
          </a:xfrm>
        </p:spPr>
        <p:txBody>
          <a:bodyPr/>
          <a:lstStyle/>
          <a:p>
            <a:r>
              <a:rPr lang="en-US" dirty="0"/>
              <a:t>Solution to Producer/Consumer (</a:t>
            </a:r>
            <a:r>
              <a:rPr lang="en-US" dirty="0" err="1"/>
              <a:t>cont</a:t>
            </a:r>
            <a:r>
              <a:rPr lang="en-US" dirty="0"/>
              <a:t>)</a:t>
            </a:r>
          </a:p>
        </p:txBody>
      </p:sp>
      <p:sp>
        <p:nvSpPr>
          <p:cNvPr id="3" name="Content Placeholder 2"/>
          <p:cNvSpPr>
            <a:spLocks noGrp="1"/>
          </p:cNvSpPr>
          <p:nvPr>
            <p:ph idx="1"/>
          </p:nvPr>
        </p:nvSpPr>
        <p:spPr>
          <a:xfrm>
            <a:off x="838200" y="1547446"/>
            <a:ext cx="10515600" cy="5028101"/>
          </a:xfrm>
        </p:spPr>
        <p:txBody>
          <a:bodyPr/>
          <a:lstStyle/>
          <a:p>
            <a:pPr>
              <a:buFont typeface="Wingdings" panose="05000000000000000000" pitchFamily="2" charset="2"/>
              <a:buChar char="§"/>
            </a:pPr>
            <a:r>
              <a:rPr lang="en-US" dirty="0"/>
              <a:t>Each producer invokes place() operation as follows:</a:t>
            </a:r>
          </a:p>
          <a:p>
            <a:pPr marL="457200" lvl="1" indent="0">
              <a:buNone/>
            </a:pPr>
            <a:r>
              <a:rPr lang="en-US" dirty="0"/>
              <a:t>. . .</a:t>
            </a:r>
          </a:p>
          <a:p>
            <a:pPr marL="457200" lvl="1" indent="0">
              <a:buNone/>
            </a:pPr>
            <a:r>
              <a:rPr lang="en-US" dirty="0"/>
              <a:t>produce message m;</a:t>
            </a:r>
          </a:p>
          <a:p>
            <a:pPr marL="457200" lvl="1" indent="0">
              <a:buNone/>
            </a:pPr>
            <a:r>
              <a:rPr lang="en-US" dirty="0"/>
              <a:t>bounded-</a:t>
            </a:r>
            <a:r>
              <a:rPr lang="en-US" dirty="0" err="1"/>
              <a:t>buffer.place</a:t>
            </a:r>
            <a:r>
              <a:rPr lang="en-US" dirty="0"/>
              <a:t> (m);</a:t>
            </a:r>
          </a:p>
          <a:p>
            <a:pPr marL="457200" lvl="1" indent="0">
              <a:buNone/>
            </a:pPr>
            <a:r>
              <a:rPr lang="en-US" dirty="0"/>
              <a:t>. . .</a:t>
            </a:r>
          </a:p>
          <a:p>
            <a:pPr>
              <a:buFont typeface="Wingdings" panose="05000000000000000000" pitchFamily="2" charset="2"/>
              <a:buChar char="§"/>
            </a:pPr>
            <a:r>
              <a:rPr lang="en-US" dirty="0"/>
              <a:t>Each consumer invokes remove() operation as follows:</a:t>
            </a:r>
          </a:p>
          <a:p>
            <a:pPr marL="457200" lvl="1" indent="0">
              <a:buNone/>
            </a:pPr>
            <a:r>
              <a:rPr lang="en-US" dirty="0"/>
              <a:t>. . .</a:t>
            </a:r>
          </a:p>
          <a:p>
            <a:pPr marL="457200" lvl="1" indent="0">
              <a:buNone/>
            </a:pPr>
            <a:r>
              <a:rPr lang="en-US" dirty="0"/>
              <a:t>bounded-</a:t>
            </a:r>
            <a:r>
              <a:rPr lang="en-US" dirty="0" err="1"/>
              <a:t>buffer.remove</a:t>
            </a:r>
            <a:r>
              <a:rPr lang="en-US" dirty="0"/>
              <a:t>(m);</a:t>
            </a:r>
          </a:p>
          <a:p>
            <a:pPr marL="457200" lvl="1" indent="0">
              <a:buNone/>
            </a:pPr>
            <a:r>
              <a:rPr lang="en-US" dirty="0"/>
              <a:t>consume message m;</a:t>
            </a:r>
          </a:p>
          <a:p>
            <a:pPr marL="457200" lvl="1" indent="0">
              <a:buNone/>
            </a:pPr>
            <a:r>
              <a:rPr lang="en-US" dirty="0"/>
              <a:t>. . .</a:t>
            </a:r>
          </a:p>
        </p:txBody>
      </p:sp>
    </p:spTree>
    <p:extLst>
      <p:ext uri="{BB962C8B-B14F-4D97-AF65-F5344CB8AC3E}">
        <p14:creationId xmlns:p14="http://schemas.microsoft.com/office/powerpoint/2010/main" val="2611915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Resuming Processes within a Monitor</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If several processes queued on condition x, and </a:t>
            </a:r>
            <a:r>
              <a:rPr lang="en-US" sz="3200" dirty="0" err="1"/>
              <a:t>x.signal</a:t>
            </a:r>
            <a:r>
              <a:rPr lang="en-US" sz="3200" dirty="0"/>
              <a:t>() is executed, which should be resumed?</a:t>
            </a:r>
          </a:p>
          <a:p>
            <a:pPr>
              <a:buFont typeface="Wingdings" panose="05000000000000000000" pitchFamily="2" charset="2"/>
              <a:buChar char="§"/>
            </a:pPr>
            <a:r>
              <a:rPr lang="en-US" sz="3200" dirty="0"/>
              <a:t>FCFS frequently not adequate</a:t>
            </a:r>
          </a:p>
          <a:p>
            <a:pPr>
              <a:buFont typeface="Wingdings" panose="05000000000000000000" pitchFamily="2" charset="2"/>
              <a:buChar char="§"/>
            </a:pPr>
            <a:r>
              <a:rPr lang="en-US" sz="3200" dirty="0"/>
              <a:t>Conditional-wait construct of the form </a:t>
            </a:r>
            <a:r>
              <a:rPr lang="en-US" sz="3200" dirty="0" err="1"/>
              <a:t>x.wait</a:t>
            </a:r>
            <a:r>
              <a:rPr lang="en-US" sz="3200" dirty="0"/>
              <a:t>(c)</a:t>
            </a:r>
          </a:p>
          <a:p>
            <a:pPr lvl="1"/>
            <a:r>
              <a:rPr lang="en-US" sz="2800" dirty="0"/>
              <a:t>Where c is priority number</a:t>
            </a:r>
          </a:p>
          <a:p>
            <a:pPr lvl="1"/>
            <a:r>
              <a:rPr lang="en-US" sz="2800" dirty="0"/>
              <a:t>Processes with lowest number (highest priority) is scheduled next</a:t>
            </a:r>
          </a:p>
          <a:p>
            <a:pPr lvl="1"/>
            <a:endParaRPr lang="en-US" sz="2800" dirty="0"/>
          </a:p>
        </p:txBody>
      </p:sp>
    </p:spTree>
    <p:extLst>
      <p:ext uri="{BB962C8B-B14F-4D97-AF65-F5344CB8AC3E}">
        <p14:creationId xmlns:p14="http://schemas.microsoft.com/office/powerpoint/2010/main" val="41379796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Single Resource Allocation Problem</a:t>
            </a:r>
          </a:p>
        </p:txBody>
      </p:sp>
      <p:sp>
        <p:nvSpPr>
          <p:cNvPr id="3" name="Content Placeholder 2"/>
          <p:cNvSpPr>
            <a:spLocks noGrp="1"/>
          </p:cNvSpPr>
          <p:nvPr>
            <p:ph idx="1"/>
          </p:nvPr>
        </p:nvSpPr>
        <p:spPr>
          <a:xfrm>
            <a:off x="838200" y="1325563"/>
            <a:ext cx="10515600" cy="4851400"/>
          </a:xfrm>
        </p:spPr>
        <p:txBody>
          <a:bodyPr/>
          <a:lstStyle/>
          <a:p>
            <a:pPr>
              <a:buFont typeface="Wingdings" panose="05000000000000000000" pitchFamily="2" charset="2"/>
              <a:buChar char="§"/>
            </a:pPr>
            <a:r>
              <a:rPr lang="en-US" sz="3200" dirty="0"/>
              <a:t>Allocate a single resource among competing processes using priority numbers that specify the maximum time a process plans to use the resource</a:t>
            </a:r>
          </a:p>
          <a:p>
            <a:pPr marL="914400" lvl="2" indent="0">
              <a:buNone/>
            </a:pPr>
            <a:r>
              <a:rPr lang="en-US" sz="2800" dirty="0" err="1">
                <a:latin typeface="Courier New" panose="02070309020205020404" pitchFamily="49" charset="0"/>
                <a:cs typeface="Courier New" panose="02070309020205020404" pitchFamily="49" charset="0"/>
              </a:rPr>
              <a:t>R.acquire</a:t>
            </a:r>
            <a:r>
              <a:rPr lang="en-US" sz="2800" dirty="0">
                <a:latin typeface="Courier New" panose="02070309020205020404" pitchFamily="49" charset="0"/>
                <a:cs typeface="Courier New" panose="02070309020205020404" pitchFamily="49" charset="0"/>
              </a:rPr>
              <a:t>(t);</a:t>
            </a:r>
          </a:p>
          <a:p>
            <a:pPr marL="914400" lvl="2" indent="0">
              <a:buNone/>
            </a:pPr>
            <a:r>
              <a:rPr lang="en-US" sz="2800" dirty="0">
                <a:latin typeface="Courier New" panose="02070309020205020404" pitchFamily="49" charset="0"/>
                <a:cs typeface="Courier New" panose="02070309020205020404" pitchFamily="49" charset="0"/>
              </a:rPr>
              <a:t>. . .</a:t>
            </a:r>
          </a:p>
          <a:p>
            <a:pPr marL="914400" lvl="2" indent="0">
              <a:buNone/>
            </a:pPr>
            <a:r>
              <a:rPr lang="en-US" sz="2800" dirty="0">
                <a:latin typeface="Courier New" panose="02070309020205020404" pitchFamily="49" charset="0"/>
                <a:cs typeface="Courier New" panose="02070309020205020404" pitchFamily="49" charset="0"/>
              </a:rPr>
              <a:t>Access the resource</a:t>
            </a:r>
          </a:p>
          <a:p>
            <a:pPr marL="914400" lvl="2" indent="0">
              <a:buNone/>
            </a:pPr>
            <a:r>
              <a:rPr lang="en-US" sz="2800" dirty="0">
                <a:latin typeface="Courier New" panose="02070309020205020404" pitchFamily="49" charset="0"/>
                <a:cs typeface="Courier New" panose="02070309020205020404" pitchFamily="49" charset="0"/>
              </a:rPr>
              <a:t>. . .</a:t>
            </a:r>
          </a:p>
          <a:p>
            <a:pPr marL="914400" lvl="2" indent="0">
              <a:buNone/>
            </a:pPr>
            <a:r>
              <a:rPr lang="en-US" sz="2800" dirty="0" err="1">
                <a:latin typeface="Courier New" panose="02070309020205020404" pitchFamily="49" charset="0"/>
                <a:cs typeface="Courier New" panose="02070309020205020404" pitchFamily="49" charset="0"/>
              </a:rPr>
              <a:t>R.release</a:t>
            </a:r>
            <a:r>
              <a:rPr lang="en-US" sz="2800" dirty="0">
                <a:latin typeface="Courier New" panose="02070309020205020404" pitchFamily="49" charset="0"/>
                <a:cs typeface="Courier New" panose="02070309020205020404" pitchFamily="49" charset="0"/>
              </a:rPr>
              <a:t>;</a:t>
            </a:r>
          </a:p>
          <a:p>
            <a:pPr marL="0" indent="0">
              <a:buNone/>
            </a:pPr>
            <a:r>
              <a:rPr lang="en-US" sz="3200" dirty="0"/>
              <a:t>  where R is an instance of type </a:t>
            </a:r>
            <a:r>
              <a:rPr lang="en-US" sz="3200" dirty="0" err="1"/>
              <a:t>ResourceAllocator</a:t>
            </a:r>
            <a:endParaRPr lang="en-US" sz="3200" dirty="0"/>
          </a:p>
          <a:p>
            <a:endParaRPr lang="en-US" dirty="0"/>
          </a:p>
        </p:txBody>
      </p:sp>
    </p:spTree>
    <p:extLst>
      <p:ext uri="{BB962C8B-B14F-4D97-AF65-F5344CB8AC3E}">
        <p14:creationId xmlns:p14="http://schemas.microsoft.com/office/powerpoint/2010/main" val="39732753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289538"/>
          </a:xfrm>
        </p:spPr>
        <p:txBody>
          <a:bodyPr/>
          <a:lstStyle/>
          <a:p>
            <a:r>
              <a:rPr lang="en-US" dirty="0"/>
              <a:t>A Monitor to Allocate Single Resource</a:t>
            </a:r>
          </a:p>
        </p:txBody>
      </p:sp>
      <p:sp>
        <p:nvSpPr>
          <p:cNvPr id="3" name="Content Placeholder 2"/>
          <p:cNvSpPr>
            <a:spLocks noGrp="1"/>
          </p:cNvSpPr>
          <p:nvPr>
            <p:ph idx="1"/>
          </p:nvPr>
        </p:nvSpPr>
        <p:spPr>
          <a:xfrm>
            <a:off x="791308" y="1289538"/>
            <a:ext cx="10515600" cy="5568461"/>
          </a:xfrm>
        </p:spPr>
        <p:txBody>
          <a:bodyPr>
            <a:normAutofit fontScale="77500" lnSpcReduction="20000"/>
          </a:bodyPr>
          <a:lstStyle/>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monitor </a:t>
            </a:r>
            <a:r>
              <a:rPr lang="en-US" altLang="en-US" dirty="0" err="1">
                <a:solidFill>
                  <a:srgbClr val="000000"/>
                </a:solidFill>
                <a:latin typeface="Courier New" panose="02070309020205020404" pitchFamily="49" charset="0"/>
                <a:cs typeface="Courier New" panose="02070309020205020404" pitchFamily="49" charset="0"/>
              </a:rPr>
              <a:t>ResourceAllocator</a:t>
            </a:r>
            <a:r>
              <a:rPr lang="en-US" altLang="en-US" dirty="0">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boolean</a:t>
            </a:r>
            <a:r>
              <a:rPr lang="en-US" altLang="en-US" dirty="0">
                <a:solidFill>
                  <a:srgbClr val="000000"/>
                </a:solidFill>
                <a:latin typeface="Courier New" panose="02070309020205020404" pitchFamily="49" charset="0"/>
                <a:cs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void acquire(</a:t>
            </a:r>
            <a:r>
              <a:rPr lang="en-US" altLang="en-US" dirty="0" err="1">
                <a:solidFill>
                  <a:srgbClr val="000000"/>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time)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x.wait</a:t>
            </a:r>
            <a:r>
              <a:rPr lang="en-US" altLang="en-US" dirty="0">
                <a:solidFill>
                  <a:srgbClr val="000000"/>
                </a:solidFill>
                <a:latin typeface="Courier New" panose="02070309020205020404" pitchFamily="49" charset="0"/>
                <a:cs typeface="Courier New" panose="02070309020205020404" pitchFamily="49" charset="0"/>
              </a:rPr>
              <a:t>(time); // processes queue in shortest</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 job first order</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x.signal</a:t>
            </a:r>
            <a:r>
              <a:rPr lang="en-US" altLang="en-US" dirty="0">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urier New" panose="02070309020205020404" pitchFamily="49" charset="0"/>
                <a:cs typeface="Courier New" panose="02070309020205020404" pitchFamily="49" charset="0"/>
              </a:rPr>
              <a:t>}</a:t>
            </a:r>
            <a:r>
              <a:rPr lang="en-US" altLang="en-US" b="1" dirty="0"/>
              <a:t>	</a:t>
            </a:r>
            <a:endParaRPr lang="en-US" dirty="0"/>
          </a:p>
        </p:txBody>
      </p:sp>
    </p:spTree>
    <p:extLst>
      <p:ext uri="{BB962C8B-B14F-4D97-AF65-F5344CB8AC3E}">
        <p14:creationId xmlns:p14="http://schemas.microsoft.com/office/powerpoint/2010/main" val="3933404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Synchronization Example - Linux</a:t>
            </a:r>
          </a:p>
        </p:txBody>
      </p:sp>
      <p:sp>
        <p:nvSpPr>
          <p:cNvPr id="3" name="Content Placeholder 2"/>
          <p:cNvSpPr>
            <a:spLocks noGrp="1"/>
          </p:cNvSpPr>
          <p:nvPr>
            <p:ph idx="1"/>
          </p:nvPr>
        </p:nvSpPr>
        <p:spPr>
          <a:xfrm>
            <a:off x="838200" y="1325564"/>
            <a:ext cx="10515600" cy="4851400"/>
          </a:xfrm>
        </p:spPr>
        <p:txBody>
          <a:bodyPr/>
          <a:lstStyle/>
          <a:p>
            <a:pPr>
              <a:buFont typeface="Wingdings" panose="05000000000000000000" pitchFamily="2" charset="2"/>
              <a:buChar char="§"/>
            </a:pPr>
            <a:r>
              <a:rPr lang="en-US" sz="3200" dirty="0"/>
              <a:t>Prior to kernel Version 2.6, disables interrupts to implement short critical sections.  Version 2.6 and later, fully preemptive</a:t>
            </a:r>
          </a:p>
          <a:p>
            <a:pPr>
              <a:buFont typeface="Wingdings" panose="05000000000000000000" pitchFamily="2" charset="2"/>
              <a:buChar char="§"/>
            </a:pPr>
            <a:r>
              <a:rPr lang="en-US" sz="3200" dirty="0"/>
              <a:t>Linux provides:</a:t>
            </a:r>
          </a:p>
          <a:p>
            <a:pPr lvl="1"/>
            <a:r>
              <a:rPr lang="en-US" sz="2800" dirty="0"/>
              <a:t>Atomic integers</a:t>
            </a:r>
          </a:p>
          <a:p>
            <a:pPr lvl="1"/>
            <a:r>
              <a:rPr lang="en-US" sz="2800" dirty="0" err="1"/>
              <a:t>Mutex</a:t>
            </a:r>
            <a:r>
              <a:rPr lang="en-US" sz="2800"/>
              <a:t> locks</a:t>
            </a:r>
            <a:endParaRPr lang="en-US" sz="2800" dirty="0"/>
          </a:p>
          <a:p>
            <a:pPr lvl="1"/>
            <a:r>
              <a:rPr lang="en-US" sz="2800" dirty="0"/>
              <a:t>Semaphores</a:t>
            </a:r>
          </a:p>
          <a:p>
            <a:pPr lvl="1"/>
            <a:r>
              <a:rPr lang="en-US" sz="2800" dirty="0"/>
              <a:t>Spinlocks</a:t>
            </a:r>
          </a:p>
          <a:p>
            <a:pPr lvl="1"/>
            <a:r>
              <a:rPr lang="en-US" sz="2800" dirty="0"/>
              <a:t>Reader-writer versions of both semaphore and spinlock</a:t>
            </a:r>
          </a:p>
          <a:p>
            <a:pPr>
              <a:buFont typeface="Wingdings" panose="05000000000000000000" pitchFamily="2" charset="2"/>
              <a:buChar char="§"/>
            </a:pPr>
            <a:r>
              <a:rPr lang="en-US" sz="3200" dirty="0"/>
              <a:t>On single-CPU system, spinlocks are replaced by enabling and disabling kernel preemption</a:t>
            </a:r>
          </a:p>
        </p:txBody>
      </p:sp>
    </p:spTree>
    <p:extLst>
      <p:ext uri="{BB962C8B-B14F-4D97-AF65-F5344CB8AC3E}">
        <p14:creationId xmlns:p14="http://schemas.microsoft.com/office/powerpoint/2010/main" val="2585922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6414</TotalTime>
  <Words>6503</Words>
  <Application>Microsoft Office PowerPoint</Application>
  <PresentationFormat>Widescreen</PresentationFormat>
  <Paragraphs>772</Paragraphs>
  <Slides>47</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Arial</vt:lpstr>
      <vt:lpstr>Calibri</vt:lpstr>
      <vt:lpstr>Calibri Light</vt:lpstr>
      <vt:lpstr>Cambria Math</vt:lpstr>
      <vt:lpstr>Courier New</vt:lpstr>
      <vt:lpstr>Monotype Sorts</vt:lpstr>
      <vt:lpstr>MT Extra</vt:lpstr>
      <vt:lpstr>Symbol</vt:lpstr>
      <vt:lpstr>Wingdings</vt:lpstr>
      <vt:lpstr>Office Theme</vt:lpstr>
      <vt:lpstr>CECS 326 Operating Systems</vt:lpstr>
      <vt:lpstr>Background</vt:lpstr>
      <vt:lpstr>Producer-Consumer Problem</vt:lpstr>
      <vt:lpstr>Race Condition</vt:lpstr>
      <vt:lpstr>Race Condition</vt:lpstr>
      <vt:lpstr>Critical Section (CS)</vt:lpstr>
      <vt:lpstr>Requirements of Solution to Critical-Section Problem</vt:lpstr>
      <vt:lpstr>Simple Algorithm (1) for Two Processes</vt:lpstr>
      <vt:lpstr>Simple Algorithm (2) for Two Processes</vt:lpstr>
      <vt:lpstr>Peterson’s Algorithm for Two Processes</vt:lpstr>
      <vt:lpstr>Critical Section Handling in OS</vt:lpstr>
      <vt:lpstr>Synchronization Hardware</vt:lpstr>
      <vt:lpstr>A Simple Idea For N Processes</vt:lpstr>
      <vt:lpstr>A Simple Idea For N Processes (cont.)</vt:lpstr>
      <vt:lpstr>Solution Using test_and_set()</vt:lpstr>
      <vt:lpstr>Bounded-waiting Mutual Exclusion with test_and_set()</vt:lpstr>
      <vt:lpstr>Mutex Lock</vt:lpstr>
      <vt:lpstr>acquire() and release()</vt:lpstr>
      <vt:lpstr>Semaphore – with busy waiting</vt:lpstr>
      <vt:lpstr>Semaphore Usage</vt:lpstr>
      <vt:lpstr>Semaphore Implementation</vt:lpstr>
      <vt:lpstr>Semaphore Implementation with No Busy Waiting</vt:lpstr>
      <vt:lpstr>Semaphore Implementation with No Busy Waiting</vt:lpstr>
      <vt:lpstr>Classical Problems of Synchronization</vt:lpstr>
      <vt:lpstr>Bounded-Buffer Problem</vt:lpstr>
      <vt:lpstr>Bounded-Buffer Problem - Semaphore Solution</vt:lpstr>
      <vt:lpstr>Readers-Writers Problem</vt:lpstr>
      <vt:lpstr>Readers-Writers Problem</vt:lpstr>
      <vt:lpstr>Dining-Philosophers Problem</vt:lpstr>
      <vt:lpstr>Dining-Philosophers Problem</vt:lpstr>
      <vt:lpstr>Dining-Philosophers Problem</vt:lpstr>
      <vt:lpstr>Problems with Semaphores</vt:lpstr>
      <vt:lpstr>Monitors</vt:lpstr>
      <vt:lpstr>Schematic View of a Monitor</vt:lpstr>
      <vt:lpstr>Condition Variables</vt:lpstr>
      <vt:lpstr>Schematic View of Monitor with Condition Variables</vt:lpstr>
      <vt:lpstr>Choice of Implementation of Condition Variables</vt:lpstr>
      <vt:lpstr>Monitor Solution to Dining Philosophers</vt:lpstr>
      <vt:lpstr>Solution to Dining Philosophers (cont.)</vt:lpstr>
      <vt:lpstr>Solution to Dining Philosophers (cont.)</vt:lpstr>
      <vt:lpstr>Monitor Solution to Producer/Consumer Problem</vt:lpstr>
      <vt:lpstr>Solution to Producer/Consumer (cont)</vt:lpstr>
      <vt:lpstr>Solution to Producer/Consumer (cont)</vt:lpstr>
      <vt:lpstr>Resuming Processes within a Monitor</vt:lpstr>
      <vt:lpstr>Single Resource Allocation Problem</vt:lpstr>
      <vt:lpstr>A Monitor to Allocate Single Resource</vt:lpstr>
      <vt:lpstr>Synchronization Example - Linux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CECS 326</dc:title>
  <dc:creator>Dr. Shui Lam</dc:creator>
  <cp:lastModifiedBy>Phong Ngo</cp:lastModifiedBy>
  <cp:revision>273</cp:revision>
  <dcterms:created xsi:type="dcterms:W3CDTF">2017-01-24T06:41:16Z</dcterms:created>
  <dcterms:modified xsi:type="dcterms:W3CDTF">2026-07-21T17:36:21Z</dcterms:modified>
</cp:coreProperties>
</file>