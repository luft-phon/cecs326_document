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6"/>
  </p:notesMasterIdLst>
  <p:handoutMasterIdLst>
    <p:handoutMasterId r:id="rId77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96" r:id="rId16"/>
    <p:sldId id="345" r:id="rId17"/>
    <p:sldId id="397" r:id="rId18"/>
    <p:sldId id="398" r:id="rId19"/>
    <p:sldId id="347" r:id="rId20"/>
    <p:sldId id="348" r:id="rId21"/>
    <p:sldId id="399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404" r:id="rId40"/>
    <p:sldId id="366" r:id="rId41"/>
    <p:sldId id="367" r:id="rId42"/>
    <p:sldId id="400" r:id="rId43"/>
    <p:sldId id="368" r:id="rId44"/>
    <p:sldId id="369" r:id="rId45"/>
    <p:sldId id="370" r:id="rId46"/>
    <p:sldId id="405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380" r:id="rId57"/>
    <p:sldId id="381" r:id="rId58"/>
    <p:sldId id="382" r:id="rId59"/>
    <p:sldId id="383" r:id="rId60"/>
    <p:sldId id="384" r:id="rId61"/>
    <p:sldId id="406" r:id="rId62"/>
    <p:sldId id="385" r:id="rId63"/>
    <p:sldId id="386" r:id="rId64"/>
    <p:sldId id="401" r:id="rId65"/>
    <p:sldId id="387" r:id="rId66"/>
    <p:sldId id="388" r:id="rId67"/>
    <p:sldId id="402" r:id="rId68"/>
    <p:sldId id="389" r:id="rId69"/>
    <p:sldId id="390" r:id="rId70"/>
    <p:sldId id="391" r:id="rId71"/>
    <p:sldId id="392" r:id="rId72"/>
    <p:sldId id="393" r:id="rId73"/>
    <p:sldId id="394" r:id="rId74"/>
    <p:sldId id="395" r:id="rId7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74598" autoAdjust="0"/>
  </p:normalViewPr>
  <p:slideViewPr>
    <p:cSldViewPr snapToGrid="0">
      <p:cViewPr varScale="1">
        <p:scale>
          <a:sx n="68" d="100"/>
          <a:sy n="68" d="100"/>
        </p:scale>
        <p:origin x="761" y="45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55"/>
    </p:cViewPr>
  </p:notesTextViewPr>
  <p:sorterViewPr>
    <p:cViewPr>
      <p:scale>
        <a:sx n="66" d="100"/>
        <a:sy n="66" d="100"/>
      </p:scale>
      <p:origin x="0" y="12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ng Fahim" userId="d99f17d917874ef7" providerId="LiveId" clId="{2D762BF3-38D9-4A57-A1ED-FF65B8D2B059}"/>
    <pc:docChg chg="modSld">
      <pc:chgData name="Arjang Fahim" userId="d99f17d917874ef7" providerId="LiveId" clId="{2D762BF3-38D9-4A57-A1ED-FF65B8D2B059}" dt="2026-07-25T01:48:17.125" v="2" actId="34476"/>
      <pc:docMkLst>
        <pc:docMk/>
      </pc:docMkLst>
      <pc:sldChg chg="mod modShow">
        <pc:chgData name="Arjang Fahim" userId="d99f17d917874ef7" providerId="LiveId" clId="{2D762BF3-38D9-4A57-A1ED-FF65B8D2B059}" dt="2026-07-25T01:47:50.061" v="0" actId="34476"/>
        <pc:sldMkLst>
          <pc:docMk/>
          <pc:sldMk cId="0" sldId="347"/>
        </pc:sldMkLst>
      </pc:sldChg>
      <pc:sldChg chg="mod modShow">
        <pc:chgData name="Arjang Fahim" userId="d99f17d917874ef7" providerId="LiveId" clId="{2D762BF3-38D9-4A57-A1ED-FF65B8D2B059}" dt="2026-07-25T01:48:09.096" v="1" actId="34476"/>
        <pc:sldMkLst>
          <pc:docMk/>
          <pc:sldMk cId="0" sldId="365"/>
        </pc:sldMkLst>
      </pc:sldChg>
      <pc:sldChg chg="mod modShow">
        <pc:chgData name="Arjang Fahim" userId="d99f17d917874ef7" providerId="LiveId" clId="{2D762BF3-38D9-4A57-A1ED-FF65B8D2B059}" dt="2026-07-25T01:47:50.061" v="0" actId="34476"/>
        <pc:sldMkLst>
          <pc:docMk/>
          <pc:sldMk cId="0" sldId="397"/>
        </pc:sldMkLst>
      </pc:sldChg>
      <pc:sldChg chg="mod modShow">
        <pc:chgData name="Arjang Fahim" userId="d99f17d917874ef7" providerId="LiveId" clId="{2D762BF3-38D9-4A57-A1ED-FF65B8D2B059}" dt="2026-07-25T01:47:50.061" v="0" actId="34476"/>
        <pc:sldMkLst>
          <pc:docMk/>
          <pc:sldMk cId="0" sldId="398"/>
        </pc:sldMkLst>
      </pc:sldChg>
      <pc:sldChg chg="mod modShow">
        <pc:chgData name="Arjang Fahim" userId="d99f17d917874ef7" providerId="LiveId" clId="{2D762BF3-38D9-4A57-A1ED-FF65B8D2B059}" dt="2026-07-25T01:48:17.125" v="2" actId="34476"/>
        <pc:sldMkLst>
          <pc:docMk/>
          <pc:sldMk cId="1142362644" sldId="4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E056A409-E1BC-48B9-AC81-A3540B2722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65C0C463-B400-43B2-B86C-8AB214EDB78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1E50A4-2A19-4AFF-8F36-4CC7B43BAB75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D97E69-BEB3-4315-8991-A094DCFF253A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865443-C134-4DFE-AFC9-CF5539D879E1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FF970F-1F33-44A6-9C11-99F51435B0B4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2A5491-F629-44FC-866A-B8095A01C49A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Base register: </a:t>
            </a:r>
            <a:r>
              <a:rPr lang="en-US" altLang="en-US" dirty="0" err="1">
                <a:latin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process dc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Limit register: </a:t>
            </a:r>
            <a:r>
              <a:rPr lang="en-US" altLang="en-US" dirty="0" err="1">
                <a:latin typeface="Times New Roman" panose="02020603050405020304" pitchFamily="18" charset="0"/>
              </a:rPr>
              <a:t>kích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thước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0 &lt; Logical Adress &lt; Limit register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in </a:t>
            </a:r>
            <a:r>
              <a:rPr lang="en-US" dirty="0" err="1"/>
              <a:t>src</a:t>
            </a:r>
            <a:r>
              <a:rPr lang="en-US" dirty="0"/>
              <a:t> code = Symbolic (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Address binding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ctrinh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endParaRPr lang="en-US" dirty="0"/>
          </a:p>
          <a:p>
            <a:endParaRPr lang="en-US" dirty="0"/>
          </a:p>
          <a:p>
            <a:pPr lvl="0"/>
            <a:r>
              <a:rPr lang="en-US" b="1" dirty="0"/>
              <a:t>Symbolic address: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total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count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Relocatable address: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“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14 byte” </a:t>
            </a:r>
          </a:p>
          <a:p>
            <a:pPr lvl="0"/>
            <a:r>
              <a:rPr lang="en-US" b="1" dirty="0"/>
              <a:t>Absolute address: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74014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20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3C066A-71A4-406A-972B-F68FEE2C9228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Address binding </a:t>
            </a:r>
            <a:r>
              <a:rPr lang="en-US" altLang="en-US" dirty="0" err="1">
                <a:latin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3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điểm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</a:rPr>
              <a:t>Compile time: used when memory location is known in advanced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Times New Roman" panose="02020603050405020304" pitchFamily="18" charset="0"/>
              </a:rPr>
              <a:t>Load time: used when final memory is unknown at compile time</a:t>
            </a:r>
          </a:p>
          <a:p>
            <a:pPr marL="171450" indent="-171450">
              <a:buFontTx/>
              <a:buChar char="-"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1D2BA7-7A15-4183-A07F-4E86FCC38659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>
                <a:latin typeface="Times New Roman" panose="02020603050405020304" pitchFamily="18" charset="0"/>
              </a:rPr>
              <a:t> dt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E80976-A37F-4FEF-9B16-20897F697996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690705-AF00-4480-BFD5-5202D1F8EA9A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MMU: </a:t>
            </a:r>
            <a:r>
              <a:rPr lang="en-US" altLang="en-US" dirty="0" err="1">
                <a:latin typeface="Times New Roman" panose="02020603050405020304" pitchFamily="18" charset="0"/>
              </a:rPr>
              <a:t>phần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cứng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map logical address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CPU </a:t>
            </a:r>
            <a:r>
              <a:rPr lang="en-US" altLang="en-US" dirty="0" err="1">
                <a:latin typeface="Times New Roman" panose="02020603050405020304" pitchFamily="18" charset="0"/>
              </a:rPr>
              <a:t>tạo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, map </a:t>
            </a:r>
            <a:r>
              <a:rPr lang="en-US" altLang="en-US" dirty="0" err="1">
                <a:latin typeface="Times New Roman" panose="02020603050405020304" pitchFamily="18" charset="0"/>
              </a:rPr>
              <a:t>tới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dchi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Relocation value: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Physical address: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Logical address: </a:t>
            </a:r>
            <a:r>
              <a:rPr lang="en-US" altLang="en-US" dirty="0" err="1">
                <a:latin typeface="Times New Roman" panose="02020603050405020304" pitchFamily="18" charset="0"/>
              </a:rPr>
              <a:t>độ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lệch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06D98C-D23A-4E9E-862E-BA68175A9DB6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Dynamic loading:  1 </a:t>
            </a:r>
            <a:r>
              <a:rPr lang="en-US" altLang="en-US" dirty="0" err="1">
                <a:latin typeface="Times New Roman" panose="02020603050405020304" pitchFamily="18" charset="0"/>
              </a:rPr>
              <a:t>hàm</a:t>
            </a:r>
            <a:r>
              <a:rPr lang="en-US" altLang="en-US" dirty="0">
                <a:latin typeface="Times New Roman" panose="02020603050405020304" pitchFamily="18" charset="0"/>
              </a:rPr>
              <a:t> dc </a:t>
            </a:r>
            <a:r>
              <a:rPr lang="en-US" altLang="en-US" dirty="0" err="1">
                <a:latin typeface="Times New Roman" panose="02020603050405020304" pitchFamily="18" charset="0"/>
              </a:rPr>
              <a:t>nạp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ctrinh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gọi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đến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nó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tốn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gọi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hàm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dc </a:t>
            </a:r>
            <a:r>
              <a:rPr lang="en-US" altLang="en-US" dirty="0" err="1">
                <a:latin typeface="Times New Roman" panose="02020603050405020304" pitchFamily="18" charset="0"/>
              </a:rPr>
              <a:t>gọi</a:t>
            </a:r>
            <a:r>
              <a:rPr lang="en-US" altLang="en-US" dirty="0">
                <a:latin typeface="Times New Roman" panose="02020603050405020304" pitchFamily="18" charset="0"/>
              </a:rPr>
              <a:t> (ko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dynamic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ctring</a:t>
            </a:r>
            <a:r>
              <a:rPr lang="en-US" altLang="en-US" dirty="0">
                <a:latin typeface="Times New Roman" panose="02020603050405020304" pitchFamily="18" charset="0"/>
              </a:rPr>
              <a:t> execute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nạp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toàn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ctrinh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>
                <a:latin typeface="Times New Roman" panose="02020603050405020304" pitchFamily="18" charset="0"/>
              </a:rPr>
              <a:t> RAM)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E72978-41CD-4D40-8B7E-038CB12BE408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Dynamic Linking: </a:t>
            </a:r>
            <a:r>
              <a:rPr lang="en-US" altLang="en-US" dirty="0" err="1">
                <a:latin typeface="Times New Roman" panose="02020603050405020304" pitchFamily="18" charset="0"/>
              </a:rPr>
              <a:t>liên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chương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thư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viện</a:t>
            </a:r>
            <a:r>
              <a:rPr lang="en-US" altLang="en-US" dirty="0">
                <a:latin typeface="Times New Roman" panose="02020603050405020304" pitchFamily="18" charset="0"/>
              </a:rPr>
              <a:t>	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dirty="0"/>
              <a:t>Stub (</a:t>
            </a:r>
            <a:r>
              <a:rPr lang="en-US" dirty="0" err="1"/>
              <a:t>đoạn</a:t>
            </a:r>
            <a:r>
              <a:rPr lang="en-US" dirty="0"/>
              <a:t> code)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nhảy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routine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3FEF2A-ABCC-494A-BAC6-B6568FD5FAEB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Swaping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tạm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đưa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khỏi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xuống</a:t>
            </a:r>
            <a:r>
              <a:rPr lang="en-US" altLang="en-US" dirty="0">
                <a:latin typeface="Times New Roman" panose="02020603050405020304" pitchFamily="18" charset="0"/>
              </a:rPr>
              <a:t> disk </a:t>
            </a:r>
            <a:r>
              <a:rPr lang="en-US" altLang="en-US" dirty="0" err="1">
                <a:latin typeface="Times New Roman" panose="02020603050405020304" pitchFamily="18" charset="0"/>
              </a:rPr>
              <a:t>nhường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chỗ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Backing store: 1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</a:rPr>
              <a:t> ổ </a:t>
            </a:r>
            <a:r>
              <a:rPr lang="en-US" altLang="en-US" dirty="0" err="1">
                <a:latin typeface="Times New Roman" panose="02020603050405020304" pitchFamily="18" charset="0"/>
              </a:rPr>
              <a:t>đĩa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chứa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đưa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khỏi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Roll out, roll in: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higher-priority-process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roll out process </a:t>
            </a:r>
            <a:r>
              <a:rPr lang="en-US" altLang="en-US" dirty="0" err="1">
                <a:latin typeface="Times New Roman" panose="02020603050405020304" pitchFamily="18" charset="0"/>
              </a:rPr>
              <a:t>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tiên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xuống</a:t>
            </a:r>
            <a:r>
              <a:rPr lang="en-US" altLang="en-US" dirty="0">
                <a:latin typeface="Times New Roman" panose="02020603050405020304" pitchFamily="18" charset="0"/>
              </a:rPr>
              <a:t> disk </a:t>
            </a:r>
            <a:r>
              <a:rPr lang="en-US" altLang="en-US" dirty="0" err="1">
                <a:latin typeface="Times New Roman" panose="02020603050405020304" pitchFamily="18" charset="0"/>
              </a:rPr>
              <a:t>tạm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, roll in process </a:t>
            </a:r>
            <a:r>
              <a:rPr lang="en-US" altLang="en-US" dirty="0" err="1">
                <a:latin typeface="Times New Roman" panose="02020603050405020304" pitchFamily="18" charset="0"/>
              </a:rPr>
              <a:t>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tiên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cao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lên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Memory image: </a:t>
            </a:r>
            <a:r>
              <a:rPr lang="en-US" altLang="en-US" dirty="0" err="1">
                <a:latin typeface="Times New Roman" panose="02020603050405020304" pitchFamily="18" charset="0"/>
              </a:rPr>
              <a:t>toàn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nội</a:t>
            </a:r>
            <a:r>
              <a:rPr lang="en-US" altLang="en-US" dirty="0">
                <a:latin typeface="Times New Roman" panose="02020603050405020304" pitchFamily="18" charset="0"/>
              </a:rPr>
              <a:t> dung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dc </a:t>
            </a:r>
            <a:r>
              <a:rPr lang="en-US" altLang="en-US" dirty="0" err="1">
                <a:latin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disk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61672D-AC39-4EA5-BF36-53EEB231CBEA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 process may be swapped back to a different physical location</a:t>
            </a:r>
          </a:p>
          <a:p>
            <a:pPr marL="171450" indent="-171450">
              <a:buFontTx/>
              <a:buChar char="-"/>
            </a:pP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swap out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Pending I/O: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I/O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rồi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</a:rPr>
              <a:t> swap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=&gt; Ko </a:t>
            </a:r>
            <a:r>
              <a:rPr lang="en-US" altLang="en-US" dirty="0" err="1">
                <a:latin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đè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process 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BCDC65-8EEA-44BD-A150-9F90E0720F70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only memory actually being used =&gt; reduce swap time (process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100 MB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ＭＳ Ｐゴシック" charset="-128"/>
              </a:rPr>
              <a:t>40 MB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921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buffering: I/O transfer data -&gt; kernel space buffer -&gt; </a:t>
            </a:r>
            <a:r>
              <a:rPr lang="en-US" dirty="0" err="1"/>
              <a:t>đến</a:t>
            </a:r>
            <a:r>
              <a:rPr lang="en-US" dirty="0"/>
              <a:t> buffer </a:t>
            </a:r>
            <a:r>
              <a:rPr lang="en-US" dirty="0" err="1"/>
              <a:t>của</a:t>
            </a:r>
            <a:r>
              <a:rPr lang="en-US" dirty="0"/>
              <a:t> process </a:t>
            </a:r>
            <a:r>
              <a:rPr lang="en-US" dirty="0" err="1"/>
              <a:t>đích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2 buffer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double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overhead: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process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cv </a:t>
            </a:r>
            <a:r>
              <a:rPr lang="en-US" dirty="0" err="1"/>
              <a:t>phụ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446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memory: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dt, </a:t>
            </a:r>
            <a:r>
              <a:rPr lang="en-US" dirty="0" err="1"/>
              <a:t>usb</a:t>
            </a:r>
            <a:r>
              <a:rPr lang="en-US" dirty="0"/>
              <a:t>,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sd</a:t>
            </a:r>
            <a:endParaRPr lang="en-US" dirty="0"/>
          </a:p>
          <a:p>
            <a:endParaRPr lang="en-US" dirty="0"/>
          </a:p>
          <a:p>
            <a:r>
              <a:rPr lang="en-US" dirty="0"/>
              <a:t>Paging: chia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process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nhìu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nhỏ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6942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33C3648-755B-45A1-B5A7-4746E8F9CBC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Contiguous allocation: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mỗi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process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được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cấp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1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vùng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RAM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liền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nhau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956423-C7A6-448A-9A41-8B9187CE9FD2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Relocation register = base register: </a:t>
            </a:r>
            <a:r>
              <a:rPr lang="en-US" altLang="en-US" dirty="0" err="1">
                <a:latin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  <a:r>
              <a:rPr lang="en-US" altLang="en-US" i="1" dirty="0">
                <a:latin typeface="Times New Roman" panose="02020603050405020304" pitchFamily="18" charset="0"/>
              </a:rPr>
              <a:t>: </a:t>
            </a:r>
            <a:r>
              <a:rPr lang="en-US" altLang="en-US" i="0" dirty="0" err="1">
                <a:latin typeface="Times New Roman" panose="02020603050405020304" pitchFamily="18" charset="0"/>
              </a:rPr>
              <a:t>xảy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ra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mỗi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lần</a:t>
            </a:r>
            <a:r>
              <a:rPr lang="en-US" altLang="en-US" i="0" dirty="0">
                <a:latin typeface="Times New Roman" panose="02020603050405020304" pitchFamily="18" charset="0"/>
              </a:rPr>
              <a:t> process </a:t>
            </a:r>
            <a:r>
              <a:rPr lang="en-US" altLang="en-US" i="0" dirty="0" err="1">
                <a:latin typeface="Times New Roman" panose="02020603050405020304" pitchFamily="18" charset="0"/>
              </a:rPr>
              <a:t>truy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cập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bộ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nhớ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trong</a:t>
            </a:r>
            <a:r>
              <a:rPr lang="en-US" altLang="en-US" i="0" dirty="0">
                <a:latin typeface="Times New Roman" panose="02020603050405020304" pitchFamily="18" charset="0"/>
              </a:rPr>
              <a:t> </a:t>
            </a:r>
            <a:r>
              <a:rPr lang="en-US" altLang="en-US" i="0" dirty="0" err="1">
                <a:latin typeface="Times New Roman" panose="02020603050405020304" pitchFamily="18" charset="0"/>
              </a:rPr>
              <a:t>lúc</a:t>
            </a:r>
            <a:r>
              <a:rPr lang="en-US" altLang="en-US" i="0" dirty="0">
                <a:latin typeface="Times New Roman" panose="02020603050405020304" pitchFamily="18" charset="0"/>
              </a:rPr>
              <a:t> execute</a:t>
            </a:r>
            <a:endParaRPr lang="en-US" altLang="en-US" i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C70BA9-6DC8-4078-ACB5-29B416CBAAC8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ECE5F2-9FDE-417E-842F-2E2B63DF637F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Degree of multiprogramming: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process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dung CPU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Fixed </a:t>
            </a:r>
            <a:r>
              <a:rPr lang="en-US" dirty="0"/>
              <a:t>multiple-partition allocation: </a:t>
            </a:r>
            <a:r>
              <a:rPr lang="en-US" dirty="0" err="1"/>
              <a:t>mỗi</a:t>
            </a:r>
            <a:r>
              <a:rPr lang="en-US" dirty="0"/>
              <a:t> process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1 process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fr-FR" altLang="en-US" dirty="0">
                <a:latin typeface="Times New Roman" panose="02020603050405020304" pitchFamily="18" charset="0"/>
              </a:rPr>
              <a:t>Partition 1 → P1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Partition 2 → P2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Partition 3 → P3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Partition 4 → P4</a:t>
            </a:r>
          </a:p>
          <a:p>
            <a:endParaRPr lang="fr-FR" altLang="en-US" dirty="0">
              <a:latin typeface="Times New Roman" panose="02020603050405020304" pitchFamily="18" charset="0"/>
            </a:endParaRPr>
          </a:p>
          <a:p>
            <a:r>
              <a:rPr lang="fr-FR" altLang="en-US" dirty="0">
                <a:latin typeface="Times New Roman" panose="02020603050405020304" pitchFamily="18" charset="0"/>
              </a:rPr>
              <a:t>Variable partition: khi process </a:t>
            </a:r>
            <a:r>
              <a:rPr lang="fr-FR" altLang="en-US" dirty="0" err="1">
                <a:latin typeface="Times New Roman" panose="02020603050405020304" pitchFamily="18" charset="0"/>
              </a:rPr>
              <a:t>đến</a:t>
            </a:r>
            <a:r>
              <a:rPr lang="fr-FR" altLang="en-US" dirty="0">
                <a:latin typeface="Times New Roman" panose="02020603050405020304" pitchFamily="18" charset="0"/>
              </a:rPr>
              <a:t>, OS </a:t>
            </a:r>
            <a:r>
              <a:rPr lang="fr-FR" altLang="en-US" dirty="0" err="1">
                <a:latin typeface="Times New Roman" panose="02020603050405020304" pitchFamily="18" charset="0"/>
              </a:rPr>
              <a:t>tạo</a:t>
            </a:r>
            <a:r>
              <a:rPr lang="fr-FR" altLang="en-US" dirty="0">
                <a:latin typeface="Times New Roman" panose="02020603050405020304" pitchFamily="18" charset="0"/>
              </a:rPr>
              <a:t> partition </a:t>
            </a:r>
            <a:r>
              <a:rPr lang="fr-FR" altLang="en-US" dirty="0" err="1">
                <a:latin typeface="Times New Roman" panose="02020603050405020304" pitchFamily="18" charset="0"/>
              </a:rPr>
              <a:t>có</a:t>
            </a:r>
            <a:r>
              <a:rPr lang="fr-FR" altLang="en-US" dirty="0">
                <a:latin typeface="Times New Roman" panose="02020603050405020304" pitchFamily="18" charset="0"/>
              </a:rPr>
              <a:t> size </a:t>
            </a:r>
            <a:r>
              <a:rPr lang="fr-FR" altLang="en-US" dirty="0" err="1">
                <a:latin typeface="Times New Roman" panose="02020603050405020304" pitchFamily="18" charset="0"/>
              </a:rPr>
              <a:t>gần</a:t>
            </a:r>
            <a:r>
              <a:rPr lang="fr-FR" altLang="en-US" dirty="0">
                <a:latin typeface="Times New Roman" panose="02020603050405020304" pitchFamily="18" charset="0"/>
              </a:rPr>
              <a:t> </a:t>
            </a:r>
            <a:r>
              <a:rPr lang="fr-FR" altLang="en-US" dirty="0" err="1">
                <a:latin typeface="Times New Roman" panose="02020603050405020304" pitchFamily="18" charset="0"/>
              </a:rPr>
              <a:t>bằng</a:t>
            </a:r>
            <a:r>
              <a:rPr lang="fr-FR" altLang="en-US" dirty="0">
                <a:latin typeface="Times New Roman" panose="02020603050405020304" pitchFamily="18" charset="0"/>
              </a:rPr>
              <a:t> process</a:t>
            </a:r>
          </a:p>
          <a:p>
            <a:endParaRPr lang="fr-FR" altLang="en-US" dirty="0">
              <a:latin typeface="Times New Roman" panose="02020603050405020304" pitchFamily="18" charset="0"/>
            </a:endParaRPr>
          </a:p>
          <a:p>
            <a:r>
              <a:rPr lang="fr-FR" altLang="en-US" dirty="0">
                <a:latin typeface="Times New Roman" panose="02020603050405020304" pitchFamily="18" charset="0"/>
              </a:rPr>
              <a:t>Hole : 1 </a:t>
            </a:r>
            <a:r>
              <a:rPr lang="fr-FR" altLang="en-US" dirty="0" err="1">
                <a:latin typeface="Times New Roman" panose="02020603050405020304" pitchFamily="18" charset="0"/>
              </a:rPr>
              <a:t>vùng</a:t>
            </a:r>
            <a:r>
              <a:rPr lang="fr-FR" altLang="en-US" dirty="0">
                <a:latin typeface="Times New Roman" panose="02020603050405020304" pitchFamily="18" charset="0"/>
              </a:rPr>
              <a:t> RAM </a:t>
            </a:r>
            <a:r>
              <a:rPr lang="fr-FR" altLang="en-US" dirty="0" err="1">
                <a:latin typeface="Times New Roman" panose="02020603050405020304" pitchFamily="18" charset="0"/>
              </a:rPr>
              <a:t>đang</a:t>
            </a:r>
            <a:r>
              <a:rPr lang="fr-FR" altLang="en-US" dirty="0">
                <a:latin typeface="Times New Roman" panose="02020603050405020304" pitchFamily="18" charset="0"/>
              </a:rPr>
              <a:t> </a:t>
            </a:r>
            <a:r>
              <a:rPr lang="fr-FR" altLang="en-US" dirty="0" err="1">
                <a:latin typeface="Times New Roman" panose="02020603050405020304" pitchFamily="18" charset="0"/>
              </a:rPr>
              <a:t>trống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EC0EA6-63E9-49BF-A94B-AE6FE7A76230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</a:rPr>
              <a:t>First-fit: </a:t>
            </a:r>
            <a:r>
              <a:rPr lang="en-US" altLang="en-US" b="0" dirty="0">
                <a:latin typeface="Times New Roman" panose="02020603050405020304" pitchFamily="18" charset="0"/>
              </a:rPr>
              <a:t>Hole 1 = 40 MB   → </a:t>
            </a:r>
            <a:r>
              <a:rPr lang="en-US" altLang="en-US" b="0" dirty="0" err="1">
                <a:latin typeface="Times New Roman" panose="02020603050405020304" pitchFamily="18" charset="0"/>
              </a:rPr>
              <a:t>không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đủ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Hole 2 = 100 MB  → </a:t>
            </a:r>
            <a:r>
              <a:rPr lang="en-US" altLang="en-US" b="0" dirty="0" err="1">
                <a:latin typeface="Times New Roman" panose="02020603050405020304" pitchFamily="18" charset="0"/>
              </a:rPr>
              <a:t>đủ</a:t>
            </a:r>
            <a:r>
              <a:rPr lang="en-US" altLang="en-US" b="0" dirty="0">
                <a:latin typeface="Times New Roman" panose="02020603050405020304" pitchFamily="18" charset="0"/>
              </a:rPr>
              <a:t>, </a:t>
            </a:r>
            <a:r>
              <a:rPr lang="en-US" altLang="en-US" b="0" dirty="0" err="1">
                <a:latin typeface="Times New Roman" panose="02020603050405020304" pitchFamily="18" charset="0"/>
              </a:rPr>
              <a:t>chọn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ngay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Hole 3 = 80 MB   → </a:t>
            </a:r>
            <a:r>
              <a:rPr lang="en-US" altLang="en-US" b="0" dirty="0" err="1">
                <a:latin typeface="Times New Roman" panose="02020603050405020304" pitchFamily="18" charset="0"/>
              </a:rPr>
              <a:t>không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cần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kiểm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tra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tiếp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endParaRPr lang="en-US" altLang="en-US" b="1" dirty="0">
              <a:latin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</a:rPr>
              <a:t>Best-fit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70mb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1 = 100 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2 = 80 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3 = 200 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Hole 2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C65D5C4-A9BA-4B74-BF33-3183AD62362F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</a:rPr>
              <a:t>External fragmentation</a:t>
            </a:r>
            <a:r>
              <a:rPr lang="en-US" altLang="en-US" dirty="0">
                <a:latin typeface="Times New Roman" panose="02020603050405020304" pitchFamily="18" charset="0"/>
              </a:rPr>
              <a:t>: RAM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đủ</a:t>
            </a:r>
            <a:r>
              <a:rPr lang="en-US" altLang="en-US" dirty="0">
                <a:latin typeface="Times New Roman" panose="02020603050405020304" pitchFamily="18" charset="0"/>
              </a:rPr>
              <a:t> memory space </a:t>
            </a:r>
            <a:r>
              <a:rPr lang="en-US" altLang="en-US" dirty="0" err="1">
                <a:latin typeface="Times New Roman" panose="02020603050405020304" pitchFamily="18" charset="0"/>
              </a:rPr>
              <a:t>nma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nằm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rác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liền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nhau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P1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40 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P2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30 MB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P3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Hole 50 MB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mới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100MB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phát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b="1" dirty="0">
              <a:latin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</a:rPr>
              <a:t>Internal Fragmentation: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OS allocates 100MB </a:t>
            </a:r>
            <a:r>
              <a:rPr lang="en-US" altLang="en-US" b="0" dirty="0" err="1">
                <a:latin typeface="Times New Roman" panose="02020603050405020304" pitchFamily="18" charset="0"/>
              </a:rPr>
              <a:t>trong</a:t>
            </a:r>
            <a:r>
              <a:rPr lang="en-US" altLang="en-US" b="0" dirty="0">
                <a:latin typeface="Times New Roman" panose="02020603050405020304" pitchFamily="18" charset="0"/>
              </a:rPr>
              <a:t> RAM </a:t>
            </a:r>
            <a:r>
              <a:rPr lang="en-US" altLang="en-US" b="0" dirty="0" err="1">
                <a:latin typeface="Times New Roman" panose="02020603050405020304" pitchFamily="18" charset="0"/>
              </a:rPr>
              <a:t>nma</a:t>
            </a:r>
            <a:r>
              <a:rPr lang="en-US" altLang="en-US" b="0" dirty="0">
                <a:latin typeface="Times New Roman" panose="02020603050405020304" pitchFamily="18" charset="0"/>
              </a:rPr>
              <a:t> process </a:t>
            </a:r>
            <a:r>
              <a:rPr lang="en-US" altLang="en-US" b="0" dirty="0" err="1">
                <a:latin typeface="Times New Roman" panose="02020603050405020304" pitchFamily="18" charset="0"/>
              </a:rPr>
              <a:t>chỉ</a:t>
            </a:r>
            <a:r>
              <a:rPr lang="en-US" altLang="en-US" b="0" dirty="0">
                <a:latin typeface="Times New Roman" panose="02020603050405020304" pitchFamily="18" charset="0"/>
              </a:rPr>
              <a:t> request 70MB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=&gt; 30MB </a:t>
            </a:r>
            <a:r>
              <a:rPr lang="en-US" altLang="en-US" b="0" dirty="0" err="1">
                <a:latin typeface="Times New Roman" panose="02020603050405020304" pitchFamily="18" charset="0"/>
              </a:rPr>
              <a:t>bị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lãng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phí</a:t>
            </a:r>
            <a:endParaRPr lang="en-US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Compaction</a:t>
            </a:r>
            <a:r>
              <a:rPr lang="en-US" dirty="0"/>
              <a:t>: OS di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process </a:t>
            </a:r>
            <a:r>
              <a:rPr lang="en-US" dirty="0" err="1"/>
              <a:t>trong</a:t>
            </a:r>
            <a:r>
              <a:rPr lang="en-US" dirty="0"/>
              <a:t> RAM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hole </a:t>
            </a:r>
            <a:r>
              <a:rPr lang="en-US" dirty="0" err="1"/>
              <a:t>rải</a:t>
            </a:r>
            <a:r>
              <a:rPr lang="en-US" dirty="0"/>
              <a:t> </a:t>
            </a:r>
            <a:r>
              <a:rPr lang="en-US" dirty="0" err="1"/>
              <a:t>rác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1 hole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Reduce external fragmentation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5729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5007C-7EF4-486F-B459-5DAE22BA44FA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Segmentation: </a:t>
            </a:r>
            <a:r>
              <a:rPr lang="en-US" altLang="en-US" dirty="0" err="1">
                <a:latin typeface="Times New Roman" panose="02020603050405020304" pitchFamily="18" charset="0"/>
              </a:rPr>
              <a:t>quản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bằng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</a:rPr>
              <a:t> chia </a:t>
            </a:r>
            <a:r>
              <a:rPr lang="en-US" altLang="en-US" dirty="0" err="1">
                <a:latin typeface="Times New Roman" panose="02020603050405020304" pitchFamily="18" charset="0"/>
              </a:rPr>
              <a:t>ctrinh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ý </a:t>
            </a:r>
            <a:r>
              <a:rPr lang="en-US" altLang="en-US" dirty="0" err="1">
                <a:latin typeface="Times New Roman" panose="02020603050405020304" pitchFamily="18" charset="0"/>
              </a:rPr>
              <a:t>nghĩa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Program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├── Segment 0: Code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├── Segment 1: Data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├── Segment 2: Stack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└── Segment 3: Heap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Chia </a:t>
            </a:r>
            <a:r>
              <a:rPr lang="en-US" altLang="en-US" dirty="0" err="1">
                <a:latin typeface="Times New Roman" panose="02020603050405020304" pitchFamily="18" charset="0"/>
              </a:rPr>
              <a:t>khối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nội</a:t>
            </a:r>
            <a:r>
              <a:rPr lang="en-US" altLang="en-US" dirty="0">
                <a:latin typeface="Times New Roman" panose="02020603050405020304" pitchFamily="18" charset="0"/>
              </a:rPr>
              <a:t> dung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</a:rPr>
              <a:t> paging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chia </a:t>
            </a:r>
            <a:r>
              <a:rPr lang="en-US" altLang="en-US" dirty="0" err="1">
                <a:latin typeface="Times New Roman" panose="02020603050405020304" pitchFamily="18" charset="0"/>
              </a:rPr>
              <a:t>khối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kích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thước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1F054E-488A-4DE7-BC72-6D35D000FB87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DEDF80-102A-49BF-9474-AC6B50B60880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C8C2C9-998F-408E-A2CF-0ECD3C37D1DE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Segment base </a:t>
            </a:r>
            <a:r>
              <a:rPr lang="en-US" altLang="en-US" dirty="0" err="1">
                <a:latin typeface="Times New Roman" panose="02020603050405020304" pitchFamily="18" charset="0"/>
              </a:rPr>
              <a:t>giống</a:t>
            </a:r>
            <a:r>
              <a:rPr lang="en-US" altLang="en-US" dirty="0">
                <a:latin typeface="Times New Roman" panose="02020603050405020304" pitchFamily="18" charset="0"/>
              </a:rPr>
              <a:t> Relocation base register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1EC4A5-AA36-45C4-A370-AF2E3DE5479D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31B50A-D1DB-4911-8F1F-106401FCD1F9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F7A34D-64C8-4926-974B-770DE5FA602C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Paging: non-contiguous,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phép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nằm</a:t>
            </a:r>
            <a:r>
              <a:rPr lang="en-US" altLang="en-US" dirty="0">
                <a:latin typeface="Times New Roman" panose="02020603050405020304" pitchFamily="18" charset="0"/>
              </a:rPr>
              <a:t> ở </a:t>
            </a:r>
            <a:r>
              <a:rPr lang="en-US" altLang="en-US" dirty="0" err="1">
                <a:latin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nhau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 err="1">
                <a:latin typeface="Times New Roman" panose="02020603050405020304" pitchFamily="18" charset="0"/>
              </a:rPr>
              <a:t>Tránh</a:t>
            </a:r>
            <a:r>
              <a:rPr lang="en-US" altLang="en-US" dirty="0">
                <a:latin typeface="Times New Roman" panose="02020603050405020304" pitchFamily="18" charset="0"/>
              </a:rPr>
              <a:t> external-fragmentation. 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Page: </a:t>
            </a:r>
            <a:r>
              <a:rPr lang="en-US" altLang="en-US" dirty="0" err="1">
                <a:latin typeface="Times New Roman" panose="02020603050405020304" pitchFamily="18" charset="0"/>
              </a:rPr>
              <a:t>khối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logical memory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Frame: </a:t>
            </a:r>
            <a:r>
              <a:rPr lang="en-US" altLang="en-US" dirty="0" err="1">
                <a:latin typeface="Times New Roman" panose="02020603050405020304" pitchFamily="18" charset="0"/>
              </a:rPr>
              <a:t>khối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physical memory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21306D-1FC0-4177-9CFF-CC146A4C97C2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Offset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page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Page size = offset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137473-4775-4231-8DA3-E1E3F0F38011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4329D0-B72F-4323-96FF-D29FD58BC798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Page table: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nằm</a:t>
            </a:r>
            <a:r>
              <a:rPr lang="en-US" altLang="en-US" dirty="0">
                <a:latin typeface="Times New Roman" panose="02020603050405020304" pitchFamily="18" charset="0"/>
              </a:rPr>
              <a:t> ở frame </a:t>
            </a:r>
            <a:r>
              <a:rPr lang="en-US" altLang="en-US" dirty="0" err="1">
                <a:latin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RAM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bản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đồ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CPU/MMU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nào</a:t>
            </a:r>
            <a:r>
              <a:rPr lang="en-US" altLang="en-US" dirty="0">
                <a:latin typeface="Times New Roman" panose="02020603050405020304" pitchFamily="18" charset="0"/>
              </a:rPr>
              <a:t> -&gt; frame </a:t>
            </a:r>
            <a:r>
              <a:rPr lang="en-US" altLang="en-US" dirty="0" err="1">
                <a:latin typeface="Times New Roman" panose="02020603050405020304" pitchFamily="18" charset="0"/>
              </a:rPr>
              <a:t>nào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540492-2E54-4518-AD0B-216CA1BF00A0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RAM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32 bytes,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4 bytes (2^n = 2^2)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8 frames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Bảng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1 frame: frame number x frame size 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page 0 = 5 * 4 = 20 =&gt; page 0: </a:t>
            </a:r>
            <a:r>
              <a:rPr lang="en-US" altLang="en-US" dirty="0" err="1">
                <a:latin typeface="Times New Roman" panose="02020603050405020304" pitchFamily="18" charset="0"/>
              </a:rPr>
              <a:t>abcd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Logical address = page number × page size + offset</a:t>
            </a:r>
          </a:p>
          <a:p>
            <a:endParaRPr lang="en-US" dirty="0"/>
          </a:p>
          <a:p>
            <a:r>
              <a:rPr lang="en-US" dirty="0"/>
              <a:t>If page size is 4 bytes, logical address 7 corresponds to:</a:t>
            </a:r>
          </a:p>
          <a:p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Page number = logical address : page size = 7/4 = 1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Offset = 7 – (1x4) = 3</a:t>
            </a:r>
          </a:p>
          <a:p>
            <a:r>
              <a:rPr lang="en-US" dirty="0"/>
              <a:t>Logical address 7: page 1, offset = 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23123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A394CA-BC3C-44FE-A6BF-22B958AB5B42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E2EFAA-CD7F-4FB1-8C92-E0E1179884A8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2 memory access problem: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truy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2 </a:t>
            </a: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1: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</a:rPr>
              <a:t>đọc</a:t>
            </a:r>
            <a:r>
              <a:rPr lang="en-US" altLang="en-US" b="1" dirty="0">
                <a:latin typeface="Times New Roman" panose="02020603050405020304" pitchFamily="18" charset="0"/>
              </a:rPr>
              <a:t> page table</a:t>
            </a:r>
          </a:p>
          <a:p>
            <a:pPr marL="171450" indent="-171450">
              <a:buFontTx/>
              <a:buChar char="-"/>
            </a:pP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2: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</a:rPr>
              <a:t>đọc</a:t>
            </a:r>
            <a:r>
              <a:rPr lang="en-US" altLang="en-US" b="1" dirty="0">
                <a:latin typeface="Times New Roman" panose="02020603050405020304" pitchFamily="18" charset="0"/>
              </a:rPr>
              <a:t> data </a:t>
            </a:r>
            <a:r>
              <a:rPr lang="en-US" altLang="en-US" b="1" dirty="0" err="1">
                <a:latin typeface="Times New Roman" panose="02020603050405020304" pitchFamily="18" charset="0"/>
              </a:rPr>
              <a:t>thật</a:t>
            </a:r>
            <a:endParaRPr lang="en-US" altLang="en-US" b="1" dirty="0">
              <a:latin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b="1" dirty="0" err="1">
                <a:latin typeface="Times New Roman" panose="02020603050405020304" pitchFamily="18" charset="0"/>
              </a:rPr>
              <a:t>Dùng</a:t>
            </a:r>
            <a:r>
              <a:rPr lang="en-US" altLang="en-US" b="1" dirty="0">
                <a:latin typeface="Times New Roman" panose="02020603050405020304" pitchFamily="18" charset="0"/>
              </a:rPr>
              <a:t> TLBs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</a:rPr>
              <a:t> mapping page-to-frame </a:t>
            </a:r>
            <a:r>
              <a:rPr lang="en-US" altLang="en-US" dirty="0" err="1">
                <a:latin typeface="Times New Roman" panose="02020603050405020304" pitchFamily="18" charset="0"/>
              </a:rPr>
              <a:t>thường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Page 2 -&gt; frame 7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5 -&gt; frame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page table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A6D4F8-1457-4684-BE31-66A40E57A241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Address space Identifiers (ASIDs): </a:t>
            </a:r>
            <a:r>
              <a:rPr lang="en-US" altLang="en-US" dirty="0" err="1">
                <a:latin typeface="Times New Roman" panose="02020603050405020304" pitchFamily="18" charset="0"/>
              </a:rPr>
              <a:t>mã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danh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từng</a:t>
            </a:r>
            <a:r>
              <a:rPr lang="en-US" altLang="en-US" dirty="0">
                <a:latin typeface="Times New Roman" panose="02020603050405020304" pitchFamily="18" charset="0"/>
              </a:rPr>
              <a:t> process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ASID 10, Page 2 → Frame 7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ASID 20, Page 2 → Frame 3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 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ASID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CPU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nhầm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</a:rPr>
              <a:t>TLB miss</a:t>
            </a:r>
            <a:r>
              <a:rPr lang="en-US" altLang="en-US" dirty="0">
                <a:latin typeface="Times New Roman" panose="02020603050405020304" pitchFamily="18" charset="0"/>
              </a:rPr>
              <a:t>: Page 5 → ?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Sau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miss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page table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nạp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TLB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sau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</a:rPr>
              <a:t>Wired down: </a:t>
            </a:r>
            <a:r>
              <a:rPr lang="en-US" altLang="en-US" b="0" dirty="0">
                <a:latin typeface="Times New Roman" panose="02020603050405020304" pitchFamily="18" charset="0"/>
              </a:rPr>
              <a:t>TLB </a:t>
            </a:r>
            <a:r>
              <a:rPr lang="en-US" altLang="en-US" b="0" dirty="0" err="1">
                <a:latin typeface="Times New Roman" panose="02020603050405020304" pitchFamily="18" charset="0"/>
              </a:rPr>
              <a:t>giữ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cố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định</a:t>
            </a:r>
            <a:r>
              <a:rPr lang="en-US" altLang="en-US" b="0" dirty="0">
                <a:latin typeface="Times New Roman" panose="02020603050405020304" pitchFamily="18" charset="0"/>
              </a:rPr>
              <a:t>, </a:t>
            </a:r>
            <a:r>
              <a:rPr lang="en-US" altLang="en-US" b="0" dirty="0" err="1">
                <a:latin typeface="Times New Roman" panose="02020603050405020304" pitchFamily="18" charset="0"/>
              </a:rPr>
              <a:t>khóa</a:t>
            </a:r>
            <a:r>
              <a:rPr lang="en-US" altLang="en-US" b="0" dirty="0">
                <a:latin typeface="Times New Roman" panose="02020603050405020304" pitchFamily="18" charset="0"/>
              </a:rPr>
              <a:t> entry, ko </a:t>
            </a:r>
            <a:r>
              <a:rPr lang="en-US" altLang="en-US" b="0" dirty="0" err="1">
                <a:latin typeface="Times New Roman" panose="02020603050405020304" pitchFamily="18" charset="0"/>
              </a:rPr>
              <a:t>cho</a:t>
            </a:r>
            <a:r>
              <a:rPr lang="en-US" altLang="en-US" b="0" dirty="0">
                <a:latin typeface="Times New Roman" panose="02020603050405020304" pitchFamily="18" charset="0"/>
              </a:rPr>
              <a:t> replace frame </a:t>
            </a:r>
            <a:r>
              <a:rPr lang="en-US" altLang="en-US" b="0" dirty="0" err="1">
                <a:latin typeface="Times New Roman" panose="02020603050405020304" pitchFamily="18" charset="0"/>
              </a:rPr>
              <a:t>khác</a:t>
            </a:r>
            <a:endParaRPr lang="en-US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9FBBED-FE6B-47C5-B78F-42DD7F115ADC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Parallel search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TLB </a:t>
            </a:r>
            <a:r>
              <a:rPr lang="en-US" b="1" dirty="0"/>
              <a:t>so </a:t>
            </a:r>
            <a:r>
              <a:rPr lang="en-US" b="1" dirty="0" err="1"/>
              <a:t>sánh</a:t>
            </a:r>
            <a:r>
              <a:rPr lang="en-US" b="1" dirty="0"/>
              <a:t> page number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entry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lúc</a:t>
            </a:r>
            <a:r>
              <a:rPr lang="en-US" dirty="0"/>
              <a:t>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thấy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</a:p>
          <a:p>
            <a:r>
              <a:rPr lang="vi-VN" altLang="en-US" dirty="0">
                <a:latin typeface="Times New Roman" panose="02020603050405020304" pitchFamily="18" charset="0"/>
              </a:rPr>
              <a:t>TLB miss</a:t>
            </a:r>
          </a:p>
          <a:p>
            <a:r>
              <a:rPr lang="vi-VN" altLang="en-US" dirty="0">
                <a:latin typeface="Times New Roman" panose="02020603050405020304" pitchFamily="18" charset="0"/>
              </a:rPr>
              <a:t>→ vào page table trong RAM</a:t>
            </a:r>
          </a:p>
          <a:p>
            <a:r>
              <a:rPr lang="vi-VN" altLang="en-US" dirty="0">
                <a:latin typeface="Times New Roman" panose="02020603050405020304" pitchFamily="18" charset="0"/>
              </a:rPr>
              <a:t>→ lấy frame number</a:t>
            </a:r>
          </a:p>
          <a:p>
            <a:r>
              <a:rPr lang="vi-VN" altLang="en-US" dirty="0">
                <a:latin typeface="Times New Roman" panose="02020603050405020304" pitchFamily="18" charset="0"/>
              </a:rPr>
              <a:t>→ thường nạp mapping đó vào TLB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F79611-9557-41C7-973A-E8A0EC7E2E78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</a:rPr>
              <a:t>TLB hit</a:t>
            </a:r>
            <a:r>
              <a:rPr lang="en-US" altLang="en-US" dirty="0">
                <a:latin typeface="Times New Roman" panose="02020603050405020304" pitchFamily="18" charset="0"/>
              </a:rPr>
              <a:t>: one memory access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lấy</a:t>
            </a:r>
            <a:r>
              <a:rPr lang="en-US" altLang="en-US" dirty="0">
                <a:latin typeface="Times New Roman" panose="02020603050405020304" pitchFamily="18" charset="0"/>
              </a:rPr>
              <a:t> data</a:t>
            </a:r>
          </a:p>
          <a:p>
            <a:r>
              <a:rPr lang="en-US" altLang="en-US" b="1" dirty="0">
                <a:latin typeface="Times New Roman" panose="02020603050405020304" pitchFamily="18" charset="0"/>
              </a:rPr>
              <a:t>TLB miss</a:t>
            </a:r>
            <a:r>
              <a:rPr lang="en-US" altLang="en-US" dirty="0">
                <a:latin typeface="Times New Roman" panose="02020603050405020304" pitchFamily="18" charset="0"/>
              </a:rPr>
              <a:t>: two memory access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page number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sau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lại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lấy</a:t>
            </a:r>
            <a:r>
              <a:rPr lang="en-US" altLang="en-US" dirty="0">
                <a:latin typeface="Times New Roman" panose="02020603050405020304" pitchFamily="18" charset="0"/>
              </a:rPr>
              <a:t> data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B34386-153E-4E1A-948F-7689F0D58A5A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B34386-153E-4E1A-948F-7689F0D58A5A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Hit ratio: t</a:t>
            </a:r>
            <a:r>
              <a:rPr lang="en-US" dirty="0"/>
              <a:t>he percentage of page numbers found in the TLB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EAT: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gian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bình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CPU/process </a:t>
            </a:r>
            <a:r>
              <a:rPr lang="en-US" altLang="en-US" dirty="0" err="1">
                <a:latin typeface="Times New Roman" panose="02020603050405020304" pitchFamily="18" charset="0"/>
              </a:rPr>
              <a:t>truy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RAM </a:t>
            </a:r>
            <a:r>
              <a:rPr lang="en-US" altLang="en-US" dirty="0" err="1">
                <a:latin typeface="Times New Roman" panose="02020603050405020304" pitchFamily="18" charset="0"/>
              </a:rPr>
              <a:t>tính</a:t>
            </a:r>
            <a:r>
              <a:rPr lang="en-US" altLang="en-US">
                <a:latin typeface="Times New Roman" panose="02020603050405020304" pitchFamily="18" charset="0"/>
              </a:rPr>
              <a:t> TH TLB hit miss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Hit ratio </a:t>
            </a:r>
            <a:r>
              <a:rPr lang="en-US" altLang="en-US" dirty="0" err="1">
                <a:latin typeface="Times New Roman" panose="02020603050405020304" pitchFamily="18" charset="0"/>
              </a:rPr>
              <a:t>càng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cao</a:t>
            </a:r>
            <a:r>
              <a:rPr lang="en-US" altLang="en-US" dirty="0">
                <a:latin typeface="Times New Roman" panose="02020603050405020304" pitchFamily="18" charset="0"/>
              </a:rPr>
              <a:t> =&gt; EAT </a:t>
            </a:r>
            <a:r>
              <a:rPr lang="en-US" altLang="en-US" dirty="0" err="1">
                <a:latin typeface="Times New Roman" panose="02020603050405020304" pitchFamily="18" charset="0"/>
              </a:rPr>
              <a:t>càng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truy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</a:rPr>
              <a:t> memory </a:t>
            </a:r>
            <a:r>
              <a:rPr lang="en-US" altLang="en-US" dirty="0" err="1">
                <a:latin typeface="Times New Roman" panose="02020603050405020304" pitchFamily="18" charset="0"/>
              </a:rPr>
              <a:t>càng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nhanh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/>
              <a:t>α = TLB hit ratio </a:t>
            </a:r>
          </a:p>
          <a:p>
            <a:pPr lvl="0"/>
            <a:r>
              <a:rPr lang="en-US" dirty="0"/>
              <a:t>ϵ = TLB lookup/search time </a:t>
            </a:r>
          </a:p>
          <a:p>
            <a:pPr lvl="0"/>
            <a:r>
              <a:rPr lang="en-US" dirty="0"/>
              <a:t>m = memory access time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662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FEC41B-0BBF-4990-94A9-870AC0F9C8F6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Implement by associating protection bit with page table frames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Valid bit: page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thuộc</a:t>
            </a:r>
            <a:r>
              <a:rPr lang="en-US" altLang="en-US" dirty="0">
                <a:latin typeface="Times New Roman" panose="02020603050405020304" pitchFamily="18" charset="0"/>
              </a:rPr>
              <a:t> logical address space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process P1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3 page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Page 1 2 3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table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0 → valid = 1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1 → valid = 1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2 → valid = 1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3 → valid = 0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Page 4 → valid = 0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PTLR: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độ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dài</a:t>
            </a:r>
            <a:r>
              <a:rPr lang="en-US" altLang="en-US" dirty="0">
                <a:latin typeface="Times New Roman" panose="02020603050405020304" pitchFamily="18" charset="0"/>
              </a:rPr>
              <a:t> page table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page number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hợp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lệ</a:t>
            </a:r>
            <a:r>
              <a:rPr lang="en-US" altLang="en-US" dirty="0">
                <a:latin typeface="Times New Roman" panose="02020603050405020304" pitchFamily="18" charset="0"/>
              </a:rPr>
              <a:t> ko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PTLR = 4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page </a:t>
            </a:r>
            <a:r>
              <a:rPr lang="en-US" altLang="en-US" dirty="0" err="1">
                <a:latin typeface="Times New Roman" panose="02020603050405020304" pitchFamily="18" charset="0"/>
              </a:rPr>
              <a:t>hợp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Page 0 1 2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5 = invalid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719A68-EEE8-4AE8-A2F6-33341CD2BC3D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9CC29-E8A5-4ADC-9399-25DF7A7175D7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reentrant code: </a:t>
            </a:r>
            <a:r>
              <a:rPr lang="en-US" altLang="en-US" dirty="0" err="1">
                <a:latin typeface="Times New Roman" panose="02020603050405020304" pitchFamily="18" charset="0"/>
              </a:rPr>
              <a:t>đoạn</a:t>
            </a:r>
            <a:r>
              <a:rPr lang="en-US" altLang="en-US" dirty="0">
                <a:latin typeface="Times New Roman" panose="02020603050405020304" pitchFamily="18" charset="0"/>
              </a:rPr>
              <a:t> code dc </a:t>
            </a:r>
            <a:r>
              <a:rPr lang="en-US" altLang="en-US" dirty="0" err="1">
                <a:latin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</a:rPr>
              <a:t> process dung </a:t>
            </a:r>
            <a:r>
              <a:rPr lang="en-US" altLang="en-US" dirty="0" err="1">
                <a:latin typeface="Times New Roman" panose="02020603050405020304" pitchFamily="18" charset="0"/>
              </a:rPr>
              <a:t>cùng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lúc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làm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hưởng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nhau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Read-write pages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phép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interprocess</a:t>
            </a:r>
            <a:r>
              <a:rPr lang="en-US" altLang="en-US" dirty="0">
                <a:latin typeface="Times New Roman" panose="02020603050405020304" pitchFamily="18" charset="0"/>
              </a:rPr>
              <a:t> communication (</a:t>
            </a:r>
            <a:r>
              <a:rPr lang="en-US" altLang="en-US" dirty="0" err="1">
                <a:latin typeface="Times New Roman" panose="02020603050405020304" pitchFamily="18" charset="0"/>
              </a:rPr>
              <a:t>truyền</a:t>
            </a:r>
            <a:r>
              <a:rPr lang="en-US" altLang="en-US" dirty="0">
                <a:latin typeface="Times New Roman" panose="02020603050405020304" pitchFamily="18" charset="0"/>
              </a:rPr>
              <a:t>/</a:t>
            </a:r>
            <a:r>
              <a:rPr lang="en-US" altLang="en-US" dirty="0" err="1">
                <a:latin typeface="Times New Roman" panose="02020603050405020304" pitchFamily="18" charset="0"/>
              </a:rPr>
              <a:t>chỉnh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sửa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09B3EA-248A-4A3D-A9F8-427F59349143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shared pages </a:t>
            </a:r>
            <a:r>
              <a:rPr lang="en-US" dirty="0" err="1"/>
              <a:t>là</a:t>
            </a:r>
            <a:r>
              <a:rPr lang="en-US" dirty="0"/>
              <a:t> shared code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frame </a:t>
            </a:r>
          </a:p>
          <a:p>
            <a:r>
              <a:rPr lang="en-US" dirty="0" err="1"/>
              <a:t>Vd</a:t>
            </a:r>
            <a:r>
              <a:rPr lang="en-US" dirty="0"/>
              <a:t>: ed 1 2 3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frame</a:t>
            </a:r>
          </a:p>
          <a:p>
            <a:r>
              <a:rPr lang="en-US" dirty="0" err="1"/>
              <a:t>nhưng</a:t>
            </a:r>
            <a:r>
              <a:rPr lang="en-US" dirty="0"/>
              <a:t> data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process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2EC27A-8EFE-4236-9D57-CB38DBDC763E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7B13C4-FE95-4A64-AEA8-8E6E6A3ADA74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Hierarchical page: </a:t>
            </a:r>
            <a:r>
              <a:rPr lang="en-US" altLang="en-US" dirty="0" err="1">
                <a:latin typeface="Times New Roman" panose="02020603050405020304" pitchFamily="18" charset="0"/>
              </a:rPr>
              <a:t>thay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1 page table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chia </a:t>
            </a:r>
            <a:r>
              <a:rPr lang="en-US" altLang="en-US" dirty="0" err="1">
                <a:latin typeface="Times New Roman" panose="02020603050405020304" pitchFamily="18" charset="0"/>
              </a:rPr>
              <a:t>nhỏ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E94247-CDAC-4665-8A48-49D4D920D24C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EA6F36-D714-4B14-A232-E344BA62182E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Logical address 32bit, page size 1KB = 1024 = 2^10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Page number = m-n = 32-10=22bit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dung 2-level paging </a:t>
            </a:r>
            <a:r>
              <a:rPr lang="en-US" altLang="en-US" dirty="0" err="1">
                <a:latin typeface="Times New Roman" panose="02020603050405020304" pitchFamily="18" charset="0"/>
              </a:rPr>
              <a:t>nên</a:t>
            </a:r>
            <a:r>
              <a:rPr lang="en-US" altLang="en-US" dirty="0">
                <a:latin typeface="Times New Roman" panose="02020603050405020304" pitchFamily="18" charset="0"/>
              </a:rPr>
              <a:t> chia page number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Forward-mapped page table = 2-level paging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A5E3EC-58C2-4C7A-8EBD-D553BB3B66C5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p1 →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bảng</a:t>
            </a:r>
            <a:r>
              <a:rPr lang="en-US" b="1" dirty="0"/>
              <a:t> </a:t>
            </a:r>
            <a:r>
              <a:rPr lang="en-US" b="1" dirty="0" err="1"/>
              <a:t>cấp</a:t>
            </a:r>
            <a:r>
              <a:rPr lang="en-US" b="1" dirty="0"/>
              <a:t> 2</a:t>
            </a:r>
            <a:br>
              <a:rPr lang="en-US" dirty="0"/>
            </a:br>
            <a:r>
              <a:rPr lang="en-US" b="1" dirty="0"/>
              <a:t>p2 → </a:t>
            </a:r>
            <a:r>
              <a:rPr lang="en-US" b="1" dirty="0" err="1"/>
              <a:t>tìm</a:t>
            </a:r>
            <a:r>
              <a:rPr lang="en-US" b="1" dirty="0"/>
              <a:t> frame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bảng</a:t>
            </a:r>
            <a:r>
              <a:rPr lang="en-US" b="1" dirty="0"/>
              <a:t> </a:t>
            </a:r>
            <a:r>
              <a:rPr lang="en-US" b="1" dirty="0" err="1"/>
              <a:t>cấp</a:t>
            </a:r>
            <a:r>
              <a:rPr lang="en-US" b="1" dirty="0"/>
              <a:t> 2</a:t>
            </a:r>
            <a:br>
              <a:rPr lang="en-US" dirty="0"/>
            </a:br>
            <a:r>
              <a:rPr lang="en-US" b="1" dirty="0"/>
              <a:t>d → </a:t>
            </a:r>
            <a:r>
              <a:rPr lang="en-US" b="1" dirty="0" err="1"/>
              <a:t>tìm</a:t>
            </a:r>
            <a:r>
              <a:rPr lang="en-US" b="1" dirty="0"/>
              <a:t> byte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frame</a:t>
            </a:r>
            <a:r>
              <a:rPr lang="en-US" dirty="0"/>
              <a:t>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2-level paging ko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64 bit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page table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entry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virtual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b="1" dirty="0"/>
              <a:t>64 bits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bit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b="1" dirty="0"/>
              <a:t>virtual page number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dirty="0"/>
              <a:t>64−12=52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0C463-B400-43B2-B86C-8AB214EDB78A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1124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D5FDC0-D85C-4457-B8BD-E4985C63AB16}" type="slidenum">
              <a:rPr lang="en-US" altLang="en-US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3F9679-04E6-400D-8145-7C799328B728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page table ko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quá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Three level paging </a:t>
            </a:r>
            <a:r>
              <a:rPr lang="en-US" altLang="en-US" dirty="0" err="1">
                <a:latin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</a:rPr>
              <a:t> Hashed page table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/bucket </a:t>
            </a:r>
            <a:r>
              <a:rPr lang="en-US" dirty="0" err="1"/>
              <a:t>trong</a:t>
            </a:r>
            <a:r>
              <a:rPr lang="en-US" dirty="0"/>
              <a:t> hash table. Trường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hash collision</a:t>
            </a:r>
            <a:r>
              <a:rPr lang="en-US" dirty="0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Page 10 → bucket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26 → bucket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Page 42 → bucket 3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b="1" dirty="0">
                <a:latin typeface="Times New Roman" panose="02020603050405020304" pitchFamily="18" charset="0"/>
              </a:rPr>
              <a:t>Bucket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vị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Hash table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chứa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entry </a:t>
            </a:r>
            <a:r>
              <a:rPr lang="en-US" altLang="en-US" dirty="0" err="1">
                <a:latin typeface="Times New Roman" panose="02020603050405020304" pitchFamily="18" charset="0"/>
              </a:rPr>
              <a:t>trỏ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tới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Bucket </a:t>
            </a:r>
            <a:r>
              <a:rPr lang="en-US" altLang="en-US" dirty="0" err="1">
                <a:latin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1 chain </a:t>
            </a:r>
            <a:r>
              <a:rPr lang="en-US" altLang="en-US" dirty="0" err="1">
                <a:latin typeface="Times New Roman" panose="02020603050405020304" pitchFamily="18" charset="0"/>
              </a:rPr>
              <a:t>thay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1 entry: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bucket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↓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[Page 10 → Frame 5]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↓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[Page 26 → Frame 8]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↓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[Page 42 → Frame 2]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Khi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Page 26,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chain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virtual page number.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b="1" dirty="0"/>
              <a:t>Entry</a:t>
            </a:r>
            <a:r>
              <a:rPr lang="en-US" dirty="0"/>
              <a:t>: [</a:t>
            </a:r>
            <a:r>
              <a:rPr lang="en-US" altLang="en-US" dirty="0">
                <a:latin typeface="Times New Roman" panose="02020603050405020304" pitchFamily="18" charset="0"/>
              </a:rPr>
              <a:t>Page 10 → Frame 5] </a:t>
            </a:r>
            <a:r>
              <a:rPr lang="en-US" altLang="en-US" dirty="0" err="1">
                <a:latin typeface="Times New Roman" panose="02020603050405020304" pitchFamily="18" charset="0"/>
              </a:rPr>
              <a:t>đây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1 entry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b="1" dirty="0">
                <a:latin typeface="Times New Roman" panose="02020603050405020304" pitchFamily="18" charset="0"/>
              </a:rPr>
              <a:t>Clustered page table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Hashed page table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 err="1">
                <a:latin typeface="Times New Roman" panose="02020603050405020304" pitchFamily="18" charset="0"/>
              </a:rPr>
              <a:t>điểm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1 entry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</a:rPr>
              <a:t> [</a:t>
            </a:r>
            <a:r>
              <a:rPr lang="en-US" dirty="0" err="1"/>
              <a:t>nhiều</a:t>
            </a:r>
            <a:r>
              <a:rPr lang="en-US" dirty="0"/>
              <a:t> virtual pages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→ </a:t>
            </a:r>
            <a:r>
              <a:rPr lang="en-US" dirty="0" err="1"/>
              <a:t>nhiều</a:t>
            </a:r>
            <a:r>
              <a:rPr lang="en-US" dirty="0"/>
              <a:t> physical frames]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Hashed: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Entry → Page 10 → Frame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Entry → Page 11 → Frame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Entry → Page 12 → Frame 7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Clustered: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Entry → Page 10 → Frame 5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11 → Frame 8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12 → Frame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13 → Frame 9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Entry → Page 14 → Frame 5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15 → Frame 8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16 → Frame 3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Page 17 → Frame 9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Sparse address spaces: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process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,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1E0AA5-BD67-43AA-A151-4B63B52269BC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3B9149-072F-4A74-837D-C0A947D370E5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Conventional page (regular page): </a:t>
            </a:r>
            <a:r>
              <a:rPr lang="en-US" dirty="0"/>
              <a:t>Virtual Page 0 → Frame 5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Inverted page: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frame (ô </a:t>
            </a:r>
            <a:r>
              <a:rPr lang="en-US" altLang="en-US" dirty="0" err="1">
                <a:latin typeface="Times New Roman" panose="02020603050405020304" pitchFamily="18" charset="0"/>
              </a:rPr>
              <a:t>nhớ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physical mem)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1 entry 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dõi</a:t>
            </a:r>
            <a:r>
              <a:rPr lang="en-US" altLang="en-US" dirty="0">
                <a:latin typeface="Times New Roman" panose="02020603050405020304" pitchFamily="18" charset="0"/>
              </a:rPr>
              <a:t> frame </a:t>
            </a:r>
            <a:r>
              <a:rPr lang="en-US" altLang="en-US" dirty="0" err="1">
                <a:latin typeface="Times New Roman" panose="02020603050405020304" pitchFamily="18" charset="0"/>
              </a:rPr>
              <a:t>chứ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dõi</a:t>
            </a:r>
            <a:r>
              <a:rPr lang="en-US" altLang="en-US" dirty="0">
                <a:latin typeface="Times New Roman" panose="02020603050405020304" pitchFamily="18" charset="0"/>
              </a:rPr>
              <a:t> virtual mem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dirty="0"/>
              <a:t>Frame 1 → Page 4 </a:t>
            </a:r>
            <a:r>
              <a:rPr lang="en-US" dirty="0" err="1"/>
              <a:t>của</a:t>
            </a:r>
            <a:r>
              <a:rPr lang="en-US" dirty="0"/>
              <a:t> P2 </a:t>
            </a:r>
          </a:p>
          <a:p>
            <a:r>
              <a:rPr lang="en-US" dirty="0"/>
              <a:t>Frame 2 → Page 1 </a:t>
            </a:r>
            <a:r>
              <a:rPr lang="en-US" dirty="0" err="1"/>
              <a:t>của</a:t>
            </a:r>
            <a:r>
              <a:rPr lang="en-US" dirty="0"/>
              <a:t> P1</a:t>
            </a:r>
          </a:p>
          <a:p>
            <a:r>
              <a:rPr lang="en-US" dirty="0"/>
              <a:t>Frame 3 → Page 7 </a:t>
            </a:r>
            <a:r>
              <a:rPr lang="en-US" dirty="0" err="1"/>
              <a:t>của</a:t>
            </a:r>
            <a:r>
              <a:rPr lang="en-US" dirty="0"/>
              <a:t> P3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vi-VN" altLang="en-US" dirty="0">
                <a:latin typeface="Times New Roman" panose="02020603050405020304" pitchFamily="18" charset="0"/>
              </a:rPr>
              <a:t>Ư</a:t>
            </a:r>
            <a:r>
              <a:rPr lang="en-US" altLang="en-US" dirty="0">
                <a:latin typeface="Times New Roman" panose="02020603050405020304" pitchFamily="18" charset="0"/>
              </a:rPr>
              <a:t>u </a:t>
            </a:r>
            <a:r>
              <a:rPr lang="en-US" altLang="en-US" dirty="0" err="1">
                <a:latin typeface="Times New Roman" panose="02020603050405020304" pitchFamily="18" charset="0"/>
              </a:rPr>
              <a:t>điểm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/>
              <a:t>tiết</a:t>
            </a:r>
            <a:r>
              <a:rPr lang="en-US" altLang="en-US" dirty="0"/>
              <a:t> </a:t>
            </a:r>
            <a:r>
              <a:rPr lang="en-US" altLang="en-US" dirty="0" err="1"/>
              <a:t>kiệm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entry 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nó</a:t>
            </a:r>
            <a:r>
              <a:rPr lang="en-US" altLang="en-US" dirty="0"/>
              <a:t> </a:t>
            </a:r>
            <a:r>
              <a:rPr lang="en-US" altLang="en-US" dirty="0" err="1"/>
              <a:t>phụ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frame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Nhược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điểm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virtual page number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TLB </a:t>
            </a:r>
            <a:r>
              <a:rPr lang="en-US" altLang="en-US" dirty="0" err="1">
                <a:latin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</a:rPr>
              <a:t> hashing </a:t>
            </a:r>
            <a:r>
              <a:rPr lang="en-US" altLang="en-US" dirty="0" err="1">
                <a:latin typeface="Times New Roman" panose="02020603050405020304" pitchFamily="18" charset="0"/>
              </a:rPr>
              <a:t>lẹ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hơn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Shared memory: more difficult for inverted page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</a:rPr>
              <a:t>đây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conventional page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P1: Virtual Page 2 ─┐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                    ├──→ Physical Frame 5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P2: Virtual Page 7 ─┘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Nhưng</a:t>
            </a:r>
            <a:r>
              <a:rPr lang="en-US" altLang="en-US" dirty="0">
                <a:latin typeface="Times New Roman" panose="02020603050405020304" pitchFamily="18" charset="0"/>
              </a:rPr>
              <a:t> inverted page </a:t>
            </a:r>
            <a:r>
              <a:rPr lang="en-US" altLang="en-US" dirty="0" err="1">
                <a:latin typeface="Times New Roman" panose="02020603050405020304" pitchFamily="18" charset="0"/>
              </a:rPr>
              <a:t>tổ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chức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Frame 5 → ???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=&gt; Shared memory </a:t>
            </a:r>
            <a:r>
              <a:rPr lang="en-US" altLang="en-US" dirty="0" err="1">
                <a:latin typeface="Times New Roman" panose="02020603050405020304" pitchFamily="18" charset="0"/>
              </a:rPr>
              <a:t>phức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hơn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3B9149-072F-4A74-837D-C0A947D370E5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825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1E074C-E811-478E-AA30-0A13267A23F4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bảng</a:t>
            </a:r>
            <a:r>
              <a:rPr lang="en-US" b="1" dirty="0"/>
              <a:t>:</a:t>
            </a:r>
            <a:r>
              <a:rPr lang="en-US" dirty="0"/>
              <a:t> Frame → Virtual Page</a:t>
            </a:r>
            <a:br>
              <a:rPr lang="en-US" dirty="0"/>
            </a:br>
            <a:r>
              <a:rPr lang="en-US" b="1" dirty="0" err="1"/>
              <a:t>Quá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:</a:t>
            </a:r>
            <a:r>
              <a:rPr lang="en-US" dirty="0"/>
              <a:t> Virtual Page →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Frame </a:t>
            </a:r>
            <a:r>
              <a:rPr lang="en-US" dirty="0" err="1"/>
              <a:t>nào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ABBB1E-A5F5-4F60-91E1-656D1A6176C9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Oracle SPARC Solaris: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Solaris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CPU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SPARC.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dirty="0"/>
              <a:t>Span =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page </a:t>
            </a:r>
            <a:r>
              <a:rPr lang="en-US" dirty="0" err="1"/>
              <a:t>mà</a:t>
            </a:r>
            <a:r>
              <a:rPr lang="en-US" dirty="0"/>
              <a:t> MỘT entry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Entry A: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Base = Page 20 (</a:t>
            </a:r>
            <a:r>
              <a:rPr lang="en-US" altLang="en-US" dirty="0" err="1">
                <a:latin typeface="Times New Roman" panose="02020603050405020304" pitchFamily="18" charset="0"/>
              </a:rPr>
              <a:t>địa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bắt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đầu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Span = 4 (number of pages in entry)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fr-FR" altLang="en-US" dirty="0">
                <a:latin typeface="Times New Roman" panose="02020603050405020304" pitchFamily="18" charset="0"/>
              </a:rPr>
              <a:t>Page 20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Page 21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Page 22</a:t>
            </a:r>
          </a:p>
          <a:p>
            <a:r>
              <a:rPr lang="fr-FR" altLang="en-US" dirty="0">
                <a:latin typeface="Times New Roman" panose="02020603050405020304" pitchFamily="18" charset="0"/>
              </a:rPr>
              <a:t>Page 23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376D3A-446A-4FB0-9573-4B5C1B4AC6D4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TSB (Translation Storage Buffer)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cache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TTE (Translation Table Entries)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FBB91A-ACC3-4E96-8BD6-0883AB584005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76B152-CDC4-499F-AC56-FEA7EF559056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LDT = Local Descriptor Table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→ segment </a:t>
            </a:r>
            <a:r>
              <a:rPr lang="en-US" altLang="en-US" dirty="0" err="1">
                <a:latin typeface="Times New Roman" panose="02020603050405020304" pitchFamily="18" charset="0"/>
              </a:rPr>
              <a:t>riêng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từng</a:t>
            </a:r>
            <a:r>
              <a:rPr lang="en-US" altLang="en-US" dirty="0">
                <a:latin typeface="Times New Roman" panose="02020603050405020304" pitchFamily="18" charset="0"/>
              </a:rPr>
              <a:t> process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GDT = Global Descriptor Table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→ segment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process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013002-CDD7-43E6-8BC9-543F25C35F6F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2D4B95-E042-4FB5-87C1-5242436390A5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Logical Address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      ↓ segmentation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Linear Address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      ↓ paging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Physical Address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5FC82E-4A53-46DC-BFB2-43BF6845A8E5}" type="slidenum">
              <a:rPr lang="en-US" altLang="en-US">
                <a:latin typeface="Helvetica" panose="020B0604020202020204" pitchFamily="34" charset="0"/>
              </a:rPr>
              <a:pPr/>
              <a:t>69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040578-C86F-4F4A-AA71-96B53A7E55EB}" type="slidenum">
              <a:rPr lang="en-US" altLang="en-US">
                <a:latin typeface="Helvetica" panose="020B0604020202020204" pitchFamily="34" charset="0"/>
              </a:rPr>
              <a:pPr/>
              <a:t>70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4273B1-79F6-40F7-8203-EC7BBD4F29BC}" type="slidenum">
              <a:rPr lang="en-US" altLang="en-US">
                <a:latin typeface="Helvetica" panose="020B0604020202020204" pitchFamily="34" charset="0"/>
              </a:rPr>
              <a:pPr/>
              <a:t>71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IA-32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32bit </a:t>
            </a:r>
            <a:r>
              <a:rPr lang="en-US" altLang="en-US" dirty="0" err="1">
                <a:latin typeface="Times New Roman" panose="02020603050405020304" pitchFamily="18" charset="0"/>
              </a:rPr>
              <a:t>nên</a:t>
            </a:r>
            <a:r>
              <a:rPr lang="en-US" altLang="en-US" dirty="0">
                <a:latin typeface="Times New Roman" panose="02020603050405020304" pitchFamily="18" charset="0"/>
              </a:rPr>
              <a:t> page size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2^32 = 4GB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Intel </a:t>
            </a:r>
            <a:r>
              <a:rPr lang="en-US" altLang="en-US" dirty="0" err="1">
                <a:latin typeface="Times New Roman" panose="02020603050405020304" pitchFamily="18" charset="0"/>
              </a:rPr>
              <a:t>tạo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</a:rPr>
              <a:t>PAE </a:t>
            </a:r>
            <a:r>
              <a:rPr lang="en-US" altLang="en-US" b="0" dirty="0" err="1">
                <a:latin typeface="Times New Roman" panose="02020603050405020304" pitchFamily="18" charset="0"/>
              </a:rPr>
              <a:t>để</a:t>
            </a:r>
            <a:r>
              <a:rPr lang="en-US" altLang="en-US" b="0" dirty="0">
                <a:latin typeface="Times New Roman" panose="02020603050405020304" pitchFamily="18" charset="0"/>
              </a:rPr>
              <a:t> dung </a:t>
            </a:r>
            <a:r>
              <a:rPr lang="en-US" altLang="en-US" b="0" dirty="0" err="1">
                <a:latin typeface="Times New Roman" panose="02020603050405020304" pitchFamily="18" charset="0"/>
              </a:rPr>
              <a:t>nhiều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hơn</a:t>
            </a:r>
            <a:r>
              <a:rPr lang="en-US" altLang="en-US" b="0" dirty="0">
                <a:latin typeface="Times New Roman" panose="02020603050405020304" pitchFamily="18" charset="0"/>
              </a:rPr>
              <a:t> 4GB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b="0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b="1" dirty="0">
                <a:latin typeface="Times New Roman" panose="02020603050405020304" pitchFamily="18" charset="0"/>
              </a:rPr>
              <a:t>PAE: </a:t>
            </a:r>
            <a:r>
              <a:rPr lang="en-US" altLang="en-US" b="0" dirty="0">
                <a:latin typeface="Times New Roman" panose="02020603050405020304" pitchFamily="18" charset="0"/>
              </a:rPr>
              <a:t>paging 2level </a:t>
            </a:r>
            <a:r>
              <a:rPr lang="en-US" altLang="en-US" b="0" dirty="0" err="1">
                <a:latin typeface="Times New Roman" panose="02020603050405020304" pitchFamily="18" charset="0"/>
              </a:rPr>
              <a:t>thành</a:t>
            </a:r>
            <a:r>
              <a:rPr lang="en-US" altLang="en-US" b="0" dirty="0">
                <a:latin typeface="Times New Roman" panose="02020603050405020304" pitchFamily="18" charset="0"/>
              </a:rPr>
              <a:t> 3level -&gt; </a:t>
            </a:r>
            <a:r>
              <a:rPr lang="en-US" altLang="en-US" b="0" dirty="0" err="1">
                <a:latin typeface="Times New Roman" panose="02020603050405020304" pitchFamily="18" charset="0"/>
              </a:rPr>
              <a:t>mở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rộng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từ</a:t>
            </a:r>
            <a:r>
              <a:rPr lang="en-US" altLang="en-US" b="0" dirty="0">
                <a:latin typeface="Times New Roman" panose="02020603050405020304" pitchFamily="18" charset="0"/>
              </a:rPr>
              <a:t> 32bit </a:t>
            </a:r>
            <a:r>
              <a:rPr lang="en-US" altLang="en-US" b="0" dirty="0" err="1">
                <a:latin typeface="Times New Roman" panose="02020603050405020304" pitchFamily="18" charset="0"/>
              </a:rPr>
              <a:t>lên</a:t>
            </a:r>
            <a:r>
              <a:rPr lang="en-US" altLang="en-US" b="0" dirty="0">
                <a:latin typeface="Times New Roman" panose="02020603050405020304" pitchFamily="18" charset="0"/>
              </a:rPr>
              <a:t> 64bit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b="0" dirty="0">
                <a:latin typeface="Times New Roman" panose="02020603050405020304" pitchFamily="18" charset="0"/>
              </a:rPr>
              <a:t>=&gt; Page directory pointer table: </a:t>
            </a:r>
            <a:r>
              <a:rPr lang="en-US" altLang="en-US" b="0" dirty="0" err="1">
                <a:latin typeface="Times New Roman" panose="02020603050405020304" pitchFamily="18" charset="0"/>
              </a:rPr>
              <a:t>thêm</a:t>
            </a:r>
            <a:r>
              <a:rPr lang="en-US" altLang="en-US" b="0" dirty="0">
                <a:latin typeface="Times New Roman" panose="02020603050405020304" pitchFamily="18" charset="0"/>
              </a:rPr>
              <a:t> 1 </a:t>
            </a:r>
            <a:r>
              <a:rPr lang="en-US" altLang="en-US" b="0" dirty="0" err="1">
                <a:latin typeface="Times New Roman" panose="02020603050405020304" pitchFamily="18" charset="0"/>
              </a:rPr>
              <a:t>tầng</a:t>
            </a:r>
            <a:r>
              <a:rPr lang="en-US" altLang="en-US" b="0" dirty="0">
                <a:latin typeface="Times New Roman" panose="02020603050405020304" pitchFamily="18" charset="0"/>
              </a:rPr>
              <a:t> </a:t>
            </a:r>
            <a:r>
              <a:rPr lang="en-US" altLang="en-US" b="0" dirty="0" err="1">
                <a:latin typeface="Times New Roman" panose="02020603050405020304" pitchFamily="18" charset="0"/>
              </a:rPr>
              <a:t>mới</a:t>
            </a:r>
            <a:endParaRPr lang="en-US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28B10B-BDCF-4722-BF38-2FDD5FDEB08A}" type="slidenum">
              <a:rPr lang="en-US" altLang="en-US">
                <a:latin typeface="Helvetica" panose="020B0604020202020204" pitchFamily="34" charset="0"/>
              </a:rPr>
              <a:pPr/>
              <a:t>72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x86-64 </a:t>
            </a:r>
            <a:r>
              <a:rPr lang="en-US" dirty="0" err="1"/>
              <a:t>dùng</a:t>
            </a:r>
            <a:r>
              <a:rPr lang="en-US" dirty="0"/>
              <a:t> virtual address </a:t>
            </a:r>
            <a:r>
              <a:rPr lang="en-US" dirty="0" err="1"/>
              <a:t>khoảng</a:t>
            </a:r>
            <a:r>
              <a:rPr lang="en-US" dirty="0"/>
              <a:t> 48 bit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slide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4-level paging.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63E935-F854-4A71-893A-D89FD5921F2E}" type="slidenum">
              <a:rPr lang="en-US" altLang="en-US">
                <a:latin typeface="Helvetica" panose="020B0604020202020204" pitchFamily="34" charset="0"/>
              </a:rPr>
              <a:pPr/>
              <a:t>73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ARM mobile: </a:t>
            </a:r>
            <a:r>
              <a:rPr lang="en-US" dirty="0" err="1"/>
              <a:t>nhiều</a:t>
            </a:r>
            <a:r>
              <a:rPr lang="en-US" dirty="0"/>
              <a:t> page size + </a:t>
            </a:r>
            <a:r>
              <a:rPr lang="en-US" dirty="0" err="1"/>
              <a:t>có</a:t>
            </a:r>
            <a:r>
              <a:rPr lang="en-US" dirty="0"/>
              <a:t> 1-level/2-level paging + 2-level TLB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section (page size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1-level paging =&gt;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section </a:t>
            </a:r>
            <a:r>
              <a:rPr lang="en-US" altLang="en-US" dirty="0" err="1">
                <a:latin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gồm</a:t>
            </a:r>
            <a:r>
              <a:rPr lang="en-US" altLang="en-US" dirty="0">
                <a:latin typeface="Times New Roman" panose="02020603050405020304" pitchFamily="18" charset="0"/>
              </a:rPr>
              <a:t> memory </a:t>
            </a:r>
            <a:r>
              <a:rPr lang="en-US" altLang="en-US" dirty="0" err="1">
                <a:latin typeface="Times New Roman" panose="02020603050405020304" pitchFamily="18" charset="0"/>
              </a:rPr>
              <a:t>lớn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</a:rPr>
              <a:t> small page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2-level paging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FF3746-0446-489A-987E-A06FDE38AB97}" type="slidenum">
              <a:rPr lang="en-US" altLang="en-US">
                <a:latin typeface="Helvetica" panose="020B0604020202020204" pitchFamily="34" charset="0"/>
              </a:rPr>
              <a:pPr/>
              <a:t>74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583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478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607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548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915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319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5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6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400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091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806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8.</a:t>
            </a:r>
            <a:fld id="{87A5E346-3479-403F-AD52-7F83B7751AC3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8: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8:  Memory Management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300" y="1174750"/>
            <a:ext cx="7351713" cy="4483100"/>
          </a:xfrm>
        </p:spPr>
        <p:txBody>
          <a:bodyPr/>
          <a:lstStyle/>
          <a:p>
            <a:r>
              <a:rPr lang="en-US" altLang="en-US"/>
              <a:t>Background</a:t>
            </a:r>
          </a:p>
          <a:p>
            <a:r>
              <a:rPr lang="en-US" altLang="en-US"/>
              <a:t>Swapping </a:t>
            </a:r>
          </a:p>
          <a:p>
            <a:r>
              <a:rPr lang="en-US" altLang="en-US"/>
              <a:t>Contiguous Memory Allocation</a:t>
            </a:r>
          </a:p>
          <a:p>
            <a:r>
              <a:rPr lang="en-US" altLang="en-US"/>
              <a:t>Segmentation</a:t>
            </a:r>
          </a:p>
          <a:p>
            <a:r>
              <a:rPr lang="en-US" altLang="en-US"/>
              <a:t>Paging</a:t>
            </a:r>
          </a:p>
          <a:p>
            <a:r>
              <a:rPr lang="en-US" altLang="en-US"/>
              <a:t>Structure of the Page Table</a:t>
            </a:r>
          </a:p>
          <a:p>
            <a:r>
              <a:rPr lang="en-US" altLang="en-US"/>
              <a:t>Example: The Intel 32 and 64-bit Architectures</a:t>
            </a:r>
          </a:p>
          <a:p>
            <a:r>
              <a:rPr lang="en-US" altLang="en-US"/>
              <a:t>Example: ARM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71575"/>
            <a:ext cx="6627812" cy="4440238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including paging and segmentation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0450" y="163513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/>
              <a:t>Background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3600" y="1250950"/>
            <a:ext cx="6578600" cy="4483100"/>
          </a:xfrm>
        </p:spPr>
        <p:txBody>
          <a:bodyPr/>
          <a:lstStyle/>
          <a:p>
            <a:r>
              <a:rPr lang="en-US" altLang="en-US"/>
              <a:t>Program must be brought (from disk)  into memory and placed within a process for it to be run</a:t>
            </a:r>
            <a:endParaRPr lang="en-US" altLang="en-US" sz="800"/>
          </a:p>
          <a:p>
            <a:r>
              <a:rPr lang="en-US" altLang="en-US"/>
              <a:t>Main memory and registers are only storage CPU can access directly</a:t>
            </a:r>
          </a:p>
          <a:p>
            <a:r>
              <a:rPr lang="en-US" altLang="en-US"/>
              <a:t>Memory unit only sees a stream of addresses + read requests, or address + data and write requests</a:t>
            </a:r>
            <a:endParaRPr lang="en-US" altLang="en-US" sz="800"/>
          </a:p>
          <a:p>
            <a:r>
              <a:rPr lang="en-US" altLang="en-US"/>
              <a:t>Register access in one CPU clock (or less)</a:t>
            </a:r>
            <a:endParaRPr lang="en-US" altLang="en-US" sz="800"/>
          </a:p>
          <a:p>
            <a:r>
              <a:rPr lang="en-US" altLang="en-US"/>
              <a:t>Main memory can take many cycles, causing a </a:t>
            </a:r>
            <a:r>
              <a:rPr lang="en-US" altLang="en-US" b="1">
                <a:solidFill>
                  <a:srgbClr val="3366FF"/>
                </a:solidFill>
              </a:rPr>
              <a:t>stall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Cache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sits between main memory and CPU registers</a:t>
            </a:r>
            <a:endParaRPr lang="en-US" altLang="en-US" sz="800"/>
          </a:p>
          <a:p>
            <a:r>
              <a:rPr lang="en-US" altLang="en-US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238" y="112713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/>
              <a:t>Base and Limit Registers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0913" y="995363"/>
            <a:ext cx="7351712" cy="4483100"/>
          </a:xfrm>
        </p:spPr>
        <p:txBody>
          <a:bodyPr/>
          <a:lstStyle/>
          <a:p>
            <a:r>
              <a:rPr lang="en-US" altLang="en-US" dirty="0"/>
              <a:t>A pair of </a:t>
            </a:r>
            <a:r>
              <a:rPr lang="en-US" altLang="en-US" b="1" dirty="0">
                <a:solidFill>
                  <a:srgbClr val="3366FF"/>
                </a:solidFill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limit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registers</a:t>
            </a:r>
            <a:r>
              <a:rPr lang="en-US" altLang="en-US" dirty="0"/>
              <a:t> define the logical address space</a:t>
            </a:r>
          </a:p>
          <a:p>
            <a:r>
              <a:rPr lang="en-US" altLang="en-US" dirty="0"/>
              <a:t>CPU must check every memory access generated in user mode to be sure it is between base and limit for that user</a:t>
            </a:r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128838"/>
            <a:ext cx="327342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41388" y="153988"/>
            <a:ext cx="7745412" cy="576262"/>
          </a:xfrm>
        </p:spPr>
        <p:txBody>
          <a:bodyPr/>
          <a:lstStyle/>
          <a:p>
            <a:r>
              <a:rPr lang="en-US" altLang="en-US"/>
              <a:t>Hardware Address Protection</a:t>
            </a:r>
          </a:p>
        </p:txBody>
      </p:sp>
      <p:pic>
        <p:nvPicPr>
          <p:cNvPr id="8195" name="Content Placeholder 4" descr="8.02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90" b="-12790"/>
          <a:stretch>
            <a:fillRect/>
          </a:stretch>
        </p:blipFill>
        <p:spPr>
          <a:xfrm>
            <a:off x="1576388" y="1212850"/>
            <a:ext cx="6324600" cy="348297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r>
              <a:rPr lang="en-US" altLang="en-US"/>
              <a:t>Address Binding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19150" y="1144588"/>
            <a:ext cx="7448550" cy="4926012"/>
          </a:xfrm>
        </p:spPr>
        <p:txBody>
          <a:bodyPr/>
          <a:lstStyle/>
          <a:p>
            <a:r>
              <a:rPr kumimoji="0" lang="en-US" altLang="en-US" sz="1600"/>
              <a:t>Programs on disk, ready to be brought into memory to execute form an </a:t>
            </a:r>
            <a:r>
              <a:rPr kumimoji="0" lang="en-US" altLang="en-US" sz="1600" b="1">
                <a:solidFill>
                  <a:srgbClr val="0000FF"/>
                </a:solidFill>
              </a:rPr>
              <a:t>input queue</a:t>
            </a:r>
          </a:p>
          <a:p>
            <a:pPr lvl="1"/>
            <a:r>
              <a:rPr kumimoji="0" lang="en-US" altLang="en-US" sz="1600"/>
              <a:t>Without support, must be loaded into address 0000</a:t>
            </a:r>
          </a:p>
          <a:p>
            <a:r>
              <a:rPr kumimoji="0" lang="en-US" altLang="en-US" sz="1600"/>
              <a:t>Inconvenient to have first user process physical address always at 0000 </a:t>
            </a:r>
          </a:p>
          <a:p>
            <a:pPr lvl="1"/>
            <a:r>
              <a:rPr kumimoji="0" lang="en-US" altLang="en-US" sz="1600"/>
              <a:t>How can it not be?</a:t>
            </a:r>
            <a:endParaRPr lang="en-US" altLang="en-US" sz="1600"/>
          </a:p>
          <a:p>
            <a:r>
              <a:rPr kumimoji="0" lang="en-US" altLang="en-US" sz="1600"/>
              <a:t>Further, addresses represented in different ways at different stages of a program</a:t>
            </a:r>
            <a:r>
              <a:rPr kumimoji="0" lang="ja-JP" altLang="en-US" sz="1600"/>
              <a:t>’</a:t>
            </a:r>
            <a:r>
              <a:rPr kumimoji="0" lang="en-US" altLang="ja-JP" sz="1600"/>
              <a:t>s life</a:t>
            </a:r>
          </a:p>
          <a:p>
            <a:pPr lvl="1"/>
            <a:r>
              <a:rPr kumimoji="0" lang="en-US" altLang="en-US" sz="1600"/>
              <a:t>Source code addresses usually symbolic</a:t>
            </a:r>
          </a:p>
          <a:p>
            <a:pPr lvl="1"/>
            <a:r>
              <a:rPr kumimoji="0" lang="en-US" altLang="en-US" sz="1600"/>
              <a:t>Compiled code addresses </a:t>
            </a:r>
            <a:r>
              <a:rPr kumimoji="0" lang="en-US" altLang="en-US" sz="1600" b="1">
                <a:solidFill>
                  <a:srgbClr val="0000FF"/>
                </a:solidFill>
              </a:rPr>
              <a:t>bind </a:t>
            </a:r>
            <a:r>
              <a:rPr kumimoji="0" lang="en-US" altLang="en-US" sz="1600"/>
              <a:t>to relocatable addresses</a:t>
            </a:r>
          </a:p>
          <a:p>
            <a:pPr lvl="2"/>
            <a:r>
              <a:rPr kumimoji="0" lang="en-US" altLang="en-US" sz="1600"/>
              <a:t>i.e. </a:t>
            </a:r>
            <a:r>
              <a:rPr kumimoji="0" lang="ja-JP" altLang="en-US" sz="1600"/>
              <a:t>“</a:t>
            </a:r>
            <a:r>
              <a:rPr kumimoji="0" lang="en-US" altLang="ja-JP" sz="1600"/>
              <a:t>14 bytes from beginning of this module</a:t>
            </a:r>
            <a:r>
              <a:rPr kumimoji="0" lang="ja-JP" altLang="en-US" sz="1600"/>
              <a:t>”</a:t>
            </a:r>
            <a:endParaRPr kumimoji="0" lang="en-US" altLang="ja-JP" sz="1600"/>
          </a:p>
          <a:p>
            <a:pPr lvl="1"/>
            <a:r>
              <a:rPr kumimoji="0" lang="en-US" altLang="en-US" sz="1600"/>
              <a:t>Linker or loader will bind relocatable addresses to absolute addresses</a:t>
            </a:r>
          </a:p>
          <a:p>
            <a:pPr lvl="2"/>
            <a:r>
              <a:rPr kumimoji="0" lang="en-US" altLang="en-US" sz="1600"/>
              <a:t>i.e. 74014</a:t>
            </a:r>
          </a:p>
          <a:p>
            <a:pPr lvl="1"/>
            <a:r>
              <a:rPr kumimoji="0" lang="en-US" altLang="en-US" sz="160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/>
          </a:p>
          <a:p>
            <a:pPr lvl="1"/>
            <a:endParaRPr kumimoji="0"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290513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Binding of Instructions and Data to Memory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809625"/>
            <a:ext cx="7131050" cy="41148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3366FF"/>
                </a:solidFill>
              </a:rPr>
              <a:t>absolute code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3366FF"/>
                </a:solidFill>
              </a:rPr>
              <a:t>relocatable code</a:t>
            </a:r>
            <a:r>
              <a:rPr lang="en-US" altLang="en-US" dirty="0"/>
              <a:t> 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00013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Multistep Processing of a User Program </a:t>
            </a:r>
          </a:p>
        </p:txBody>
      </p:sp>
      <p:pic>
        <p:nvPicPr>
          <p:cNvPr id="11267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6363" y="198438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236663"/>
            <a:ext cx="712787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3366FF"/>
                </a:solidFill>
              </a:rPr>
              <a:t>physical address 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Logical 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3366FF"/>
                </a:solidFill>
              </a:rPr>
              <a:t>virtual address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Physical 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Logical address space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Physical address space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141288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Memory-Management Unit (</a:t>
            </a:r>
            <a:r>
              <a:rPr lang="en-US" altLang="en-US" sz="2800"/>
              <a:t>MMU</a:t>
            </a:r>
            <a:r>
              <a:rPr lang="en-US" altLang="en-US"/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063625"/>
            <a:ext cx="7080250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  <a:endParaRPr lang="en-US" altLang="en-US" sz="800" dirty="0"/>
          </a:p>
          <a:p>
            <a:r>
              <a:rPr lang="en-US" altLang="en-US" dirty="0"/>
              <a:t>Many methods possible, covered in the rest of this chapter</a:t>
            </a:r>
          </a:p>
          <a:p>
            <a:r>
              <a:rPr lang="en-US" altLang="en-US" dirty="0"/>
              <a:t>To start, consider simple scheme where the value in the relocation register is added to every address generated by a user process at the time it is sent to memory</a:t>
            </a:r>
          </a:p>
          <a:p>
            <a:pPr lvl="1"/>
            <a:r>
              <a:rPr lang="en-US" altLang="en-US" dirty="0"/>
              <a:t>Base register now called </a:t>
            </a:r>
            <a:r>
              <a:rPr lang="en-US" altLang="en-US" b="1" dirty="0">
                <a:solidFill>
                  <a:srgbClr val="0000FF"/>
                </a:solidFill>
              </a:rPr>
              <a:t>relocation register</a:t>
            </a:r>
            <a:endParaRPr lang="en-US" altLang="en-US" dirty="0"/>
          </a:p>
          <a:p>
            <a:pPr lvl="1"/>
            <a:r>
              <a:rPr lang="en-US" altLang="en-US" dirty="0"/>
              <a:t>MS-DOS on Intel 80x86 used 4 relocation registers</a:t>
            </a:r>
            <a:endParaRPr lang="en-US" altLang="en-US" sz="800" dirty="0"/>
          </a:p>
          <a:p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/>
            <a:r>
              <a:rPr lang="en-US" altLang="en-US" dirty="0"/>
              <a:t>Execution-time binding occurs when reference is made to location in memory</a:t>
            </a:r>
          </a:p>
          <a:p>
            <a:pPr lvl="1"/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9163" y="79375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sz="2400"/>
              <a:t>Dynamic relocation using a relocation register</a:t>
            </a:r>
          </a:p>
        </p:txBody>
      </p:sp>
      <p:pic>
        <p:nvPicPr>
          <p:cNvPr id="1433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63" y="1655763"/>
            <a:ext cx="3714750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3"/>
          <p:cNvSpPr txBox="1">
            <a:spLocks noChangeArrowheads="1"/>
          </p:cNvSpPr>
          <p:nvPr/>
        </p:nvSpPr>
        <p:spPr bwMode="auto">
          <a:xfrm>
            <a:off x="966788" y="1063625"/>
            <a:ext cx="3921125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Dynamic Linking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1062037"/>
            <a:ext cx="7116762" cy="5028211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Static linking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3366FF"/>
                </a:solidFill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3366FF"/>
                </a:solidFill>
              </a:rPr>
              <a:t>shared 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1190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Swapping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22363"/>
            <a:ext cx="7051675" cy="50673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A process can be </a:t>
            </a:r>
            <a:r>
              <a:rPr lang="en-US" altLang="en-US" b="1">
                <a:solidFill>
                  <a:srgbClr val="3366FF"/>
                </a:solidFill>
              </a:rPr>
              <a:t>swapped</a:t>
            </a:r>
            <a:r>
              <a:rPr lang="en-US" altLang="en-US"/>
              <a:t> temporarily out of memory to a backing store, and then brought back into memory for continued execution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Total physical memory space of processes can exceed physical memory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solidFill>
                  <a:srgbClr val="3366FF"/>
                </a:solidFill>
              </a:rPr>
              <a:t>Backing store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fast disk large enough to accommodate copies of all memory images for all users; must provide direct access to these memory images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solidFill>
                  <a:srgbClr val="3366FF"/>
                </a:solidFill>
              </a:rPr>
              <a:t>Roll out, roll in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swapping variant used for priority-based scheduling algorithms; lower-priority process is swapped out so higher-priority process can be loaded and executed</a:t>
            </a:r>
          </a:p>
          <a:p>
            <a:pPr>
              <a:lnSpc>
                <a:spcPct val="80000"/>
              </a:lnSpc>
            </a:pPr>
            <a:r>
              <a:rPr lang="en-US" altLang="en-US"/>
              <a:t>Major part of swap time is transfer time; total transfer time is directly proportional to the amount of memory swapped</a:t>
            </a:r>
          </a:p>
          <a:p>
            <a:pPr>
              <a:lnSpc>
                <a:spcPct val="80000"/>
              </a:lnSpc>
            </a:pPr>
            <a:r>
              <a:rPr lang="en-US" altLang="en-US"/>
              <a:t>System maintains a </a:t>
            </a:r>
            <a:r>
              <a:rPr lang="en-US" altLang="en-US" b="1">
                <a:solidFill>
                  <a:srgbClr val="3366FF"/>
                </a:solidFill>
              </a:rPr>
              <a:t>ready queue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Swapping (Cont.)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058863"/>
            <a:ext cx="7169150" cy="50673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Does the swapped out process need to swap back in to same physical addresses?</a:t>
            </a:r>
          </a:p>
          <a:p>
            <a:pPr>
              <a:lnSpc>
                <a:spcPct val="80000"/>
              </a:lnSpc>
            </a:pPr>
            <a:r>
              <a:rPr lang="en-US" altLang="en-US"/>
              <a:t>Depends on address binding method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Plus consider pending I/O to / from process memory space</a:t>
            </a:r>
          </a:p>
          <a:p>
            <a:pPr>
              <a:lnSpc>
                <a:spcPct val="80000"/>
              </a:lnSpc>
            </a:pPr>
            <a:r>
              <a:rPr lang="en-US" altLang="en-US"/>
              <a:t>Modified versions of swapping are found on many systems (i.e., UNIX, Linux, and Windows)</a:t>
            </a:r>
          </a:p>
          <a:p>
            <a:pPr lvl="1"/>
            <a:r>
              <a:rPr lang="en-US" altLang="en-US"/>
              <a:t>Swapping normally disabled</a:t>
            </a:r>
          </a:p>
          <a:p>
            <a:pPr lvl="1"/>
            <a:r>
              <a:rPr lang="en-US" altLang="en-US"/>
              <a:t>Started if more than threshold amount of memory allocated</a:t>
            </a:r>
          </a:p>
          <a:p>
            <a:pPr lvl="1"/>
            <a:r>
              <a:rPr lang="en-US" altLang="en-US"/>
              <a:t>Disabled again once memory demand reduced below threshold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1825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Schematic View of Swapping</a:t>
            </a:r>
            <a:endParaRPr lang="en-US" altLang="en-US" sz="2400"/>
          </a:p>
        </p:txBody>
      </p:sp>
      <p:pic>
        <p:nvPicPr>
          <p:cNvPr id="18435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271588" y="166688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including Swapping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69950" y="1112838"/>
            <a:ext cx="6950075" cy="4754562"/>
          </a:xfrm>
        </p:spPr>
        <p:txBody>
          <a:bodyPr/>
          <a:lstStyle/>
          <a:p>
            <a:r>
              <a:rPr lang="en-US" altLang="en-US"/>
              <a:t>If next processes to be put on CPU is not in memory, need to swap out a process and swap in target process</a:t>
            </a:r>
          </a:p>
          <a:p>
            <a:r>
              <a:rPr lang="en-US" altLang="en-US"/>
              <a:t>Context switch time can then be very high</a:t>
            </a:r>
          </a:p>
          <a:p>
            <a:r>
              <a:rPr lang="en-US" altLang="en-US"/>
              <a:t>100MB process swapping to hard disk with transfer rate of 50MB/sec</a:t>
            </a:r>
          </a:p>
          <a:p>
            <a:pPr lvl="1"/>
            <a:r>
              <a:rPr lang="en-US" altLang="en-US"/>
              <a:t>Swap out time of 2000 ms</a:t>
            </a:r>
          </a:p>
          <a:p>
            <a:pPr lvl="1"/>
            <a:r>
              <a:rPr lang="en-US" altLang="en-US"/>
              <a:t>Plus swap in of same sized process</a:t>
            </a:r>
          </a:p>
          <a:p>
            <a:pPr lvl="1"/>
            <a:r>
              <a:rPr lang="en-US" altLang="en-US"/>
              <a:t>Total context switch swapping component time of 4000ms (4 seconds)</a:t>
            </a:r>
          </a:p>
          <a:p>
            <a:r>
              <a:rPr lang="en-US" altLang="en-US"/>
              <a:t>Can reduce if reduce size of memory swapped – by knowing how much memory really being used</a:t>
            </a:r>
          </a:p>
          <a:p>
            <a:pPr lvl="1"/>
            <a:r>
              <a:rPr lang="en-US" altLang="en-US"/>
              <a:t>System calls to inform OS of memory use via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request_memory() </a:t>
            </a:r>
            <a:r>
              <a:rPr lang="en-US" altLang="en-US"/>
              <a:t>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release_memory()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382713" y="166688"/>
            <a:ext cx="7635875" cy="576262"/>
          </a:xfrm>
        </p:spPr>
        <p:txBody>
          <a:bodyPr/>
          <a:lstStyle/>
          <a:p>
            <a:r>
              <a:rPr lang="en-US" altLang="en-US" sz="2800"/>
              <a:t>Context Switch Time and Swapping (Cont.)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06450" y="1160463"/>
            <a:ext cx="73437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double buffering</a:t>
            </a:r>
            <a:r>
              <a:rPr lang="en-US" altLang="en-US" dirty="0"/>
              <a:t>, adds 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88950" y="166688"/>
            <a:ext cx="8229600" cy="576262"/>
          </a:xfrm>
        </p:spPr>
        <p:txBody>
          <a:bodyPr/>
          <a:lstStyle/>
          <a:p>
            <a:r>
              <a:rPr lang="en-US" altLang="en-US"/>
              <a:t>Swapping on Mobile Systems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947738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3366FF"/>
                </a:solidFill>
              </a:rPr>
              <a:t>application 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166688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/>
              <a:t>Contiguous Allocation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5500" y="1077913"/>
            <a:ext cx="7262813" cy="4991100"/>
          </a:xfrm>
        </p:spPr>
        <p:txBody>
          <a:bodyPr/>
          <a:lstStyle/>
          <a:p>
            <a:r>
              <a:rPr lang="en-US" altLang="en-US"/>
              <a:t>Main memory must support both OS and user processes</a:t>
            </a:r>
          </a:p>
          <a:p>
            <a:r>
              <a:rPr lang="en-US" altLang="en-US"/>
              <a:t>Limited resource, must allocate efficiently</a:t>
            </a:r>
          </a:p>
          <a:p>
            <a:r>
              <a:rPr lang="en-US" altLang="en-US"/>
              <a:t>Contiguous allocation is one early method</a:t>
            </a:r>
          </a:p>
          <a:p>
            <a:r>
              <a:rPr lang="en-US" altLang="en-US"/>
              <a:t>Main memory usually into two </a:t>
            </a:r>
            <a:r>
              <a:rPr lang="en-US" altLang="en-US" b="1">
                <a:solidFill>
                  <a:srgbClr val="0000FF"/>
                </a:solidFill>
              </a:rPr>
              <a:t>partitions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Resident operating system, usually held in low memory with interrupt vector</a:t>
            </a:r>
          </a:p>
          <a:p>
            <a:pPr lvl="1"/>
            <a:r>
              <a:rPr lang="en-US" altLang="en-US"/>
              <a:t>User processes then held in high memory</a:t>
            </a:r>
          </a:p>
          <a:p>
            <a:pPr lvl="1"/>
            <a:r>
              <a:rPr lang="en-US" altLang="en-US"/>
              <a:t>Each process contained in single contiguous section of memory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166688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/>
              <a:t>Contiguous Allocation (Cont.)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9163" y="1093788"/>
            <a:ext cx="7262812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00FF"/>
                </a:solidFill>
              </a:rPr>
              <a:t>transient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Hardware Support for Relocation and Limit Registers</a:t>
            </a:r>
          </a:p>
        </p:txBody>
      </p:sp>
      <p:pic>
        <p:nvPicPr>
          <p:cNvPr id="24579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98488"/>
            <a:ext cx="7740650" cy="615950"/>
          </a:xfrm>
        </p:spPr>
        <p:txBody>
          <a:bodyPr/>
          <a:lstStyle/>
          <a:p>
            <a:pPr eaLnBrk="1" hangingPunct="1"/>
            <a:r>
              <a:rPr lang="en-US" altLang="en-US"/>
              <a:t>Multiple-partition allocation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04888"/>
            <a:ext cx="7770813" cy="3262312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sz="1600" b="1" dirty="0">
                <a:solidFill>
                  <a:srgbClr val="0000FF"/>
                </a:solidFill>
              </a:rPr>
              <a:t>Variable-partition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sz="1600" b="1" dirty="0">
                <a:solidFill>
                  <a:srgbClr val="0000FF"/>
                </a:solidFill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56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4178300"/>
            <a:ext cx="6675437" cy="217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198438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Dynamic Storage-Allocation Problem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9513" y="1709738"/>
            <a:ext cx="7062787" cy="36242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919163" y="1169988"/>
            <a:ext cx="6108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>
                <a:latin typeface="Helvetica" panose="020B0604020202020204" pitchFamily="34" charset="0"/>
              </a:rPr>
              <a:t>n</a:t>
            </a:r>
            <a:r>
              <a:rPr lang="en-US" altLang="en-US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046163" y="4621213"/>
            <a:ext cx="7600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152400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50913" y="1114425"/>
            <a:ext cx="6770687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External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3366FF"/>
                </a:solidFill>
              </a:rPr>
              <a:t>Internal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-&gt;(known as  </a:t>
            </a:r>
            <a:r>
              <a:rPr lang="en-US" altLang="en-US" b="1" dirty="0">
                <a:solidFill>
                  <a:srgbClr val="3366FF"/>
                </a:solidFill>
              </a:rPr>
              <a:t>50-percent rule)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r>
              <a:rPr lang="en-US" altLang="en-US"/>
              <a:t>Fragmentation (Cont.)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901700" y="1154113"/>
            <a:ext cx="6959600" cy="4530725"/>
          </a:xfrm>
        </p:spPr>
        <p:txBody>
          <a:bodyPr/>
          <a:lstStyle/>
          <a:p>
            <a:r>
              <a:rPr lang="en-US" altLang="en-US"/>
              <a:t>Reduce external fragmentation by </a:t>
            </a:r>
            <a:r>
              <a:rPr lang="en-US" altLang="en-US" b="1">
                <a:solidFill>
                  <a:srgbClr val="3366FF"/>
                </a:solidFill>
              </a:rPr>
              <a:t>compaction</a:t>
            </a:r>
          </a:p>
          <a:p>
            <a:pPr lvl="1"/>
            <a:r>
              <a:rPr lang="en-US" altLang="en-US"/>
              <a:t>Shuffle memory contents to place all free memory together in one large block</a:t>
            </a:r>
          </a:p>
          <a:p>
            <a:pPr lvl="1"/>
            <a:r>
              <a:rPr lang="en-US" altLang="en-US"/>
              <a:t>Compaction is possible </a:t>
            </a:r>
            <a:r>
              <a:rPr lang="en-US" altLang="en-US" i="1"/>
              <a:t>only</a:t>
            </a:r>
            <a:r>
              <a:rPr lang="en-US" altLang="en-US"/>
              <a:t> if relocation is dynamic, and is done at execution time</a:t>
            </a:r>
          </a:p>
          <a:p>
            <a:pPr lvl="1"/>
            <a:r>
              <a:rPr lang="en-US" altLang="en-US"/>
              <a:t>I/O problem</a:t>
            </a:r>
          </a:p>
          <a:p>
            <a:pPr lvl="2"/>
            <a:r>
              <a:rPr lang="en-US" altLang="en-US"/>
              <a:t>Latch job in memory while it is involved in I/O</a:t>
            </a:r>
          </a:p>
          <a:p>
            <a:pPr lvl="2"/>
            <a:r>
              <a:rPr lang="en-US" altLang="en-US"/>
              <a:t>Do I/O only into OS buffers</a:t>
            </a:r>
          </a:p>
          <a:p>
            <a:r>
              <a:rPr lang="en-US" altLang="en-US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57288"/>
            <a:ext cx="7702550" cy="49403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1975" algn="l"/>
              </a:tabLst>
            </a:pPr>
            <a:r>
              <a:rPr lang="en-US" altLang="en-US" dirty="0"/>
              <a:t>Memory-management scheme that supports user view of memory 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1831975" algn="l"/>
              </a:tabLst>
            </a:pPr>
            <a:r>
              <a:rPr lang="en-US" altLang="en-US" dirty="0"/>
              <a:t>A program is a collection of segments</a:t>
            </a:r>
          </a:p>
          <a:p>
            <a:pPr lvl="1">
              <a:lnSpc>
                <a:spcPct val="90000"/>
              </a:lnSpc>
              <a:tabLst>
                <a:tab pos="1831975" algn="l"/>
              </a:tabLst>
            </a:pPr>
            <a:r>
              <a:rPr lang="en-US" altLang="en-US" dirty="0"/>
              <a:t>A segment is a logical unit such as: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main program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procedure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function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method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object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local variables, global variables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common block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stack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symbol table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831975" algn="l"/>
              </a:tabLst>
            </a:pPr>
            <a:r>
              <a:rPr lang="en-US" altLang="en-US" dirty="0"/>
              <a:t>		arrays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User</a:t>
            </a:r>
            <a:r>
              <a:rPr lang="ja-JP" altLang="en-US"/>
              <a:t>’</a:t>
            </a:r>
            <a:r>
              <a:rPr lang="en-US" altLang="ja-JP"/>
              <a:t>s View of a Program</a:t>
            </a:r>
            <a:endParaRPr lang="en-US" altLang="en-US" sz="2400"/>
          </a:p>
        </p:txBody>
      </p:sp>
      <p:pic>
        <p:nvPicPr>
          <p:cNvPr id="3072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233488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36525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/>
              <a:t>Logical View of Segmentation</a:t>
            </a:r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1371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905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752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3200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3124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grpSp>
        <p:nvGrpSpPr>
          <p:cNvPr id="31752" name="Group 24"/>
          <p:cNvGrpSpPr>
            <a:grpSpLocks/>
          </p:cNvGrpSpPr>
          <p:nvPr/>
        </p:nvGrpSpPr>
        <p:grpSpPr bwMode="auto"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31755" name="Group 11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31766" name="Rectangle 8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7" name="Line 9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756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31764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5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757" name="Text Box 15"/>
            <p:cNvSpPr txBox="1">
              <a:spLocks noChangeArrowheads="1"/>
            </p:cNvSpPr>
            <p:nvPr/>
          </p:nvSpPr>
          <p:spPr bwMode="auto">
            <a:xfrm>
              <a:off x="4125" y="11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31758" name="Text Box 16"/>
            <p:cNvSpPr txBox="1">
              <a:spLocks noChangeArrowheads="1"/>
            </p:cNvSpPr>
            <p:nvPr/>
          </p:nvSpPr>
          <p:spPr bwMode="auto">
            <a:xfrm>
              <a:off x="4127" y="143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31759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0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1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Text Box 20"/>
            <p:cNvSpPr txBox="1">
              <a:spLocks noChangeArrowheads="1"/>
            </p:cNvSpPr>
            <p:nvPr/>
          </p:nvSpPr>
          <p:spPr bwMode="auto">
            <a:xfrm>
              <a:off x="4127" y="242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31763" name="Text Box 21"/>
            <p:cNvSpPr txBox="1">
              <a:spLocks noChangeArrowheads="1"/>
            </p:cNvSpPr>
            <p:nvPr/>
          </p:nvSpPr>
          <p:spPr bwMode="auto">
            <a:xfrm>
              <a:off x="4127" y="288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31753" name="Text Box 22"/>
          <p:cNvSpPr txBox="1">
            <a:spLocks noChangeArrowheads="1"/>
          </p:cNvSpPr>
          <p:nvPr/>
        </p:nvSpPr>
        <p:spPr bwMode="auto">
          <a:xfrm>
            <a:off x="2016125" y="5254625"/>
            <a:ext cx="1377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user space </a:t>
            </a:r>
          </a:p>
        </p:txBody>
      </p:sp>
      <p:sp>
        <p:nvSpPr>
          <p:cNvPr id="31754" name="Text Box 23"/>
          <p:cNvSpPr txBox="1">
            <a:spLocks noChangeArrowheads="1"/>
          </p:cNvSpPr>
          <p:nvPr/>
        </p:nvSpPr>
        <p:spPr bwMode="auto">
          <a:xfrm>
            <a:off x="4870450" y="5254625"/>
            <a:ext cx="259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physical memory space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77875" y="166688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Architecture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093788"/>
            <a:ext cx="7246937" cy="5053012"/>
          </a:xfrm>
        </p:spPr>
        <p:txBody>
          <a:bodyPr/>
          <a:lstStyle/>
          <a:p>
            <a:pPr>
              <a:tabLst>
                <a:tab pos="1828800" algn="l"/>
                <a:tab pos="2855913" algn="ctr"/>
              </a:tabLst>
            </a:pPr>
            <a:r>
              <a:rPr lang="en-US" altLang="en-US" dirty="0"/>
              <a:t>Logical address consists of a two tuple: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 dirty="0"/>
              <a:t>		&lt;segment-number, offset&gt;,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endParaRPr lang="en-US" altLang="en-US" sz="800" dirty="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Segment table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maps two-dimensional physical addresses; each table entry has: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contains the starting physical address where the segments reside in memory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limit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specifies the length of the segment</a:t>
            </a:r>
          </a:p>
          <a:p>
            <a:pPr lvl="1">
              <a:tabLst>
                <a:tab pos="1828800" algn="l"/>
                <a:tab pos="2855913" algn="ctr"/>
              </a:tabLst>
            </a:pPr>
            <a:endParaRPr lang="en-US" altLang="en-US" sz="800" dirty="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Segment-table base register (STBR)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segment table</a:t>
            </a:r>
            <a:r>
              <a:rPr lang="ja-JP" altLang="en-US" dirty="0"/>
              <a:t>’</a:t>
            </a:r>
            <a:r>
              <a:rPr lang="en-US" altLang="ja-JP" dirty="0"/>
              <a:t>s location in memory</a:t>
            </a:r>
          </a:p>
          <a:p>
            <a:pPr>
              <a:tabLst>
                <a:tab pos="1828800" algn="l"/>
                <a:tab pos="2855913" algn="ctr"/>
              </a:tabLst>
            </a:pPr>
            <a:endParaRPr lang="en-US" altLang="en-US" sz="800" dirty="0"/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Segment-table length register (STLR)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number of segments used by a program;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 dirty="0"/>
              <a:t>	                  segment number </a:t>
            </a:r>
            <a:r>
              <a:rPr lang="en-US" altLang="en-US" b="1" i="1" dirty="0">
                <a:solidFill>
                  <a:srgbClr val="FF0000"/>
                </a:solidFill>
              </a:rPr>
              <a:t>s</a:t>
            </a:r>
            <a:r>
              <a:rPr lang="en-US" altLang="en-US" dirty="0"/>
              <a:t> is legal if </a:t>
            </a:r>
            <a:r>
              <a:rPr lang="en-US" altLang="en-US" b="1" i="1" dirty="0">
                <a:solidFill>
                  <a:srgbClr val="FF0000"/>
                </a:solidFill>
              </a:rPr>
              <a:t>s</a:t>
            </a:r>
            <a:r>
              <a:rPr lang="en-US" altLang="en-US" dirty="0"/>
              <a:t> &lt; </a:t>
            </a:r>
            <a:r>
              <a:rPr lang="en-US" altLang="en-US" b="1" dirty="0">
                <a:solidFill>
                  <a:srgbClr val="FF0000"/>
                </a:solidFill>
              </a:rPr>
              <a:t>STLR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214313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Architecture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62050"/>
            <a:ext cx="6775450" cy="4468813"/>
          </a:xfrm>
        </p:spPr>
        <p:txBody>
          <a:bodyPr/>
          <a:lstStyle/>
          <a:p>
            <a:r>
              <a:rPr lang="en-US" altLang="en-US"/>
              <a:t>Protection</a:t>
            </a:r>
          </a:p>
          <a:p>
            <a:pPr lvl="1"/>
            <a:r>
              <a:rPr lang="en-US" altLang="en-US"/>
              <a:t>With each entry in segment table associate:</a:t>
            </a:r>
          </a:p>
          <a:p>
            <a:pPr lvl="2"/>
            <a:r>
              <a:rPr lang="en-US" altLang="en-US"/>
              <a:t>validation bit = 0 </a:t>
            </a:r>
            <a:r>
              <a:rPr lang="en-US" altLang="en-US">
                <a:sym typeface="Symbol" panose="05050102010706020507" pitchFamily="18" charset="2"/>
              </a:rPr>
              <a:t> illegal segment</a:t>
            </a:r>
          </a:p>
          <a:p>
            <a:pPr lvl="2"/>
            <a:r>
              <a:rPr lang="en-US" altLang="en-US">
                <a:sym typeface="Symbol" panose="05050102010706020507" pitchFamily="18" charset="2"/>
              </a:rPr>
              <a:t>read/write/execute privileges</a:t>
            </a:r>
          </a:p>
          <a:p>
            <a:r>
              <a:rPr lang="en-US" altLang="en-US"/>
              <a:t>Protection bits associated with segments; code sharing occurs at segment level</a:t>
            </a:r>
          </a:p>
          <a:p>
            <a:r>
              <a:rPr lang="en-US" altLang="en-US"/>
              <a:t>Since segments vary in length, memory allocation is a dynamic storage-allocation problem</a:t>
            </a:r>
          </a:p>
          <a:p>
            <a:r>
              <a:rPr lang="en-US" altLang="en-US"/>
              <a:t>A segmentation example is shown in the following diagram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Segmentation Hardware</a:t>
            </a:r>
            <a:endParaRPr lang="en-US" altLang="en-US" sz="2400"/>
          </a:p>
        </p:txBody>
      </p:sp>
      <p:pic>
        <p:nvPicPr>
          <p:cNvPr id="34819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1254125"/>
            <a:ext cx="5827713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93763" y="1128713"/>
            <a:ext cx="7183437" cy="4767262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3366FF"/>
                </a:solidFill>
              </a:rPr>
              <a:t>frames</a:t>
            </a:r>
            <a:endParaRPr lang="en-US" altLang="en-US" dirty="0">
              <a:solidFill>
                <a:srgbClr val="3366FF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3366FF"/>
                </a:solidFill>
              </a:rPr>
              <a:t>pages</a:t>
            </a:r>
            <a:endParaRPr lang="en-US" altLang="en-US" sz="800" b="1" dirty="0">
              <a:solidFill>
                <a:srgbClr val="3366FF"/>
              </a:solidFill>
            </a:endParaRP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3366FF"/>
                </a:solidFill>
              </a:rPr>
              <a:t>page 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46138" y="152400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/>
              <a:t>Address Translation Scheme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number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3366FF"/>
                </a:solidFill>
              </a:rPr>
              <a:t>page table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offset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368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2065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37891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3" y="1128713"/>
            <a:ext cx="622617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46150" y="46038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Paging Model of Logical and  Physical Memory</a:t>
            </a:r>
          </a:p>
        </p:txBody>
      </p:sp>
      <p:pic>
        <p:nvPicPr>
          <p:cNvPr id="38915" name="Picture 1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87313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Paging Example</a:t>
            </a:r>
          </a:p>
        </p:txBody>
      </p:sp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1646238" y="5586413"/>
            <a:ext cx="6003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i="1">
                <a:latin typeface="Helvetica" panose="020B0604020202020204" pitchFamily="34" charset="0"/>
              </a:rPr>
              <a:t>n</a:t>
            </a:r>
            <a:r>
              <a:rPr lang="en-US" altLang="en-US" sz="1600">
                <a:latin typeface="Helvetica" panose="020B0604020202020204" pitchFamily="34" charset="0"/>
              </a:rPr>
              <a:t>=2 and </a:t>
            </a:r>
            <a:r>
              <a:rPr lang="en-US" altLang="en-US" sz="1600" i="1">
                <a:latin typeface="Helvetica" panose="020B0604020202020204" pitchFamily="34" charset="0"/>
              </a:rPr>
              <a:t>m</a:t>
            </a:r>
            <a:r>
              <a:rPr lang="en-US" altLang="en-US" sz="1600">
                <a:latin typeface="Helvetica" panose="020B0604020202020204" pitchFamily="34" charset="0"/>
              </a:rPr>
              <a:t>=4   32-byte memory and 4-byte pages</a:t>
            </a:r>
          </a:p>
        </p:txBody>
      </p:sp>
      <p:pic>
        <p:nvPicPr>
          <p:cNvPr id="399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1243013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88950" y="120650"/>
            <a:ext cx="8229600" cy="576263"/>
          </a:xfrm>
        </p:spPr>
        <p:txBody>
          <a:bodyPr/>
          <a:lstStyle/>
          <a:p>
            <a:r>
              <a:rPr lang="en-US" altLang="en-US" dirty="0"/>
              <a:t>Paging (Cont.)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931863" y="1138238"/>
            <a:ext cx="8337550" cy="4821237"/>
          </a:xfrm>
        </p:spPr>
        <p:txBody>
          <a:bodyPr/>
          <a:lstStyle/>
          <a:p>
            <a:r>
              <a:rPr lang="en-US" altLang="en-US" dirty="0"/>
              <a:t>Calculating internal fragmentation</a:t>
            </a:r>
          </a:p>
          <a:p>
            <a:pPr lvl="1"/>
            <a:r>
              <a:rPr lang="en-US" altLang="en-US" dirty="0"/>
              <a:t>Page size = 2,048 bytes</a:t>
            </a:r>
          </a:p>
          <a:p>
            <a:pPr lvl="1"/>
            <a:r>
              <a:rPr lang="en-US" altLang="en-US" dirty="0"/>
              <a:t>Process size = 72,766 bytes</a:t>
            </a:r>
          </a:p>
          <a:p>
            <a:pPr lvl="1"/>
            <a:r>
              <a:rPr lang="en-US" altLang="en-US" dirty="0"/>
              <a:t>35 pages + 1,086 bytes</a:t>
            </a:r>
          </a:p>
          <a:p>
            <a:pPr lvl="1"/>
            <a:r>
              <a:rPr lang="en-US" altLang="en-US" dirty="0"/>
              <a:t>Internal fragmentation of 2,048 - 1,086 = 962 bytes</a:t>
            </a:r>
          </a:p>
          <a:p>
            <a:pPr lvl="1"/>
            <a:r>
              <a:rPr lang="en-US" altLang="en-US" dirty="0"/>
              <a:t>Worst case fragmentation = 1 frame – 1 byte</a:t>
            </a:r>
          </a:p>
          <a:p>
            <a:pPr lvl="1"/>
            <a:r>
              <a:rPr lang="en-US" altLang="en-US" dirty="0"/>
              <a:t>On average fragmentation = 1 / 2 frame size</a:t>
            </a:r>
          </a:p>
          <a:p>
            <a:pPr lvl="1"/>
            <a:r>
              <a:rPr lang="en-US" altLang="en-US" dirty="0"/>
              <a:t>So small frame sizes desirable?</a:t>
            </a:r>
          </a:p>
          <a:p>
            <a:pPr lvl="1"/>
            <a:r>
              <a:rPr lang="en-US" altLang="en-US" dirty="0"/>
              <a:t>But each page table entry takes memory to track</a:t>
            </a:r>
          </a:p>
          <a:p>
            <a:pPr lvl="1"/>
            <a:r>
              <a:rPr lang="en-US" altLang="en-US" dirty="0"/>
              <a:t>Page sizes growing over time</a:t>
            </a:r>
          </a:p>
          <a:p>
            <a:pPr lvl="2"/>
            <a:r>
              <a:rPr lang="en-US" altLang="en-US" dirty="0"/>
              <a:t>Solaris supports two page sizes – 8 KB and 4 MB</a:t>
            </a:r>
          </a:p>
          <a:p>
            <a:r>
              <a:rPr lang="en-US" altLang="en-US" dirty="0"/>
              <a:t>Process view and physical memory now very different</a:t>
            </a:r>
          </a:p>
          <a:p>
            <a:r>
              <a:rPr lang="en-US" altLang="en-US" dirty="0"/>
              <a:t>By implementation process can only access its own memory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88950" y="120650"/>
            <a:ext cx="8229600" cy="576263"/>
          </a:xfrm>
        </p:spPr>
        <p:txBody>
          <a:bodyPr/>
          <a:lstStyle/>
          <a:p>
            <a:r>
              <a:rPr lang="en-US" altLang="en-US" dirty="0"/>
              <a:t>Paging (Cont.)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931863" y="1138238"/>
            <a:ext cx="8337550" cy="4821237"/>
          </a:xfrm>
        </p:spPr>
        <p:txBody>
          <a:bodyPr/>
          <a:lstStyle/>
          <a:p>
            <a:r>
              <a:rPr lang="en-US" altLang="en-US" dirty="0"/>
              <a:t>Calculating internal fragmentation</a:t>
            </a:r>
          </a:p>
          <a:p>
            <a:pPr lvl="1"/>
            <a:r>
              <a:rPr lang="en-US" altLang="en-US" dirty="0"/>
              <a:t>Page size = 2,048 bytes</a:t>
            </a:r>
          </a:p>
          <a:p>
            <a:pPr lvl="1"/>
            <a:r>
              <a:rPr lang="en-US" altLang="en-US" dirty="0"/>
              <a:t>Process size = 72,766 bytes</a:t>
            </a:r>
          </a:p>
          <a:p>
            <a:pPr lvl="1"/>
            <a:r>
              <a:rPr lang="en-US" altLang="en-US" dirty="0"/>
              <a:t>35 pages + 1,086 bytes</a:t>
            </a:r>
          </a:p>
          <a:p>
            <a:pPr lvl="1"/>
            <a:r>
              <a:rPr lang="en-US" altLang="en-US" dirty="0"/>
              <a:t>Internal fragmentation of 2,048 - 1,086 = 962 bytes</a:t>
            </a:r>
          </a:p>
          <a:p>
            <a:pPr lvl="1"/>
            <a:r>
              <a:rPr lang="en-US" altLang="en-US" dirty="0"/>
              <a:t>Worst case fragmentation = 1 frame – 1 byte</a:t>
            </a:r>
          </a:p>
          <a:p>
            <a:pPr lvl="1"/>
            <a:r>
              <a:rPr lang="en-US" altLang="en-US" dirty="0"/>
              <a:t>On average fragmentation = 1 / 2 frame size</a:t>
            </a:r>
          </a:p>
          <a:p>
            <a:pPr lvl="1"/>
            <a:r>
              <a:rPr lang="en-US" altLang="en-US" dirty="0"/>
              <a:t>So small frame sizes desirable?</a:t>
            </a:r>
          </a:p>
          <a:p>
            <a:pPr lvl="1"/>
            <a:r>
              <a:rPr lang="en-US" altLang="en-US"/>
              <a:t>Page </a:t>
            </a:r>
            <a:r>
              <a:rPr lang="en-US" altLang="en-US" dirty="0"/>
              <a:t>sizes growing over time</a:t>
            </a:r>
          </a:p>
          <a:p>
            <a:pPr lvl="2"/>
            <a:r>
              <a:rPr lang="en-US" altLang="en-US" dirty="0"/>
              <a:t>Solaris supports two page sizes – 8 KB and 4 MB</a:t>
            </a:r>
          </a:p>
          <a:p>
            <a:r>
              <a:rPr lang="en-US" altLang="en-US" dirty="0"/>
              <a:t>Process view and physical memory now very different</a:t>
            </a:r>
          </a:p>
          <a:p>
            <a:r>
              <a:rPr lang="en-US" altLang="en-US" dirty="0"/>
              <a:t>By implementation process can only access its own memory</a:t>
            </a:r>
          </a:p>
        </p:txBody>
      </p:sp>
    </p:spTree>
    <p:extLst>
      <p:ext uri="{BB962C8B-B14F-4D97-AF65-F5344CB8AC3E}">
        <p14:creationId xmlns:p14="http://schemas.microsoft.com/office/powerpoint/2010/main" val="821948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Free Frames</a:t>
            </a:r>
          </a:p>
        </p:txBody>
      </p:sp>
      <p:sp>
        <p:nvSpPr>
          <p:cNvPr id="41987" name="Text Box 4"/>
          <p:cNvSpPr txBox="1">
            <a:spLocks noChangeArrowheads="1"/>
          </p:cNvSpPr>
          <p:nvPr/>
        </p:nvSpPr>
        <p:spPr bwMode="auto">
          <a:xfrm>
            <a:off x="1928813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419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Implementation of Page Table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46175"/>
            <a:ext cx="6797675" cy="4686300"/>
          </a:xfrm>
        </p:spPr>
        <p:txBody>
          <a:bodyPr/>
          <a:lstStyle/>
          <a:p>
            <a:r>
              <a:rPr lang="en-US" altLang="en-US"/>
              <a:t>Page table is kept in main memory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Page-table base register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PTBR</a:t>
            </a:r>
            <a:r>
              <a:rPr lang="en-US" altLang="en-US"/>
              <a:t>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points to the page table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Page-table length register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PTLR</a:t>
            </a:r>
            <a:r>
              <a:rPr lang="en-US" altLang="en-US"/>
              <a:t>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indicates size of the page table</a:t>
            </a:r>
          </a:p>
          <a:p>
            <a:r>
              <a:rPr lang="en-US" altLang="en-US"/>
              <a:t>In this scheme every data/instruction access requires two memory accesses</a:t>
            </a:r>
          </a:p>
          <a:p>
            <a:pPr lvl="1"/>
            <a:r>
              <a:rPr lang="en-US" altLang="en-US"/>
              <a:t>One for the page table and one for the data / instruction</a:t>
            </a:r>
          </a:p>
          <a:p>
            <a:r>
              <a:rPr lang="en-US" altLang="en-US"/>
              <a:t>The two memory access problem can be solved by the use of a special fast-lookup hardware cache called </a:t>
            </a:r>
            <a:r>
              <a:rPr lang="en-US" altLang="en-US" b="1">
                <a:solidFill>
                  <a:srgbClr val="3366FF"/>
                </a:solidFill>
              </a:rPr>
              <a:t>associative memory </a:t>
            </a:r>
            <a:r>
              <a:rPr lang="en-US" altLang="en-US"/>
              <a:t>or </a:t>
            </a:r>
            <a:r>
              <a:rPr lang="en-US" altLang="en-US" b="1">
                <a:solidFill>
                  <a:srgbClr val="3366FF"/>
                </a:solidFill>
              </a:rPr>
              <a:t>translation look-aside buffers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TLBs</a:t>
            </a:r>
            <a:r>
              <a:rPr lang="en-US" altLang="en-US"/>
              <a:t>)</a:t>
            </a:r>
            <a:endParaRPr lang="en-US" alt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688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Implementation of Page Table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46175"/>
            <a:ext cx="6924675" cy="4686300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address-space identifiers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wired down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Associative Memory</a:t>
            </a:r>
          </a:p>
        </p:txBody>
      </p:sp>
      <p:sp>
        <p:nvSpPr>
          <p:cNvPr id="4505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903288" y="1211263"/>
            <a:ext cx="7351712" cy="4483100"/>
          </a:xfrm>
        </p:spPr>
        <p:txBody>
          <a:bodyPr/>
          <a:lstStyle/>
          <a:p>
            <a:r>
              <a:rPr lang="en-US" altLang="en-US"/>
              <a:t>Associative memory – parallel search 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Address translation (p, d)</a:t>
            </a:r>
          </a:p>
          <a:p>
            <a:pPr marL="627063" lvl="1"/>
            <a:r>
              <a:rPr lang="en-US" altLang="en-US"/>
              <a:t>If p is in associative register, get frame # out</a:t>
            </a:r>
          </a:p>
          <a:p>
            <a:pPr marL="627063" lvl="1"/>
            <a:r>
              <a:rPr lang="en-US" altLang="en-US"/>
              <a:t>Otherwise get frame # from page table in memory</a:t>
            </a:r>
          </a:p>
          <a:p>
            <a:pPr marL="627063" lvl="1"/>
            <a:endParaRPr lang="en-US" altLang="en-US"/>
          </a:p>
        </p:txBody>
      </p:sp>
      <p:pic>
        <p:nvPicPr>
          <p:cNvPr id="4506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84263"/>
            <a:ext cx="7781925" cy="50482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/>
              <a:t>Associative Lookup = </a:t>
            </a:r>
            <a:r>
              <a:rPr lang="en-US" altLang="en-US" dirty="0">
                <a:sym typeface="Symbol" panose="05050102010706020507" pitchFamily="18" charset="2"/>
              </a:rPr>
              <a:t> time unit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Can be &lt; 10% of memory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Hit ratio = 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associative registers; ratio related to number of associative registers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Effective Access 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</a:pPr>
            <a:r>
              <a:rPr lang="en-US" altLang="en-US" dirty="0"/>
              <a:t>	 </a:t>
            </a: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EAT = 0.80 x 100 + 0.20 x 200 = 120ns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Consider more realistic hit ratio -&gt;   = 99%,  = 20ns for TLB search, 100ns for memory access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EAT = 0.99 x 100 + 0.01 x 200 = 101ns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Effective Access Time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84263"/>
            <a:ext cx="7781925" cy="50482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/>
              <a:t>Associative Lookup = </a:t>
            </a:r>
            <a:r>
              <a:rPr lang="en-US" altLang="en-US" dirty="0">
                <a:sym typeface="Symbol" panose="05050102010706020507" pitchFamily="18" charset="2"/>
              </a:rPr>
              <a:t> time unit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Can be &lt; 10% of memory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Hit ratio = 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associative registers; ratio related to number of associative registers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Effective Access 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</a:pPr>
            <a:r>
              <a:rPr lang="en-US" altLang="en-US" dirty="0"/>
              <a:t>		EAT = (1 + </a:t>
            </a:r>
            <a:r>
              <a:rPr lang="en-US" altLang="en-US" dirty="0">
                <a:sym typeface="Symbol" panose="05050102010706020507" pitchFamily="18" charset="2"/>
              </a:rPr>
              <a:t>)  + (2 + )(1 – )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= 2 +  – 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EAT = 0.80 x 100 + 0.20 x 200 = 120ns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Consider more realistic hit ratio -&gt;   = 99%,  = 20ns for TLB search, 100ns for memory access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EAT = 0.99 x 100 + 0.01 x 200 = 101ns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23626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 Protection</a:t>
            </a:r>
          </a:p>
        </p:txBody>
      </p:sp>
      <p:sp>
        <p:nvSpPr>
          <p:cNvPr id="4813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73125" y="1157288"/>
            <a:ext cx="6937375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3366FF"/>
                </a:solidFill>
              </a:rPr>
              <a:t>page-table length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PTLR</a:t>
            </a:r>
            <a:r>
              <a:rPr lang="en-US" altLang="en-US" dirty="0"/>
              <a:t>) (to indicate the size of the page table)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09738" y="-188913"/>
            <a:ext cx="7112000" cy="903288"/>
          </a:xfrm>
        </p:spPr>
        <p:txBody>
          <a:bodyPr/>
          <a:lstStyle/>
          <a:p>
            <a:pPr eaLnBrk="1" hangingPunct="1"/>
            <a:r>
              <a:rPr lang="en-US" altLang="en-US" sz="2800"/>
              <a:t>Valid (v) or Invalid (i) Bit In A Page Table</a:t>
            </a:r>
          </a:p>
        </p:txBody>
      </p:sp>
      <p:pic>
        <p:nvPicPr>
          <p:cNvPr id="4915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Pages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41413"/>
            <a:ext cx="6950075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Shared 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3366FF"/>
                </a:solidFill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if sharing of read-write pages is allowed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Private code and 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98438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Shared Pages Example</a:t>
            </a:r>
            <a:endParaRPr lang="en-US" altLang="en-US" sz="2400"/>
          </a:p>
        </p:txBody>
      </p:sp>
      <p:pic>
        <p:nvPicPr>
          <p:cNvPr id="51203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1104900"/>
            <a:ext cx="4860925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Structure of the Page Table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141413"/>
            <a:ext cx="7119938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-&gt; 4 MB of physical address space / memory for page table alone</a:t>
            </a:r>
          </a:p>
          <a:p>
            <a:pPr lvl="2"/>
            <a:r>
              <a:rPr lang="en-US" altLang="en-US" dirty="0"/>
              <a:t>That amount of memory used to cost a lot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  <a:endParaRPr lang="en-US" altLang="en-US" dirty="0"/>
          </a:p>
          <a:p>
            <a:r>
              <a:rPr lang="en-US" altLang="en-US" dirty="0"/>
              <a:t>Hierarchical Paging</a:t>
            </a:r>
          </a:p>
          <a:p>
            <a:r>
              <a:rPr lang="en-US" altLang="en-US" dirty="0"/>
              <a:t>Hashed Page Tables</a:t>
            </a:r>
          </a:p>
          <a:p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Hierarchical Page Tables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89038"/>
            <a:ext cx="5980112" cy="4483100"/>
          </a:xfrm>
        </p:spPr>
        <p:txBody>
          <a:bodyPr/>
          <a:lstStyle/>
          <a:p>
            <a:r>
              <a:rPr lang="en-US" altLang="en-US"/>
              <a:t>Break up the logical address space into multiple page tables</a:t>
            </a:r>
          </a:p>
          <a:p>
            <a:r>
              <a:rPr lang="en-US" altLang="en-US"/>
              <a:t>A simple technique is a two-level page table</a:t>
            </a:r>
          </a:p>
          <a:p>
            <a:r>
              <a:rPr lang="en-US" altLang="en-US"/>
              <a:t>We then page the page table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68325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Two-Level Page-Table Scheme</a:t>
            </a:r>
            <a:endParaRPr lang="en-US" altLang="en-US" sz="2400"/>
          </a:p>
        </p:txBody>
      </p:sp>
      <p:pic>
        <p:nvPicPr>
          <p:cNvPr id="54275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1268413"/>
            <a:ext cx="424815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55675" y="152400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85850"/>
            <a:ext cx="7807325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logical address (on 32-bit machine with 1K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page number consisting of 22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page offset consisting of 10 bits</a:t>
            </a:r>
          </a:p>
          <a:p>
            <a:pPr marL="627063"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12-bit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Thus, a logical address is as follows:</a:t>
            </a:r>
            <a:br>
              <a:rPr lang="en-US" altLang="en-US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endParaRPr lang="en-US" altLang="en-US" sz="1600"/>
          </a:p>
          <a:p>
            <a:pPr>
              <a:lnSpc>
                <a:spcPct val="90000"/>
              </a:lnSpc>
            </a:pPr>
            <a:r>
              <a:rPr lang="en-US" altLang="en-US"/>
              <a:t>where</a:t>
            </a:r>
            <a:r>
              <a:rPr lang="en-US" altLang="en-US" i="1"/>
              <a:t> p</a:t>
            </a:r>
            <a:r>
              <a:rPr lang="en-US" altLang="en-US" i="1" baseline="-25000"/>
              <a:t>1</a:t>
            </a:r>
            <a:r>
              <a:rPr lang="en-US" altLang="en-US"/>
              <a:t> is an index into the outer page table, and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/>
              <a:t>Known as </a:t>
            </a:r>
            <a:r>
              <a:rPr lang="en-US" altLang="en-US" b="1">
                <a:solidFill>
                  <a:srgbClr val="3366FF"/>
                </a:solidFill>
              </a:rPr>
              <a:t>forward-mapped page table</a:t>
            </a:r>
          </a:p>
        </p:txBody>
      </p:sp>
      <p:pic>
        <p:nvPicPr>
          <p:cNvPr id="5530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3" y="3875088"/>
            <a:ext cx="3159125" cy="105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28713" y="152400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/>
              <a:t>Address-Translation Scheme</a:t>
            </a:r>
            <a:endParaRPr lang="en-US" altLang="en-US" sz="2400"/>
          </a:p>
        </p:txBody>
      </p:sp>
      <p:pic>
        <p:nvPicPr>
          <p:cNvPr id="56323" name="Picture 10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536575" y="166688"/>
            <a:ext cx="8229600" cy="576262"/>
          </a:xfrm>
        </p:spPr>
        <p:txBody>
          <a:bodyPr/>
          <a:lstStyle/>
          <a:p>
            <a:r>
              <a:rPr lang="en-US" altLang="en-US"/>
              <a:t>64-bit Logical Address Space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06450" y="1201738"/>
            <a:ext cx="8116888" cy="508793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5734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3000375"/>
            <a:ext cx="3246438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65188" y="2143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5837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166688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/>
              <a:t>Hashed Page Tables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/>
              <a:t>Common in address spaces &gt; 32 bits</a:t>
            </a:r>
          </a:p>
          <a:p>
            <a:r>
              <a:rPr lang="en-US" altLang="en-US"/>
              <a:t>The virtual page number is hashed into a page table</a:t>
            </a:r>
          </a:p>
          <a:p>
            <a:pPr lvl="1"/>
            <a:r>
              <a:rPr lang="en-US" altLang="en-US"/>
              <a:t>This page table contains a chain of elements hashing to the same location</a:t>
            </a:r>
          </a:p>
          <a:p>
            <a:r>
              <a:rPr lang="en-US" altLang="en-US"/>
              <a:t>Each element contains (1) the virtual page number (2) the value of the mapped page frame (3) a pointer to the next element</a:t>
            </a:r>
          </a:p>
          <a:p>
            <a:r>
              <a:rPr lang="en-US" altLang="en-US"/>
              <a:t>Virtual page numbers are compared in this chain searching for a match</a:t>
            </a:r>
          </a:p>
          <a:p>
            <a:pPr lvl="1"/>
            <a:r>
              <a:rPr lang="en-US" altLang="en-US"/>
              <a:t>If a match is found, the corresponding physical frame is extracted</a:t>
            </a:r>
          </a:p>
          <a:p>
            <a:r>
              <a:rPr lang="en-US" altLang="en-US"/>
              <a:t>Variation for 64-bit addresses is </a:t>
            </a:r>
            <a:r>
              <a:rPr lang="en-US" altLang="en-US" b="1">
                <a:solidFill>
                  <a:srgbClr val="3366FF"/>
                </a:solidFill>
              </a:rPr>
              <a:t>clustered page tables</a:t>
            </a:r>
          </a:p>
          <a:p>
            <a:pPr lvl="1"/>
            <a:r>
              <a:rPr lang="en-US" altLang="en-US"/>
              <a:t>Similar to hashed but each entry refers to several pages (such as 16) rather than 1</a:t>
            </a:r>
          </a:p>
          <a:p>
            <a:pPr lvl="1"/>
            <a:r>
              <a:rPr lang="en-US" altLang="en-US"/>
              <a:t>Especially useful for </a:t>
            </a:r>
            <a:r>
              <a:rPr lang="en-US" altLang="en-US" b="1">
                <a:solidFill>
                  <a:srgbClr val="3366FF"/>
                </a:solidFill>
              </a:rPr>
              <a:t>sparse</a:t>
            </a:r>
            <a:r>
              <a:rPr lang="en-US" altLang="en-US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Hashed Page Table</a:t>
            </a:r>
            <a:endParaRPr lang="en-US" altLang="en-US" sz="2400"/>
          </a:p>
        </p:txBody>
      </p:sp>
      <p:pic>
        <p:nvPicPr>
          <p:cNvPr id="604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152400"/>
            <a:ext cx="79565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1152525"/>
            <a:ext cx="7073900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152400"/>
            <a:ext cx="79565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1152525"/>
            <a:ext cx="7073900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</p:txBody>
      </p:sp>
    </p:spTree>
    <p:extLst>
      <p:ext uri="{BB962C8B-B14F-4D97-AF65-F5344CB8AC3E}">
        <p14:creationId xmlns:p14="http://schemas.microsoft.com/office/powerpoint/2010/main" val="7865919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58850" y="18256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Inverted Page Table Architecture</a:t>
            </a:r>
            <a:endParaRPr lang="en-US" altLang="en-US" sz="2400"/>
          </a:p>
        </p:txBody>
      </p:sp>
      <p:pic>
        <p:nvPicPr>
          <p:cNvPr id="6246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198438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035050"/>
            <a:ext cx="7499350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98438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1075" y="1096963"/>
            <a:ext cx="7515225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125" y="142875"/>
            <a:ext cx="76073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Example: The Intel 32 and 64-bit Architectures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33488"/>
            <a:ext cx="7743825" cy="4530725"/>
          </a:xfrm>
        </p:spPr>
        <p:txBody>
          <a:bodyPr/>
          <a:lstStyle/>
          <a:p>
            <a:r>
              <a:rPr lang="en-US" altLang="en-US"/>
              <a:t>Dominant industry chips</a:t>
            </a:r>
          </a:p>
          <a:p>
            <a:endParaRPr lang="en-US" altLang="en-US"/>
          </a:p>
          <a:p>
            <a:r>
              <a:rPr lang="en-US" altLang="en-US"/>
              <a:t>Pentium CPUs are 32-bit and called IA-32 architecture</a:t>
            </a:r>
          </a:p>
          <a:p>
            <a:endParaRPr lang="en-US" altLang="en-US"/>
          </a:p>
          <a:p>
            <a:r>
              <a:rPr lang="en-US" altLang="en-US"/>
              <a:t>Current Intel CPUs are 64-bit and called IA-64 architecture</a:t>
            </a:r>
          </a:p>
          <a:p>
            <a:endParaRPr lang="en-US" altLang="en-US"/>
          </a:p>
          <a:p>
            <a:r>
              <a:rPr lang="en-US" altLang="en-US"/>
              <a:t>Many variations in the chips, cover the main ideas here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25575" y="166688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Example: The Intel IA-32 Architecture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087438"/>
            <a:ext cx="7091363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3366FF"/>
                </a:solidFill>
              </a:rPr>
              <a:t>local descriptor table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3366FF"/>
                </a:solidFill>
              </a:rPr>
              <a:t>global descriptor table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5575" y="73025"/>
            <a:ext cx="76073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Example: The Intel IA-32 Architecture (Cont.)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087438"/>
            <a:ext cx="7743825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7588" name="Picture 1" descr="Screen Shot 2013-01-04 at 12.24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2141538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513" y="2063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/>
              <a:t>Logical to Physical Address Translation in IA-32</a:t>
            </a:r>
          </a:p>
        </p:txBody>
      </p:sp>
      <p:pic>
        <p:nvPicPr>
          <p:cNvPr id="686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95388" y="198438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/>
              <a:t>Intel IA-32 Segmentation</a:t>
            </a:r>
          </a:p>
        </p:txBody>
      </p:sp>
      <p:pic>
        <p:nvPicPr>
          <p:cNvPr id="69635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1825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Intel IA-32 Paging Architecture</a:t>
            </a:r>
          </a:p>
        </p:txBody>
      </p:sp>
      <p:pic>
        <p:nvPicPr>
          <p:cNvPr id="7065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7138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Intel IA-32 Page Address Extensions</a:t>
            </a:r>
          </a:p>
        </p:txBody>
      </p:sp>
      <p:pic>
        <p:nvPicPr>
          <p:cNvPr id="71683" name="Picture 1" descr="8_2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3502025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Rectangle 3"/>
          <p:cNvSpPr txBox="1">
            <a:spLocks noChangeArrowheads="1"/>
          </p:cNvSpPr>
          <p:nvPr/>
        </p:nvSpPr>
        <p:spPr bwMode="auto">
          <a:xfrm>
            <a:off x="901700" y="1108075"/>
            <a:ext cx="77438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sz="1600" b="1">
                <a:solidFill>
                  <a:srgbClr val="3366FF"/>
                </a:solidFill>
                <a:latin typeface="Helvetica" panose="020B0604020202020204" pitchFamily="34" charset="0"/>
              </a:rPr>
              <a:t>page address extension </a:t>
            </a:r>
            <a:r>
              <a:rPr kumimoji="1" lang="en-US" altLang="en-US" sz="1600">
                <a:latin typeface="Helvetica" panose="020B0604020202020204" pitchFamily="34" charset="0"/>
              </a:rPr>
              <a:t>(</a:t>
            </a:r>
            <a:r>
              <a:rPr kumimoji="1" lang="en-US" altLang="en-US" sz="1600" b="1">
                <a:solidFill>
                  <a:srgbClr val="3366FF"/>
                </a:solidFill>
                <a:latin typeface="Helvetica" panose="020B0604020202020204" pitchFamily="34" charset="0"/>
              </a:rPr>
              <a:t>PAE</a:t>
            </a:r>
            <a:r>
              <a:rPr kumimoji="1" lang="en-US" altLang="en-US" sz="160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sz="1600" b="1">
                <a:solidFill>
                  <a:srgbClr val="3366FF"/>
                </a:solidFill>
                <a:latin typeface="Helvetica" panose="020B0604020202020204" pitchFamily="34" charset="0"/>
              </a:rPr>
              <a:t>page directory pointer 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60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19843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Intel x86-64</a:t>
            </a:r>
          </a:p>
        </p:txBody>
      </p:sp>
      <p:sp>
        <p:nvSpPr>
          <p:cNvPr id="72707" name="Rectangle 3"/>
          <p:cNvSpPr txBox="1">
            <a:spLocks noChangeArrowheads="1"/>
          </p:cNvSpPr>
          <p:nvPr/>
        </p:nvSpPr>
        <p:spPr bwMode="auto">
          <a:xfrm>
            <a:off x="917575" y="1122363"/>
            <a:ext cx="7564438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72708" name="Picture 2" descr="8_2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1825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ARM Architecture</a:t>
            </a:r>
          </a:p>
        </p:txBody>
      </p:sp>
      <p:sp>
        <p:nvSpPr>
          <p:cNvPr id="73731" name="Rectangle 3"/>
          <p:cNvSpPr txBox="1">
            <a:spLocks noChangeArrowheads="1"/>
          </p:cNvSpPr>
          <p:nvPr/>
        </p:nvSpPr>
        <p:spPr bwMode="auto">
          <a:xfrm>
            <a:off x="869950" y="1169988"/>
            <a:ext cx="341788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sz="1400" b="1">
                <a:solidFill>
                  <a:srgbClr val="3366FF"/>
                </a:solidFill>
                <a:latin typeface="Helvetica" panose="020B0604020202020204" pitchFamily="34" charset="0"/>
              </a:rPr>
              <a:t>sections</a:t>
            </a:r>
            <a:r>
              <a:rPr kumimoji="1" lang="en-US" altLang="en-US" sz="140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1400">
                <a:latin typeface="Helvetica" panose="020B0604020202020204" pitchFamily="34" charset="0"/>
              </a:rPr>
              <a:t>Two levels of TLBs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>
                <a:latin typeface="Helvetica" panose="020B0604020202020204" pitchFamily="34" charset="0"/>
              </a:rPr>
              <a:t>Inner is single main TLB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400">
              <a:latin typeface="Helvetica" panose="020B0604020202020204" pitchFamily="34" charset="0"/>
            </a:endParaRPr>
          </a:p>
        </p:txBody>
      </p:sp>
      <p:pic>
        <p:nvPicPr>
          <p:cNvPr id="73732" name="Picture 1" descr="8_2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14784</TotalTime>
  <Words>6564</Words>
  <Application>Microsoft Office PowerPoint</Application>
  <PresentationFormat>On-screen Show (4:3)</PresentationFormat>
  <Paragraphs>846</Paragraphs>
  <Slides>74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Arial</vt:lpstr>
      <vt:lpstr>Courier New</vt:lpstr>
      <vt:lpstr>Google Sans</vt:lpstr>
      <vt:lpstr>Helvetica</vt:lpstr>
      <vt:lpstr>Monotype Sorts</vt:lpstr>
      <vt:lpstr>Symbol</vt:lpstr>
      <vt:lpstr>Times New Roman</vt:lpstr>
      <vt:lpstr>Verdana</vt:lpstr>
      <vt:lpstr>Webdings</vt:lpstr>
      <vt:lpstr>os-8</vt:lpstr>
      <vt:lpstr>Chapter 8:  Main Memory</vt:lpstr>
      <vt:lpstr>Chapter 8:  Memory Management</vt:lpstr>
      <vt:lpstr>Objectives</vt:lpstr>
      <vt:lpstr>Background</vt:lpstr>
      <vt:lpstr>Base and Limit Registers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Dynamic relocation using a relocation register</vt:lpstr>
      <vt:lpstr>Dynamic Linking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Contiguous Allocation</vt:lpstr>
      <vt:lpstr>Contiguous Allocation (Cont.)</vt:lpstr>
      <vt:lpstr>Hardware Support for Relocation and Limit Registers</vt:lpstr>
      <vt:lpstr>Multiple-partition allocation </vt:lpstr>
      <vt:lpstr>Dynamic Storage-Allocation Problem</vt:lpstr>
      <vt:lpstr>Fragmentation</vt:lpstr>
      <vt:lpstr>Fragmentation (Cont.)</vt:lpstr>
      <vt:lpstr>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Paging</vt:lpstr>
      <vt:lpstr>Address Translation Scheme</vt:lpstr>
      <vt:lpstr>Paging Hardware</vt:lpstr>
      <vt:lpstr>Paging Model of Logical and  Physical Memory</vt:lpstr>
      <vt:lpstr>Paging Example</vt:lpstr>
      <vt:lpstr>Paging (Cont.)</vt:lpstr>
      <vt:lpstr>Paging (Cont.)</vt:lpstr>
      <vt:lpstr>Free Frames</vt:lpstr>
      <vt:lpstr>Implementation of Page Table</vt:lpstr>
      <vt:lpstr>Implementation of Page Table (Cont.)</vt:lpstr>
      <vt:lpstr>Associative Memory</vt:lpstr>
      <vt:lpstr>Paging Hardware With TLB</vt:lpstr>
      <vt:lpstr>Effective Access Time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Page-Table Scheme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</vt:lpstr>
      <vt:lpstr>Inverted Page Table Architecture</vt:lpstr>
      <vt:lpstr>Oracle SPARC Solaris</vt:lpstr>
      <vt:lpstr>Oracle SPARC Solaris (Cont.)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Phong Ngo</cp:lastModifiedBy>
  <cp:revision>417</cp:revision>
  <cp:lastPrinted>2013-09-30T19:34:56Z</cp:lastPrinted>
  <dcterms:created xsi:type="dcterms:W3CDTF">2011-01-13T23:43:38Z</dcterms:created>
  <dcterms:modified xsi:type="dcterms:W3CDTF">2026-08-10T19:28:05Z</dcterms:modified>
</cp:coreProperties>
</file>