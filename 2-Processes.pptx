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1" r:id="rId3"/>
    <p:sldId id="264" r:id="rId4"/>
    <p:sldId id="263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312" r:id="rId35"/>
    <p:sldId id="301" r:id="rId36"/>
    <p:sldId id="309" r:id="rId37"/>
    <p:sldId id="310" r:id="rId38"/>
    <p:sldId id="31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9" autoAdjust="0"/>
    <p:restoredTop sz="70787" autoAdjust="0"/>
  </p:normalViewPr>
  <p:slideViewPr>
    <p:cSldViewPr snapToGrid="0">
      <p:cViewPr varScale="1">
        <p:scale>
          <a:sx n="65" d="100"/>
          <a:sy n="65" d="100"/>
        </p:scale>
        <p:origin x="29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A39F7-3183-49E4-8B8A-8EE7E7DEE2FC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7C50E-B406-44DE-9211-1681C2A20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7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Program: file is stored on disk, no execution</a:t>
            </a:r>
          </a:p>
          <a:p>
            <a:pPr marL="0" indent="0">
              <a:buNone/>
            </a:pPr>
            <a:r>
              <a:rPr lang="en-US"/>
              <a:t>Process: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36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executing, bao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r>
              <a:rPr lang="vi-VN" dirty="0"/>
              <a:t>- Code của chương trình</a:t>
            </a:r>
            <a:r>
              <a:rPr lang="en-US" dirty="0"/>
              <a:t> (text section)</a:t>
            </a:r>
            <a:endParaRPr lang="vi-VN" dirty="0"/>
          </a:p>
          <a:p>
            <a:r>
              <a:rPr lang="vi-VN" dirty="0"/>
              <a:t>- Dữ liệu của chương trình</a:t>
            </a:r>
          </a:p>
          <a:p>
            <a:r>
              <a:rPr lang="vi-VN" dirty="0"/>
              <a:t>- Stack</a:t>
            </a:r>
          </a:p>
          <a:p>
            <a:r>
              <a:rPr lang="vi-VN" dirty="0"/>
              <a:t>- Heap</a:t>
            </a:r>
          </a:p>
          <a:p>
            <a:r>
              <a:rPr lang="vi-VN" dirty="0"/>
              <a:t>- Program counter</a:t>
            </a:r>
          </a:p>
          <a:p>
            <a:r>
              <a:rPr lang="vi-VN" dirty="0"/>
              <a:t>- CPU registers</a:t>
            </a:r>
          </a:p>
          <a:p>
            <a:r>
              <a:rPr lang="vi-VN" dirty="0"/>
              <a:t>- PCB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56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processes may execute the same program but independent process</a:t>
            </a:r>
          </a:p>
          <a:p>
            <a:r>
              <a:rPr lang="en-US" dirty="0"/>
              <a:t>=&gt;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3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Notepad:</a:t>
            </a:r>
          </a:p>
          <a:p>
            <a:endParaRPr lang="en-US" dirty="0"/>
          </a:p>
          <a:p>
            <a:r>
              <a:rPr lang="en-US" dirty="0"/>
              <a:t>notepad.exe → Process 1</a:t>
            </a:r>
          </a:p>
          <a:p>
            <a:r>
              <a:rPr lang="en-US" dirty="0"/>
              <a:t>notepad.exe → Process 2</a:t>
            </a:r>
          </a:p>
          <a:p>
            <a:r>
              <a:rPr lang="en-US" dirty="0"/>
              <a:t>notepad.exe → Process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02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Ready:</a:t>
            </a:r>
            <a:r>
              <a:rPr lang="en-US" dirty="0"/>
              <a:t> Process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sàng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CPU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. </a:t>
            </a:r>
          </a:p>
          <a:p>
            <a:r>
              <a:rPr lang="en-US" b="1" dirty="0"/>
              <a:t>Running:</a:t>
            </a:r>
            <a:r>
              <a:rPr lang="en-US" dirty="0"/>
              <a:t> Process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CPU. </a:t>
            </a:r>
          </a:p>
          <a:p>
            <a:r>
              <a:rPr lang="en-US" b="1" dirty="0"/>
              <a:t>Waiting:</a:t>
            </a:r>
            <a:r>
              <a:rPr lang="en-US" dirty="0"/>
              <a:t> Process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I/O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. </a:t>
            </a:r>
          </a:p>
          <a:p>
            <a:r>
              <a:rPr lang="en-US" b="1" dirty="0"/>
              <a:t>Terminated:</a:t>
            </a:r>
            <a:r>
              <a:rPr lang="en-US" dirty="0"/>
              <a:t> Process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82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kernel: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hardware </a:t>
            </a:r>
            <a:r>
              <a:rPr lang="en-US" dirty="0" err="1"/>
              <a:t>va</a:t>
            </a:r>
            <a:r>
              <a:rPr lang="en-US" dirty="0"/>
              <a:t> software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67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ko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ngồi</a:t>
            </a:r>
            <a:r>
              <a:rPr lang="en-US" dirty="0"/>
              <a:t> </a:t>
            </a:r>
            <a:r>
              <a:rPr lang="en-US" dirty="0" err="1"/>
              <a:t>rảnh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process A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I/O </a:t>
            </a:r>
            <a:r>
              <a:rPr lang="en-US" dirty="0" err="1"/>
              <a:t>thì</a:t>
            </a:r>
            <a:r>
              <a:rPr lang="en-US" dirty="0"/>
              <a:t> scheduler </a:t>
            </a:r>
            <a:r>
              <a:rPr lang="en-US" dirty="0" err="1"/>
              <a:t>đổi</a:t>
            </a:r>
            <a:r>
              <a:rPr lang="en-US" dirty="0"/>
              <a:t> CPU qua process B</a:t>
            </a:r>
          </a:p>
          <a:p>
            <a:r>
              <a:rPr lang="en-US" dirty="0"/>
              <a:t>CPU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process </a:t>
            </a:r>
            <a:r>
              <a:rPr lang="en-US" dirty="0" err="1"/>
              <a:t>nên</a:t>
            </a:r>
            <a:r>
              <a:rPr lang="en-US" dirty="0"/>
              <a:t> OS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96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Khi CPU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1 process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sang process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“Process scheduler” =&gt; </a:t>
            </a:r>
            <a:r>
              <a:rPr lang="en-US" dirty="0" err="1"/>
              <a:t>đỡ</a:t>
            </a:r>
            <a:r>
              <a:rPr lang="en-US" dirty="0"/>
              <a:t> </a:t>
            </a:r>
            <a:r>
              <a:rPr lang="en-US" dirty="0" err="1"/>
              <a:t>tốn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  <a:p>
            <a:endParaRPr lang="en-US" dirty="0"/>
          </a:p>
          <a:p>
            <a:r>
              <a:rPr lang="vi-VN" dirty="0"/>
              <a:t>CPU đang chạy Process A</a:t>
            </a:r>
          </a:p>
          <a:p>
            <a:r>
              <a:rPr lang="vi-VN" dirty="0"/>
              <a:t>↓</a:t>
            </a:r>
          </a:p>
          <a:p>
            <a:r>
              <a:rPr lang="vi-VN" dirty="0"/>
              <a:t>OS muốn chuyển sang Process B</a:t>
            </a:r>
          </a:p>
          <a:p>
            <a:r>
              <a:rPr lang="vi-VN" dirty="0"/>
              <a:t>↓</a:t>
            </a:r>
          </a:p>
          <a:p>
            <a:r>
              <a:rPr lang="vi-VN" dirty="0"/>
              <a:t>OS lưu context của Process A vào PCB của A</a:t>
            </a:r>
          </a:p>
          <a:p>
            <a:r>
              <a:rPr lang="vi-VN" dirty="0"/>
              <a:t>↓</a:t>
            </a:r>
          </a:p>
          <a:p>
            <a:r>
              <a:rPr lang="vi-VN" dirty="0"/>
              <a:t>OS lấy context của Process B từ PCB của B</a:t>
            </a:r>
          </a:p>
          <a:p>
            <a:r>
              <a:rPr lang="vi-VN" dirty="0"/>
              <a:t>↓</a:t>
            </a:r>
          </a:p>
          <a:p>
            <a:r>
              <a:rPr lang="vi-VN" dirty="0"/>
              <a:t>CPU chạy Process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67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Exec(): </a:t>
            </a:r>
            <a:r>
              <a:rPr lang="en-US" dirty="0" err="1"/>
              <a:t>cho</a:t>
            </a:r>
            <a:r>
              <a:rPr lang="en-US" dirty="0"/>
              <a:t> process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program </a:t>
            </a:r>
            <a:r>
              <a:rPr lang="en-US" dirty="0" err="1"/>
              <a:t>khác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6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ko </a:t>
            </a:r>
            <a:r>
              <a:rPr lang="en-US" dirty="0" err="1"/>
              <a:t>cần</a:t>
            </a:r>
            <a:r>
              <a:rPr lang="en-US" dirty="0"/>
              <a:t> exit()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exit status</a:t>
            </a:r>
          </a:p>
          <a:p>
            <a:endParaRPr lang="en-US" dirty="0"/>
          </a:p>
          <a:p>
            <a:r>
              <a:rPr lang="en-US" dirty="0" err="1"/>
              <a:t>Dùng</a:t>
            </a:r>
            <a:r>
              <a:rPr lang="en-US" dirty="0"/>
              <a:t> wait()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chở</a:t>
            </a:r>
            <a:r>
              <a:rPr lang="en-US" dirty="0"/>
              <a:t> child process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status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56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Cascading termination occurs when parent process terminate =&gt; depend on OS</a:t>
            </a:r>
          </a:p>
          <a:p>
            <a:endParaRPr lang="en-US" dirty="0"/>
          </a:p>
          <a:p>
            <a:r>
              <a:rPr lang="en-US" dirty="0"/>
              <a:t>Zombie process: child process is terminated but information is still in PCB because parent hasn’t had child process status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28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independent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notepad </a:t>
            </a:r>
            <a:r>
              <a:rPr lang="en-US" dirty="0" err="1"/>
              <a:t>và</a:t>
            </a:r>
            <a:r>
              <a:rPr lang="en-US" dirty="0"/>
              <a:t> calculator</a:t>
            </a:r>
          </a:p>
          <a:p>
            <a:r>
              <a:rPr lang="en-US" dirty="0"/>
              <a:t>Cooperating process: </a:t>
            </a:r>
            <a:r>
              <a:rPr lang="en-US" dirty="0" err="1"/>
              <a:t>trong</a:t>
            </a:r>
            <a:r>
              <a:rPr lang="en-US" dirty="0"/>
              <a:t> chrome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process </a:t>
            </a:r>
            <a:r>
              <a:rPr lang="en-US" dirty="0" err="1"/>
              <a:t>như</a:t>
            </a:r>
            <a:r>
              <a:rPr lang="en-US" dirty="0"/>
              <a:t> chrome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tab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dirty="0"/>
              <a:t>Those processes can affect to each other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IPC models: 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+ shared memory: the processes can use the same memory space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dirty="0"/>
              <a:t>+ message passing: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process A sang B </a:t>
            </a:r>
            <a:r>
              <a:rPr lang="en-US" dirty="0" err="1"/>
              <a:t>thông</a:t>
            </a:r>
            <a:r>
              <a:rPr lang="en-US" dirty="0"/>
              <a:t> qua kernel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95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passing: Process A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qua Process B </a:t>
            </a:r>
            <a:r>
              <a:rPr lang="en-US" dirty="0" err="1"/>
              <a:t>thông</a:t>
            </a:r>
            <a:r>
              <a:rPr lang="en-US" dirty="0"/>
              <a:t> qua kernel</a:t>
            </a:r>
          </a:p>
          <a:p>
            <a:r>
              <a:rPr lang="en-US" dirty="0"/>
              <a:t>Kernel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kernel queue </a:t>
            </a:r>
            <a:r>
              <a:rPr lang="en-US" dirty="0" err="1"/>
              <a:t>và</a:t>
            </a:r>
            <a:r>
              <a:rPr lang="en-US" dirty="0"/>
              <a:t> Process B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data </a:t>
            </a:r>
            <a:r>
              <a:rPr lang="en-US" dirty="0" err="1"/>
              <a:t>từ</a:t>
            </a:r>
            <a:r>
              <a:rPr lang="en-US" dirty="0"/>
              <a:t> kernel</a:t>
            </a:r>
          </a:p>
          <a:p>
            <a:endParaRPr lang="en-US" dirty="0"/>
          </a:p>
          <a:p>
            <a:r>
              <a:rPr lang="en-US" dirty="0"/>
              <a:t>Shared memory: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data </a:t>
            </a:r>
            <a:r>
              <a:rPr lang="en-US" dirty="0" err="1"/>
              <a:t>từ</a:t>
            </a:r>
            <a:r>
              <a:rPr lang="en-US" dirty="0"/>
              <a:t> memory </a:t>
            </a:r>
            <a:r>
              <a:rPr lang="en-US" dirty="0" err="1"/>
              <a:t>chung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2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Buffer: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</a:t>
            </a:r>
          </a:p>
          <a:p>
            <a:endParaRPr lang="en-US" dirty="0"/>
          </a:p>
          <a:p>
            <a:r>
              <a:rPr lang="en-US" dirty="0"/>
              <a:t>Producer process: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buffer</a:t>
            </a:r>
          </a:p>
          <a:p>
            <a:r>
              <a:rPr lang="en-US" dirty="0"/>
              <a:t>Consumer process: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buffer </a:t>
            </a:r>
          </a:p>
          <a:p>
            <a:endParaRPr lang="en-US" dirty="0"/>
          </a:p>
          <a:p>
            <a:r>
              <a:rPr lang="en-US" dirty="0"/>
              <a:t>Bounded-buffer: buffer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6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Concept slide </a:t>
            </a:r>
            <a:r>
              <a:rPr lang="en-US" dirty="0" err="1"/>
              <a:t>này</a:t>
            </a:r>
            <a:r>
              <a:rPr lang="en-US" dirty="0"/>
              <a:t>: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Producer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-&gt;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buffer -&gt; Consumer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buffer</a:t>
            </a:r>
          </a:p>
          <a:p>
            <a:endParaRPr lang="en-US" dirty="0"/>
          </a:p>
          <a:p>
            <a:r>
              <a:rPr lang="en-US" dirty="0" err="1"/>
              <a:t>Buffer_size</a:t>
            </a:r>
            <a:r>
              <a:rPr lang="en-US" dirty="0"/>
              <a:t>: </a:t>
            </a:r>
            <a:r>
              <a:rPr lang="en-US" dirty="0" err="1"/>
              <a:t>khay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10 ô</a:t>
            </a:r>
          </a:p>
          <a:p>
            <a:r>
              <a:rPr lang="en-US" dirty="0"/>
              <a:t>Item: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lieu </a:t>
            </a:r>
            <a:r>
              <a:rPr lang="en-US" dirty="0" err="1"/>
              <a:t>mà</a:t>
            </a:r>
            <a:r>
              <a:rPr lang="en-US" dirty="0"/>
              <a:t> producer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  <a:p>
            <a:r>
              <a:rPr lang="en-US" dirty="0"/>
              <a:t>buffer[0] buffer[1] buffer[2] ... buffer[9]: producer </a:t>
            </a:r>
            <a:r>
              <a:rPr lang="en-US" dirty="0" err="1"/>
              <a:t>bỏ</a:t>
            </a:r>
            <a:r>
              <a:rPr lang="en-US" dirty="0"/>
              <a:t> data </a:t>
            </a:r>
            <a:r>
              <a:rPr lang="en-US" dirty="0" err="1"/>
              <a:t>vào</a:t>
            </a:r>
            <a:r>
              <a:rPr lang="en-US" dirty="0"/>
              <a:t> ô buffer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consumer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ô </a:t>
            </a:r>
            <a:r>
              <a:rPr lang="en-US" dirty="0" err="1"/>
              <a:t>này</a:t>
            </a:r>
            <a:endParaRPr lang="en-US" dirty="0"/>
          </a:p>
          <a:p>
            <a:endParaRPr lang="en-US" dirty="0"/>
          </a:p>
          <a:p>
            <a:r>
              <a:rPr lang="en-US" dirty="0"/>
              <a:t>In: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producer </a:t>
            </a:r>
            <a:r>
              <a:rPr lang="en-US" dirty="0" err="1"/>
              <a:t>bỏ</a:t>
            </a:r>
            <a:r>
              <a:rPr lang="en-US" dirty="0"/>
              <a:t> data </a:t>
            </a:r>
            <a:r>
              <a:rPr lang="en-US" dirty="0" err="1"/>
              <a:t>vào</a:t>
            </a:r>
            <a:r>
              <a:rPr lang="en-US" dirty="0"/>
              <a:t> ô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endParaRPr lang="en-US" dirty="0"/>
          </a:p>
          <a:p>
            <a:r>
              <a:rPr lang="en-US" dirty="0"/>
              <a:t>Out: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consumer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data </a:t>
            </a:r>
            <a:r>
              <a:rPr lang="en-US" dirty="0" err="1"/>
              <a:t>từ</a:t>
            </a:r>
            <a:r>
              <a:rPr lang="en-US" dirty="0"/>
              <a:t> ô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26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One slot is intentionally left unused to distinguish between a full buffer and an </a:t>
            </a:r>
            <a:r>
              <a:rPr lang="en-US" dirty="0" err="1"/>
              <a:t>emptybuffer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121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Synchronize helps process not to mess up data while Producer process is writing and Consumer process is reading</a:t>
            </a:r>
          </a:p>
          <a:p>
            <a:endParaRPr lang="en-US" dirty="0"/>
          </a:p>
          <a:p>
            <a:r>
              <a:rPr lang="en-US" dirty="0"/>
              <a:t>Shared-memory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resolve </a:t>
            </a:r>
            <a:r>
              <a:rPr lang="en-US" dirty="0" err="1"/>
              <a:t>bằng</a:t>
            </a:r>
            <a:r>
              <a:rPr lang="en-US" dirty="0"/>
              <a:t> Synchronize, ta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thêm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44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passing </a:t>
            </a:r>
            <a:r>
              <a:rPr lang="en-US" dirty="0" err="1"/>
              <a:t>có</a:t>
            </a:r>
            <a:r>
              <a:rPr lang="en-US" dirty="0"/>
              <a:t> synchronization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message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OS kernel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1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2 process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=&gt; </a:t>
            </a:r>
            <a:r>
              <a:rPr lang="en-US" dirty="0" err="1"/>
              <a:t>cần</a:t>
            </a:r>
            <a:r>
              <a:rPr lang="en-US" dirty="0"/>
              <a:t> Communication link (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message)</a:t>
            </a:r>
          </a:p>
          <a:p>
            <a:r>
              <a:rPr lang="en-US" dirty="0" err="1"/>
              <a:t>Còn</a:t>
            </a:r>
            <a:r>
              <a:rPr lang="en-US" dirty="0"/>
              <a:t> message queue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message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chuyển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86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A ───&gt; Mailbox ───&gt; Process B (</a:t>
            </a:r>
            <a:r>
              <a:rPr lang="en-US" dirty="0" err="1"/>
              <a:t>gửi</a:t>
            </a:r>
            <a:r>
              <a:rPr lang="en-US" dirty="0"/>
              <a:t> message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/>
              <a:t>qua mailbox)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7C50E-B406-44DE-9211-1681C2A2040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55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62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0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4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9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1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4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9076C-3D55-4052-8204-498B1F2D35B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B2DB9-3415-4841-B97C-9B3730F7B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5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CECS 326</a:t>
            </a:r>
            <a:br>
              <a:rPr lang="en-US" dirty="0"/>
            </a:br>
            <a:r>
              <a:rPr lang="en-US" dirty="0"/>
              <a:t>Operating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6354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Processes</a:t>
            </a:r>
          </a:p>
          <a:p>
            <a:r>
              <a:rPr lang="en-US" sz="2200" dirty="0"/>
              <a:t>(Chapter 3, Operating system Concepts by </a:t>
            </a:r>
            <a:r>
              <a:rPr lang="en-US" sz="2200" dirty="0" err="1"/>
              <a:t>Silberschatz</a:t>
            </a:r>
            <a:r>
              <a:rPr lang="en-US" sz="2200" dirty="0"/>
              <a:t>, Galvin and Gagne)</a:t>
            </a:r>
          </a:p>
        </p:txBody>
      </p:sp>
    </p:spTree>
    <p:extLst>
      <p:ext uri="{BB962C8B-B14F-4D97-AF65-F5344CB8AC3E}">
        <p14:creationId xmlns:p14="http://schemas.microsoft.com/office/powerpoint/2010/main" val="380454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455"/>
          </a:xfrm>
        </p:spPr>
        <p:txBody>
          <a:bodyPr/>
          <a:lstStyle/>
          <a:p>
            <a:r>
              <a:rPr lang="en-US" dirty="0"/>
              <a:t>Process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6527"/>
            <a:ext cx="10515600" cy="531945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Process – a program in execution; process execution must progress in sequential fashion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process consists of an address space and current state</a:t>
            </a:r>
          </a:p>
          <a:p>
            <a:pPr lvl="1"/>
            <a:r>
              <a:rPr lang="en-US" sz="2800" dirty="0"/>
              <a:t>Address space includes </a:t>
            </a:r>
          </a:p>
          <a:p>
            <a:pPr lvl="2"/>
            <a:r>
              <a:rPr lang="en-US" sz="2400" dirty="0"/>
              <a:t>Program code, also called the text section</a:t>
            </a:r>
          </a:p>
          <a:p>
            <a:pPr lvl="2"/>
            <a:r>
              <a:rPr lang="en-US" sz="2400" dirty="0"/>
              <a:t>Static data section, containing global variables</a:t>
            </a:r>
          </a:p>
          <a:p>
            <a:pPr lvl="2"/>
            <a:r>
              <a:rPr lang="en-US" sz="2400" dirty="0"/>
              <a:t>Stack containing temporary data (function parameters, return addresses, local variables)</a:t>
            </a:r>
          </a:p>
          <a:p>
            <a:pPr lvl="2"/>
            <a:r>
              <a:rPr lang="en-US" sz="2400" dirty="0"/>
              <a:t>Heap containing memory dynamically allocated during run time</a:t>
            </a:r>
          </a:p>
          <a:p>
            <a:pPr lvl="1"/>
            <a:r>
              <a:rPr lang="en-US" sz="2800" dirty="0"/>
              <a:t>Current state includes</a:t>
            </a:r>
          </a:p>
          <a:p>
            <a:pPr lvl="2"/>
            <a:r>
              <a:rPr lang="en-US" sz="2400" dirty="0"/>
              <a:t>Program counter</a:t>
            </a:r>
          </a:p>
          <a:p>
            <a:pPr lvl="2"/>
            <a:r>
              <a:rPr lang="en-US" sz="2400" dirty="0"/>
              <a:t>Processor registers</a:t>
            </a:r>
          </a:p>
        </p:txBody>
      </p:sp>
    </p:spTree>
    <p:extLst>
      <p:ext uri="{BB962C8B-B14F-4D97-AF65-F5344CB8AC3E}">
        <p14:creationId xmlns:p14="http://schemas.microsoft.com/office/powerpoint/2010/main" val="2292600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7108"/>
          </a:xfrm>
        </p:spPr>
        <p:txBody>
          <a:bodyPr/>
          <a:lstStyle/>
          <a:p>
            <a:r>
              <a:rPr lang="en-US" dirty="0"/>
              <a:t>Process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49179"/>
            <a:ext cx="5181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300" dirty="0"/>
              <a:t>Process in memory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30851" y="1549178"/>
            <a:ext cx="5822949" cy="507490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Program is a passive entity stored on disk as an executable file, while process is active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program becomes a process when the executable file is loaded into memory and a process control block (PCB) is created for its execution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Execution of a program can be started via GUI mouse clicks, command line entry of its name,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may have several processes executing the same program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2025096"/>
            <a:ext cx="2911475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5740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373"/>
          </a:xfrm>
        </p:spPr>
        <p:txBody>
          <a:bodyPr/>
          <a:lstStyle/>
          <a:p>
            <a:r>
              <a:rPr lang="en-US" dirty="0"/>
              <a:t>Process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349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As a process execute, it changes state</a:t>
            </a:r>
          </a:p>
          <a:p>
            <a:pPr lvl="1"/>
            <a:r>
              <a:rPr lang="en-US" dirty="0"/>
              <a:t>New: the process is being created</a:t>
            </a:r>
          </a:p>
          <a:p>
            <a:pPr lvl="1"/>
            <a:r>
              <a:rPr lang="en-US" dirty="0"/>
              <a:t>Running: instructions are being executed</a:t>
            </a:r>
          </a:p>
          <a:p>
            <a:pPr lvl="1"/>
            <a:r>
              <a:rPr lang="en-US" dirty="0"/>
              <a:t>Waiting: the process is waiting for some event to occur</a:t>
            </a:r>
          </a:p>
          <a:p>
            <a:pPr lvl="1"/>
            <a:r>
              <a:rPr lang="en-US" dirty="0"/>
              <a:t>Ready: the process is waiting to be assigned a processor</a:t>
            </a:r>
          </a:p>
          <a:p>
            <a:pPr lvl="1"/>
            <a:r>
              <a:rPr lang="en-US" dirty="0"/>
              <a:t>Terminated: the process has finished execution</a:t>
            </a:r>
          </a:p>
          <a:p>
            <a:endParaRPr lang="en-US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308" y="4020400"/>
            <a:ext cx="6635750" cy="264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034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5963"/>
          </a:xfrm>
        </p:spPr>
        <p:txBody>
          <a:bodyPr/>
          <a:lstStyle/>
          <a:p>
            <a:r>
              <a:rPr lang="en-US" dirty="0"/>
              <a:t>Process Control Block (PCB)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531087"/>
            <a:ext cx="7072423" cy="516742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data structure created to maintain information associated with each process, including</a:t>
            </a:r>
          </a:p>
          <a:p>
            <a:pPr lvl="1"/>
            <a:r>
              <a:rPr lang="en-US" dirty="0"/>
              <a:t>Process ID</a:t>
            </a:r>
          </a:p>
          <a:p>
            <a:pPr lvl="1"/>
            <a:r>
              <a:rPr lang="en-US" dirty="0"/>
              <a:t>Process state</a:t>
            </a:r>
          </a:p>
          <a:p>
            <a:pPr lvl="1"/>
            <a:r>
              <a:rPr lang="en-US" dirty="0"/>
              <a:t>Program counter</a:t>
            </a:r>
          </a:p>
          <a:p>
            <a:pPr lvl="1"/>
            <a:r>
              <a:rPr lang="en-US" dirty="0"/>
              <a:t>Registers</a:t>
            </a:r>
          </a:p>
          <a:p>
            <a:pPr lvl="1"/>
            <a:r>
              <a:rPr lang="en-US" dirty="0"/>
              <a:t>CPU scheduling information (priorities, scheduling queue pointers)</a:t>
            </a:r>
          </a:p>
          <a:p>
            <a:pPr lvl="1"/>
            <a:r>
              <a:rPr lang="en-US" dirty="0"/>
              <a:t>Memory management information (memory allocated to process)</a:t>
            </a:r>
          </a:p>
          <a:p>
            <a:pPr lvl="1"/>
            <a:r>
              <a:rPr lang="en-US" dirty="0"/>
              <a:t>Accounting information (CPU used, clock time elapsed since start, time limits)</a:t>
            </a:r>
          </a:p>
          <a:p>
            <a:pPr lvl="1"/>
            <a:r>
              <a:rPr lang="en-US" dirty="0"/>
              <a:t>I/O status information (I/O devices allocated to process, list of open files) </a:t>
            </a:r>
          </a:p>
        </p:txBody>
      </p:sp>
      <p:pic>
        <p:nvPicPr>
          <p:cNvPr id="5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235" y="1531087"/>
            <a:ext cx="2865402" cy="459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78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2047"/>
          </a:xfrm>
        </p:spPr>
        <p:txBody>
          <a:bodyPr/>
          <a:lstStyle/>
          <a:p>
            <a:r>
              <a:rPr lang="en-US" dirty="0"/>
              <a:t>CPU Switch From Process to Process</a:t>
            </a:r>
          </a:p>
        </p:txBody>
      </p:sp>
      <p:pic>
        <p:nvPicPr>
          <p:cNvPr id="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270" y="1296988"/>
            <a:ext cx="8569843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199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782"/>
          </a:xfrm>
        </p:spPr>
        <p:txBody>
          <a:bodyPr/>
          <a:lstStyle/>
          <a:p>
            <a:r>
              <a:rPr lang="en-US" dirty="0"/>
              <a:t>Process Representation in Linux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276350"/>
            <a:ext cx="10515600" cy="4351338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Represented by the C structure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t_pid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 /* process identifier */ 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long state; /* state of the process */ 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time_slice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/* scheduling information */ 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*parent; /* this process</a:t>
            </a:r>
            <a:r>
              <a:rPr lang="ja-JP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 parent */ </a:t>
            </a:r>
            <a:b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list_head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children; /* this process</a:t>
            </a:r>
            <a:r>
              <a:rPr lang="ja-JP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 children */ </a:t>
            </a:r>
            <a:b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files_struct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*files; /* list of open files */ </a:t>
            </a:r>
            <a:b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mm_struct</a:t>
            </a:r>
            <a:r>
              <a:rPr lang="en-US" altLang="ja-JP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*mm; /* address space of this process */</a:t>
            </a:r>
          </a:p>
          <a:p>
            <a:pPr>
              <a:buFont typeface="Monotype Sorts" pitchFamily="-84" charset="2"/>
              <a:buNone/>
            </a:pP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3" descr="C:\Users\as668\Desktop\in-3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7" y="3976577"/>
            <a:ext cx="7845106" cy="270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523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0903"/>
          </a:xfrm>
        </p:spPr>
        <p:txBody>
          <a:bodyPr/>
          <a:lstStyle/>
          <a:p>
            <a:r>
              <a:rPr lang="en-US" dirty="0"/>
              <a:t>Process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344" y="144602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Maximize CPU use, quickly switch processes onto CPU for time sharing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Process scheduler selects among available processes for next execution on CPU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Maintains scheduling queues of processes</a:t>
            </a:r>
          </a:p>
          <a:p>
            <a:pPr lvl="1"/>
            <a:r>
              <a:rPr lang="en-US" dirty="0"/>
              <a:t>Job queue – set of all processes in the system</a:t>
            </a:r>
          </a:p>
          <a:p>
            <a:pPr lvl="1"/>
            <a:r>
              <a:rPr lang="en-US" dirty="0"/>
              <a:t>Ready queue – set of all processes residing in main memory, ready and waiting to execute</a:t>
            </a:r>
          </a:p>
          <a:p>
            <a:pPr lvl="1"/>
            <a:r>
              <a:rPr lang="en-US" dirty="0"/>
              <a:t>Device queues – set of processes waiting for an I/O device</a:t>
            </a:r>
          </a:p>
          <a:p>
            <a:pPr lvl="1"/>
            <a:r>
              <a:rPr lang="en-US" dirty="0"/>
              <a:t>Processes move among the various queues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78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527"/>
            <a:ext cx="10515600" cy="1080903"/>
          </a:xfrm>
        </p:spPr>
        <p:txBody>
          <a:bodyPr/>
          <a:lstStyle/>
          <a:p>
            <a:r>
              <a:rPr lang="en-US" dirty="0"/>
              <a:t>Ready Queue &amp; Various I/O Device Queues</a:t>
            </a:r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515" y="1227430"/>
            <a:ext cx="6526970" cy="563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5009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8252"/>
          </a:xfrm>
        </p:spPr>
        <p:txBody>
          <a:bodyPr/>
          <a:lstStyle/>
          <a:p>
            <a:r>
              <a:rPr lang="en-US" dirty="0"/>
              <a:t>Representation of Process Scheduling</a:t>
            </a:r>
          </a:p>
        </p:txBody>
      </p:sp>
      <p:pic>
        <p:nvPicPr>
          <p:cNvPr id="5" name="Content Placeholder 4" descr="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664" y="1233377"/>
            <a:ext cx="8393750" cy="4848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087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When CPU switches to another process, the system must save the state of the old process and load the saved state for the new process via a context switch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Context of a process is represented in the PCB(Process Control Block)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Context switch time is overhead; the system does no useful work while switching.  The more complex the OS and the PCB, the longer the context switch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Time in context switch highly dependent on hardware support.  Some processors (e.g., Sun </a:t>
            </a:r>
            <a:r>
              <a:rPr lang="en-US" dirty="0" err="1"/>
              <a:t>UltraSPARC</a:t>
            </a:r>
            <a:r>
              <a:rPr lang="en-US" dirty="0"/>
              <a:t>) provide multiple sets of registers.  In this case context switch often requires just changing the pointer to a different register set.</a:t>
            </a:r>
          </a:p>
        </p:txBody>
      </p:sp>
    </p:spTree>
    <p:extLst>
      <p:ext uri="{BB962C8B-B14F-4D97-AF65-F5344CB8AC3E}">
        <p14:creationId xmlns:p14="http://schemas.microsoft.com/office/powerpoint/2010/main" val="382309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OS must provide mechanisms for</a:t>
            </a:r>
          </a:p>
          <a:p>
            <a:pPr lvl="1"/>
            <a:r>
              <a:rPr lang="en-US" sz="2800" dirty="0"/>
              <a:t>Process creation</a:t>
            </a:r>
          </a:p>
          <a:p>
            <a:pPr lvl="1"/>
            <a:r>
              <a:rPr lang="en-US" sz="2800" dirty="0"/>
              <a:t>Process termination</a:t>
            </a:r>
          </a:p>
          <a:p>
            <a:pPr lvl="1"/>
            <a:r>
              <a:rPr lang="en-US" sz="2800" dirty="0" err="1"/>
              <a:t>Interprocess</a:t>
            </a:r>
            <a:r>
              <a:rPr lang="en-US" sz="2800" dirty="0"/>
              <a:t>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817345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373"/>
          </a:xfrm>
        </p:spPr>
        <p:txBody>
          <a:bodyPr/>
          <a:lstStyle/>
          <a:p>
            <a:r>
              <a:rPr lang="en-US" dirty="0"/>
              <a:t>Process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3497"/>
            <a:ext cx="10515600" cy="510362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Parent process create child processes, which, in turn, create other processes, forming a tree of processes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process is identified and managed via a process id (</a:t>
            </a:r>
            <a:r>
              <a:rPr lang="en-US" dirty="0" err="1"/>
              <a:t>pid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Resource sharing options</a:t>
            </a:r>
          </a:p>
          <a:p>
            <a:pPr lvl="1"/>
            <a:r>
              <a:rPr lang="en-US" dirty="0"/>
              <a:t>Parent and children share all resources</a:t>
            </a:r>
          </a:p>
          <a:p>
            <a:pPr lvl="1"/>
            <a:r>
              <a:rPr lang="en-US" dirty="0"/>
              <a:t>Children share subset of parent’s resources</a:t>
            </a:r>
          </a:p>
          <a:p>
            <a:pPr lvl="1"/>
            <a:r>
              <a:rPr lang="en-US" dirty="0"/>
              <a:t>Parent and children share no resources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Execution options</a:t>
            </a:r>
          </a:p>
          <a:p>
            <a:pPr lvl="1"/>
            <a:r>
              <a:rPr lang="en-US" dirty="0"/>
              <a:t>Parent and children execute concurrently</a:t>
            </a:r>
          </a:p>
          <a:p>
            <a:pPr lvl="1"/>
            <a:r>
              <a:rPr lang="en-US" dirty="0"/>
              <a:t>Parent waits until children terminate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Address space</a:t>
            </a:r>
          </a:p>
          <a:p>
            <a:pPr lvl="1"/>
            <a:r>
              <a:rPr lang="en-US" dirty="0"/>
              <a:t>Child duplicate of parent</a:t>
            </a:r>
          </a:p>
          <a:p>
            <a:pPr lvl="1"/>
            <a:r>
              <a:rPr lang="en-US" dirty="0"/>
              <a:t>Child has a program loaded into it</a:t>
            </a:r>
          </a:p>
        </p:txBody>
      </p:sp>
    </p:spTree>
    <p:extLst>
      <p:ext uri="{BB962C8B-B14F-4D97-AF65-F5344CB8AC3E}">
        <p14:creationId xmlns:p14="http://schemas.microsoft.com/office/powerpoint/2010/main" val="3372934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987"/>
          </a:xfrm>
        </p:spPr>
        <p:txBody>
          <a:bodyPr/>
          <a:lstStyle/>
          <a:p>
            <a:r>
              <a:rPr lang="en-US" dirty="0"/>
              <a:t>A Tree of Processes in Linux</a:t>
            </a:r>
          </a:p>
        </p:txBody>
      </p:sp>
      <p:pic>
        <p:nvPicPr>
          <p:cNvPr id="4" name="Picture 1" descr="3_08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93" y="1212849"/>
            <a:ext cx="10790263" cy="537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2960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UNIX/Linux example</a:t>
            </a:r>
          </a:p>
          <a:p>
            <a:pPr lvl="1"/>
            <a:r>
              <a:rPr lang="en-US" dirty="0"/>
              <a:t>fork() system call creates new process</a:t>
            </a:r>
          </a:p>
          <a:p>
            <a:pPr lvl="1"/>
            <a:r>
              <a:rPr lang="en-US" dirty="0"/>
              <a:t>exec() system call used after a fork() to replace the process’ address space with a new program</a:t>
            </a:r>
          </a:p>
          <a:p>
            <a:endParaRPr lang="en-US" dirty="0"/>
          </a:p>
        </p:txBody>
      </p:sp>
      <p:pic>
        <p:nvPicPr>
          <p:cNvPr id="4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3798888"/>
            <a:ext cx="9446892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408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84521"/>
          </a:xfrm>
        </p:spPr>
        <p:txBody>
          <a:bodyPr/>
          <a:lstStyle/>
          <a:p>
            <a:r>
              <a:rPr lang="en-US" dirty="0"/>
              <a:t>C Program calling fork() and exec()</a:t>
            </a:r>
          </a:p>
        </p:txBody>
      </p:sp>
      <p:pic>
        <p:nvPicPr>
          <p:cNvPr id="4" name="Picture 5" descr="Screen Shot 2012-12-04 at 11.21.10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104" y="914400"/>
            <a:ext cx="7204014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5177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Process executes last statement, then asks OS to delete it using the exit() system call</a:t>
            </a:r>
          </a:p>
          <a:p>
            <a:pPr lvl="1"/>
            <a:r>
              <a:rPr lang="en-US" dirty="0"/>
              <a:t>Returns status data from child to the waiting parent (via wait())</a:t>
            </a:r>
          </a:p>
          <a:p>
            <a:pPr lvl="1"/>
            <a:r>
              <a:rPr lang="en-US" dirty="0"/>
              <a:t>Process’ resources are deallocated by 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Parent may terminate the execution of a child process using the abort() system call.  Some reasons for doing so:</a:t>
            </a:r>
          </a:p>
          <a:p>
            <a:pPr lvl="1"/>
            <a:r>
              <a:rPr lang="en-US" dirty="0"/>
              <a:t>Child has exceeded allocated resources or time</a:t>
            </a:r>
          </a:p>
          <a:p>
            <a:pPr lvl="1"/>
            <a:r>
              <a:rPr lang="en-US" dirty="0"/>
              <a:t>Task assigned to child is no longer required</a:t>
            </a:r>
          </a:p>
          <a:p>
            <a:pPr lvl="1"/>
            <a:r>
              <a:rPr lang="en-US" dirty="0"/>
              <a:t>Parent is exiting and the OS does not allow a child to continue if its parent terminates</a:t>
            </a:r>
          </a:p>
        </p:txBody>
      </p:sp>
    </p:spTree>
    <p:extLst>
      <p:ext uri="{BB962C8B-B14F-4D97-AF65-F5344CB8AC3E}">
        <p14:creationId xmlns:p14="http://schemas.microsoft.com/office/powerpoint/2010/main" val="4072325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373"/>
          </a:xfrm>
        </p:spPr>
        <p:txBody>
          <a:bodyPr/>
          <a:lstStyle/>
          <a:p>
            <a:r>
              <a:rPr lang="en-US" dirty="0"/>
              <a:t>Process 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3497"/>
            <a:ext cx="10515600" cy="507567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Some operating systems do not allow child processes to continue if their parent has terminated</a:t>
            </a:r>
          </a:p>
          <a:p>
            <a:pPr lvl="1"/>
            <a:r>
              <a:rPr lang="en-US" dirty="0"/>
              <a:t>If a process terminates, then a cascading termination occurs.  All children, grandchildren, etc., are terminated</a:t>
            </a:r>
          </a:p>
          <a:p>
            <a:pPr lvl="1"/>
            <a:r>
              <a:rPr lang="en-US" dirty="0"/>
              <a:t>The termination is initiated by the 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Parent process may wait for termination of a child process by using a wait() system call.  The call returns status information and the </a:t>
            </a:r>
            <a:r>
              <a:rPr lang="en-US" dirty="0" err="1"/>
              <a:t>pid</a:t>
            </a:r>
            <a:r>
              <a:rPr lang="en-US" dirty="0"/>
              <a:t> of the terminated process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wait(&amp;status);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process that has completed its execution but its PCB has not yet removed, it becomes a zombie.  A wait() system call invoked by its parent process completes this removal.  If parent did not invoke wait(), the zombie will stay 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If parent did not invoke wait() and terminates, process is an orphan</a:t>
            </a:r>
          </a:p>
        </p:txBody>
      </p:sp>
    </p:spTree>
    <p:extLst>
      <p:ext uri="{BB962C8B-B14F-4D97-AF65-F5344CB8AC3E}">
        <p14:creationId xmlns:p14="http://schemas.microsoft.com/office/powerpoint/2010/main" val="3292215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3740"/>
            <a:ext cx="10515600" cy="1017108"/>
          </a:xfrm>
        </p:spPr>
        <p:txBody>
          <a:bodyPr/>
          <a:lstStyle/>
          <a:p>
            <a:r>
              <a:rPr lang="en-US" dirty="0" err="1"/>
              <a:t>Multiprocess</a:t>
            </a:r>
            <a:r>
              <a:rPr lang="en-US" dirty="0"/>
              <a:t> Architecture – Chrome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0847"/>
            <a:ext cx="10515600" cy="54226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Many web browsers ran as a single process</a:t>
            </a:r>
          </a:p>
          <a:p>
            <a:pPr lvl="1"/>
            <a:r>
              <a:rPr lang="en-US" dirty="0"/>
              <a:t>If one web site causes trouble, then the entire browser can hang of crash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Google Chrome Browser uses a </a:t>
            </a:r>
            <a:r>
              <a:rPr lang="en-US" dirty="0" err="1"/>
              <a:t>multiprocess</a:t>
            </a:r>
            <a:r>
              <a:rPr lang="en-US" dirty="0"/>
              <a:t> architecture that runs 3 types of processes:</a:t>
            </a:r>
          </a:p>
          <a:p>
            <a:pPr lvl="1"/>
            <a:r>
              <a:rPr lang="en-US" dirty="0"/>
              <a:t>Browser process manages user interface, disk and network I/O</a:t>
            </a:r>
          </a:p>
          <a:p>
            <a:pPr lvl="1"/>
            <a:r>
              <a:rPr lang="en-US" dirty="0"/>
              <a:t>Renderer process renders web pages, deals with HTML, </a:t>
            </a:r>
            <a:r>
              <a:rPr lang="en-US" dirty="0" err="1"/>
              <a:t>Javascript</a:t>
            </a:r>
            <a:endParaRPr lang="en-US" dirty="0"/>
          </a:p>
          <a:p>
            <a:pPr lvl="2"/>
            <a:r>
              <a:rPr lang="en-US" dirty="0"/>
              <a:t>A new renderer is created for each website opened</a:t>
            </a:r>
          </a:p>
          <a:p>
            <a:pPr lvl="2"/>
            <a:r>
              <a:rPr lang="en-US" dirty="0"/>
              <a:t>Runs in sandbox restricting disk and network I/O, minimizing effect of security exploits</a:t>
            </a:r>
          </a:p>
          <a:p>
            <a:pPr lvl="1"/>
            <a:r>
              <a:rPr lang="en-US" dirty="0"/>
              <a:t>Plug-in process for each type of plug-in</a:t>
            </a:r>
          </a:p>
          <a:p>
            <a:pPr lvl="1"/>
            <a:endParaRPr lang="en-US" dirty="0"/>
          </a:p>
        </p:txBody>
      </p:sp>
      <p:pic>
        <p:nvPicPr>
          <p:cNvPr id="4" name="Picture 1" descr="in-3_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926013"/>
            <a:ext cx="10651460" cy="193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16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373"/>
          </a:xfrm>
        </p:spPr>
        <p:txBody>
          <a:bodyPr/>
          <a:lstStyle/>
          <a:p>
            <a:r>
              <a:rPr lang="en-US" dirty="0"/>
              <a:t>Inter-process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3498"/>
            <a:ext cx="10515600" cy="523121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Processes within a system may be independent or cooperating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Cooperating process can affect or be affected by other processes (e.g., sharing data)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Reasons for cooperating processes:</a:t>
            </a:r>
          </a:p>
          <a:p>
            <a:pPr lvl="1"/>
            <a:r>
              <a:rPr lang="en-US" dirty="0"/>
              <a:t>Information sharing</a:t>
            </a:r>
          </a:p>
          <a:p>
            <a:pPr lvl="1"/>
            <a:r>
              <a:rPr lang="en-US" dirty="0"/>
              <a:t>Computation speedup</a:t>
            </a:r>
          </a:p>
          <a:p>
            <a:pPr lvl="1"/>
            <a:r>
              <a:rPr lang="en-US" dirty="0"/>
              <a:t>Modularity</a:t>
            </a:r>
          </a:p>
          <a:p>
            <a:pPr lvl="1"/>
            <a:r>
              <a:rPr lang="en-US" dirty="0"/>
              <a:t>Convenience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Cooperating processes need </a:t>
            </a:r>
            <a:r>
              <a:rPr lang="en-US" dirty="0" err="1"/>
              <a:t>interprocess</a:t>
            </a:r>
            <a:r>
              <a:rPr lang="en-US" dirty="0"/>
              <a:t> communication (IPC)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Two modes of IPC</a:t>
            </a:r>
          </a:p>
          <a:p>
            <a:pPr lvl="1"/>
            <a:r>
              <a:rPr lang="en-US" dirty="0"/>
              <a:t>Shared memory</a:t>
            </a:r>
          </a:p>
          <a:p>
            <a:pPr lvl="1"/>
            <a:r>
              <a:rPr lang="en-US" dirty="0"/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62830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05786"/>
          </a:xfrm>
        </p:spPr>
        <p:txBody>
          <a:bodyPr/>
          <a:lstStyle/>
          <a:p>
            <a:r>
              <a:rPr lang="en-US" dirty="0"/>
              <a:t>Models of IPC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5787"/>
            <a:ext cx="10515600" cy="51248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(a) Message passing	   (b) Shared memory</a:t>
            </a:r>
          </a:p>
          <a:p>
            <a:pPr marL="514350" indent="-514350">
              <a:buAutoNum type="alphaLcParenBoth"/>
            </a:pPr>
            <a:endParaRPr lang="en-US" dirty="0"/>
          </a:p>
        </p:txBody>
      </p:sp>
      <p:pic>
        <p:nvPicPr>
          <p:cNvPr id="4" name="Picture 1" descr="3_1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520" y="1708551"/>
            <a:ext cx="7264806" cy="5149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97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Producer-Consumer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A paradigm for cooperating processes</a:t>
            </a:r>
          </a:p>
          <a:p>
            <a:pPr lvl="1"/>
            <a:r>
              <a:rPr lang="en-US" sz="2800" dirty="0"/>
              <a:t>Producer process produces information that is consumed by a consumer process</a:t>
            </a:r>
          </a:p>
          <a:p>
            <a:pPr lvl="1"/>
            <a:r>
              <a:rPr lang="en-US" sz="2800" dirty="0"/>
              <a:t>Cooperation via a shared buffer</a:t>
            </a:r>
          </a:p>
          <a:p>
            <a:pPr lvl="2"/>
            <a:r>
              <a:rPr lang="en-US" sz="2400" dirty="0"/>
              <a:t>Unbounded-buffer places no practical limit on the size of the buffer</a:t>
            </a:r>
          </a:p>
          <a:p>
            <a:pPr lvl="2"/>
            <a:r>
              <a:rPr lang="en-US" sz="2400" dirty="0"/>
              <a:t>Bounded-buffer assumes that there is a fixed buffer size</a:t>
            </a:r>
          </a:p>
        </p:txBody>
      </p:sp>
    </p:spTree>
    <p:extLst>
      <p:ext uri="{BB962C8B-B14F-4D97-AF65-F5344CB8AC3E}">
        <p14:creationId xmlns:p14="http://schemas.microsoft.com/office/powerpoint/2010/main" val="3689762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Bounded-Buffer – A Shared-Memory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64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Shared data</a:t>
            </a:r>
          </a:p>
          <a:p>
            <a:pPr marL="0" indent="0">
              <a:buNone/>
            </a:pPr>
            <a:r>
              <a:rPr lang="en-US" dirty="0"/>
              <a:t>#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define BUFFER_SIZE 10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. . 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item;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item buffer [BUFFER_SIZE];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= 0; // Points to the next free position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out = 0; //Points to the first full position</a:t>
            </a:r>
          </a:p>
        </p:txBody>
      </p:sp>
    </p:spTree>
    <p:extLst>
      <p:ext uri="{BB962C8B-B14F-4D97-AF65-F5344CB8AC3E}">
        <p14:creationId xmlns:p14="http://schemas.microsoft.com/office/powerpoint/2010/main" val="3135573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84521"/>
          </a:xfrm>
        </p:spPr>
        <p:txBody>
          <a:bodyPr/>
          <a:lstStyle/>
          <a:p>
            <a:r>
              <a:rPr lang="en-US" dirty="0"/>
              <a:t>Bounded-Buffer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93134"/>
            <a:ext cx="10515600" cy="596486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Producer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item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/* produce an item 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(((in + 1)%BUFFER_SIZE) == out)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; /* do nothing 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buffer[in]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in = (in + 1)%BUFFER_SIZE;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Consumer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item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(in == out)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; /buffer empty, do nothing 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buffer[out];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out = (out + 1)%BUFFER_SIZE;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/* consume the item 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/>
              <a:t>Solution is correct with one producer and one consumer, but can only use BUFFER_SIZE-1 slots in buffer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424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– Shared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An area of memory shared among processes that wish to communicate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Communication is under the control of cooperating processes, not the 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Major issue is to provide mechanism that will allow user processes to synchronize their actions when they access the shared memory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Synchronization to be covered in a later chapter</a:t>
            </a:r>
          </a:p>
        </p:txBody>
      </p:sp>
    </p:spTree>
    <p:extLst>
      <p:ext uri="{BB962C8B-B14F-4D97-AF65-F5344CB8AC3E}">
        <p14:creationId xmlns:p14="http://schemas.microsoft.com/office/powerpoint/2010/main" val="1376474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782"/>
          </a:xfrm>
        </p:spPr>
        <p:txBody>
          <a:bodyPr/>
          <a:lstStyle/>
          <a:p>
            <a:r>
              <a:rPr lang="en-US" dirty="0"/>
              <a:t>IPC – Message Passing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5908"/>
            <a:ext cx="10515600" cy="4351338"/>
          </a:xfrm>
        </p:spPr>
        <p:txBody>
          <a:bodyPr/>
          <a:lstStyle/>
          <a:p>
            <a:r>
              <a:rPr lang="en-US" dirty="0"/>
              <a:t>Message passing - mechanism for processes to communicate and to synchronize their actions</a:t>
            </a:r>
          </a:p>
          <a:p>
            <a:r>
              <a:rPr lang="en-US" dirty="0"/>
              <a:t>Message system – processes communicate with each other without resorting to shared variables</a:t>
            </a:r>
          </a:p>
          <a:p>
            <a:r>
              <a:rPr lang="en-US" dirty="0"/>
              <a:t>IPC facility provides two operations:</a:t>
            </a:r>
          </a:p>
          <a:p>
            <a:pPr lvl="1"/>
            <a:r>
              <a:rPr lang="en-US" dirty="0"/>
              <a:t>send(message)</a:t>
            </a:r>
          </a:p>
          <a:p>
            <a:pPr lvl="1"/>
            <a:r>
              <a:rPr lang="en-US"/>
              <a:t>receive(message)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Message size may be fixed or variable</a:t>
            </a:r>
          </a:p>
        </p:txBody>
      </p:sp>
    </p:spTree>
    <p:extLst>
      <p:ext uri="{BB962C8B-B14F-4D97-AF65-F5344CB8AC3E}">
        <p14:creationId xmlns:p14="http://schemas.microsoft.com/office/powerpoint/2010/main" val="1146573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IPC – Message Passing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When two processes wish to communicate, they need to</a:t>
            </a:r>
          </a:p>
          <a:p>
            <a:pPr lvl="1"/>
            <a:r>
              <a:rPr lang="en-US"/>
              <a:t>Establish a communication link between them</a:t>
            </a:r>
          </a:p>
          <a:p>
            <a:pPr lvl="1"/>
            <a:r>
              <a:rPr lang="en-US"/>
              <a:t>Exchange messages via send/receive</a:t>
            </a:r>
          </a:p>
          <a:p>
            <a:r>
              <a:rPr lang="en-US"/>
              <a:t>Implementation issues:</a:t>
            </a:r>
          </a:p>
          <a:p>
            <a:pPr lvl="1"/>
            <a:r>
              <a:rPr lang="en-US"/>
              <a:t>How are links established?</a:t>
            </a:r>
          </a:p>
          <a:p>
            <a:pPr lvl="1"/>
            <a:r>
              <a:rPr lang="en-US"/>
              <a:t>Can a link be associated with more than two processes?</a:t>
            </a:r>
          </a:p>
          <a:p>
            <a:pPr lvl="1"/>
            <a:r>
              <a:rPr lang="en-US"/>
              <a:t>How many links can there be between every pair of communicating processes?</a:t>
            </a:r>
          </a:p>
          <a:p>
            <a:pPr lvl="1"/>
            <a:r>
              <a:rPr lang="en-US"/>
              <a:t>What is the capacity of a link?</a:t>
            </a:r>
          </a:p>
          <a:p>
            <a:pPr lvl="1"/>
            <a:r>
              <a:rPr lang="en-US"/>
              <a:t>Is message size fixed or variable?</a:t>
            </a:r>
          </a:p>
          <a:p>
            <a:pPr lvl="1"/>
            <a:r>
              <a:rPr lang="en-US"/>
              <a:t>Is the link unidirectional or bidirectional?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23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2168"/>
          </a:xfrm>
        </p:spPr>
        <p:txBody>
          <a:bodyPr/>
          <a:lstStyle/>
          <a:p>
            <a:r>
              <a:rPr lang="en-US" dirty="0"/>
              <a:t>IPC – Message Passing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7294"/>
            <a:ext cx="10515600" cy="4742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Implementation of communication link</a:t>
            </a:r>
          </a:p>
          <a:p>
            <a:pPr lvl="1"/>
            <a:r>
              <a:rPr lang="en-US" sz="2800" dirty="0"/>
              <a:t>Physical:</a:t>
            </a:r>
          </a:p>
          <a:p>
            <a:pPr lvl="2"/>
            <a:r>
              <a:rPr lang="en-US" sz="2400" dirty="0"/>
              <a:t>Shared memory</a:t>
            </a:r>
          </a:p>
          <a:p>
            <a:pPr lvl="2"/>
            <a:r>
              <a:rPr lang="en-US" sz="2400" dirty="0"/>
              <a:t>Hardware bus</a:t>
            </a:r>
          </a:p>
          <a:p>
            <a:pPr lvl="2"/>
            <a:r>
              <a:rPr lang="en-US" sz="2400" dirty="0"/>
              <a:t>Network</a:t>
            </a:r>
          </a:p>
          <a:p>
            <a:pPr lvl="1"/>
            <a:r>
              <a:rPr lang="en-US" sz="2800" dirty="0"/>
              <a:t>Logical:</a:t>
            </a:r>
          </a:p>
          <a:p>
            <a:pPr lvl="2"/>
            <a:r>
              <a:rPr lang="en-US" sz="2400" dirty="0"/>
              <a:t>Direct or indirect</a:t>
            </a:r>
          </a:p>
          <a:p>
            <a:pPr lvl="2"/>
            <a:r>
              <a:rPr lang="en-US" sz="2400" dirty="0"/>
              <a:t>Synchronous or asynchronous</a:t>
            </a:r>
          </a:p>
          <a:p>
            <a:pPr lvl="2"/>
            <a:r>
              <a:rPr lang="en-US" sz="2400"/>
              <a:t>Automatic or </a:t>
            </a:r>
            <a:r>
              <a:rPr lang="en-US" sz="2400" dirty="0"/>
              <a:t>explicit buffering</a:t>
            </a:r>
          </a:p>
        </p:txBody>
      </p:sp>
    </p:spTree>
    <p:extLst>
      <p:ext uri="{BB962C8B-B14F-4D97-AF65-F5344CB8AC3E}">
        <p14:creationId xmlns:p14="http://schemas.microsoft.com/office/powerpoint/2010/main" val="2819616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2047"/>
          </a:xfrm>
        </p:spPr>
        <p:txBody>
          <a:bodyPr/>
          <a:lstStyle/>
          <a:p>
            <a:r>
              <a:rPr lang="en-US" dirty="0"/>
              <a:t>Direct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411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Processes must name each other explicitly in operation, e.g., between processes P and Q:</a:t>
            </a:r>
          </a:p>
          <a:p>
            <a:pPr lvl="1"/>
            <a:r>
              <a:rPr lang="en-US" dirty="0"/>
              <a:t>send(Q, message) – send a message to process Q</a:t>
            </a:r>
          </a:p>
          <a:p>
            <a:pPr lvl="1"/>
            <a:r>
              <a:rPr lang="en-US" dirty="0"/>
              <a:t>receive(P, message) – receive a message from process 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Properties of communication link</a:t>
            </a:r>
          </a:p>
          <a:p>
            <a:pPr lvl="1"/>
            <a:r>
              <a:rPr lang="en-US" dirty="0"/>
              <a:t>Links are established automatically</a:t>
            </a:r>
          </a:p>
          <a:p>
            <a:pPr lvl="1"/>
            <a:r>
              <a:rPr lang="en-US" dirty="0"/>
              <a:t>A link is associated with exactly one pair of communicating processes</a:t>
            </a:r>
          </a:p>
          <a:p>
            <a:pPr lvl="1"/>
            <a:r>
              <a:rPr lang="en-US" dirty="0"/>
              <a:t>Between each pair there exists exactly one link</a:t>
            </a:r>
          </a:p>
          <a:p>
            <a:pPr lvl="1"/>
            <a:r>
              <a:rPr lang="en-US" dirty="0"/>
              <a:t>The link may be unidirectional, but is usually bidirectional</a:t>
            </a:r>
          </a:p>
        </p:txBody>
      </p:sp>
    </p:spTree>
    <p:extLst>
      <p:ext uri="{BB962C8B-B14F-4D97-AF65-F5344CB8AC3E}">
        <p14:creationId xmlns:p14="http://schemas.microsoft.com/office/powerpoint/2010/main" val="1239548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722"/>
          </a:xfrm>
        </p:spPr>
        <p:txBody>
          <a:bodyPr/>
          <a:lstStyle/>
          <a:p>
            <a:r>
              <a:rPr lang="en-US" dirty="0"/>
              <a:t>Indirect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7792"/>
            <a:ext cx="10515600" cy="550020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Messages are directed and received from mailboxes (also referred to as ports)</a:t>
            </a:r>
          </a:p>
          <a:p>
            <a:pPr lvl="1"/>
            <a:r>
              <a:rPr lang="en-US" dirty="0"/>
              <a:t>Each mailbox has a unique ID</a:t>
            </a:r>
          </a:p>
          <a:p>
            <a:pPr lvl="1"/>
            <a:r>
              <a:rPr lang="en-US" dirty="0"/>
              <a:t>Processes can communicate only is they share a mailbox, using primitives as</a:t>
            </a:r>
          </a:p>
          <a:p>
            <a:pPr lvl="2"/>
            <a:r>
              <a:rPr lang="en-US" dirty="0"/>
              <a:t>send(A, message) – send a message to mailbox A</a:t>
            </a:r>
          </a:p>
          <a:p>
            <a:pPr lvl="2"/>
            <a:r>
              <a:rPr lang="en-US" dirty="0"/>
              <a:t>receive(A, message) – receive a message from mailbox 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Properties of communication link</a:t>
            </a:r>
          </a:p>
          <a:p>
            <a:pPr lvl="1"/>
            <a:r>
              <a:rPr lang="en-US" dirty="0"/>
              <a:t>Link established only if processes share a common mailbox</a:t>
            </a:r>
          </a:p>
          <a:p>
            <a:pPr lvl="1"/>
            <a:r>
              <a:rPr lang="en-US" dirty="0"/>
              <a:t>A link may be associated with many processes</a:t>
            </a:r>
          </a:p>
          <a:p>
            <a:pPr lvl="1"/>
            <a:r>
              <a:rPr lang="en-US" dirty="0"/>
              <a:t>Each pair of processes may share several communication links (through several mailboxes)</a:t>
            </a:r>
          </a:p>
          <a:p>
            <a:pPr lvl="1"/>
            <a:r>
              <a:rPr lang="en-US" dirty="0"/>
              <a:t>Link may be unidirectional or bidirectional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Operations:</a:t>
            </a:r>
          </a:p>
          <a:p>
            <a:pPr lvl="1"/>
            <a:r>
              <a:rPr lang="en-US" dirty="0"/>
              <a:t>Create a new mailbox (port)</a:t>
            </a:r>
          </a:p>
          <a:p>
            <a:pPr lvl="1"/>
            <a:r>
              <a:rPr lang="en-US" dirty="0"/>
              <a:t>Send and receive messages through mailbox</a:t>
            </a:r>
          </a:p>
          <a:p>
            <a:pPr lvl="1"/>
            <a:r>
              <a:rPr lang="en-US" dirty="0"/>
              <a:t>Destroy a mailbox</a:t>
            </a:r>
          </a:p>
        </p:txBody>
      </p:sp>
    </p:spTree>
    <p:extLst>
      <p:ext uri="{BB962C8B-B14F-4D97-AF65-F5344CB8AC3E}">
        <p14:creationId xmlns:p14="http://schemas.microsoft.com/office/powerpoint/2010/main" val="184073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840"/>
            <a:ext cx="10515600" cy="50821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Mailbox sharing</a:t>
            </a:r>
          </a:p>
          <a:p>
            <a:pPr lvl="1"/>
            <a:r>
              <a:rPr lang="en-US" sz="2800" dirty="0"/>
              <a:t>Suppose P</a:t>
            </a:r>
            <a:r>
              <a:rPr lang="en-US" sz="2800" baseline="-25000" dirty="0"/>
              <a:t>1</a:t>
            </a:r>
            <a:r>
              <a:rPr lang="en-US" sz="2800" dirty="0"/>
              <a:t>, P</a:t>
            </a:r>
            <a:r>
              <a:rPr lang="en-US" sz="2800" baseline="-25000" dirty="0"/>
              <a:t>2</a:t>
            </a:r>
            <a:r>
              <a:rPr lang="en-US" sz="2800" dirty="0"/>
              <a:t>, and P</a:t>
            </a:r>
            <a:r>
              <a:rPr lang="en-US" sz="2800" baseline="-25000" dirty="0"/>
              <a:t>3</a:t>
            </a:r>
            <a:r>
              <a:rPr lang="en-US" sz="2800" dirty="0"/>
              <a:t> share mailbox A</a:t>
            </a:r>
          </a:p>
          <a:p>
            <a:pPr lvl="1"/>
            <a:r>
              <a:rPr lang="en-US" sz="2800" dirty="0"/>
              <a:t>P</a:t>
            </a:r>
            <a:r>
              <a:rPr lang="en-US" sz="2800" baseline="-25000" dirty="0"/>
              <a:t>1</a:t>
            </a:r>
            <a:r>
              <a:rPr lang="en-US" sz="2800" dirty="0"/>
              <a:t> sends, P</a:t>
            </a:r>
            <a:r>
              <a:rPr lang="en-US" sz="2800" baseline="-25000" dirty="0"/>
              <a:t>2</a:t>
            </a:r>
            <a:r>
              <a:rPr lang="en-US" sz="2800" dirty="0"/>
              <a:t> and P</a:t>
            </a:r>
            <a:r>
              <a:rPr lang="en-US" sz="2800" baseline="-25000" dirty="0"/>
              <a:t>3</a:t>
            </a:r>
            <a:r>
              <a:rPr lang="en-US" sz="2800" dirty="0"/>
              <a:t> receive</a:t>
            </a:r>
          </a:p>
          <a:p>
            <a:pPr lvl="1"/>
            <a:r>
              <a:rPr lang="en-US" sz="2800" dirty="0"/>
              <a:t>Who gets the message?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Possible solutions</a:t>
            </a:r>
          </a:p>
          <a:p>
            <a:pPr lvl="1"/>
            <a:r>
              <a:rPr lang="en-US" sz="2800" dirty="0"/>
              <a:t>Allow a link to be associated with at most 2 processes</a:t>
            </a:r>
          </a:p>
          <a:p>
            <a:pPr lvl="1"/>
            <a:r>
              <a:rPr lang="en-US" sz="2800" dirty="0"/>
              <a:t>Allow only one process at a time to execute a receive operation</a:t>
            </a:r>
          </a:p>
          <a:p>
            <a:pPr lvl="1"/>
            <a:r>
              <a:rPr lang="en-US" sz="2800" dirty="0"/>
              <a:t>Allow the system to select arbitrarily the receiver, and sender is notified who the receiver was</a:t>
            </a:r>
          </a:p>
        </p:txBody>
      </p:sp>
    </p:spTree>
    <p:extLst>
      <p:ext uri="{BB962C8B-B14F-4D97-AF65-F5344CB8AC3E}">
        <p14:creationId xmlns:p14="http://schemas.microsoft.com/office/powerpoint/2010/main" val="1395217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and Non-blocking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2576"/>
            <a:ext cx="10515600" cy="48482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Message passing may be either blocking or non-blocking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Blocking (considered synchronous)</a:t>
            </a:r>
          </a:p>
          <a:p>
            <a:pPr lvl="1"/>
            <a:r>
              <a:rPr lang="en-US" sz="2800" dirty="0"/>
              <a:t>Blocking send – the sender is blocked until message is received</a:t>
            </a:r>
          </a:p>
          <a:p>
            <a:pPr lvl="1"/>
            <a:r>
              <a:rPr lang="en-US" sz="2800" dirty="0"/>
              <a:t>Blocking receive – the receiver is blocked until a message is available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Non-blocking (considered asynchronous)</a:t>
            </a:r>
          </a:p>
          <a:p>
            <a:pPr lvl="1"/>
            <a:r>
              <a:rPr lang="en-US" sz="2800" dirty="0"/>
              <a:t>Non-blocking send – the sender sends the message and continue</a:t>
            </a:r>
          </a:p>
          <a:p>
            <a:pPr lvl="1"/>
            <a:r>
              <a:rPr lang="en-US" sz="2800" dirty="0"/>
              <a:t>Non-blocking receive – the receiver receives a valid message or a NULL message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If both send and receive are blocking, we have a rendezvous</a:t>
            </a:r>
          </a:p>
        </p:txBody>
      </p:sp>
    </p:spTree>
    <p:extLst>
      <p:ext uri="{BB962C8B-B14F-4D97-AF65-F5344CB8AC3E}">
        <p14:creationId xmlns:p14="http://schemas.microsoft.com/office/powerpoint/2010/main" val="3963689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1003"/>
            <a:ext cx="10515600" cy="1088536"/>
          </a:xfrm>
        </p:spPr>
        <p:txBody>
          <a:bodyPr/>
          <a:lstStyle/>
          <a:p>
            <a:r>
              <a:rPr lang="en-US" dirty="0"/>
              <a:t>Synchronized Producer-Consumer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6093"/>
            <a:ext cx="10515600" cy="527538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The problem becomes trivial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/* Producer */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   /* produce an item in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   send(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/* Consumer */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   receive(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   /* consume the item in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082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154" y="365125"/>
            <a:ext cx="10767646" cy="1325563"/>
          </a:xfrm>
        </p:spPr>
        <p:txBody>
          <a:bodyPr/>
          <a:lstStyle/>
          <a:p>
            <a:r>
              <a:rPr lang="en-US" dirty="0"/>
              <a:t>IPC – Shared Memory (POSIX Implementation)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825625"/>
            <a:ext cx="1076764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POSIX shared memory</a:t>
            </a:r>
          </a:p>
          <a:p>
            <a:pPr lvl="1"/>
            <a:r>
              <a:rPr lang="en-US" sz="2800" dirty="0"/>
              <a:t>Process first creates shared memory segment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(name, O_CREAT | O_RDWR, 0666);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sz="2800" dirty="0"/>
              <a:t>(Also used to open an existing segment to share it)</a:t>
            </a:r>
          </a:p>
          <a:p>
            <a:r>
              <a:rPr lang="en-US" b="1" dirty="0"/>
              <a:t>Name:</a:t>
            </a:r>
            <a:r>
              <a:rPr lang="en-US" dirty="0"/>
              <a:t> The name of shared memory object. </a:t>
            </a:r>
          </a:p>
          <a:p>
            <a:r>
              <a:rPr lang="en-US" b="1" dirty="0"/>
              <a:t>O_CREAT | O_RDRW:</a:t>
            </a:r>
            <a:r>
              <a:rPr lang="en-US" dirty="0"/>
              <a:t> The share memory object needs to be created or is already existed and needs to be called</a:t>
            </a:r>
          </a:p>
          <a:p>
            <a:r>
              <a:rPr lang="en-US" dirty="0"/>
              <a:t>0666: the directory permissions of the shared memory object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728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154" y="365125"/>
            <a:ext cx="10767646" cy="1325563"/>
          </a:xfrm>
        </p:spPr>
        <p:txBody>
          <a:bodyPr/>
          <a:lstStyle/>
          <a:p>
            <a:r>
              <a:rPr lang="en-US" dirty="0"/>
              <a:t>IPC – Shared Memory (POSIX Implementation)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825625"/>
            <a:ext cx="10767646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POSIX shared memory</a:t>
            </a:r>
          </a:p>
          <a:p>
            <a:pPr lvl="1"/>
            <a:r>
              <a:rPr lang="en-US" sz="2800" dirty="0"/>
              <a:t>Process first creates shared memory segment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(name, O_CREAT | O_RDWR, 0666);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sz="2800" dirty="0"/>
              <a:t>(Also used to open an existing segment to share it)</a:t>
            </a:r>
          </a:p>
          <a:p>
            <a:pPr lvl="1"/>
            <a:r>
              <a:rPr lang="en-US" sz="2800" dirty="0"/>
              <a:t>Then set size of object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ftruncate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4096);</a:t>
            </a:r>
          </a:p>
          <a:p>
            <a:pPr lvl="1"/>
            <a:r>
              <a:rPr lang="en-US" sz="2800" dirty="0"/>
              <a:t>Map shared memory segment in the address space of the process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(0,SIZE, PROT_READ | PROT_WRITE, MAP_SHARED,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0); </a:t>
            </a:r>
          </a:p>
          <a:p>
            <a:pPr lvl="1"/>
            <a:r>
              <a:rPr lang="en-US" sz="2800" dirty="0"/>
              <a:t>Now process could write to the shared memory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“%s”, message);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2798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967"/>
          </a:xfrm>
        </p:spPr>
        <p:txBody>
          <a:bodyPr/>
          <a:lstStyle/>
          <a:p>
            <a:r>
              <a:rPr lang="en-US" dirty="0"/>
              <a:t>IPC –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3661"/>
            <a:ext cx="10515600" cy="51347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Acts as a conduit allowing two processes to communicate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Issues:</a:t>
            </a:r>
          </a:p>
          <a:p>
            <a:pPr lvl="1"/>
            <a:r>
              <a:rPr lang="en-US" dirty="0"/>
              <a:t>Is communication unidirectional or bidirectional?</a:t>
            </a:r>
          </a:p>
          <a:p>
            <a:pPr lvl="1"/>
            <a:r>
              <a:rPr lang="en-US" dirty="0"/>
              <a:t>In the case of two-way communication, is it half or full-duplex?</a:t>
            </a:r>
          </a:p>
          <a:p>
            <a:pPr lvl="1"/>
            <a:r>
              <a:rPr lang="en-US" dirty="0"/>
              <a:t>Must there exist a relationship (i.e., parent-child) between the communicating processes?</a:t>
            </a:r>
          </a:p>
          <a:p>
            <a:pPr lvl="1"/>
            <a:r>
              <a:rPr lang="en-US" dirty="0"/>
              <a:t>Can the pipes be used over a network?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Ordinary pipes – cannot be accessed from outside the process that created it.  Typically, a parent process creates a pipe and uses it to communicate with a child process that it created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Named pipes – can be accessed without a parent-child relationship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699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– Ordinary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Allow communication in standard producer-consumer style</a:t>
            </a:r>
          </a:p>
          <a:p>
            <a:pPr lvl="1"/>
            <a:r>
              <a:rPr lang="en-US" sz="2800" dirty="0"/>
              <a:t>Producer writes to one end (the write-end of the pipe)</a:t>
            </a:r>
          </a:p>
          <a:p>
            <a:pPr lvl="1"/>
            <a:r>
              <a:rPr lang="en-US" sz="2800" dirty="0"/>
              <a:t>Consumer reads from the other end (the read-end of the pipe)</a:t>
            </a:r>
          </a:p>
          <a:p>
            <a:pPr lvl="1"/>
            <a:r>
              <a:rPr lang="en-US" sz="2800" dirty="0"/>
              <a:t>Ordinary pipes are therefore unidirectional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Require parent-child relationship between communicating processes</a:t>
            </a:r>
          </a:p>
        </p:txBody>
      </p:sp>
    </p:spTree>
    <p:extLst>
      <p:ext uri="{BB962C8B-B14F-4D97-AF65-F5344CB8AC3E}">
        <p14:creationId xmlns:p14="http://schemas.microsoft.com/office/powerpoint/2010/main" val="3186746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– Named 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More powerful than ordinary pipes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Communication is bidirectional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No parent-child relationship is necessary between communicating processes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Several processes can use the named pipe for communication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Supported on both UNIX (Linux) / Windows</a:t>
            </a:r>
          </a:p>
        </p:txBody>
      </p:sp>
    </p:spTree>
    <p:extLst>
      <p:ext uri="{BB962C8B-B14F-4D97-AF65-F5344CB8AC3E}">
        <p14:creationId xmlns:p14="http://schemas.microsoft.com/office/powerpoint/2010/main" val="3795606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3420</TotalTime>
  <Words>3109</Words>
  <Application>Microsoft Office PowerPoint</Application>
  <PresentationFormat>Widescreen</PresentationFormat>
  <Paragraphs>376</Paragraphs>
  <Slides>38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Aptos</vt:lpstr>
      <vt:lpstr>Arial</vt:lpstr>
      <vt:lpstr>Calibri</vt:lpstr>
      <vt:lpstr>Calibri Light</vt:lpstr>
      <vt:lpstr>Courier New</vt:lpstr>
      <vt:lpstr>Monotype Sorts</vt:lpstr>
      <vt:lpstr>Symbol</vt:lpstr>
      <vt:lpstr>Wingdings</vt:lpstr>
      <vt:lpstr>Office Theme</vt:lpstr>
      <vt:lpstr>CECS 326 Operating Systems</vt:lpstr>
      <vt:lpstr>Process Concept</vt:lpstr>
      <vt:lpstr>Process Concepts</vt:lpstr>
      <vt:lpstr>Process State</vt:lpstr>
      <vt:lpstr>Process Control Block (PCB)</vt:lpstr>
      <vt:lpstr>CPU Switch From Process to Process</vt:lpstr>
      <vt:lpstr>Process Representation in Linux</vt:lpstr>
      <vt:lpstr>Process Scheduling</vt:lpstr>
      <vt:lpstr>Ready Queue &amp; Various I/O Device Queues</vt:lpstr>
      <vt:lpstr>Representation of Process Scheduling</vt:lpstr>
      <vt:lpstr>Context Switch</vt:lpstr>
      <vt:lpstr>Operations on Processes</vt:lpstr>
      <vt:lpstr>Process Creation</vt:lpstr>
      <vt:lpstr>A Tree of Processes in Linux</vt:lpstr>
      <vt:lpstr>Process Creation</vt:lpstr>
      <vt:lpstr>C Program calling fork() and exec()</vt:lpstr>
      <vt:lpstr>Process Termination</vt:lpstr>
      <vt:lpstr>Process Termination</vt:lpstr>
      <vt:lpstr>Multiprocess Architecture – Chrome Browser</vt:lpstr>
      <vt:lpstr>Inter-process Communication</vt:lpstr>
      <vt:lpstr>Models of IPC</vt:lpstr>
      <vt:lpstr>Producer-Consumer Problem</vt:lpstr>
      <vt:lpstr>Bounded-Buffer – A Shared-Memory Solution</vt:lpstr>
      <vt:lpstr>Bounded-Buffer </vt:lpstr>
      <vt:lpstr>IPC – Shared Memory</vt:lpstr>
      <vt:lpstr>IPC – Message Passing</vt:lpstr>
      <vt:lpstr>IPC – Message Passing</vt:lpstr>
      <vt:lpstr>IPC – Message Passing Implementation</vt:lpstr>
      <vt:lpstr>Direct Communication</vt:lpstr>
      <vt:lpstr>Indirect Communication</vt:lpstr>
      <vt:lpstr>Indirect Communication</vt:lpstr>
      <vt:lpstr>Blocking and Non-blocking Communication</vt:lpstr>
      <vt:lpstr>Synchronized Producer-Consumer</vt:lpstr>
      <vt:lpstr>IPC – Shared Memory (POSIX Implementation)</vt:lpstr>
      <vt:lpstr>IPC – Shared Memory (POSIX Implementation)</vt:lpstr>
      <vt:lpstr>IPC – Pipes</vt:lpstr>
      <vt:lpstr>IPC – Ordinary Pipes</vt:lpstr>
      <vt:lpstr>IPC – Named Pipes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CECS 326</dc:title>
  <dc:creator>Dr. Shui Lam</dc:creator>
  <cp:lastModifiedBy>Phong Ngo</cp:lastModifiedBy>
  <cp:revision>152</cp:revision>
  <dcterms:created xsi:type="dcterms:W3CDTF">2017-01-24T06:41:16Z</dcterms:created>
  <dcterms:modified xsi:type="dcterms:W3CDTF">2026-07-22T22:13:37Z</dcterms:modified>
</cp:coreProperties>
</file>