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7"/>
  </p:notesMasterIdLst>
  <p:handoutMasterIdLst>
    <p:handoutMasterId r:id="rId48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76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71" r:id="rId42"/>
    <p:sldId id="372" r:id="rId43"/>
    <p:sldId id="373" r:id="rId44"/>
    <p:sldId id="374" r:id="rId45"/>
    <p:sldId id="375" r:id="rId46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67655" autoAdjust="0"/>
  </p:normalViewPr>
  <p:slideViewPr>
    <p:cSldViewPr snapToGrid="0">
      <p:cViewPr varScale="1">
        <p:scale>
          <a:sx n="62" d="100"/>
          <a:sy n="62" d="100"/>
        </p:scale>
        <p:origin x="1920" y="27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ang Fahim" userId="d99f17d917874ef7" providerId="LiveId" clId="{2D762BF3-38D9-4A57-A1ED-FF65B8D2B059}"/>
    <pc:docChg chg="modSld">
      <pc:chgData name="Arjang Fahim" userId="d99f17d917874ef7" providerId="LiveId" clId="{2D762BF3-38D9-4A57-A1ED-FF65B8D2B059}" dt="2026-07-20T06:38:31.154" v="0" actId="34476"/>
      <pc:docMkLst>
        <pc:docMk/>
      </pc:docMkLst>
      <pc:sldChg chg="mod modShow">
        <pc:chgData name="Arjang Fahim" userId="d99f17d917874ef7" providerId="LiveId" clId="{2D762BF3-38D9-4A57-A1ED-FF65B8D2B059}" dt="2026-07-20T06:38:31.154" v="0" actId="34476"/>
        <pc:sldMkLst>
          <pc:docMk/>
          <pc:sldMk cId="0" sldId="33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 smtClean="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87601A2B-EABF-4211-8D06-1252B7D0AF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16AB566-0D5C-4189-99AB-7AF3E04CE3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BFrWu_gejE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A2C71-729F-4E9A-9054-B464445D952B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0857619-5759-4A8D-8241-4C9592114CA2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E7325E0-94FD-4A47-B568-F12500BEBA13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20E2745-1305-4A86-A4A9-0507F78ABB80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4753C9-CD23-4355-AA8A-73E337E93637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No preemption: </a:t>
            </a:r>
            <a:r>
              <a:rPr lang="en-US" altLang="en-US" dirty="0" err="1">
                <a:latin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điều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hành</a:t>
            </a:r>
            <a:r>
              <a:rPr lang="en-US" altLang="en-US" dirty="0">
                <a:latin typeface="Times New Roman" panose="02020603050405020304" pitchFamily="18" charset="0"/>
              </a:rPr>
              <a:t> ko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giật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từ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đang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giữ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>
                <a:latin typeface="Times New Roman" panose="02020603050405020304" pitchFamily="18" charset="0"/>
              </a:rPr>
              <a:t>Only released voluntarily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Hold and wait: process </a:t>
            </a:r>
            <a:r>
              <a:rPr lang="en-US" altLang="en-US" dirty="0" err="1">
                <a:latin typeface="Times New Roman" panose="02020603050405020304" pitchFamily="18" charset="0"/>
              </a:rPr>
              <a:t>đang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giữ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ít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nhất</a:t>
            </a:r>
            <a:r>
              <a:rPr lang="en-US" altLang="en-US" dirty="0">
                <a:latin typeface="Times New Roman" panose="02020603050405020304" pitchFamily="18" charset="0"/>
              </a:rPr>
              <a:t> 1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</a:rPr>
              <a:t>đồng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thời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chờ</a:t>
            </a:r>
            <a:r>
              <a:rPr lang="en-US" altLang="en-US" dirty="0">
                <a:latin typeface="Times New Roman" panose="02020603050405020304" pitchFamily="18" charset="0"/>
              </a:rPr>
              <a:t> them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Nguyên </a:t>
            </a:r>
            <a:r>
              <a:rPr lang="en-US" altLang="en-US" dirty="0" err="1">
                <a:latin typeface="Times New Roman" panose="02020603050405020304" pitchFamily="18" charset="0"/>
              </a:rPr>
              <a:t>khác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Cách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prevent </a:t>
            </a:r>
            <a:r>
              <a:rPr lang="en-US" altLang="en-US" dirty="0" err="1">
                <a:latin typeface="Times New Roman" panose="02020603050405020304" pitchFamily="18" charset="0"/>
              </a:rPr>
              <a:t>những</a:t>
            </a:r>
            <a:r>
              <a:rPr lang="en-US" altLang="en-US" dirty="0">
                <a:latin typeface="Times New Roman" panose="02020603050405020304" pitchFamily="18" charset="0"/>
              </a:rPr>
              <a:t> condition </a:t>
            </a:r>
            <a:r>
              <a:rPr lang="en-US" altLang="en-US" dirty="0" err="1">
                <a:latin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xảy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Mutual: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file read-only.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in,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b="1" dirty="0"/>
              <a:t>spooling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in.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Hold and Wait: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b="1" dirty="0" err="1"/>
              <a:t>tất</a:t>
            </a:r>
            <a:r>
              <a:rPr lang="en-US" b="1" dirty="0"/>
              <a:t> </a:t>
            </a:r>
            <a:r>
              <a:rPr lang="en-US" b="1" dirty="0" err="1"/>
              <a:t>cả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r>
              <a:rPr lang="en-US" b="1" dirty="0"/>
              <a:t> </a:t>
            </a:r>
            <a:r>
              <a:rPr lang="en-US" b="1" dirty="0" err="1"/>
              <a:t>nguyên</a:t>
            </a:r>
            <a:r>
              <a:rPr lang="en-US" b="1" dirty="0"/>
              <a:t>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ngay</a:t>
            </a:r>
            <a:r>
              <a:rPr lang="en-US" b="1" dirty="0"/>
              <a:t> </a:t>
            </a:r>
            <a:r>
              <a:rPr lang="en-US" b="1" dirty="0" err="1"/>
              <a:t>từ</a:t>
            </a:r>
            <a:r>
              <a:rPr lang="en-US" b="1" dirty="0"/>
              <a:t> </a:t>
            </a:r>
            <a:r>
              <a:rPr lang="en-US" b="1" dirty="0" err="1"/>
              <a:t>đầu</a:t>
            </a:r>
            <a:r>
              <a:rPr lang="en-US" dirty="0"/>
              <a:t>,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.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 typeface="Symbol" panose="050501020107060205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No preemption: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b="1" dirty="0" err="1"/>
              <a:t>thu</a:t>
            </a:r>
            <a:r>
              <a:rPr lang="en-US" b="1" dirty="0"/>
              <a:t> </a:t>
            </a:r>
            <a:r>
              <a:rPr lang="en-US" b="1" dirty="0" err="1"/>
              <a:t>hồi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r>
              <a:rPr lang="en-US" b="1" dirty="0"/>
              <a:t> </a:t>
            </a:r>
            <a:r>
              <a:rPr lang="en-US" b="1" dirty="0" err="1"/>
              <a:t>nguyên</a:t>
            </a:r>
            <a:r>
              <a:rPr lang="en-US" b="1" dirty="0"/>
              <a:t> </a:t>
            </a:r>
            <a:r>
              <a:rPr lang="en-US" b="1" dirty="0" err="1"/>
              <a:t>đang</a:t>
            </a:r>
            <a:r>
              <a:rPr lang="en-US" b="1" dirty="0"/>
              <a:t> </a:t>
            </a:r>
            <a:r>
              <a:rPr lang="en-US" b="1" dirty="0" err="1"/>
              <a:t>giữ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.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Circular wait: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,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.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827715-D4BB-40A1-A0F8-66347FA6C7F0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1276B8B-8A1F-41CA-B60D-2F982B0A3228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The vertices of graph is divided into 2: Process and resource type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Request edge: </a:t>
            </a:r>
            <a:r>
              <a:rPr lang="en-US" altLang="en-US" dirty="0" err="1">
                <a:latin typeface="Times New Roman" panose="02020603050405020304" pitchFamily="18" charset="0"/>
              </a:rPr>
              <a:t>từ</a:t>
            </a:r>
            <a:r>
              <a:rPr lang="en-US" altLang="en-US" dirty="0">
                <a:latin typeface="Times New Roman" panose="02020603050405020304" pitchFamily="18" charset="0"/>
              </a:rPr>
              <a:t> Process -&gt; Resource (</a:t>
            </a:r>
            <a:r>
              <a:rPr lang="en-US" altLang="en-US" dirty="0" err="1">
                <a:latin typeface="Times New Roman" panose="02020603050405020304" pitchFamily="18" charset="0"/>
              </a:rPr>
              <a:t>yêu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cầu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Assignment edge: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R2 </a:t>
            </a:r>
            <a:r>
              <a:rPr lang="en-US" altLang="en-US" dirty="0" err="1">
                <a:latin typeface="Times New Roman" panose="02020603050405020304" pitchFamily="18" charset="0"/>
              </a:rPr>
              <a:t>đã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được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cấp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AC5F546-40B8-4882-82D6-94983901EFDD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2EF4CD-75FF-4CAA-8893-7A49A7CC3DAE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holding an instance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i="1" baseline="-25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requests instance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i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i="1" dirty="0" err="1"/>
              <a:t>Không</a:t>
            </a:r>
            <a:r>
              <a:rPr lang="en-US" altLang="en-US" i="1" dirty="0"/>
              <a:t> </a:t>
            </a:r>
            <a:r>
              <a:rPr lang="en-US" altLang="en-US" i="1" dirty="0" err="1"/>
              <a:t>có</a:t>
            </a:r>
            <a:r>
              <a:rPr lang="en-US" altLang="en-US" i="1" dirty="0"/>
              <a:t> cycle </a:t>
            </a:r>
            <a:r>
              <a:rPr lang="en-US" altLang="en-US" i="1" dirty="0" err="1"/>
              <a:t>giữa</a:t>
            </a:r>
            <a:r>
              <a:rPr lang="en-US" altLang="en-US" i="1" dirty="0"/>
              <a:t> </a:t>
            </a:r>
            <a:r>
              <a:rPr lang="en-US" altLang="en-US" i="1" dirty="0" err="1"/>
              <a:t>các</a:t>
            </a:r>
            <a:r>
              <a:rPr lang="en-US" altLang="en-US" i="1" dirty="0"/>
              <a:t> Process and Resource =&gt; No deadlock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957618-0800-4757-A13A-04647D18565C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cycle </a:t>
            </a:r>
            <a:r>
              <a:rPr lang="en-US" altLang="en-US" dirty="0" err="1">
                <a:latin typeface="Times New Roman" panose="02020603050405020304" pitchFamily="18" charset="0"/>
              </a:rPr>
              <a:t>giữa</a:t>
            </a:r>
            <a:r>
              <a:rPr lang="en-US" altLang="en-US" dirty="0">
                <a:latin typeface="Times New Roman" panose="02020603050405020304" pitchFamily="18" charset="0"/>
              </a:rPr>
              <a:t> Process and Resource </a:t>
            </a:r>
            <a:r>
              <a:rPr lang="en-US" altLang="en-US" dirty="0" err="1">
                <a:latin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mỗi</a:t>
            </a:r>
            <a:r>
              <a:rPr lang="en-US" altLang="en-US" dirty="0">
                <a:latin typeface="Times New Roman" panose="02020603050405020304" pitchFamily="18" charset="0"/>
              </a:rPr>
              <a:t> Resource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1 instance=&gt; deadlock is definitely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640412-7356-404F-A95D-F67A0A22C59D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9DE7BA-3717-42BC-9441-3ACBE4460629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ED5E45-F98B-41C6-A7D7-C9B4AF823ED2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Deadlock prevention: ko </a:t>
            </a:r>
            <a:r>
              <a:rPr lang="en-US" altLang="en-US" dirty="0" err="1">
                <a:latin typeface="Times New Roman" panose="02020603050405020304" pitchFamily="18" charset="0"/>
              </a:rPr>
              <a:t>phá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vỡ</a:t>
            </a:r>
            <a:r>
              <a:rPr lang="en-US" altLang="en-US" dirty="0">
                <a:latin typeface="Times New Roman" panose="02020603050405020304" pitchFamily="18" charset="0"/>
              </a:rPr>
              <a:t> 1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4 </a:t>
            </a:r>
            <a:r>
              <a:rPr lang="en-US" altLang="en-US" dirty="0" err="1">
                <a:latin typeface="Times New Roman" panose="02020603050405020304" pitchFamily="18" charset="0"/>
              </a:rPr>
              <a:t>điều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kiện</a:t>
            </a:r>
            <a:r>
              <a:rPr lang="en-US" altLang="en-US" dirty="0">
                <a:latin typeface="Times New Roman" panose="02020603050405020304" pitchFamily="18" charset="0"/>
              </a:rPr>
              <a:t> deadlock =&gt; </a:t>
            </a:r>
            <a:r>
              <a:rPr lang="en-US" altLang="en-US" dirty="0" err="1">
                <a:latin typeface="Times New Roman" panose="02020603050405020304" pitchFamily="18" charset="0"/>
              </a:rPr>
              <a:t>làm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deadlock ko </a:t>
            </a:r>
            <a:r>
              <a:rPr lang="en-US" altLang="en-US" dirty="0" err="1">
                <a:latin typeface="Times New Roman" panose="02020603050405020304" pitchFamily="18" charset="0"/>
              </a:rPr>
              <a:t>xảy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ra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Deadlock avoidance: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cấp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nếu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thống</a:t>
            </a:r>
            <a:r>
              <a:rPr lang="en-US" altLang="en-US" dirty="0">
                <a:latin typeface="Times New Roman" panose="02020603050405020304" pitchFamily="18" charset="0"/>
              </a:rPr>
              <a:t> ở safe state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498F51-DFEB-4544-82E8-BA10E68CA1A2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Restrict how process request resource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Mutual exclusion: 2 TRƯỜNG HỢP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+ </a:t>
            </a:r>
            <a:r>
              <a:rPr lang="en-US" altLang="en-US" dirty="0" err="1">
                <a:latin typeface="Times New Roman" panose="02020603050405020304" pitchFamily="18" charset="0"/>
              </a:rPr>
              <a:t>với</a:t>
            </a:r>
            <a:r>
              <a:rPr lang="en-US" altLang="en-US" dirty="0">
                <a:latin typeface="Times New Roman" panose="02020603050405020304" pitchFamily="18" charset="0"/>
              </a:rPr>
              <a:t> Sharable resource: mutual exclusion ko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tồn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tại</a:t>
            </a:r>
            <a:r>
              <a:rPr lang="en-US" altLang="en-US" dirty="0">
                <a:latin typeface="Times New Roman" panose="02020603050405020304" pitchFamily="18" charset="0"/>
              </a:rPr>
              <a:t> =&gt; ko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mutual excl </a:t>
            </a:r>
            <a:r>
              <a:rPr lang="en-US" altLang="en-US" dirty="0" err="1">
                <a:latin typeface="Times New Roman" panose="02020603050405020304" pitchFamily="18" charset="0"/>
              </a:rPr>
              <a:t>nên</a:t>
            </a:r>
            <a:r>
              <a:rPr lang="en-US" altLang="en-US" dirty="0">
                <a:latin typeface="Times New Roman" panose="02020603050405020304" pitchFamily="18" charset="0"/>
              </a:rPr>
              <a:t> ko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deadlock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+ </a:t>
            </a:r>
            <a:r>
              <a:rPr lang="en-US" altLang="en-US" dirty="0" err="1">
                <a:latin typeface="Times New Roman" panose="02020603050405020304" pitchFamily="18" charset="0"/>
              </a:rPr>
              <a:t>với</a:t>
            </a:r>
            <a:r>
              <a:rPr lang="en-US" altLang="en-US" dirty="0">
                <a:latin typeface="Times New Roman" panose="02020603050405020304" pitchFamily="18" charset="0"/>
              </a:rPr>
              <a:t> non Sharable resource: </a:t>
            </a:r>
            <a:r>
              <a:rPr lang="en-US" altLang="en-US" dirty="0" err="1">
                <a:latin typeface="Times New Roman" panose="02020603050405020304" pitchFamily="18" charset="0"/>
              </a:rPr>
              <a:t>n</a:t>
            </a:r>
            <a:r>
              <a:rPr lang="en-US" dirty="0" err="1"/>
              <a:t>hư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in </a:t>
            </a:r>
            <a:r>
              <a:rPr lang="en-US" dirty="0" err="1"/>
              <a:t>hoặc</a:t>
            </a:r>
            <a:r>
              <a:rPr lang="en-US" dirty="0"/>
              <a:t> file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: mutual exclusion </a:t>
            </a:r>
            <a:r>
              <a:rPr lang="en-US" b="1" dirty="0" err="1"/>
              <a:t>bắt</a:t>
            </a:r>
            <a:r>
              <a:rPr lang="en-US" b="1" dirty="0"/>
              <a:t> </a:t>
            </a:r>
            <a:r>
              <a:rPr lang="en-US" b="1" dirty="0" err="1"/>
              <a:t>buộc</a:t>
            </a:r>
            <a:r>
              <a:rPr lang="en-US" b="1" dirty="0"/>
              <a:t> </a:t>
            </a:r>
            <a:r>
              <a:rPr lang="en-US" b="1" dirty="0" err="1"/>
              <a:t>tồn</a:t>
            </a:r>
            <a:r>
              <a:rPr lang="en-US" b="1" dirty="0"/>
              <a:t> </a:t>
            </a:r>
            <a:r>
              <a:rPr lang="en-US" b="1" dirty="0" err="1"/>
              <a:t>tại</a:t>
            </a:r>
            <a:r>
              <a:rPr lang="en-US" dirty="0"/>
              <a:t>,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process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Hold and Wait: process </a:t>
            </a:r>
            <a:r>
              <a:rPr lang="en-US" altLang="en-US" dirty="0" err="1">
                <a:latin typeface="Times New Roman" panose="02020603050405020304" pitchFamily="18" charset="0"/>
              </a:rPr>
              <a:t>giữ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ít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nhất</a:t>
            </a:r>
            <a:r>
              <a:rPr lang="en-US" altLang="en-US" dirty="0">
                <a:latin typeface="Times New Roman" panose="02020603050405020304" pitchFamily="18" charset="0"/>
              </a:rPr>
              <a:t> 1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chờ</a:t>
            </a:r>
            <a:r>
              <a:rPr lang="en-US" altLang="en-US" dirty="0">
                <a:latin typeface="Times New Roman" panose="02020603050405020304" pitchFamily="18" charset="0"/>
              </a:rPr>
              <a:t> them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khác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C213F6-8615-484A-A6AC-25C29C9D186C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Circular wait: assign total ordering of all resources type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No preemption: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đã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cấp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ko dc </a:t>
            </a:r>
            <a:r>
              <a:rPr lang="en-US" altLang="en-US" dirty="0" err="1">
                <a:latin typeface="Times New Roman" panose="02020603050405020304" pitchFamily="18" charset="0"/>
              </a:rPr>
              <a:t>thu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hồi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2FC2ED-8B2D-4E49-92A3-16CB028F2CA3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Minh </a:t>
            </a:r>
            <a:r>
              <a:rPr lang="en-US" altLang="en-US" dirty="0" err="1">
                <a:latin typeface="Times New Roman" panose="02020603050405020304" pitchFamily="18" charset="0"/>
              </a:rPr>
              <a:t>họa</a:t>
            </a:r>
            <a:r>
              <a:rPr lang="en-US" altLang="en-US" dirty="0">
                <a:latin typeface="Times New Roman" panose="02020603050405020304" pitchFamily="18" charset="0"/>
              </a:rPr>
              <a:t> deadlock do circular wait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Deadlock </a:t>
            </a:r>
            <a:r>
              <a:rPr lang="en-US" altLang="en-US" dirty="0" err="1">
                <a:latin typeface="Times New Roman" panose="02020603050405020304" pitchFamily="18" charset="0"/>
              </a:rPr>
              <a:t>xảy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theo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trình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tự</a:t>
            </a:r>
            <a:r>
              <a:rPr lang="en-US" altLang="en-US" dirty="0">
                <a:latin typeface="Times New Roman" panose="02020603050405020304" pitchFamily="18" charset="0"/>
              </a:rPr>
              <a:t>:</a:t>
            </a:r>
          </a:p>
          <a:p>
            <a:pPr marL="228600" indent="-228600">
              <a:buAutoNum type="arabicPeriod"/>
            </a:pPr>
            <a:r>
              <a:rPr lang="en-US" altLang="en-US" dirty="0">
                <a:latin typeface="Times New Roman" panose="02020603050405020304" pitchFamily="18" charset="0"/>
              </a:rPr>
              <a:t>Thread 1 </a:t>
            </a:r>
            <a:r>
              <a:rPr lang="en-US" altLang="en-US" dirty="0" err="1">
                <a:latin typeface="Times New Roman" panose="02020603050405020304" pitchFamily="18" charset="0"/>
              </a:rPr>
              <a:t>khóa</a:t>
            </a:r>
            <a:r>
              <a:rPr lang="en-US" altLang="en-US" dirty="0">
                <a:latin typeface="Times New Roman" panose="02020603050405020304" pitchFamily="18" charset="0"/>
              </a:rPr>
              <a:t> dc </a:t>
            </a:r>
            <a:r>
              <a:rPr lang="en-US" altLang="en-US" dirty="0" err="1">
                <a:latin typeface="Times New Roman" panose="02020603050405020304" pitchFamily="18" charset="0"/>
              </a:rPr>
              <a:t>first_mutex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228600" indent="-228600">
              <a:buAutoNum type="arabicPeriod"/>
            </a:pPr>
            <a:r>
              <a:rPr lang="en-US" altLang="en-US" dirty="0">
                <a:latin typeface="Times New Roman" panose="02020603050405020304" pitchFamily="18" charset="0"/>
              </a:rPr>
              <a:t>Thread 2 </a:t>
            </a:r>
            <a:r>
              <a:rPr lang="en-US" altLang="en-US" dirty="0" err="1">
                <a:latin typeface="Times New Roman" panose="02020603050405020304" pitchFamily="18" charset="0"/>
              </a:rPr>
              <a:t>khóa</a:t>
            </a:r>
            <a:r>
              <a:rPr lang="en-US" altLang="en-US" dirty="0">
                <a:latin typeface="Times New Roman" panose="02020603050405020304" pitchFamily="18" charset="0"/>
              </a:rPr>
              <a:t> dc </a:t>
            </a:r>
            <a:r>
              <a:rPr lang="en-US" altLang="en-US" dirty="0" err="1">
                <a:latin typeface="Times New Roman" panose="02020603050405020304" pitchFamily="18" charset="0"/>
              </a:rPr>
              <a:t>second_mutex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228600" indent="-228600">
              <a:buAutoNum type="arabicPeriod"/>
            </a:pPr>
            <a:r>
              <a:rPr lang="en-US" altLang="en-US" dirty="0">
                <a:latin typeface="Times New Roman" panose="02020603050405020304" pitchFamily="18" charset="0"/>
              </a:rPr>
              <a:t>Thread 1 </a:t>
            </a:r>
            <a:r>
              <a:rPr lang="en-US" altLang="en-US" dirty="0" err="1">
                <a:latin typeface="Times New Roman" panose="02020603050405020304" pitchFamily="18" charset="0"/>
              </a:rPr>
              <a:t>chờ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khóa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second_mutex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</a:rPr>
              <a:t>nma</a:t>
            </a:r>
            <a:r>
              <a:rPr lang="en-US" altLang="en-US" dirty="0">
                <a:latin typeface="Times New Roman" panose="02020603050405020304" pitchFamily="18" charset="0"/>
              </a:rPr>
              <a:t> mutex </a:t>
            </a:r>
            <a:r>
              <a:rPr lang="en-US" altLang="en-US" dirty="0" err="1">
                <a:latin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</a:rPr>
              <a:t> do thread 2 </a:t>
            </a:r>
            <a:r>
              <a:rPr lang="en-US" altLang="en-US" dirty="0" err="1">
                <a:latin typeface="Times New Roman" panose="02020603050405020304" pitchFamily="18" charset="0"/>
              </a:rPr>
              <a:t>giữ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228600" indent="-228600">
              <a:buAutoNum type="arabicPeriod"/>
            </a:pPr>
            <a:r>
              <a:rPr lang="en-US" altLang="en-US" dirty="0">
                <a:latin typeface="Times New Roman" panose="02020603050405020304" pitchFamily="18" charset="0"/>
              </a:rPr>
              <a:t>Thread 2 </a:t>
            </a:r>
            <a:r>
              <a:rPr lang="en-US" altLang="en-US" dirty="0" err="1">
                <a:latin typeface="Times New Roman" panose="02020603050405020304" pitchFamily="18" charset="0"/>
              </a:rPr>
              <a:t>chờ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khóa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first_mutex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</a:rPr>
              <a:t>nma</a:t>
            </a:r>
            <a:r>
              <a:rPr lang="en-US" altLang="en-US" dirty="0">
                <a:latin typeface="Times New Roman" panose="02020603050405020304" pitchFamily="18" charset="0"/>
              </a:rPr>
              <a:t> mutex </a:t>
            </a:r>
            <a:r>
              <a:rPr lang="en-US" altLang="en-US" dirty="0" err="1">
                <a:latin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</a:rPr>
              <a:t> do thread 1 </a:t>
            </a:r>
            <a:r>
              <a:rPr lang="en-US" altLang="en-US" dirty="0" err="1">
                <a:latin typeface="Times New Roman" panose="02020603050405020304" pitchFamily="18" charset="0"/>
              </a:rPr>
              <a:t>giữ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228600" indent="-228600">
              <a:buAutoNum type="arabicPeriod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228600" indent="-228600">
              <a:buAutoNum type="arabicPeriod"/>
            </a:pPr>
            <a:r>
              <a:rPr lang="en-US" altLang="en-US" dirty="0">
                <a:latin typeface="Times New Roman" panose="02020603050405020304" pitchFamily="18" charset="0"/>
              </a:rPr>
              <a:t>=&gt; </a:t>
            </a:r>
            <a:r>
              <a:rPr lang="en-US" altLang="en-US" dirty="0" err="1">
                <a:latin typeface="Times New Roman" panose="02020603050405020304" pitchFamily="18" charset="0"/>
              </a:rPr>
              <a:t>cả</a:t>
            </a:r>
            <a:r>
              <a:rPr lang="en-US" altLang="en-US" dirty="0">
                <a:latin typeface="Times New Roman" panose="02020603050405020304" pitchFamily="18" charset="0"/>
              </a:rPr>
              <a:t> 2 </a:t>
            </a:r>
            <a:r>
              <a:rPr lang="en-US" altLang="en-US" dirty="0" err="1">
                <a:latin typeface="Times New Roman" panose="02020603050405020304" pitchFamily="18" charset="0"/>
              </a:rPr>
              <a:t>chờ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nhau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</a:rPr>
              <a:t> ko </a:t>
            </a:r>
            <a:r>
              <a:rPr lang="en-US" altLang="en-US" dirty="0" err="1">
                <a:latin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chạy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lệnh</a:t>
            </a:r>
            <a:r>
              <a:rPr lang="en-US" altLang="en-US" dirty="0">
                <a:latin typeface="Times New Roman" panose="02020603050405020304" pitchFamily="18" charset="0"/>
              </a:rPr>
              <a:t> unlock</a:t>
            </a:r>
          </a:p>
          <a:p>
            <a:pPr marL="228600" indent="-228600">
              <a:buAutoNum type="arabicPeriod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228600" indent="-228600">
              <a:buAutoNum type="arabicPeriod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ko </a:t>
            </a:r>
            <a:r>
              <a:rPr lang="en-US" altLang="en-US" dirty="0" err="1">
                <a:latin typeface="Times New Roman" panose="02020603050405020304" pitchFamily="18" charset="0"/>
              </a:rPr>
              <a:t>bị</a:t>
            </a:r>
            <a:r>
              <a:rPr lang="en-US" altLang="en-US" dirty="0">
                <a:latin typeface="Times New Roman" panose="02020603050405020304" pitchFamily="18" charset="0"/>
              </a:rPr>
              <a:t> deadlock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Thread 1 </a:t>
            </a:r>
            <a:r>
              <a:rPr lang="en-US" altLang="en-US" dirty="0" err="1">
                <a:latin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</a:rPr>
              <a:t> 2 </a:t>
            </a:r>
            <a:r>
              <a:rPr lang="en-US" altLang="en-US" dirty="0" err="1">
                <a:latin typeface="Times New Roman" panose="02020603050405020304" pitchFamily="18" charset="0"/>
              </a:rPr>
              <a:t>phải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cùng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chung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thứ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</a:rPr>
              <a:t>tự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C9F97E-43D2-4A36-A70A-78375A2DF7D2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Nghĩa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transaction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A </a:t>
            </a:r>
            <a:r>
              <a:rPr lang="en-US" dirty="0" err="1"/>
              <a:t>và</a:t>
            </a:r>
            <a:r>
              <a:rPr lang="en-US" dirty="0"/>
              <a:t> B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b="1" dirty="0"/>
              <a:t>A </a:t>
            </a:r>
            <a:r>
              <a:rPr lang="en-US" b="1" dirty="0" err="1"/>
              <a:t>trước</a:t>
            </a:r>
            <a:r>
              <a:rPr lang="en-US" b="1" dirty="0"/>
              <a:t>, B </a:t>
            </a:r>
            <a:r>
              <a:rPr lang="en-US" b="1" dirty="0" err="1"/>
              <a:t>sau</a:t>
            </a:r>
            <a:r>
              <a:rPr lang="en-US" dirty="0"/>
              <a:t>.</a:t>
            </a:r>
          </a:p>
          <a:p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Transaction 1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A:</a:t>
            </a:r>
          </a:p>
          <a:p>
            <a:r>
              <a:rPr lang="en-US" dirty="0"/>
              <a:t>Transaction 1: </a:t>
            </a:r>
            <a:r>
              <a:rPr lang="en-US" dirty="0" err="1"/>
              <a:t>giữ</a:t>
            </a:r>
            <a:r>
              <a:rPr lang="en-US" dirty="0"/>
              <a:t> A,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B. </a:t>
            </a:r>
          </a:p>
          <a:p>
            <a:r>
              <a:rPr lang="en-US" dirty="0"/>
              <a:t>Transaction 2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A </a:t>
            </a:r>
            <a:r>
              <a:rPr lang="en-US" dirty="0" err="1"/>
              <a:t>trước</a:t>
            </a:r>
            <a:r>
              <a:rPr lang="en-US" dirty="0"/>
              <a:t>. </a:t>
            </a:r>
          </a:p>
          <a:p>
            <a:r>
              <a:rPr lang="en-US" dirty="0" err="1"/>
              <a:t>Nhưng</a:t>
            </a:r>
            <a:r>
              <a:rPr lang="en-US" dirty="0"/>
              <a:t> A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bận</a:t>
            </a:r>
            <a:r>
              <a:rPr lang="en-US" dirty="0"/>
              <a:t>, </a:t>
            </a:r>
            <a:r>
              <a:rPr lang="en-US" dirty="0" err="1"/>
              <a:t>nên</a:t>
            </a:r>
            <a:r>
              <a:rPr lang="en-US" dirty="0"/>
              <a:t> Transaction 2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/>
              <a:t>chưa</a:t>
            </a:r>
            <a:r>
              <a:rPr lang="en-US" b="1" dirty="0"/>
              <a:t> </a:t>
            </a:r>
            <a:r>
              <a:rPr lang="en-US" b="1" dirty="0" err="1"/>
              <a:t>được</a:t>
            </a:r>
            <a:r>
              <a:rPr lang="en-US" b="1" dirty="0"/>
              <a:t> </a:t>
            </a:r>
            <a:r>
              <a:rPr lang="en-US" b="1" dirty="0" err="1"/>
              <a:t>giữ</a:t>
            </a:r>
            <a:r>
              <a:rPr lang="en-US" b="1" dirty="0"/>
              <a:t> B</a:t>
            </a:r>
            <a:r>
              <a:rPr lang="en-US" dirty="0"/>
              <a:t>. </a:t>
            </a:r>
          </a:p>
          <a:p>
            <a:r>
              <a:rPr lang="en-US" dirty="0"/>
              <a:t>Sau </a:t>
            </a:r>
            <a:r>
              <a:rPr lang="en-US" dirty="0" err="1"/>
              <a:t>đó</a:t>
            </a:r>
            <a:r>
              <a:rPr lang="en-US" dirty="0"/>
              <a:t>:</a:t>
            </a:r>
          </a:p>
          <a:p>
            <a:r>
              <a:rPr lang="en-US" dirty="0"/>
              <a:t>Transaction 1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B. </a:t>
            </a:r>
          </a:p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. </a:t>
            </a:r>
          </a:p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phóng</a:t>
            </a:r>
            <a:r>
              <a:rPr lang="en-US" dirty="0"/>
              <a:t> A </a:t>
            </a:r>
            <a:r>
              <a:rPr lang="en-US" dirty="0" err="1"/>
              <a:t>và</a:t>
            </a:r>
            <a:r>
              <a:rPr lang="en-US" dirty="0"/>
              <a:t> B. </a:t>
            </a:r>
          </a:p>
          <a:p>
            <a:r>
              <a:rPr lang="en-US" dirty="0"/>
              <a:t>Transaction 2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A </a:t>
            </a:r>
            <a:r>
              <a:rPr lang="en-US" dirty="0" err="1"/>
              <a:t>rồi</a:t>
            </a:r>
            <a:r>
              <a:rPr lang="en-US" dirty="0"/>
              <a:t> B.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B81843A-2BFD-4922-A941-5BC3911747C5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Def: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cấp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nếu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thống</a:t>
            </a:r>
            <a:r>
              <a:rPr lang="en-US" altLang="en-US" dirty="0">
                <a:latin typeface="Times New Roman" panose="02020603050405020304" pitchFamily="18" charset="0"/>
              </a:rPr>
              <a:t> ở safe state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Process </a:t>
            </a:r>
            <a:r>
              <a:rPr lang="en-US" altLang="en-US" dirty="0" err="1">
                <a:latin typeface="Times New Roman" panose="02020603050405020304" pitchFamily="18" charset="0"/>
              </a:rPr>
              <a:t>khai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báo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mức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tối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</a:rPr>
              <a:t>mỗi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lần</a:t>
            </a:r>
            <a:r>
              <a:rPr lang="en-US" altLang="en-US" dirty="0">
                <a:latin typeface="Times New Roman" panose="02020603050405020304" pitchFamily="18" charset="0"/>
              </a:rPr>
              <a:t> request them </a:t>
            </a:r>
            <a:r>
              <a:rPr lang="en-US" altLang="en-US" dirty="0" err="1">
                <a:latin typeface="Times New Roman" panose="02020603050405020304" pitchFamily="18" charset="0"/>
              </a:rPr>
              <a:t>thì</a:t>
            </a:r>
            <a:r>
              <a:rPr lang="en-US" altLang="en-US" dirty="0">
                <a:latin typeface="Times New Roman" panose="02020603050405020304" pitchFamily="18" charset="0"/>
              </a:rPr>
              <a:t> OS </a:t>
            </a:r>
            <a:r>
              <a:rPr lang="en-US" altLang="en-US" dirty="0" err="1">
                <a:latin typeface="Times New Roman" panose="02020603050405020304" pitchFamily="18" charset="0"/>
              </a:rPr>
              <a:t>sẽ</a:t>
            </a:r>
            <a:r>
              <a:rPr lang="en-US" altLang="en-US" dirty="0">
                <a:latin typeface="Times New Roman" panose="02020603050405020304" pitchFamily="18" charset="0"/>
              </a:rPr>
              <a:t> check </a:t>
            </a:r>
            <a:r>
              <a:rPr lang="en-US" altLang="en-US" dirty="0" err="1">
                <a:latin typeface="Times New Roman" panose="02020603050405020304" pitchFamily="18" charset="0"/>
              </a:rPr>
              <a:t>xem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ở safe state ko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en-US" dirty="0" err="1">
                <a:latin typeface="Times New Roman" panose="02020603050405020304" pitchFamily="18" charset="0"/>
              </a:rPr>
              <a:t>Ngăn</a:t>
            </a:r>
            <a:r>
              <a:rPr lang="en-US" altLang="en-US" dirty="0">
                <a:latin typeface="Times New Roman" panose="02020603050405020304" pitchFamily="18" charset="0"/>
              </a:rPr>
              <a:t> ko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thống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vào</a:t>
            </a:r>
            <a:r>
              <a:rPr lang="en-US" altLang="en-US" dirty="0">
                <a:latin typeface="Times New Roman" panose="02020603050405020304" pitchFamily="18" charset="0"/>
              </a:rPr>
              <a:t>  unsafe state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4F3DB82-6AAC-45FD-AACA-3083347CBFA4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The process’s remaining need is satisfied by </a:t>
            </a:r>
            <a:r>
              <a:rPr lang="en-US" dirty="0"/>
              <a:t>Currently available resources + resources released by earlier processes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9B19637-72D3-479B-8214-EB9E19002232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63F88D4-14B6-4CAB-83F0-C8BA424724F1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01167C-9622-480F-9835-3C21DD57F6FD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Instance: </a:t>
            </a:r>
            <a:r>
              <a:rPr lang="en-US" altLang="en-US" dirty="0" err="1">
                <a:latin typeface="Times New Roman" panose="02020603050405020304" pitchFamily="18" charset="0"/>
              </a:rPr>
              <a:t>số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lượng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loại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Vd</a:t>
            </a:r>
            <a:r>
              <a:rPr lang="en-US" altLang="en-US" dirty="0">
                <a:latin typeface="Times New Roman" panose="02020603050405020304" pitchFamily="18" charset="0"/>
              </a:rPr>
              <a:t>: Resource type “</a:t>
            </a:r>
            <a:r>
              <a:rPr lang="en-US" altLang="en-US" dirty="0" err="1">
                <a:latin typeface="Times New Roman" panose="02020603050405020304" pitchFamily="18" charset="0"/>
              </a:rPr>
              <a:t>máy</a:t>
            </a:r>
            <a:r>
              <a:rPr lang="en-US" altLang="en-US" dirty="0">
                <a:latin typeface="Times New Roman" panose="02020603050405020304" pitchFamily="18" charset="0"/>
              </a:rPr>
              <a:t> in”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Instance = 1: </a:t>
            </a:r>
            <a:r>
              <a:rPr lang="en-US" altLang="en-US" dirty="0" err="1">
                <a:latin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thống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1 </a:t>
            </a:r>
            <a:r>
              <a:rPr lang="en-US" altLang="en-US" dirty="0" err="1">
                <a:latin typeface="Times New Roman" panose="02020603050405020304" pitchFamily="18" charset="0"/>
              </a:rPr>
              <a:t>máy</a:t>
            </a:r>
            <a:r>
              <a:rPr lang="en-US" altLang="en-US" dirty="0">
                <a:latin typeface="Times New Roman" panose="02020603050405020304" pitchFamily="18" charset="0"/>
              </a:rPr>
              <a:t> in 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24BB9D0-D2E7-4163-AF23-D03438205A92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Claim edge: means a process may request a resource in the future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Request edge: a process actually request a resource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Assignment edge: the requested resource is allocated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A priori: process must let system know what resources may need in the future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2D72D65-0564-4C35-B75A-DAC7E902E5A7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77FE77-DB7E-4943-9A36-CE3D7FF51AE9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8E873C-630C-4F98-9A3A-3AA38CA31327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B43CC2-F54D-40B1-937F-CAB9A09CC3BF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Each process must declare its maximum resource in advance =&gt; deadlock avoidance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E7F7A2-BA92-484E-896E-F1607F812604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Banker’s algorithm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4 </a:t>
            </a:r>
            <a:r>
              <a:rPr lang="en-US" altLang="en-US" dirty="0" err="1">
                <a:latin typeface="Times New Roman" panose="02020603050405020304" pitchFamily="18" charset="0"/>
              </a:rPr>
              <a:t>bảng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chính</a:t>
            </a:r>
            <a:r>
              <a:rPr lang="en-US" altLang="en-US" dirty="0">
                <a:latin typeface="Times New Roman" panose="02020603050405020304" pitchFamily="18" charset="0"/>
              </a:rPr>
              <a:t>:</a:t>
            </a:r>
            <a:br>
              <a:rPr lang="en-US" altLang="en-US" dirty="0">
                <a:latin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</a:rPr>
              <a:t>+ Available: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biết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thống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còn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bnhiu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rảnh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+ Max: </a:t>
            </a:r>
            <a:r>
              <a:rPr lang="en-US" altLang="en-US" dirty="0" err="1">
                <a:latin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thống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tối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đa</a:t>
            </a:r>
            <a:r>
              <a:rPr lang="en-US" altLang="en-US" dirty="0">
                <a:latin typeface="Times New Roman" panose="02020603050405020304" pitchFamily="18" charset="0"/>
              </a:rPr>
              <a:t> bao </a:t>
            </a:r>
            <a:r>
              <a:rPr lang="en-US" altLang="en-US" dirty="0" err="1">
                <a:latin typeface="Times New Roman" panose="02020603050405020304" pitchFamily="18" charset="0"/>
              </a:rPr>
              <a:t>nhiêu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+ Allocation: process </a:t>
            </a:r>
            <a:r>
              <a:rPr lang="en-US" altLang="en-US" dirty="0" err="1">
                <a:latin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tại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giữ</a:t>
            </a:r>
            <a:r>
              <a:rPr lang="en-US" altLang="en-US" dirty="0">
                <a:latin typeface="Times New Roman" panose="02020603050405020304" pitchFamily="18" charset="0"/>
              </a:rPr>
              <a:t> bao </a:t>
            </a:r>
            <a:r>
              <a:rPr lang="en-US" altLang="en-US" dirty="0" err="1">
                <a:latin typeface="Times New Roman" panose="02020603050405020304" pitchFamily="18" charset="0"/>
              </a:rPr>
              <a:t>nhiêu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+ Need: process </a:t>
            </a:r>
            <a:r>
              <a:rPr lang="en-US" altLang="en-US" dirty="0" err="1">
                <a:latin typeface="Times New Roman" panose="02020603050405020304" pitchFamily="18" charset="0"/>
              </a:rPr>
              <a:t>còn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thiếu</a:t>
            </a:r>
            <a:r>
              <a:rPr lang="en-US" altLang="en-US" dirty="0">
                <a:latin typeface="Times New Roman" panose="02020603050405020304" pitchFamily="18" charset="0"/>
              </a:rPr>
              <a:t> bao </a:t>
            </a:r>
            <a:r>
              <a:rPr lang="en-US" altLang="en-US" dirty="0" err="1">
                <a:latin typeface="Times New Roman" panose="02020603050405020304" pitchFamily="18" charset="0"/>
              </a:rPr>
              <a:t>nhiêu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6E686B-3B3C-4602-802C-66F3BA524E8B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ảnh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ví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dụ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tập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chụp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trong</a:t>
            </a:r>
            <a:r>
              <a:rPr lang="en-US" altLang="en-US" dirty="0">
                <a:latin typeface="Times New Roman" panose="02020603050405020304" pitchFamily="18" charset="0"/>
              </a:rPr>
              <a:t> dt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D4C4B-6165-4F74-9848-D72F4BF8BB48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ED9BC3-B059-4FF2-B214-B581800466CC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Need = Max – Allocation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Available: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chung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đang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rảnh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cả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thống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Tìm</a:t>
            </a:r>
            <a:r>
              <a:rPr lang="en-US" altLang="en-US" dirty="0">
                <a:latin typeface="Times New Roman" panose="02020603050405020304" pitchFamily="18" charset="0"/>
              </a:rPr>
              <a:t> safe sequence: </a:t>
            </a:r>
          </a:p>
          <a:p>
            <a:pPr marL="171450" indent="-171450">
              <a:buFontTx/>
              <a:buChar char="-"/>
            </a:pPr>
            <a:r>
              <a:rPr lang="en-US" altLang="en-US" dirty="0" err="1">
                <a:latin typeface="Times New Roman" panose="02020603050405020304" pitchFamily="18" charset="0"/>
              </a:rPr>
              <a:t>Tìm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Need &lt;= Work =&gt; Process </a:t>
            </a:r>
            <a:r>
              <a:rPr lang="en-US" altLang="en-US" dirty="0" err="1">
                <a:latin typeface="Times New Roman" panose="02020603050405020304" pitchFamily="18" charset="0"/>
              </a:rPr>
              <a:t>chạy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xong</a:t>
            </a:r>
            <a:r>
              <a:rPr lang="en-US" altLang="en-US" dirty="0">
                <a:latin typeface="Times New Roman" panose="02020603050405020304" pitchFamily="18" charset="0"/>
              </a:rPr>
              <a:t>, Work =Work + Allocation =&gt; </a:t>
            </a:r>
            <a:r>
              <a:rPr lang="en-US" altLang="en-US" dirty="0" err="1">
                <a:latin typeface="Times New Roman" panose="02020603050405020304" pitchFamily="18" charset="0"/>
              </a:rPr>
              <a:t>Tìm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khác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mà</a:t>
            </a:r>
            <a:r>
              <a:rPr lang="en-US" altLang="en-US" dirty="0">
                <a:latin typeface="Times New Roman" panose="02020603050405020304" pitchFamily="18" charset="0"/>
              </a:rPr>
              <a:t> Need &lt;= Work</a:t>
            </a:r>
          </a:p>
          <a:p>
            <a:pPr marL="171450" indent="-171450">
              <a:buFontTx/>
              <a:buChar char="-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Need P0 [7,4,3]</a:t>
            </a: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P1 [1,2,2]</a:t>
            </a: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P2 [6,0,0]</a:t>
            </a: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P3 [0,1,1]</a:t>
            </a: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P4 [4,3,1]</a:t>
            </a:r>
          </a:p>
          <a:p>
            <a:pPr marL="0" indent="0">
              <a:buFontTx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Ko </a:t>
            </a: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P0 </a:t>
            </a:r>
            <a:r>
              <a:rPr lang="en-US" altLang="en-US" dirty="0" err="1">
                <a:latin typeface="Times New Roman" panose="02020603050405020304" pitchFamily="18" charset="0"/>
              </a:rPr>
              <a:t>vì</a:t>
            </a:r>
            <a:r>
              <a:rPr lang="en-US" altLang="en-US" dirty="0">
                <a:latin typeface="Times New Roman" panose="02020603050405020304" pitchFamily="18" charset="0"/>
              </a:rPr>
              <a:t> need !&lt;= Work</a:t>
            </a:r>
          </a:p>
          <a:p>
            <a:pPr marL="0" indent="0">
              <a:buFontTx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P1: Need  &lt;= Work </a:t>
            </a: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Work = Work + Allocation</a:t>
            </a: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= [3,3,2] + 2,0,0 = 5,3,2</a:t>
            </a:r>
          </a:p>
          <a:p>
            <a:pPr marL="0" indent="0">
              <a:buFontTx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P3: Need &lt;= Work</a:t>
            </a: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Work = 5,3,2 + 2,1,1 = 7,4,3</a:t>
            </a:r>
          </a:p>
          <a:p>
            <a:pPr marL="0" indent="0">
              <a:buFontTx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P4</a:t>
            </a: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….</a:t>
            </a:r>
          </a:p>
          <a:p>
            <a:pPr marL="0" indent="0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BED3D9-0E7E-4E96-89AA-FC48CFB1D149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A388AB-30B0-492A-B35E-00AEFCC0F138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</a:rPr>
              <a:t>Trl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2 </a:t>
            </a:r>
            <a:r>
              <a:rPr lang="en-US" altLang="en-US" dirty="0" err="1">
                <a:latin typeface="Times New Roman" panose="02020603050405020304" pitchFamily="18" charset="0"/>
              </a:rPr>
              <a:t>câu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cuối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>
                <a:latin typeface="Times New Roman" panose="02020603050405020304" pitchFamily="18" charset="0"/>
              </a:rPr>
              <a:t>Need = Max – Allocation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Check if it satisfies: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Request &lt;= Need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Request &lt;= Available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Available = Available – Request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Allocation = Allocation + Request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Need = Need - Request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D4CF48B-6CAC-4200-9BA1-75FF780369B2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Detection algorithm: </a:t>
            </a:r>
            <a:r>
              <a:rPr lang="en-US" altLang="en-US" dirty="0" err="1">
                <a:latin typeface="Times New Roman" panose="02020603050405020304" pitchFamily="18" charset="0"/>
              </a:rPr>
              <a:t>phát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thống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deadlock hay </a:t>
            </a:r>
            <a:r>
              <a:rPr lang="en-US" altLang="en-US" dirty="0" err="1">
                <a:latin typeface="Times New Roman" panose="02020603050405020304" pitchFamily="18" charset="0"/>
              </a:rPr>
              <a:t>không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Recovery scheme: </a:t>
            </a:r>
            <a:r>
              <a:rPr lang="en-US" altLang="en-US" dirty="0" err="1">
                <a:latin typeface="Times New Roman" panose="02020603050405020304" pitchFamily="18" charset="0"/>
              </a:rPr>
              <a:t>sau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phát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dirty="0" err="1">
                <a:latin typeface="Times New Roman" panose="02020603050405020304" pitchFamily="18" charset="0"/>
              </a:rPr>
              <a:t>phải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thoát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khỏi</a:t>
            </a:r>
            <a:r>
              <a:rPr lang="en-US" altLang="en-US" dirty="0">
                <a:latin typeface="Times New Roman" panose="02020603050405020304" pitchFamily="18" charset="0"/>
              </a:rPr>
              <a:t> deadlock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4B0A5C3-210B-404C-9E75-EA0E4B2DB184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EFAB5A2-AA3B-466A-8EB8-A58BD6FC9374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1D0B3D-DA10-4A11-B275-53D3089AF9B2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3 structures: Let OS know when process finish, when process is deadlocked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+ Available: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biết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tại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còn</a:t>
            </a:r>
            <a:r>
              <a:rPr lang="en-US" altLang="en-US" dirty="0">
                <a:latin typeface="Times New Roman" panose="02020603050405020304" pitchFamily="18" charset="0"/>
              </a:rPr>
              <a:t> bao </a:t>
            </a:r>
            <a:r>
              <a:rPr lang="en-US" altLang="en-US" dirty="0" err="1">
                <a:latin typeface="Times New Roman" panose="02020603050405020304" pitchFamily="18" charset="0"/>
              </a:rPr>
              <a:t>nhiêu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rảnh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+ Allocation: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biết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đang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giữ</a:t>
            </a:r>
            <a:r>
              <a:rPr lang="en-US" altLang="en-US" dirty="0">
                <a:latin typeface="Times New Roman" panose="02020603050405020304" pitchFamily="18" charset="0"/>
              </a:rPr>
              <a:t> bao </a:t>
            </a:r>
            <a:r>
              <a:rPr lang="en-US" altLang="en-US" dirty="0" err="1">
                <a:latin typeface="Times New Roman" panose="02020603050405020304" pitchFamily="18" charset="0"/>
              </a:rPr>
              <a:t>nhiêu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+ Request: </a:t>
            </a:r>
            <a:r>
              <a:rPr lang="en-US" altLang="en-US" dirty="0" err="1">
                <a:latin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biết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cần</a:t>
            </a:r>
            <a:r>
              <a:rPr lang="en-US" altLang="en-US" dirty="0">
                <a:latin typeface="Times New Roman" panose="02020603050405020304" pitchFamily="18" charset="0"/>
              </a:rPr>
              <a:t> request bao </a:t>
            </a:r>
            <a:r>
              <a:rPr lang="en-US" altLang="en-US" dirty="0" err="1">
                <a:latin typeface="Times New Roman" panose="02020603050405020304" pitchFamily="18" charset="0"/>
              </a:rPr>
              <a:t>nhiêu</a:t>
            </a:r>
            <a:r>
              <a:rPr lang="en-US" altLang="en-US" dirty="0">
                <a:latin typeface="Times New Roman" panose="02020603050405020304" pitchFamily="18" charset="0"/>
              </a:rPr>
              <a:t> resource </a:t>
            </a:r>
            <a:r>
              <a:rPr lang="en-US" altLang="en-US" dirty="0" err="1">
                <a:latin typeface="Times New Roman" panose="02020603050405020304" pitchFamily="18" charset="0"/>
              </a:rPr>
              <a:t>nữa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tiếp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tục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67EEA1-7878-4FED-97B4-233B039BB3A8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Work = Available: Work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bản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sao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tạm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thời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còn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rảnh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1)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If</a:t>
            </a:r>
            <a:r>
              <a:rPr lang="vi-VN" altLang="en-US" dirty="0">
                <a:latin typeface="Times New Roman" panose="02020603050405020304" pitchFamily="18" charset="0"/>
              </a:rPr>
              <a:t> Allocation[i] ≠ 0</a:t>
            </a:r>
          </a:p>
          <a:p>
            <a:r>
              <a:rPr lang="vi-VN" altLang="en-US" dirty="0">
                <a:latin typeface="Times New Roman" panose="02020603050405020304" pitchFamily="18" charset="0"/>
              </a:rPr>
              <a:t>    Finish[i] = false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Else</a:t>
            </a:r>
            <a:endParaRPr lang="vi-VN" altLang="en-US" dirty="0">
              <a:latin typeface="Times New Roman" panose="02020603050405020304" pitchFamily="18" charset="0"/>
            </a:endParaRPr>
          </a:p>
          <a:p>
            <a:r>
              <a:rPr lang="vi-VN" altLang="en-US" dirty="0">
                <a:latin typeface="Times New Roman" panose="02020603050405020304" pitchFamily="18" charset="0"/>
              </a:rPr>
              <a:t>    Finish[i] = true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Finish[</a:t>
            </a:r>
            <a:r>
              <a:rPr lang="en-US" altLang="en-US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] = false: Process </a:t>
            </a:r>
            <a:r>
              <a:rPr lang="en-US" altLang="en-US" dirty="0" err="1">
                <a:latin typeface="Times New Roman" panose="02020603050405020304" pitchFamily="18" charset="0"/>
              </a:rPr>
              <a:t>đang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giữ</a:t>
            </a:r>
            <a:r>
              <a:rPr lang="en-US" altLang="en-US" dirty="0">
                <a:latin typeface="Times New Roman" panose="02020603050405020304" pitchFamily="18" charset="0"/>
              </a:rPr>
              <a:t> resource, </a:t>
            </a:r>
            <a:r>
              <a:rPr lang="en-US" altLang="en-US" dirty="0" err="1">
                <a:latin typeface="Times New Roman" panose="02020603050405020304" pitchFamily="18" charset="0"/>
              </a:rPr>
              <a:t>kiểm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xem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</a:rPr>
              <a:t> finish hay ko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Finish[</a:t>
            </a:r>
            <a:r>
              <a:rPr lang="en-US" altLang="en-US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] = true: Process ko </a:t>
            </a:r>
            <a:r>
              <a:rPr lang="en-US" altLang="en-US" dirty="0" err="1">
                <a:latin typeface="Times New Roman" panose="02020603050405020304" pitchFamily="18" charset="0"/>
              </a:rPr>
              <a:t>giữ</a:t>
            </a:r>
            <a:r>
              <a:rPr lang="en-US" altLang="en-US" dirty="0">
                <a:latin typeface="Times New Roman" panose="02020603050405020304" pitchFamily="18" charset="0"/>
              </a:rPr>
              <a:t> resource, ko </a:t>
            </a:r>
            <a:r>
              <a:rPr lang="en-US" altLang="en-US" dirty="0" err="1">
                <a:latin typeface="Times New Roman" panose="02020603050405020304" pitchFamily="18" charset="0"/>
              </a:rPr>
              <a:t>phải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nhân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gây</a:t>
            </a:r>
            <a:r>
              <a:rPr lang="en-US" altLang="en-US" dirty="0">
                <a:latin typeface="Times New Roman" panose="02020603050405020304" pitchFamily="18" charset="0"/>
              </a:rPr>
              <a:t> deadlock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2) </a:t>
            </a:r>
            <a:r>
              <a:rPr lang="en-US" altLang="en-US" dirty="0" err="1">
                <a:latin typeface="Times New Roman" panose="02020603050405020304" pitchFamily="18" charset="0"/>
              </a:rPr>
              <a:t>Tìm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thể</a:t>
            </a:r>
            <a:r>
              <a:rPr lang="en-US" altLang="en-US" dirty="0">
                <a:latin typeface="Times New Roman" panose="02020603050405020304" pitchFamily="18" charset="0"/>
              </a:rPr>
              <a:t> Finish ko </a:t>
            </a:r>
            <a:r>
              <a:rPr lang="en-US" altLang="en-US" dirty="0" err="1">
                <a:latin typeface="Times New Roman" panose="02020603050405020304" pitchFamily="18" charset="0"/>
              </a:rPr>
              <a:t>bị</a:t>
            </a:r>
            <a:r>
              <a:rPr lang="en-US" altLang="en-US" dirty="0">
                <a:latin typeface="Times New Roman" panose="02020603050405020304" pitchFamily="18" charset="0"/>
              </a:rPr>
              <a:t> deadlock</a:t>
            </a:r>
          </a:p>
          <a:p>
            <a:r>
              <a:rPr lang="en-US" altLang="en-US" dirty="0" err="1">
                <a:latin typeface="Times New Roman" panose="02020603050405020304" pitchFamily="18" charset="0"/>
              </a:rPr>
              <a:t>Đủ</a:t>
            </a:r>
            <a:r>
              <a:rPr lang="en-US" altLang="en-US" dirty="0">
                <a:latin typeface="Times New Roman" panose="02020603050405020304" pitchFamily="18" charset="0"/>
              </a:rPr>
              <a:t> 2 </a:t>
            </a:r>
            <a:r>
              <a:rPr lang="en-US" altLang="en-US" dirty="0" err="1">
                <a:latin typeface="Times New Roman" panose="02020603050405020304" pitchFamily="18" charset="0"/>
              </a:rPr>
              <a:t>điều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kiện</a:t>
            </a:r>
            <a:r>
              <a:rPr lang="en-US" altLang="en-US" dirty="0">
                <a:latin typeface="Times New Roman" panose="02020603050405020304" pitchFamily="18" charset="0"/>
              </a:rPr>
              <a:t>: finish[] = false  (</a:t>
            </a:r>
            <a:r>
              <a:rPr lang="en-US" altLang="en-US" dirty="0" err="1">
                <a:latin typeface="Times New Roman" panose="02020603050405020304" pitchFamily="18" charset="0"/>
              </a:rPr>
              <a:t>chưa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xác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định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đã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hoàn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thành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 request &lt;= work  (</a:t>
            </a:r>
            <a:r>
              <a:rPr lang="en-US" altLang="en-US" dirty="0" err="1">
                <a:latin typeface="Times New Roman" panose="02020603050405020304" pitchFamily="18" charset="0"/>
              </a:rPr>
              <a:t>số</a:t>
            </a:r>
            <a:r>
              <a:rPr lang="en-US" altLang="en-US" dirty="0">
                <a:latin typeface="Times New Roman" panose="02020603050405020304" pitchFamily="18" charset="0"/>
              </a:rPr>
              <a:t> resource </a:t>
            </a:r>
            <a:r>
              <a:rPr lang="en-US" altLang="en-US" dirty="0" err="1">
                <a:latin typeface="Times New Roman" panose="02020603050405020304" pitchFamily="18" charset="0"/>
              </a:rPr>
              <a:t>yêu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cầu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không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vượt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quá</a:t>
            </a:r>
            <a:r>
              <a:rPr lang="en-US" altLang="en-US" dirty="0">
                <a:latin typeface="Times New Roman" panose="02020603050405020304" pitchFamily="18" charset="0"/>
              </a:rPr>
              <a:t> resource </a:t>
            </a:r>
            <a:r>
              <a:rPr lang="en-US" altLang="en-US" dirty="0" err="1">
                <a:latin typeface="Times New Roman" panose="02020603050405020304" pitchFamily="18" charset="0"/>
              </a:rPr>
              <a:t>sẵn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)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B537265-9A4F-438A-B584-0339903372A6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FF0066"/>
                </a:solidFill>
                <a:sym typeface="Symbol" panose="05050102010706020507" pitchFamily="18" charset="2"/>
              </a:rPr>
              <a:t>Algorithm requires an order of O(</a:t>
            </a:r>
            <a:r>
              <a:rPr kumimoji="0" lang="en-US" altLang="en-US" b="1" i="1" dirty="0">
                <a:solidFill>
                  <a:srgbClr val="FF0066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en-US" b="1" dirty="0">
                <a:solidFill>
                  <a:srgbClr val="FF0066"/>
                </a:solidFill>
                <a:sym typeface="Symbol" panose="05050102010706020507" pitchFamily="18" charset="2"/>
              </a:rPr>
              <a:t>x</a:t>
            </a:r>
            <a:r>
              <a:rPr kumimoji="0" lang="en-US" altLang="en-US" b="1" i="1" dirty="0">
                <a:solidFill>
                  <a:srgbClr val="FF0066"/>
                </a:solidFill>
                <a:sym typeface="Symbol" panose="05050102010706020507" pitchFamily="18" charset="2"/>
              </a:rPr>
              <a:t> n</a:t>
            </a:r>
            <a:r>
              <a:rPr kumimoji="0" lang="en-US" altLang="en-US" b="1" baseline="30000" dirty="0">
                <a:solidFill>
                  <a:srgbClr val="FF0066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en-US" b="1" dirty="0">
                <a:solidFill>
                  <a:srgbClr val="FF0066"/>
                </a:solidFill>
                <a:sym typeface="Symbol" panose="05050102010706020507" pitchFamily="18" charset="2"/>
              </a:rPr>
              <a:t>) operations to detect whether the system is in deadlocked state</a:t>
            </a:r>
            <a:endParaRPr kumimoji="0" lang="en-US" altLang="en-US" dirty="0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en-US" dirty="0">
              <a:solidFill>
                <a:srgbClr val="FF0066"/>
              </a:solidFill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3) Khi </a:t>
            </a:r>
            <a:r>
              <a:rPr lang="en-US" altLang="en-US" dirty="0" err="1">
                <a:latin typeface="Times New Roman" panose="02020603050405020304" pitchFamily="18" charset="0"/>
              </a:rPr>
              <a:t>đạt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điều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kiện</a:t>
            </a:r>
            <a:r>
              <a:rPr lang="en-US" altLang="en-US" dirty="0">
                <a:latin typeface="Times New Roman" panose="02020603050405020304" pitchFamily="18" charset="0"/>
              </a:rPr>
              <a:t> ở step 2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Process </a:t>
            </a:r>
            <a:r>
              <a:rPr lang="en-US" altLang="en-US" dirty="0" err="1">
                <a:latin typeface="Times New Roman" panose="02020603050405020304" pitchFamily="18" charset="0"/>
              </a:rPr>
              <a:t>trả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nguyên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nên</a:t>
            </a:r>
            <a:r>
              <a:rPr lang="en-US" altLang="en-US" dirty="0">
                <a:latin typeface="Times New Roman" panose="02020603050405020304" pitchFamily="18" charset="0"/>
              </a:rPr>
              <a:t> =&gt; Work = Work + Allocation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Finish=True </a:t>
            </a:r>
            <a:r>
              <a:rPr lang="en-US" altLang="en-US" dirty="0" err="1">
                <a:latin typeface="Times New Roman" panose="02020603050405020304" pitchFamily="18" charset="0"/>
              </a:rPr>
              <a:t>nghĩa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hoàn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thành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</a:rPr>
              <a:t> ko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deadlock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Go to step 2: </a:t>
            </a:r>
            <a:r>
              <a:rPr lang="en-US" altLang="en-US" dirty="0" err="1">
                <a:latin typeface="Times New Roman" panose="02020603050405020304" pitchFamily="18" charset="0"/>
              </a:rPr>
              <a:t>tiếp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tục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kiểm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tra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khác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4) </a:t>
            </a:r>
            <a:r>
              <a:rPr lang="en-US" altLang="en-US" dirty="0" err="1">
                <a:latin typeface="Times New Roman" panose="02020603050405020304" pitchFamily="18" charset="0"/>
              </a:rPr>
              <a:t>vẫn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còn</a:t>
            </a:r>
            <a:r>
              <a:rPr lang="en-US" altLang="en-US" dirty="0">
                <a:latin typeface="Times New Roman" panose="02020603050405020304" pitchFamily="18" charset="0"/>
              </a:rPr>
              <a:t> Finish = false =&gt; </a:t>
            </a:r>
            <a:r>
              <a:rPr lang="en-US" altLang="en-US" dirty="0" err="1">
                <a:latin typeface="Times New Roman" panose="02020603050405020304" pitchFamily="18" charset="0"/>
              </a:rPr>
              <a:t>những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đó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bị</a:t>
            </a:r>
            <a:r>
              <a:rPr lang="en-US" altLang="en-US" dirty="0">
                <a:latin typeface="Times New Roman" panose="02020603050405020304" pitchFamily="18" charset="0"/>
              </a:rPr>
              <a:t> deadlock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B36609B-09FC-433B-A38A-C841BBEFCA4F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</a:rPr>
              <a:t>Cách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làm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giống</a:t>
            </a:r>
            <a:r>
              <a:rPr lang="en-US" altLang="en-US" dirty="0">
                <a:latin typeface="Times New Roman" panose="02020603050405020304" pitchFamily="18" charset="0"/>
              </a:rPr>
              <a:t> Banker </a:t>
            </a:r>
            <a:r>
              <a:rPr lang="en-US" altLang="en-US" dirty="0" err="1">
                <a:latin typeface="Times New Roman" panose="02020603050405020304" pitchFamily="18" charset="0"/>
              </a:rPr>
              <a:t>nma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điều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kiện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tìm</a:t>
            </a:r>
            <a:r>
              <a:rPr lang="en-US" altLang="en-US" dirty="0">
                <a:latin typeface="Times New Roman" panose="02020603050405020304" pitchFamily="18" charset="0"/>
              </a:rPr>
              <a:t> Process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 dirty="0">
                <a:latin typeface="Times New Roman" panose="02020603050405020304" pitchFamily="18" charset="0"/>
              </a:rPr>
              <a:t> Request[</a:t>
            </a:r>
            <a:r>
              <a:rPr lang="en-US" altLang="en-US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] &lt;= Work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P0: Request[0,0,0] &lt;= Work[0,0,0]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Work =Work + Allocation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= [0,0,0] + [0,1,0] = [0,1,0]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P2: Request[0,0,0] &lt;= Work[0,1,0]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Work = Work + Allocation = 0,1,0 + 3,0,3 = 3,1,3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P3: Request[1,0,0] &lt;= Work[3,1,3]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Work = 3,1,3 + 2,1,1 = 5,2,4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P4 hay P1 </a:t>
            </a:r>
            <a:r>
              <a:rPr lang="en-US" altLang="en-US" dirty="0" err="1">
                <a:latin typeface="Times New Roman" panose="02020603050405020304" pitchFamily="18" charset="0"/>
              </a:rPr>
              <a:t>cũng</a:t>
            </a:r>
            <a:r>
              <a:rPr lang="en-US" altLang="en-US" dirty="0">
                <a:latin typeface="Times New Roman" panose="02020603050405020304" pitchFamily="18" charset="0"/>
              </a:rPr>
              <a:t> dc:</a:t>
            </a:r>
          </a:p>
          <a:p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P4: Request[0,0,2] &lt;= Work[5,2,4]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Work = 5,2,4 + 0,0,2 = 5,2,6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P1: Request[2,0,2] &lt;= Work[5,2,6]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Work = 5,2,6 + 2,0,0 = 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Safe sequence:</a:t>
            </a:r>
          </a:p>
          <a:p>
            <a:r>
              <a:rPr lang="nn-NO" altLang="en-US" dirty="0">
                <a:latin typeface="Times New Roman" panose="02020603050405020304" pitchFamily="18" charset="0"/>
              </a:rPr>
              <a:t>&lt;P0, P2, P3, P4, P1&gt;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58F4C3-9542-4868-B1A4-A76E91E2043C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</a:rPr>
              <a:t>Bài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này</a:t>
            </a:r>
            <a:r>
              <a:rPr lang="en-US" altLang="en-US" dirty="0">
                <a:latin typeface="Times New Roman" panose="02020603050405020304" pitchFamily="18" charset="0"/>
              </a:rPr>
              <a:t> P2 </a:t>
            </a:r>
            <a:r>
              <a:rPr lang="en-US" altLang="en-US" dirty="0" err="1">
                <a:latin typeface="Times New Roman" panose="02020603050405020304" pitchFamily="18" charset="0"/>
              </a:rPr>
              <a:t>thêm</a:t>
            </a:r>
            <a:r>
              <a:rPr lang="en-US" altLang="en-US" dirty="0">
                <a:latin typeface="Times New Roman" panose="02020603050405020304" pitchFamily="18" charset="0"/>
              </a:rPr>
              <a:t> 1 instance ở C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P0: Request[0,0,0] &lt;= Work[0,0,0]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Work = 0,0,0 + 0,1,0 = 0,1,0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Finished[P0] = true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</a:rPr>
              <a:t>Ko </a:t>
            </a: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dc P1 Request[2,0,2] !&lt;= Work[0,1,0]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Ko </a:t>
            </a: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dc P2 Request[0,0,1] !&lt;= Work[0,1,0]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Ko </a:t>
            </a: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dc P3 Request[1,0,0] !&lt;= Work[0,1,0]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Ko </a:t>
            </a:r>
            <a:r>
              <a:rPr lang="en-US" altLang="en-US" dirty="0" err="1">
                <a:latin typeface="Times New Roman" panose="02020603050405020304" pitchFamily="18" charset="0"/>
              </a:rPr>
              <a:t>chọn</a:t>
            </a:r>
            <a:r>
              <a:rPr lang="en-US" altLang="en-US" dirty="0">
                <a:latin typeface="Times New Roman" panose="02020603050405020304" pitchFamily="18" charset="0"/>
              </a:rPr>
              <a:t> dc P4 Request[0,0,2] !&lt;= Work[0,1,0]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=&gt; </a:t>
            </a:r>
            <a:r>
              <a:rPr lang="en-US" altLang="en-US" dirty="0" err="1">
                <a:latin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thống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</a:rPr>
              <a:t> deadlock </a:t>
            </a:r>
            <a:r>
              <a:rPr lang="en-US" altLang="en-US" dirty="0" err="1">
                <a:latin typeface="Times New Roman" panose="02020603050405020304" pitchFamily="18" charset="0"/>
              </a:rPr>
              <a:t>là</a:t>
            </a:r>
            <a:r>
              <a:rPr lang="en-US" altLang="en-US">
                <a:latin typeface="Times New Roman" panose="02020603050405020304" pitchFamily="18" charset="0"/>
              </a:rPr>
              <a:t> P1 P2 P3 P4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9BF62B-6D1A-45D9-8A26-192356B0B1F0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526358-3404-4BC7-97B7-5A9BDA4891B4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62401E-7E17-4360-BA38-238514B7C895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hlinkClick r:id="rId3"/>
              </a:rPr>
              <a:t>https://www.youtube.com/watch?v=KBFrWu_gejE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BBA1B91-A258-4FAC-94A1-E9BA856A7913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3946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274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5216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164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6983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4879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35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766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3550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1296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5224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7.</a:t>
            </a:r>
            <a:fld id="{EDC6320B-6814-4799-A204-6ED71BD015C2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683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7:  Deadlocks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06450" y="150813"/>
            <a:ext cx="7880350" cy="576262"/>
          </a:xfrm>
        </p:spPr>
        <p:txBody>
          <a:bodyPr/>
          <a:lstStyle/>
          <a:p>
            <a:pPr eaLnBrk="1" hangingPunct="1"/>
            <a:r>
              <a:rPr lang="en-US" altLang="en-US"/>
              <a:t>Chapter 7:  Deadlocks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131888"/>
            <a:ext cx="7588250" cy="4530725"/>
          </a:xfrm>
        </p:spPr>
        <p:txBody>
          <a:bodyPr/>
          <a:lstStyle/>
          <a:p>
            <a:pPr>
              <a:buSzPct val="85000"/>
            </a:pPr>
            <a:r>
              <a:rPr lang="en-US" altLang="en-US" dirty="0"/>
              <a:t>System Model</a:t>
            </a:r>
          </a:p>
          <a:p>
            <a:pPr>
              <a:buSzPct val="85000"/>
            </a:pPr>
            <a:r>
              <a:rPr lang="en-US" altLang="en-US" dirty="0"/>
              <a:t>Deadlock Characterization</a:t>
            </a:r>
          </a:p>
          <a:p>
            <a:pPr>
              <a:buSzPct val="85000"/>
            </a:pPr>
            <a:r>
              <a:rPr lang="en-US" altLang="en-US" dirty="0"/>
              <a:t>Methods for Handling Deadlocks</a:t>
            </a:r>
          </a:p>
          <a:p>
            <a:r>
              <a:rPr lang="en-US" altLang="en-US" dirty="0"/>
              <a:t>Deadlock Prevention</a:t>
            </a:r>
          </a:p>
          <a:p>
            <a:pPr>
              <a:buSzPct val="85000"/>
            </a:pPr>
            <a:r>
              <a:rPr lang="en-US" altLang="en-US" dirty="0"/>
              <a:t>Deadlock Avoidance</a:t>
            </a:r>
          </a:p>
          <a:p>
            <a:pPr>
              <a:buSzPct val="85000"/>
            </a:pPr>
            <a:r>
              <a:rPr lang="en-US" altLang="en-US" dirty="0"/>
              <a:t>Deadlock Detection </a:t>
            </a:r>
          </a:p>
          <a:p>
            <a:pPr>
              <a:buSzPct val="85000"/>
            </a:pPr>
            <a:r>
              <a:rPr lang="en-US" altLang="en-US" dirty="0"/>
              <a:t>Recovery from Deadlock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35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Chapter Objectives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233488"/>
            <a:ext cx="5962650" cy="4500562"/>
          </a:xfrm>
        </p:spPr>
        <p:txBody>
          <a:bodyPr/>
          <a:lstStyle/>
          <a:p>
            <a:r>
              <a:rPr lang="en-US" altLang="en-US"/>
              <a:t>To develop a description of deadlocks, which prevent sets of concurrent processes from completing their tasks</a:t>
            </a:r>
          </a:p>
          <a:p>
            <a:r>
              <a:rPr lang="en-US" altLang="en-US"/>
              <a:t>To present a number of different methods for preventing or avoiding deadlocks in a computer system</a:t>
            </a:r>
          </a:p>
          <a:p>
            <a:pPr>
              <a:buSzPct val="85000"/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Model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388" y="1158875"/>
            <a:ext cx="7351712" cy="4483100"/>
          </a:xfrm>
        </p:spPr>
        <p:txBody>
          <a:bodyPr/>
          <a:lstStyle/>
          <a:p>
            <a:r>
              <a:rPr lang="en-US" altLang="en-US"/>
              <a:t>System consists of resources</a:t>
            </a:r>
          </a:p>
          <a:p>
            <a:r>
              <a:rPr lang="en-US" altLang="en-US"/>
              <a:t>Resource types </a:t>
            </a:r>
            <a:r>
              <a:rPr lang="en-US" altLang="en-US" i="1"/>
              <a:t>R</a:t>
            </a:r>
            <a:r>
              <a:rPr lang="en-US" altLang="en-US" baseline="-25000"/>
              <a:t>1</a:t>
            </a:r>
            <a:r>
              <a:rPr lang="en-US" altLang="en-US"/>
              <a:t>,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, . . ., </a:t>
            </a:r>
            <a:r>
              <a:rPr lang="en-US" altLang="en-US" i="1"/>
              <a:t>R</a:t>
            </a:r>
            <a:r>
              <a:rPr lang="en-US" altLang="en-US" baseline="-25000"/>
              <a:t>m</a:t>
            </a:r>
          </a:p>
          <a:p>
            <a:pPr lvl="2">
              <a:buFont typeface="Webdings" panose="05030102010509060703" pitchFamily="18" charset="2"/>
              <a:buNone/>
            </a:pPr>
            <a:r>
              <a:rPr lang="en-US" altLang="en-US" i="1"/>
              <a:t>CPU cycles, memory space, I/O devices</a:t>
            </a:r>
          </a:p>
          <a:p>
            <a:r>
              <a:rPr lang="en-US" altLang="en-US"/>
              <a:t>Each resource type </a:t>
            </a:r>
            <a:r>
              <a:rPr lang="en-US" altLang="en-US" i="1"/>
              <a:t>R</a:t>
            </a:r>
            <a:r>
              <a:rPr lang="en-US" altLang="en-US" baseline="-25000"/>
              <a:t>i</a:t>
            </a:r>
            <a:r>
              <a:rPr lang="en-US" altLang="en-US"/>
              <a:t> has </a:t>
            </a:r>
            <a:r>
              <a:rPr lang="en-US" altLang="en-US" i="1"/>
              <a:t>W</a:t>
            </a:r>
            <a:r>
              <a:rPr lang="en-US" altLang="en-US" baseline="-25000"/>
              <a:t>i</a:t>
            </a:r>
            <a:r>
              <a:rPr lang="en-US" altLang="en-US"/>
              <a:t> instances.</a:t>
            </a:r>
          </a:p>
          <a:p>
            <a:r>
              <a:rPr lang="en-US" altLang="en-US"/>
              <a:t>Each process utilizes a resource as follows:</a:t>
            </a:r>
          </a:p>
          <a:p>
            <a:pPr lvl="1"/>
            <a:r>
              <a:rPr lang="en-US" altLang="en-US" b="1"/>
              <a:t>request </a:t>
            </a:r>
          </a:p>
          <a:p>
            <a:pPr lvl="1"/>
            <a:r>
              <a:rPr lang="en-US" altLang="en-US" b="1"/>
              <a:t>use </a:t>
            </a:r>
          </a:p>
          <a:p>
            <a:pPr lvl="1"/>
            <a:r>
              <a:rPr lang="en-US" altLang="en-US" b="1"/>
              <a:t>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182563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/>
              <a:t>Deadlock Characterization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5088" y="1541463"/>
            <a:ext cx="6691312" cy="4668837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process at a time can use a resource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Hold and wait</a:t>
            </a:r>
            <a:r>
              <a:rPr lang="en-US" altLang="en-US" b="1" dirty="0"/>
              <a:t>:</a:t>
            </a:r>
            <a:r>
              <a:rPr lang="en-US" altLang="en-US" dirty="0"/>
              <a:t>  a process holding at least one resource is waiting to acquire additional resources held by other processes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No preemption</a:t>
            </a:r>
            <a:r>
              <a:rPr lang="en-US" altLang="en-US" b="1" dirty="0"/>
              <a:t>:</a:t>
            </a:r>
            <a:r>
              <a:rPr lang="en-US" altLang="en-US" dirty="0"/>
              <a:t>  a resource can be released only voluntarily by the process holding it, after that process has completed its task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Circular wait</a:t>
            </a:r>
            <a:r>
              <a:rPr lang="en-US" altLang="en-US" b="1" dirty="0"/>
              <a:t>:</a:t>
            </a:r>
            <a:r>
              <a:rPr lang="en-US" altLang="en-US" dirty="0"/>
              <a:t>  there exists a set {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} of waiting processes such that </a:t>
            </a:r>
            <a:r>
              <a:rPr lang="en-US" altLang="en-US" i="1" dirty="0"/>
              <a:t>P</a:t>
            </a:r>
            <a:r>
              <a:rPr lang="en-US" altLang="en-US" baseline="-25000" dirty="0"/>
              <a:t>0 </a:t>
            </a:r>
            <a:r>
              <a:rPr lang="en-US" altLang="en-US" dirty="0"/>
              <a:t>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baseline="-25000" dirty="0"/>
              <a:t>–1</a:t>
            </a:r>
            <a:r>
              <a:rPr lang="en-US" altLang="en-US" dirty="0"/>
              <a:t> is waiting for a resource that is held by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, and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.</a:t>
            </a:r>
          </a:p>
          <a:p>
            <a:endParaRPr lang="en-US" altLang="en-US" dirty="0"/>
          </a:p>
        </p:txBody>
      </p: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825500" y="1049338"/>
            <a:ext cx="6353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Deadlock can arise if four conditions hold simultaneously.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182563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/>
              <a:t>Deadlock with Mutex Locks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4550" y="1141413"/>
            <a:ext cx="7742238" cy="733107"/>
          </a:xfrm>
        </p:spPr>
        <p:txBody>
          <a:bodyPr/>
          <a:lstStyle/>
          <a:p>
            <a:r>
              <a:rPr lang="en-US" altLang="en-US" dirty="0"/>
              <a:t>Deadlocks can occur via system calls, locking, etc.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AutoShape 2" descr="Deadlock Avoidance in OS - Scaler Topics">
            <a:extLst>
              <a:ext uri="{FF2B5EF4-FFF2-40B4-BE49-F238E27FC236}">
                <a16:creationId xmlns:a16="http://schemas.microsoft.com/office/drawing/2014/main" id="{7DE390D6-1A65-1587-9934-D0BFE4CE44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Deadlock Avoidance in OS - Scaler Topics">
            <a:extLst>
              <a:ext uri="{FF2B5EF4-FFF2-40B4-BE49-F238E27FC236}">
                <a16:creationId xmlns:a16="http://schemas.microsoft.com/office/drawing/2014/main" id="{6F0E52D3-F065-C158-665B-45E68788B1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2240280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5AB782-8F14-5964-8747-C04F3309C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301" y="1855815"/>
            <a:ext cx="5908732" cy="433823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/>
              <a:t>Resource-Allocation Graph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4275" y="1557338"/>
            <a:ext cx="6808788" cy="4019550"/>
          </a:xfrm>
        </p:spPr>
        <p:txBody>
          <a:bodyPr/>
          <a:lstStyle/>
          <a:p>
            <a:r>
              <a:rPr lang="en-US" altLang="en-US" dirty="0"/>
              <a:t>V is partitioned into two types: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dirty="0"/>
              <a:t> = {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}, the set consisting of all the processes in the system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i="1" dirty="0"/>
              <a:t>R</a:t>
            </a:r>
            <a:r>
              <a:rPr lang="en-US" altLang="en-US" dirty="0"/>
              <a:t> = {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m</a:t>
            </a:r>
            <a:r>
              <a:rPr lang="en-US" altLang="en-US" dirty="0"/>
              <a:t>}, the set consisting of all resource types in the system</a:t>
            </a:r>
          </a:p>
          <a:p>
            <a:pPr lvl="1"/>
            <a:endParaRPr lang="en-US" altLang="en-US" sz="9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request edge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directed edge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i="1" baseline="-25000" dirty="0">
              <a:sym typeface="Symbol" panose="05050102010706020507" pitchFamily="18" charset="2"/>
            </a:endParaRPr>
          </a:p>
          <a:p>
            <a:endParaRPr lang="en-US" altLang="en-US" sz="800" i="1" baseline="-25000" dirty="0">
              <a:sym typeface="Symbol" panose="05050102010706020507" pitchFamily="18" charset="2"/>
            </a:endParaRPr>
          </a:p>
          <a:p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assignment edge</a:t>
            </a:r>
            <a:r>
              <a:rPr lang="en-US" altLang="en-US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822325" y="1035050"/>
            <a:ext cx="469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/>
              <a:t>A set of vertices </a:t>
            </a:r>
            <a:r>
              <a:rPr kumimoji="0" lang="en-US" altLang="en-US" sz="2000" i="1"/>
              <a:t>V</a:t>
            </a:r>
            <a:r>
              <a:rPr kumimoji="0" lang="en-US" altLang="en-US" sz="2000"/>
              <a:t> and a set of edges </a:t>
            </a:r>
            <a:r>
              <a:rPr kumimoji="0" lang="en-US" altLang="en-US" sz="2000" i="1"/>
              <a:t>E</a:t>
            </a:r>
            <a:r>
              <a:rPr kumimoji="0" lang="en-US" altLang="en-US" sz="200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713" y="18256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/>
              <a:t>Resource-Allocation Graph (Cont.)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138238"/>
            <a:ext cx="7343775" cy="4530725"/>
          </a:xfrm>
        </p:spPr>
        <p:txBody>
          <a:bodyPr/>
          <a:lstStyle/>
          <a:p>
            <a:r>
              <a:rPr lang="en-US" altLang="en-US" dirty="0"/>
              <a:t>Process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Resource Type with 4 instances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  <a:p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requests instance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holding an instance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dirty="0"/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4143375" y="1493838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>
              <a:latin typeface="Verdana" panose="020B0604030504040204" pitchFamily="34" charset="0"/>
            </a:endParaRPr>
          </a:p>
        </p:txBody>
      </p:sp>
      <p:sp>
        <p:nvSpPr>
          <p:cNvPr id="19461" name="Oval 5"/>
          <p:cNvSpPr>
            <a:spLocks noChangeArrowheads="1"/>
          </p:cNvSpPr>
          <p:nvPr/>
        </p:nvSpPr>
        <p:spPr bwMode="auto">
          <a:xfrm>
            <a:off x="3876675" y="5316538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i="1"/>
              <a:t>P</a:t>
            </a:r>
            <a:r>
              <a:rPr kumimoji="0" lang="en-US" altLang="en-US" i="1" baseline="-25000"/>
              <a:t>i</a:t>
            </a:r>
            <a:endParaRPr kumimoji="0" lang="en-US" altLang="en-US"/>
          </a:p>
        </p:txBody>
      </p:sp>
      <p:sp>
        <p:nvSpPr>
          <p:cNvPr id="19462" name="Oval 6"/>
          <p:cNvSpPr>
            <a:spLocks noChangeArrowheads="1"/>
          </p:cNvSpPr>
          <p:nvPr/>
        </p:nvSpPr>
        <p:spPr bwMode="auto">
          <a:xfrm>
            <a:off x="3860800" y="3914775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i="1"/>
              <a:t>P</a:t>
            </a:r>
            <a:r>
              <a:rPr kumimoji="0" lang="en-US" altLang="en-US" i="1" baseline="-25000"/>
              <a:t>i</a:t>
            </a:r>
            <a:endParaRPr kumimoji="0" lang="en-US" altLang="en-US" i="1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232275" y="2862263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64" name="Rectangle 7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5" name="Rectangle 8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6" name="Rectangle 9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7" name="Rectangle 10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8" name="Rectangle 11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692650" y="3978275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59" name="Rectangle 14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0" name="Rectangle 15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1" name="Rectangle 16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2" name="Rectangle 17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3" name="Rectangle 18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9465" name="Line 19"/>
          <p:cNvSpPr>
            <a:spLocks noChangeShapeType="1"/>
          </p:cNvSpPr>
          <p:nvPr/>
        </p:nvSpPr>
        <p:spPr bwMode="auto">
          <a:xfrm>
            <a:off x="4365625" y="418147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Text Box 20"/>
          <p:cNvSpPr txBox="1">
            <a:spLocks noChangeArrowheads="1"/>
          </p:cNvSpPr>
          <p:nvPr/>
        </p:nvSpPr>
        <p:spPr bwMode="auto">
          <a:xfrm>
            <a:off x="4752975" y="4395788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400" i="1"/>
              <a:t>R</a:t>
            </a:r>
            <a:r>
              <a:rPr kumimoji="0" lang="en-US" altLang="en-US" sz="1400" i="1" baseline="-25000"/>
              <a:t>j</a:t>
            </a:r>
            <a:endParaRPr kumimoji="0" lang="en-US" altLang="en-US" sz="1400" i="1"/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4670425" y="5380038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54" name="Rectangle 22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55" name="Rectangle 23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56" name="Rectangle 24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57" name="Rectangle 25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58" name="Rectangle 26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9468" name="Line 27"/>
          <p:cNvSpPr>
            <a:spLocks noChangeShapeType="1"/>
          </p:cNvSpPr>
          <p:nvPr/>
        </p:nvSpPr>
        <p:spPr bwMode="auto">
          <a:xfrm flipH="1">
            <a:off x="4343400" y="5526088"/>
            <a:ext cx="476250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Text Box 28"/>
          <p:cNvSpPr txBox="1">
            <a:spLocks noChangeArrowheads="1"/>
          </p:cNvSpPr>
          <p:nvPr/>
        </p:nvSpPr>
        <p:spPr bwMode="auto">
          <a:xfrm>
            <a:off x="4721225" y="5768975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400" i="1"/>
              <a:t>R</a:t>
            </a:r>
            <a:r>
              <a:rPr kumimoji="0" lang="en-US" altLang="en-US" sz="1400" i="1" baseline="-25000"/>
              <a:t>j</a:t>
            </a:r>
            <a:endParaRPr kumimoji="0" lang="en-US" altLang="en-US" sz="1400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76325" y="207963"/>
            <a:ext cx="8150225" cy="512762"/>
          </a:xfrm>
        </p:spPr>
        <p:txBody>
          <a:bodyPr/>
          <a:lstStyle/>
          <a:p>
            <a:pPr eaLnBrk="1" hangingPunct="1"/>
            <a:r>
              <a:rPr lang="en-US" altLang="en-US" sz="2800"/>
              <a:t>Example of a Resource Allocation Graph</a:t>
            </a:r>
          </a:p>
        </p:txBody>
      </p:sp>
      <p:pic>
        <p:nvPicPr>
          <p:cNvPr id="21507" name="Picture 10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2941638" y="1316038"/>
            <a:ext cx="2741612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33463" y="273050"/>
            <a:ext cx="8378825" cy="469900"/>
          </a:xfrm>
        </p:spPr>
        <p:txBody>
          <a:bodyPr/>
          <a:lstStyle/>
          <a:p>
            <a:pPr eaLnBrk="1" hangingPunct="1"/>
            <a:r>
              <a:rPr lang="en-US" altLang="en-US" sz="2800"/>
              <a:t>Resource Allocation Graph With A Deadlock</a:t>
            </a:r>
          </a:p>
        </p:txBody>
      </p:sp>
      <p:pic>
        <p:nvPicPr>
          <p:cNvPr id="235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075" y="1212850"/>
            <a:ext cx="278130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41425" y="304800"/>
            <a:ext cx="7954963" cy="457200"/>
          </a:xfrm>
        </p:spPr>
        <p:txBody>
          <a:bodyPr/>
          <a:lstStyle/>
          <a:p>
            <a:pPr eaLnBrk="1" hangingPunct="1"/>
            <a:r>
              <a:rPr lang="en-US" altLang="en-US"/>
              <a:t>Graph With A Cycle But No Deadlock</a:t>
            </a:r>
          </a:p>
        </p:txBody>
      </p:sp>
      <p:pic>
        <p:nvPicPr>
          <p:cNvPr id="25603" name="Picture 4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5" y="1208088"/>
            <a:ext cx="2952750" cy="376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Basic Facts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5188" y="1217613"/>
            <a:ext cx="6284912" cy="4400550"/>
          </a:xfrm>
        </p:spPr>
        <p:txBody>
          <a:bodyPr/>
          <a:lstStyle/>
          <a:p>
            <a:r>
              <a:rPr lang="en-US" altLang="en-US"/>
              <a:t>If graph contains no cycles </a:t>
            </a:r>
            <a:r>
              <a:rPr lang="en-US" altLang="en-US">
                <a:sym typeface="Symbol" panose="05050102010706020507" pitchFamily="18" charset="2"/>
              </a:rPr>
              <a:t> no deadlock</a:t>
            </a:r>
          </a:p>
          <a:p>
            <a:r>
              <a:rPr lang="en-US" altLang="en-US">
                <a:sym typeface="Symbol" panose="05050102010706020507" pitchFamily="18" charset="2"/>
              </a:rPr>
              <a:t>If graph contains a cycle 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if only one instance per resource type, then deadlock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if several instances per resource type, possibility of deadlock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09663" y="214313"/>
            <a:ext cx="7577137" cy="576262"/>
          </a:xfrm>
        </p:spPr>
        <p:txBody>
          <a:bodyPr/>
          <a:lstStyle/>
          <a:p>
            <a:pPr eaLnBrk="1" hangingPunct="1"/>
            <a:r>
              <a:rPr lang="en-US" altLang="en-US"/>
              <a:t>Methods for Handling Deadlocks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98563"/>
            <a:ext cx="6153150" cy="3295650"/>
          </a:xfrm>
        </p:spPr>
        <p:txBody>
          <a:bodyPr/>
          <a:lstStyle/>
          <a:p>
            <a:r>
              <a:rPr lang="en-US" altLang="en-US" dirty="0"/>
              <a:t>Ensure that the system will </a:t>
            </a:r>
            <a:r>
              <a:rPr lang="en-US" altLang="en-US" b="1" i="1" dirty="0">
                <a:solidFill>
                  <a:srgbClr val="FF0066"/>
                </a:solidFill>
              </a:rPr>
              <a:t>never</a:t>
            </a:r>
            <a:r>
              <a:rPr lang="en-US" altLang="en-US" dirty="0"/>
              <a:t> enter a deadlock state:</a:t>
            </a:r>
          </a:p>
          <a:p>
            <a:pPr lvl="1"/>
            <a:r>
              <a:rPr lang="en-US" altLang="en-US" dirty="0"/>
              <a:t>Deadlock prevention</a:t>
            </a:r>
          </a:p>
          <a:p>
            <a:pPr lvl="1"/>
            <a:r>
              <a:rPr lang="en-US" altLang="en-US" dirty="0"/>
              <a:t>Deadlock </a:t>
            </a:r>
            <a:r>
              <a:rPr lang="en-US" altLang="en-US" dirty="0" err="1"/>
              <a:t>avoidence</a:t>
            </a:r>
            <a:endParaRPr lang="en-US" altLang="en-US" dirty="0"/>
          </a:p>
          <a:p>
            <a:r>
              <a:rPr lang="en-US" altLang="en-US" dirty="0"/>
              <a:t>Allow the system to enter a deadlock state and then recover</a:t>
            </a:r>
          </a:p>
          <a:p>
            <a:r>
              <a:rPr lang="en-US" altLang="en-US" dirty="0"/>
              <a:t>Ignore the problem and pretend that deadlocks never occur in the system; used by most operating systems, including UNIX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85825" y="198438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/>
              <a:t>Deadlock Prevention</a:t>
            </a:r>
          </a:p>
        </p:txBody>
      </p:sp>
      <p:sp>
        <p:nvSpPr>
          <p:cNvPr id="317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310481" y="1717300"/>
            <a:ext cx="6523037" cy="3822700"/>
          </a:xfrm>
        </p:spPr>
        <p:txBody>
          <a:bodyPr/>
          <a:lstStyle/>
          <a:p>
            <a:r>
              <a:rPr lang="en-US" altLang="en-US" b="1" dirty="0"/>
              <a:t>Mutual Exclusion</a:t>
            </a:r>
            <a:r>
              <a:rPr lang="en-US" altLang="en-US" dirty="0"/>
              <a:t> – not required for sharable resources (e.g., read-only files); must hold for non-sharable resources</a:t>
            </a:r>
          </a:p>
          <a:p>
            <a:r>
              <a:rPr lang="en-US" altLang="en-US" b="1" dirty="0"/>
              <a:t>Hold and Wait</a:t>
            </a:r>
            <a:r>
              <a:rPr lang="en-US" altLang="en-US" dirty="0"/>
              <a:t> – must guarantee that whenever a process requests a resource, it does not hold any other resources</a:t>
            </a:r>
          </a:p>
          <a:p>
            <a:pPr lvl="1"/>
            <a:r>
              <a:rPr lang="en-US" altLang="en-US" dirty="0"/>
              <a:t>Require process to request and be allocated all its resources before it begins execution, or allow process to request resources only when the process has none allocated to it.</a:t>
            </a:r>
          </a:p>
          <a:p>
            <a:pPr lvl="1"/>
            <a:r>
              <a:rPr lang="en-US" altLang="en-US" dirty="0"/>
              <a:t>Low resource utilization; starvation possible</a:t>
            </a:r>
          </a:p>
        </p:txBody>
      </p:sp>
      <p:sp>
        <p:nvSpPr>
          <p:cNvPr id="31748" name="Text Box 1028"/>
          <p:cNvSpPr txBox="1">
            <a:spLocks noChangeArrowheads="1"/>
          </p:cNvSpPr>
          <p:nvPr/>
        </p:nvSpPr>
        <p:spPr bwMode="auto">
          <a:xfrm>
            <a:off x="819150" y="1116013"/>
            <a:ext cx="427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Restrain the ways request can be made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03300" y="166688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/>
              <a:t>Deadlock Prevention (Cont.)</a:t>
            </a:r>
          </a:p>
        </p:txBody>
      </p:sp>
      <p:sp>
        <p:nvSpPr>
          <p:cNvPr id="3379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38200" y="1076325"/>
            <a:ext cx="6705600" cy="4446588"/>
          </a:xfrm>
        </p:spPr>
        <p:txBody>
          <a:bodyPr/>
          <a:lstStyle/>
          <a:p>
            <a:r>
              <a:rPr lang="en-US" altLang="en-US" b="1"/>
              <a:t>No Preemption</a:t>
            </a:r>
            <a:r>
              <a:rPr lang="en-US" altLang="en-US"/>
              <a:t> –</a:t>
            </a:r>
          </a:p>
          <a:p>
            <a:pPr lvl="1"/>
            <a:r>
              <a:rPr lang="en-US" altLang="en-US"/>
              <a:t>If a process that is holding some resources requests another resource that cannot be immediately allocated to it, then all resources currently being held are released</a:t>
            </a:r>
          </a:p>
          <a:p>
            <a:pPr lvl="1"/>
            <a:r>
              <a:rPr lang="en-US" altLang="en-US"/>
              <a:t>Preempted resources are added to the list of resources for which the process is waiting</a:t>
            </a:r>
          </a:p>
          <a:p>
            <a:pPr lvl="1"/>
            <a:r>
              <a:rPr lang="en-US" altLang="en-US"/>
              <a:t>Process will be restarted only when it can regain its old resources, as well as the new ones that it is requesting</a:t>
            </a:r>
          </a:p>
          <a:p>
            <a:r>
              <a:rPr lang="en-US" altLang="en-US" b="1"/>
              <a:t>Circular Wait</a:t>
            </a:r>
            <a:r>
              <a:rPr lang="en-US" altLang="en-US"/>
              <a:t> – impose a total ordering of all resource types, and require that each process requests resources in an increasing order of enumeration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03300" y="103188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/>
              <a:t>Deadlock Example</a:t>
            </a:r>
          </a:p>
        </p:txBody>
      </p:sp>
      <p:sp>
        <p:nvSpPr>
          <p:cNvPr id="3584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355725" y="1076325"/>
            <a:ext cx="6746875" cy="516731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thread one runs in this function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*do_work_one(void *param)</a:t>
            </a:r>
            <a:b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lang="en-US" altLang="en-US" sz="140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pthread_mutex_lock(&amp;first_mutex);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pthread_mutex_lock(&amp;second_mutex);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/** * Do some work */</a:t>
            </a:r>
            <a:b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pthread_mutex_unlock(&amp;second_mutex);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pthread_mutex_unlock(&amp;first_mutex);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pthread_exit(0);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thread two runs in this function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*do_work_two(void *param)</a:t>
            </a:r>
            <a:b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lang="en-US" altLang="en-US" sz="140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pthread_mutex_lock(&amp;second_mutex);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pthread_mutex_lock(&amp;first_mutex);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/** * Do some work */</a:t>
            </a:r>
            <a:b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pthread_mutex_unlock(&amp;first_mutex);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pthread_mutex_unlock(&amp;second_mutex);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pthread_exit(0);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85888" y="122238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Deadlock Example with Lock Ordering</a:t>
            </a:r>
          </a:p>
        </p:txBody>
      </p:sp>
      <p:sp>
        <p:nvSpPr>
          <p:cNvPr id="3789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84275" y="1060450"/>
            <a:ext cx="7639050" cy="3638550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void transaction(Account from, Account to, double amount)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mutex lock1, lock2;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lock1 = get_lock(from);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lock2 = get_lock(to);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acquire(lock1);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acquire(lock2);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withdraw(from, amount);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   deposit(to, amount);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release(lock2);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release(lock1);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1181100" y="4618038"/>
            <a:ext cx="7048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/>
              <a:t>Transactions 1 and 2 execute concurrently.  Transaction  1 transfers $25 from account A to account B, and Transaction 2 transfers $50 from account B to account A</a:t>
            </a:r>
            <a:endParaRPr kumimoji="0" lang="en-US" altLang="en-US" sz="1600"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/>
              <a:t>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198438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/>
              <a:t>Deadlock Avoidance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97000" y="1814513"/>
            <a:ext cx="6629400" cy="3783012"/>
          </a:xfrm>
        </p:spPr>
        <p:txBody>
          <a:bodyPr/>
          <a:lstStyle/>
          <a:p>
            <a:r>
              <a:rPr lang="en-US" altLang="en-US"/>
              <a:t>Simplest and most useful model requires that each process declare the </a:t>
            </a:r>
            <a:r>
              <a:rPr lang="en-US" altLang="en-US" b="1" i="1"/>
              <a:t>maximum number</a:t>
            </a:r>
            <a:r>
              <a:rPr lang="en-US" altLang="en-US" b="1"/>
              <a:t> </a:t>
            </a:r>
            <a:r>
              <a:rPr lang="en-US" altLang="en-US"/>
              <a:t>of resources of each type that it may need</a:t>
            </a:r>
          </a:p>
          <a:p>
            <a:r>
              <a:rPr lang="en-US" altLang="en-US"/>
              <a:t>The deadlock-avoidance algorithm dynamically examines the resource-allocation state to ensure that there can never be a circular-wait condition</a:t>
            </a:r>
          </a:p>
          <a:p>
            <a:r>
              <a:rPr lang="en-US" altLang="en-US"/>
              <a:t>Resource-allocation </a:t>
            </a:r>
            <a:r>
              <a:rPr lang="en-US" altLang="en-US" i="1"/>
              <a:t>state</a:t>
            </a:r>
            <a:r>
              <a:rPr lang="en-US" altLang="en-US"/>
              <a:t> is defined by the number of available and allocated resources, and the maximum demands of the processes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154113" y="1098550"/>
            <a:ext cx="7769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Requires that the system has some additional </a:t>
            </a:r>
            <a:r>
              <a:rPr kumimoji="0" lang="en-US" altLang="en-US" b="1" i="1"/>
              <a:t>a priori </a:t>
            </a:r>
            <a:r>
              <a:rPr kumimoji="0" lang="en-US" altLang="en-US"/>
              <a:t>information </a:t>
            </a:r>
            <a:br>
              <a:rPr kumimoji="0" lang="en-US" altLang="en-US"/>
            </a:br>
            <a:r>
              <a:rPr kumimoji="0" lang="en-US" altLang="en-US"/>
              <a:t>available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Safe State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163" y="1165225"/>
            <a:ext cx="7358062" cy="4997450"/>
          </a:xfrm>
        </p:spPr>
        <p:txBody>
          <a:bodyPr/>
          <a:lstStyle/>
          <a:p>
            <a:r>
              <a:rPr lang="en-US" altLang="en-US" dirty="0"/>
              <a:t>When a process requests an available resource, system must decide if immediate allocation leaves the system in a safe state</a:t>
            </a:r>
          </a:p>
          <a:p>
            <a:r>
              <a:rPr lang="en-US" altLang="en-US" dirty="0"/>
              <a:t>System is in </a:t>
            </a:r>
            <a:r>
              <a:rPr lang="en-US" altLang="en-US" b="1" dirty="0">
                <a:solidFill>
                  <a:srgbClr val="3366FF"/>
                </a:solidFill>
              </a:rPr>
              <a:t>safe state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if there exists a sequence &lt;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&gt; of ALL the  processes  in the systems such that  for each P</a:t>
            </a:r>
            <a:r>
              <a:rPr lang="en-US" altLang="en-US" baseline="-25000" dirty="0"/>
              <a:t>i</a:t>
            </a:r>
            <a:r>
              <a:rPr lang="en-US" altLang="en-US" dirty="0"/>
              <a:t>, the resources that P</a:t>
            </a:r>
            <a:r>
              <a:rPr lang="en-US" altLang="en-US" baseline="-25000" dirty="0"/>
              <a:t>i </a:t>
            </a:r>
            <a:r>
              <a:rPr lang="en-US" altLang="en-US" dirty="0"/>
              <a:t>can still request can be satisfied by currently available resources + resources held by all the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with</a:t>
            </a:r>
            <a:r>
              <a:rPr lang="en-US" altLang="en-US" i="1" dirty="0"/>
              <a:t> j </a:t>
            </a:r>
            <a:r>
              <a:rPr lang="en-US" altLang="en-US" dirty="0"/>
              <a:t>&lt; </a:t>
            </a:r>
            <a:r>
              <a:rPr lang="en-US" altLang="en-US" i="1" dirty="0"/>
              <a:t>I</a:t>
            </a:r>
            <a:endParaRPr lang="en-US" altLang="en-US" dirty="0"/>
          </a:p>
          <a:p>
            <a:r>
              <a:rPr lang="en-US" altLang="en-US" dirty="0"/>
              <a:t>That is:</a:t>
            </a:r>
          </a:p>
          <a:p>
            <a:pPr lvl="1"/>
            <a:r>
              <a:rPr lang="en-US" altLang="en-US" dirty="0"/>
              <a:t>If P</a:t>
            </a:r>
            <a:r>
              <a:rPr lang="en-US" altLang="en-US" baseline="-25000" dirty="0"/>
              <a:t>i</a:t>
            </a:r>
            <a:r>
              <a:rPr lang="en-US" altLang="en-US" dirty="0"/>
              <a:t> resource needs are not immediately available, then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wait until all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have finished</a:t>
            </a:r>
          </a:p>
          <a:p>
            <a:pPr lvl="1"/>
            <a:r>
              <a:rPr lang="en-US" altLang="en-US" dirty="0"/>
              <a:t>When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is finished,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obtain needed resources, execute, return allocated resources, and terminate</a:t>
            </a:r>
          </a:p>
          <a:p>
            <a:pPr lvl="1"/>
            <a:r>
              <a:rPr lang="en-US" altLang="en-US" dirty="0"/>
              <a:t>When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terminates,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baseline="-25000" dirty="0"/>
              <a:t>+1</a:t>
            </a:r>
            <a:r>
              <a:rPr lang="en-US" altLang="en-US" dirty="0"/>
              <a:t> can obtain its needed resources, and so on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2338" y="1190625"/>
            <a:ext cx="6597650" cy="4414838"/>
          </a:xfrm>
        </p:spPr>
        <p:txBody>
          <a:bodyPr/>
          <a:lstStyle/>
          <a:p>
            <a:r>
              <a:rPr lang="en-US" altLang="en-US" dirty="0"/>
              <a:t>If a system is in safe state </a:t>
            </a:r>
            <a:r>
              <a:rPr lang="en-US" altLang="en-US" dirty="0">
                <a:sym typeface="Symbol" panose="05050102010706020507" pitchFamily="18" charset="2"/>
              </a:rPr>
              <a:t> no deadlocks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If a system is in unsafe state  possibility of deadlock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Avoidance  ensure that a system will never enter an unsafe state.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46138" y="150813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/>
              <a:t>Safe, Unsafe, Deadlock State </a:t>
            </a:r>
          </a:p>
        </p:txBody>
      </p:sp>
      <p:pic>
        <p:nvPicPr>
          <p:cNvPr id="4608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7" t="1572" r="13683" b="2194"/>
          <a:stretch>
            <a:fillRect/>
          </a:stretch>
        </p:blipFill>
        <p:spPr bwMode="auto">
          <a:xfrm>
            <a:off x="2446338" y="1308100"/>
            <a:ext cx="4022725" cy="398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166688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Avoidance Algorithms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1171575"/>
            <a:ext cx="6659562" cy="4483100"/>
          </a:xfrm>
        </p:spPr>
        <p:txBody>
          <a:bodyPr/>
          <a:lstStyle/>
          <a:p>
            <a:r>
              <a:rPr lang="en-US" altLang="en-US" dirty="0"/>
              <a:t>Single instance of a resource type</a:t>
            </a:r>
          </a:p>
          <a:p>
            <a:pPr lvl="1"/>
            <a:r>
              <a:rPr lang="en-US" altLang="en-US" dirty="0"/>
              <a:t>Use a resource-allocation graph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Multiple instances of a resource type</a:t>
            </a:r>
          </a:p>
          <a:p>
            <a:pPr lvl="1"/>
            <a:r>
              <a:rPr lang="en-US" altLang="en-US" dirty="0"/>
              <a:t> Use the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23950" y="198438"/>
            <a:ext cx="7831138" cy="576262"/>
          </a:xfrm>
        </p:spPr>
        <p:txBody>
          <a:bodyPr/>
          <a:lstStyle/>
          <a:p>
            <a:pPr eaLnBrk="1" hangingPunct="1"/>
            <a:r>
              <a:rPr lang="en-US" altLang="en-US"/>
              <a:t>Resource-Allocation Graph Scheme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55700"/>
            <a:ext cx="6989762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Claim edge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indicated that process 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may request resource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; represented by a dashed line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Claim edge converts to request edge when a process requests a resource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Request edge converted to an assignment edge when the  resource is allocated to the process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When a resource is released by a process, assignment edge reconverts to a claim edge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Resources must be claimed </a:t>
            </a:r>
            <a:r>
              <a:rPr lang="en-US" altLang="en-US" i="1" dirty="0">
                <a:sym typeface="Symbol" panose="05050102010706020507" pitchFamily="18" charset="2"/>
              </a:rPr>
              <a:t>a priori</a:t>
            </a:r>
            <a:r>
              <a:rPr lang="en-US" altLang="en-US" dirty="0">
                <a:sym typeface="Symbol" panose="05050102010706020507" pitchFamily="18" charset="2"/>
              </a:rPr>
              <a:t> in the system</a:t>
            </a: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741363" y="280988"/>
            <a:ext cx="8224837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Resource-Allocation Graph</a:t>
            </a:r>
          </a:p>
        </p:txBody>
      </p:sp>
      <p:pic>
        <p:nvPicPr>
          <p:cNvPr id="52227" name="Picture 4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1409700"/>
            <a:ext cx="3681412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88" y="260350"/>
            <a:ext cx="8243887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Unsafe State In Resource-Allocation Graph</a:t>
            </a:r>
          </a:p>
        </p:txBody>
      </p:sp>
      <p:pic>
        <p:nvPicPr>
          <p:cNvPr id="54275" name="Picture 4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282700"/>
            <a:ext cx="3360738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03338" y="150813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Resource-Allocation Graph Algorithm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1187450"/>
            <a:ext cx="5962650" cy="4303713"/>
          </a:xfrm>
        </p:spPr>
        <p:txBody>
          <a:bodyPr/>
          <a:lstStyle/>
          <a:p>
            <a:r>
              <a:rPr lang="en-US" altLang="en-US"/>
              <a:t>Suppose that process</a:t>
            </a:r>
            <a:r>
              <a:rPr lang="en-US" altLang="en-US" i="1"/>
              <a:t> P</a:t>
            </a:r>
            <a:r>
              <a:rPr lang="en-US" altLang="en-US" i="1" baseline="-25000"/>
              <a:t>i</a:t>
            </a:r>
            <a:r>
              <a:rPr lang="en-US" altLang="en-US"/>
              <a:t> requests a resource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i="1" baseline="-25000">
                <a:sym typeface="Symbol" panose="05050102010706020507" pitchFamily="18" charset="2"/>
              </a:rPr>
              <a:t>j</a:t>
            </a:r>
          </a:p>
          <a:p>
            <a:r>
              <a:rPr lang="en-US" altLang="en-US">
                <a:sym typeface="Symbol" panose="05050102010706020507" pitchFamily="18" charset="2"/>
              </a:rPr>
              <a:t>The request can be granted only if converting the request edge to an assignment edge does not result in the formation of a cycle in the resource allocation graph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8256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/>
              <a:t>Banker’s Algorithm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28713"/>
            <a:ext cx="6756400" cy="4441825"/>
          </a:xfrm>
        </p:spPr>
        <p:txBody>
          <a:bodyPr/>
          <a:lstStyle/>
          <a:p>
            <a:r>
              <a:rPr lang="en-US" altLang="en-US"/>
              <a:t>Multiple instances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Each process must a priori claim maximum use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When a process requests a resource it may have to wait  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When a process gets all its resources it must return them in a finite amount of time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4788" y="327025"/>
            <a:ext cx="7586662" cy="431800"/>
          </a:xfrm>
        </p:spPr>
        <p:txBody>
          <a:bodyPr/>
          <a:lstStyle/>
          <a:p>
            <a:pPr eaLnBrk="1" hangingPunct="1"/>
            <a:r>
              <a:rPr lang="en-US" altLang="en-US" sz="2800"/>
              <a:t>Data Structures for the Banker</a:t>
            </a:r>
            <a:r>
              <a:rPr lang="ja-JP" altLang="en-US" sz="2800"/>
              <a:t>’</a:t>
            </a:r>
            <a:r>
              <a:rPr lang="en-US" altLang="ja-JP" sz="2800"/>
              <a:t>s Algorithm </a:t>
            </a:r>
            <a:endParaRPr lang="en-US" altLang="en-US" sz="280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2213" y="1654175"/>
            <a:ext cx="7370762" cy="4387850"/>
          </a:xfrm>
        </p:spPr>
        <p:txBody>
          <a:bodyPr/>
          <a:lstStyle/>
          <a:p>
            <a:r>
              <a:rPr lang="en-US" altLang="en-US" b="1"/>
              <a:t>Available</a:t>
            </a:r>
            <a:r>
              <a:rPr lang="en-US" altLang="en-US" i="1"/>
              <a:t>:</a:t>
            </a:r>
            <a:r>
              <a:rPr lang="en-US" altLang="en-US"/>
              <a:t>  Vector of length </a:t>
            </a:r>
            <a:r>
              <a:rPr lang="en-US" altLang="en-US" i="1"/>
              <a:t>m</a:t>
            </a:r>
            <a:r>
              <a:rPr lang="en-US" altLang="en-US"/>
              <a:t>. If available [</a:t>
            </a:r>
            <a:r>
              <a:rPr lang="en-US" altLang="en-US" i="1"/>
              <a:t>j</a:t>
            </a:r>
            <a:r>
              <a:rPr lang="en-US" altLang="en-US"/>
              <a:t>] = </a:t>
            </a:r>
            <a:r>
              <a:rPr lang="en-US" altLang="en-US" i="1"/>
              <a:t>k</a:t>
            </a:r>
            <a:r>
              <a:rPr lang="en-US" altLang="en-US"/>
              <a:t>, there are</a:t>
            </a:r>
            <a:r>
              <a:rPr lang="en-US" altLang="en-US" i="1"/>
              <a:t> k</a:t>
            </a:r>
            <a:r>
              <a:rPr lang="en-US" altLang="en-US"/>
              <a:t> instances of resource type </a:t>
            </a:r>
            <a:r>
              <a:rPr lang="en-US" altLang="en-US" i="1"/>
              <a:t>R</a:t>
            </a:r>
            <a:r>
              <a:rPr lang="en-US" altLang="en-US" i="1" baseline="-25000"/>
              <a:t>j</a:t>
            </a:r>
            <a:r>
              <a:rPr lang="en-US" altLang="en-US" baseline="-25000"/>
              <a:t>  </a:t>
            </a:r>
            <a:r>
              <a:rPr lang="en-US" altLang="en-US"/>
              <a:t>available</a:t>
            </a:r>
          </a:p>
          <a:p>
            <a:endParaRPr lang="en-US" altLang="en-US" sz="800"/>
          </a:p>
          <a:p>
            <a:r>
              <a:rPr lang="en-US" altLang="en-US" b="1">
                <a:solidFill>
                  <a:srgbClr val="000000"/>
                </a:solidFill>
              </a:rPr>
              <a:t>Max</a:t>
            </a:r>
            <a:r>
              <a:rPr lang="en-US" altLang="en-US" i="1"/>
              <a:t>: n x m</a:t>
            </a:r>
            <a:r>
              <a:rPr lang="en-US" altLang="en-US"/>
              <a:t> matrix.  If </a:t>
            </a:r>
            <a:r>
              <a:rPr lang="en-US" altLang="en-US" i="1"/>
              <a:t>Max </a:t>
            </a:r>
            <a:r>
              <a:rPr lang="en-US" altLang="en-US"/>
              <a:t>[</a:t>
            </a:r>
            <a:r>
              <a:rPr lang="en-US" altLang="en-US" i="1"/>
              <a:t>i,j</a:t>
            </a:r>
            <a:r>
              <a:rPr lang="en-US" altLang="en-US"/>
              <a:t>] = </a:t>
            </a:r>
            <a:r>
              <a:rPr lang="en-US" altLang="en-US" i="1"/>
              <a:t>k</a:t>
            </a:r>
            <a:r>
              <a:rPr lang="en-US" altLang="en-US"/>
              <a:t>, then process </a:t>
            </a:r>
            <a:r>
              <a:rPr lang="en-US" altLang="en-US" i="1"/>
              <a:t>P</a:t>
            </a:r>
            <a:r>
              <a:rPr lang="en-US" altLang="en-US" i="1" baseline="-25000"/>
              <a:t>i</a:t>
            </a:r>
            <a:r>
              <a:rPr lang="en-US" altLang="en-US" i="1"/>
              <a:t> </a:t>
            </a:r>
            <a:r>
              <a:rPr lang="en-US" altLang="en-US"/>
              <a:t>may request at most</a:t>
            </a:r>
            <a:r>
              <a:rPr lang="en-US" altLang="en-US" i="1"/>
              <a:t> k </a:t>
            </a:r>
            <a:r>
              <a:rPr lang="en-US" altLang="en-US"/>
              <a:t>instances of resource type </a:t>
            </a:r>
            <a:r>
              <a:rPr lang="en-US" altLang="en-US" i="1"/>
              <a:t>R</a:t>
            </a:r>
            <a:r>
              <a:rPr lang="en-US" altLang="en-US" i="1" baseline="-25000"/>
              <a:t>j</a:t>
            </a:r>
          </a:p>
          <a:p>
            <a:endParaRPr lang="en-US" altLang="en-US" sz="800" i="1" baseline="-25000"/>
          </a:p>
          <a:p>
            <a:r>
              <a:rPr lang="en-US" altLang="en-US" b="1">
                <a:solidFill>
                  <a:srgbClr val="000000"/>
                </a:solidFill>
              </a:rPr>
              <a:t>Allocation</a:t>
            </a:r>
            <a:r>
              <a:rPr lang="en-US" altLang="en-US" i="1"/>
              <a:t>:  n </a:t>
            </a:r>
            <a:r>
              <a:rPr lang="en-US" altLang="en-US"/>
              <a:t>x</a:t>
            </a:r>
            <a:r>
              <a:rPr lang="en-US" altLang="en-US" i="1"/>
              <a:t> m</a:t>
            </a:r>
            <a:r>
              <a:rPr lang="en-US" altLang="en-US"/>
              <a:t> matrix.  If Allocation[</a:t>
            </a:r>
            <a:r>
              <a:rPr lang="en-US" altLang="en-US" i="1"/>
              <a:t>i,j</a:t>
            </a:r>
            <a:r>
              <a:rPr lang="en-US" altLang="en-US"/>
              <a:t>] = </a:t>
            </a:r>
            <a:r>
              <a:rPr lang="en-US" altLang="en-US" i="1"/>
              <a:t>k</a:t>
            </a:r>
            <a:r>
              <a:rPr lang="en-US" altLang="en-US"/>
              <a:t> then</a:t>
            </a:r>
            <a:r>
              <a:rPr lang="en-US" altLang="en-US" i="1"/>
              <a:t> P</a:t>
            </a:r>
            <a:r>
              <a:rPr lang="en-US" altLang="en-US" i="1" baseline="-25000"/>
              <a:t>i</a:t>
            </a:r>
            <a:r>
              <a:rPr lang="en-US" altLang="en-US"/>
              <a:t> is currently allocated </a:t>
            </a:r>
            <a:r>
              <a:rPr lang="en-US" altLang="en-US" i="1"/>
              <a:t>k</a:t>
            </a:r>
            <a:r>
              <a:rPr lang="en-US" altLang="en-US"/>
              <a:t> instances of </a:t>
            </a:r>
            <a:r>
              <a:rPr lang="en-US" altLang="en-US" i="1"/>
              <a:t>R</a:t>
            </a:r>
            <a:r>
              <a:rPr lang="en-US" altLang="en-US" i="1" baseline="-25000"/>
              <a:t>j</a:t>
            </a:r>
          </a:p>
          <a:p>
            <a:endParaRPr lang="en-US" altLang="en-US" sz="800" i="1" baseline="-25000"/>
          </a:p>
          <a:p>
            <a:r>
              <a:rPr lang="en-US" altLang="en-US" b="1">
                <a:solidFill>
                  <a:srgbClr val="000000"/>
                </a:solidFill>
              </a:rPr>
              <a:t>Need</a:t>
            </a:r>
            <a:r>
              <a:rPr lang="en-US" altLang="en-US" i="1"/>
              <a:t>:  n </a:t>
            </a:r>
            <a:r>
              <a:rPr lang="en-US" altLang="en-US"/>
              <a:t>x</a:t>
            </a:r>
            <a:r>
              <a:rPr lang="en-US" altLang="en-US" i="1"/>
              <a:t> m</a:t>
            </a:r>
            <a:r>
              <a:rPr lang="en-US" altLang="en-US"/>
              <a:t> matrix. If </a:t>
            </a:r>
            <a:r>
              <a:rPr lang="en-US" altLang="en-US" i="1"/>
              <a:t>Need</a:t>
            </a:r>
            <a:r>
              <a:rPr lang="en-US" altLang="en-US"/>
              <a:t>[</a:t>
            </a:r>
            <a:r>
              <a:rPr lang="en-US" altLang="en-US" i="1"/>
              <a:t>i,j</a:t>
            </a:r>
            <a:r>
              <a:rPr lang="en-US" altLang="en-US"/>
              <a:t>] =</a:t>
            </a:r>
            <a:r>
              <a:rPr lang="en-US" altLang="en-US" i="1"/>
              <a:t> k</a:t>
            </a:r>
            <a:r>
              <a:rPr lang="en-US" altLang="en-US"/>
              <a:t>, then</a:t>
            </a:r>
            <a:r>
              <a:rPr lang="en-US" altLang="en-US" i="1"/>
              <a:t> P</a:t>
            </a:r>
            <a:r>
              <a:rPr lang="en-US" altLang="en-US" i="1" baseline="-25000"/>
              <a:t>i</a:t>
            </a:r>
            <a:r>
              <a:rPr lang="en-US" altLang="en-US"/>
              <a:t> may need </a:t>
            </a:r>
            <a:r>
              <a:rPr lang="en-US" altLang="en-US" i="1"/>
              <a:t>k</a:t>
            </a:r>
            <a:r>
              <a:rPr lang="en-US" altLang="en-US"/>
              <a:t> more instances of </a:t>
            </a:r>
            <a:r>
              <a:rPr lang="en-US" altLang="en-US" i="1"/>
              <a:t>R</a:t>
            </a:r>
            <a:r>
              <a:rPr lang="en-US" altLang="en-US" i="1" baseline="-25000"/>
              <a:t>j</a:t>
            </a:r>
            <a:r>
              <a:rPr lang="en-US" altLang="en-US" baseline="-25000"/>
              <a:t> </a:t>
            </a:r>
            <a:r>
              <a:rPr lang="en-US" altLang="en-US"/>
              <a:t>to complete its task</a:t>
            </a:r>
          </a:p>
          <a:p>
            <a:pPr lvl="2">
              <a:buFont typeface="Webdings" panose="05030102010509060703" pitchFamily="18" charset="2"/>
              <a:buNone/>
            </a:pPr>
            <a:br>
              <a:rPr lang="en-US" altLang="en-US"/>
            </a:br>
            <a:r>
              <a:rPr lang="en-US" altLang="en-US" i="1"/>
              <a:t>Need</a:t>
            </a:r>
            <a:r>
              <a:rPr lang="en-US" altLang="en-US"/>
              <a:t> [</a:t>
            </a:r>
            <a:r>
              <a:rPr lang="en-US" altLang="en-US" i="1"/>
              <a:t>i,j]</a:t>
            </a:r>
            <a:r>
              <a:rPr lang="en-US" altLang="en-US"/>
              <a:t> = </a:t>
            </a:r>
            <a:r>
              <a:rPr lang="en-US" altLang="en-US" i="1"/>
              <a:t>Max</a:t>
            </a:r>
            <a:r>
              <a:rPr lang="en-US" altLang="en-US"/>
              <a:t>[</a:t>
            </a:r>
            <a:r>
              <a:rPr lang="en-US" altLang="en-US" i="1"/>
              <a:t>i,j</a:t>
            </a:r>
            <a:r>
              <a:rPr lang="en-US" altLang="en-US"/>
              <a:t>] – </a:t>
            </a:r>
            <a:r>
              <a:rPr lang="en-US" altLang="en-US" i="1"/>
              <a:t>Allocation</a:t>
            </a:r>
            <a:r>
              <a:rPr lang="en-US" altLang="en-US"/>
              <a:t> [</a:t>
            </a:r>
            <a:r>
              <a:rPr lang="en-US" altLang="en-US" i="1"/>
              <a:t>i,j</a:t>
            </a:r>
            <a:r>
              <a:rPr lang="en-US" altLang="en-US"/>
              <a:t>]</a:t>
            </a: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950913" y="1108075"/>
            <a:ext cx="693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Let </a:t>
            </a:r>
            <a:r>
              <a:rPr kumimoji="0" lang="en-US" altLang="en-US" i="1"/>
              <a:t>n</a:t>
            </a:r>
            <a:r>
              <a:rPr kumimoji="0" lang="en-US" altLang="en-US"/>
              <a:t> = number of processes, and </a:t>
            </a:r>
            <a:r>
              <a:rPr kumimoji="0" lang="en-US" altLang="en-US" i="1"/>
              <a:t>m </a:t>
            </a:r>
            <a:r>
              <a:rPr kumimoji="0" lang="en-US" altLang="en-US"/>
              <a:t>= number of resources types.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Safety Algorithm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157288"/>
            <a:ext cx="7372350" cy="4943475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/>
              <a:t>1.	Let </a:t>
            </a:r>
            <a:r>
              <a:rPr lang="en-US" altLang="en-US" b="1" i="1">
                <a:solidFill>
                  <a:srgbClr val="000000"/>
                </a:solidFill>
              </a:rPr>
              <a:t>Work</a:t>
            </a:r>
            <a:r>
              <a:rPr lang="en-US" altLang="en-US" i="1">
                <a:solidFill>
                  <a:srgbClr val="000000"/>
                </a:solidFill>
              </a:rPr>
              <a:t> </a:t>
            </a:r>
            <a:r>
              <a:rPr lang="en-US" altLang="en-US"/>
              <a:t>and </a:t>
            </a:r>
            <a:r>
              <a:rPr lang="en-US" altLang="en-US" b="1" i="1">
                <a:solidFill>
                  <a:srgbClr val="000000"/>
                </a:solidFill>
              </a:rPr>
              <a:t>Finish</a:t>
            </a:r>
            <a:r>
              <a:rPr lang="en-US" altLang="en-US">
                <a:solidFill>
                  <a:srgbClr val="000000"/>
                </a:solidFill>
              </a:rPr>
              <a:t> </a:t>
            </a:r>
            <a:r>
              <a:rPr lang="en-US" altLang="en-US"/>
              <a:t>be vectors of length</a:t>
            </a:r>
            <a:r>
              <a:rPr lang="en-US" altLang="en-US" i="1"/>
              <a:t> m</a:t>
            </a:r>
            <a:r>
              <a:rPr lang="en-US" altLang="en-US"/>
              <a:t> and</a:t>
            </a:r>
            <a:r>
              <a:rPr lang="en-US" altLang="en-US" i="1"/>
              <a:t> n</a:t>
            </a:r>
            <a:r>
              <a:rPr lang="en-US" altLang="en-US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/>
              <a:t>Work </a:t>
            </a:r>
            <a:r>
              <a:rPr lang="en-US" altLang="en-US" b="1"/>
              <a:t>= </a:t>
            </a:r>
            <a:r>
              <a:rPr lang="en-US" altLang="en-US" b="1" i="1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/>
              <a:t>Finish </a:t>
            </a:r>
            <a:r>
              <a:rPr lang="en-US" altLang="en-US" b="1"/>
              <a:t>[</a:t>
            </a:r>
            <a:r>
              <a:rPr lang="en-US" altLang="en-US" b="1" i="1"/>
              <a:t>i</a:t>
            </a:r>
            <a:r>
              <a:rPr lang="en-US" altLang="en-US" b="1"/>
              <a:t>] =</a:t>
            </a:r>
            <a:r>
              <a:rPr lang="en-US" altLang="en-US" b="1" i="1"/>
              <a:t> false </a:t>
            </a:r>
            <a:r>
              <a:rPr lang="en-US" altLang="en-US" b="1"/>
              <a:t>for</a:t>
            </a:r>
            <a:r>
              <a:rPr lang="en-US" altLang="en-US" b="1" i="1"/>
              <a:t> i</a:t>
            </a:r>
            <a:r>
              <a:rPr lang="en-US" altLang="en-US" b="1"/>
              <a:t> = 0, 1, …, </a:t>
            </a:r>
            <a:r>
              <a:rPr lang="en-US" altLang="en-US" b="1" i="1"/>
              <a:t>n- </a:t>
            </a:r>
            <a:r>
              <a:rPr lang="en-US" altLang="en-US" b="1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80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/>
              <a:t>2.	Find an </a:t>
            </a:r>
            <a:r>
              <a:rPr lang="en-US" altLang="en-US" b="1" i="1"/>
              <a:t>i</a:t>
            </a:r>
            <a:r>
              <a:rPr lang="en-US" altLang="en-US" i="1"/>
              <a:t> </a:t>
            </a:r>
            <a:r>
              <a:rPr lang="en-US" altLang="en-US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/>
              <a:t>(a) </a:t>
            </a:r>
            <a:r>
              <a:rPr lang="en-US" altLang="en-US" b="1" i="1"/>
              <a:t>Finish</a:t>
            </a:r>
            <a:r>
              <a:rPr lang="en-US" altLang="en-US" b="1"/>
              <a:t> [</a:t>
            </a:r>
            <a:r>
              <a:rPr lang="en-US" altLang="en-US" b="1" i="1"/>
              <a:t>i</a:t>
            </a:r>
            <a:r>
              <a:rPr lang="en-US" altLang="en-US" b="1"/>
              <a:t>] = </a:t>
            </a:r>
            <a:r>
              <a:rPr lang="en-US" altLang="en-US" b="1" i="1"/>
              <a:t>false</a:t>
            </a:r>
            <a:endParaRPr lang="en-US" altLang="en-US" b="1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/>
              <a:t>(b) </a:t>
            </a:r>
            <a:r>
              <a:rPr lang="en-US" altLang="en-US" b="1" i="1"/>
              <a:t>Need</a:t>
            </a:r>
            <a:r>
              <a:rPr lang="en-US" altLang="en-US" b="1" i="1" baseline="-25000"/>
              <a:t>i</a:t>
            </a:r>
            <a:r>
              <a:rPr lang="en-US" altLang="en-US" b="1"/>
              <a:t> </a:t>
            </a:r>
            <a:r>
              <a:rPr lang="en-US" altLang="en-US" b="1">
                <a:sym typeface="Symbol" panose="05050102010706020507" pitchFamily="18" charset="2"/>
              </a:rPr>
              <a:t> </a:t>
            </a:r>
            <a:r>
              <a:rPr lang="en-US" altLang="en-US" b="1" i="1">
                <a:sym typeface="Symbol" panose="05050102010706020507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>
                <a:sym typeface="Symbol" panose="05050102010706020507" pitchFamily="18" charset="2"/>
              </a:rPr>
              <a:t>If no such</a:t>
            </a:r>
            <a:r>
              <a:rPr lang="en-US" altLang="en-US" b="1">
                <a:sym typeface="Symbol" panose="05050102010706020507" pitchFamily="18" charset="2"/>
              </a:rPr>
              <a:t> </a:t>
            </a:r>
            <a:r>
              <a:rPr lang="en-US" altLang="en-US" b="1" i="1">
                <a:sym typeface="Symbol" panose="05050102010706020507" pitchFamily="18" charset="2"/>
              </a:rPr>
              <a:t>i </a:t>
            </a:r>
            <a:r>
              <a:rPr lang="en-US" altLang="en-US">
                <a:sym typeface="Symbol" panose="05050102010706020507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/>
              <a:t>3.  </a:t>
            </a:r>
            <a:r>
              <a:rPr lang="en-US" altLang="en-US" b="1" i="1"/>
              <a:t>Work</a:t>
            </a:r>
            <a:r>
              <a:rPr lang="en-US" altLang="en-US" b="1"/>
              <a:t> = </a:t>
            </a:r>
            <a:r>
              <a:rPr lang="en-US" altLang="en-US" b="1" i="1"/>
              <a:t>Work </a:t>
            </a:r>
            <a:r>
              <a:rPr lang="en-US" altLang="en-US" b="1"/>
              <a:t>+ </a:t>
            </a:r>
            <a:r>
              <a:rPr lang="en-US" altLang="en-US" b="1" i="1"/>
              <a:t>Allocation</a:t>
            </a:r>
            <a:r>
              <a:rPr lang="en-US" altLang="en-US" b="1" i="1" baseline="-25000"/>
              <a:t>i</a:t>
            </a:r>
            <a:br>
              <a:rPr lang="en-US" altLang="en-US" b="1"/>
            </a:br>
            <a:r>
              <a:rPr lang="en-US" altLang="en-US" b="1" i="1"/>
              <a:t>Finish</a:t>
            </a:r>
            <a:r>
              <a:rPr lang="en-US" altLang="en-US" b="1"/>
              <a:t>[</a:t>
            </a:r>
            <a:r>
              <a:rPr lang="en-US" altLang="en-US" b="1" i="1"/>
              <a:t>i</a:t>
            </a:r>
            <a:r>
              <a:rPr lang="en-US" altLang="en-US" b="1"/>
              <a:t>] =</a:t>
            </a:r>
            <a:r>
              <a:rPr lang="en-US" altLang="en-US" b="1" i="1"/>
              <a:t> true</a:t>
            </a:r>
            <a:br>
              <a:rPr lang="en-US" altLang="en-US" b="1"/>
            </a:br>
            <a:r>
              <a:rPr lang="en-US" altLang="en-US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/>
              <a:t>4.	If </a:t>
            </a:r>
            <a:r>
              <a:rPr lang="en-US" altLang="en-US" b="1" i="1"/>
              <a:t>Finish</a:t>
            </a:r>
            <a:r>
              <a:rPr lang="en-US" altLang="en-US" b="1"/>
              <a:t> [</a:t>
            </a:r>
            <a:r>
              <a:rPr lang="en-US" altLang="en-US" b="1" i="1"/>
              <a:t>i</a:t>
            </a:r>
            <a:r>
              <a:rPr lang="en-US" altLang="en-US" b="1"/>
              <a:t>] == </a:t>
            </a:r>
            <a:r>
              <a:rPr lang="en-US" altLang="en-US" b="1" i="1"/>
              <a:t>true</a:t>
            </a:r>
            <a:r>
              <a:rPr lang="en-US" altLang="en-US" b="1"/>
              <a:t> </a:t>
            </a:r>
            <a:r>
              <a:rPr lang="en-US" altLang="en-US"/>
              <a:t>for all </a:t>
            </a:r>
            <a:r>
              <a:rPr lang="en-US" altLang="en-US" b="1" i="1"/>
              <a:t>i</a:t>
            </a:r>
            <a:r>
              <a:rPr lang="en-US" altLang="en-US"/>
              <a:t>, then the system is in a safe state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73175" y="231775"/>
            <a:ext cx="79248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Resource-Request Algorithm for Process </a:t>
            </a:r>
            <a:r>
              <a:rPr lang="en-US" altLang="en-US" sz="2800" i="1"/>
              <a:t>P</a:t>
            </a:r>
            <a:r>
              <a:rPr lang="en-US" altLang="en-US" sz="2800" i="1" baseline="-25000"/>
              <a:t>i</a:t>
            </a:r>
            <a:endParaRPr lang="en-US" altLang="en-US" sz="280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2325" y="1114425"/>
            <a:ext cx="7642225" cy="46863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/>
              <a:t>     </a:t>
            </a:r>
            <a:r>
              <a:rPr lang="en-US" altLang="en-US" b="1" i="1"/>
              <a:t>Request</a:t>
            </a:r>
            <a:r>
              <a:rPr lang="en-US" altLang="en-US" b="1" i="1" baseline="-25000"/>
              <a:t>i</a:t>
            </a:r>
            <a:r>
              <a:rPr lang="en-US" altLang="en-US"/>
              <a:t> = request vector for process </a:t>
            </a:r>
            <a:r>
              <a:rPr lang="en-US" altLang="en-US" b="1" i="1"/>
              <a:t>P</a:t>
            </a:r>
            <a:r>
              <a:rPr lang="en-US" altLang="en-US" b="1" i="1" baseline="-25000"/>
              <a:t>i</a:t>
            </a:r>
            <a:r>
              <a:rPr lang="en-US" altLang="en-US"/>
              <a:t>.  If </a:t>
            </a:r>
            <a:r>
              <a:rPr lang="en-US" altLang="en-US" b="1" i="1"/>
              <a:t>Request</a:t>
            </a:r>
            <a:r>
              <a:rPr lang="en-US" altLang="en-US" b="1" i="1" baseline="-25000"/>
              <a:t>i</a:t>
            </a:r>
            <a:r>
              <a:rPr lang="en-US" altLang="en-US" b="1" baseline="-25000"/>
              <a:t> </a:t>
            </a:r>
            <a:r>
              <a:rPr lang="en-US" altLang="en-US" b="1"/>
              <a:t>[</a:t>
            </a:r>
            <a:r>
              <a:rPr lang="en-US" altLang="en-US" b="1" i="1"/>
              <a:t>j</a:t>
            </a:r>
            <a:r>
              <a:rPr lang="en-US" altLang="en-US" b="1"/>
              <a:t>] = </a:t>
            </a:r>
            <a:r>
              <a:rPr lang="en-US" altLang="en-US" b="1" i="1"/>
              <a:t>k</a:t>
            </a:r>
            <a:r>
              <a:rPr lang="en-US" altLang="en-US" b="1"/>
              <a:t> </a:t>
            </a:r>
            <a:r>
              <a:rPr lang="en-US" altLang="en-US"/>
              <a:t>then process </a:t>
            </a:r>
            <a:r>
              <a:rPr lang="en-US" altLang="en-US" b="1" i="1"/>
              <a:t>P</a:t>
            </a:r>
            <a:r>
              <a:rPr lang="en-US" altLang="en-US" b="1" i="1" baseline="-25000"/>
              <a:t>i</a:t>
            </a:r>
            <a:r>
              <a:rPr lang="en-US" altLang="en-US"/>
              <a:t> wants </a:t>
            </a:r>
            <a:r>
              <a:rPr lang="en-US" altLang="en-US" b="1" i="1"/>
              <a:t>k</a:t>
            </a:r>
            <a:r>
              <a:rPr lang="en-US" altLang="en-US"/>
              <a:t> instances of resource type </a:t>
            </a:r>
            <a:r>
              <a:rPr lang="en-US" altLang="en-US" b="1" i="1"/>
              <a:t>R</a:t>
            </a:r>
            <a:r>
              <a:rPr lang="en-US" altLang="en-US" b="1" i="1" baseline="-25000"/>
              <a:t>j</a:t>
            </a:r>
            <a:endParaRPr lang="en-US" altLang="en-US" b="1" baseline="-2500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/>
              <a:t>1.	If </a:t>
            </a:r>
            <a:r>
              <a:rPr lang="en-US" altLang="en-US" b="1" i="1"/>
              <a:t>Request</a:t>
            </a:r>
            <a:r>
              <a:rPr lang="en-US" altLang="en-US" b="1" i="1" baseline="-25000"/>
              <a:t>i</a:t>
            </a:r>
            <a:r>
              <a:rPr lang="en-US" altLang="en-US" b="1" i="1"/>
              <a:t> </a:t>
            </a:r>
            <a:r>
              <a:rPr lang="en-US" altLang="en-US" b="1">
                <a:sym typeface="Symbol" panose="05050102010706020507" pitchFamily="18" charset="2"/>
              </a:rPr>
              <a:t> </a:t>
            </a:r>
            <a:r>
              <a:rPr lang="en-US" altLang="en-US" b="1" i="1">
                <a:sym typeface="Symbol" panose="05050102010706020507" pitchFamily="18" charset="2"/>
              </a:rPr>
              <a:t>Need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 b="1" i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go to step 2.  Otherwise, raise error condition, since process has exceeded its maximum claim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>
                <a:sym typeface="Symbol" panose="05050102010706020507" pitchFamily="18" charset="2"/>
              </a:rPr>
              <a:t>2.	If </a:t>
            </a:r>
            <a:r>
              <a:rPr lang="en-US" altLang="en-US" b="1" i="1"/>
              <a:t>Request</a:t>
            </a:r>
            <a:r>
              <a:rPr lang="en-US" altLang="en-US" b="1" i="1" baseline="-25000"/>
              <a:t>i</a:t>
            </a:r>
            <a:r>
              <a:rPr lang="en-US" altLang="en-US" b="1"/>
              <a:t> </a:t>
            </a:r>
            <a:r>
              <a:rPr lang="en-US" altLang="en-US" b="1">
                <a:sym typeface="Symbol" panose="05050102010706020507" pitchFamily="18" charset="2"/>
              </a:rPr>
              <a:t> </a:t>
            </a:r>
            <a:r>
              <a:rPr lang="en-US" altLang="en-US" b="1" i="1">
                <a:sym typeface="Symbol" panose="05050102010706020507" pitchFamily="18" charset="2"/>
              </a:rPr>
              <a:t>Available</a:t>
            </a:r>
            <a:r>
              <a:rPr lang="en-US" altLang="en-US">
                <a:sym typeface="Symbol" panose="05050102010706020507" pitchFamily="18" charset="2"/>
              </a:rPr>
              <a:t>, go to step 3.  Otherwise </a:t>
            </a:r>
            <a:r>
              <a:rPr lang="en-US" altLang="en-US" b="1" i="1">
                <a:sym typeface="Symbol" panose="05050102010706020507" pitchFamily="18" charset="2"/>
              </a:rPr>
              <a:t>P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 must wait, since resources are not available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>
                <a:sym typeface="Symbol" panose="05050102010706020507" pitchFamily="18" charset="2"/>
              </a:rPr>
              <a:t>3.	Pretend to allocate requested resources to </a:t>
            </a:r>
            <a:r>
              <a:rPr lang="en-US" altLang="en-US" b="1" i="1">
                <a:sym typeface="Symbol" panose="05050102010706020507" pitchFamily="18" charset="2"/>
              </a:rPr>
              <a:t>P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by modifying the state as follows: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		</a:t>
            </a:r>
            <a:r>
              <a:rPr lang="en-US" altLang="en-US" b="1" i="1">
                <a:sym typeface="Symbol" panose="05050102010706020507" pitchFamily="18" charset="2"/>
              </a:rPr>
              <a:t>Available</a:t>
            </a:r>
            <a:r>
              <a:rPr lang="en-US" altLang="en-US" b="1">
                <a:sym typeface="Symbol" panose="05050102010706020507" pitchFamily="18" charset="2"/>
              </a:rPr>
              <a:t> = </a:t>
            </a:r>
            <a:r>
              <a:rPr lang="en-US" altLang="en-US" b="1" i="1">
                <a:sym typeface="Symbol" panose="05050102010706020507" pitchFamily="18" charset="2"/>
              </a:rPr>
              <a:t>Available  </a:t>
            </a:r>
            <a:r>
              <a:rPr lang="en-US" altLang="en-US" b="1">
                <a:sym typeface="Symbol" panose="05050102010706020507" pitchFamily="18" charset="2"/>
              </a:rPr>
              <a:t>–</a:t>
            </a:r>
            <a:r>
              <a:rPr lang="en-US" altLang="en-US" b="1" i="1">
                <a:sym typeface="Symbol" panose="05050102010706020507" pitchFamily="18" charset="2"/>
              </a:rPr>
              <a:t> Request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 b="1" i="1">
                <a:sym typeface="Symbol" panose="05050102010706020507" pitchFamily="18" charset="2"/>
              </a:rPr>
              <a:t>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		</a:t>
            </a:r>
            <a:r>
              <a:rPr lang="en-US" altLang="en-US" b="1" i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 b="1" baseline="-25000">
                <a:sym typeface="Symbol" panose="05050102010706020507" pitchFamily="18" charset="2"/>
              </a:rPr>
              <a:t> </a:t>
            </a:r>
            <a:r>
              <a:rPr lang="en-US" altLang="en-US" b="1">
                <a:sym typeface="Symbol" panose="05050102010706020507" pitchFamily="18" charset="2"/>
              </a:rPr>
              <a:t>= </a:t>
            </a:r>
            <a:r>
              <a:rPr lang="en-US" altLang="en-US" b="1" i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 b="1">
                <a:sym typeface="Symbol" panose="05050102010706020507" pitchFamily="18" charset="2"/>
              </a:rPr>
              <a:t> + </a:t>
            </a:r>
            <a:r>
              <a:rPr lang="en-US" altLang="en-US" b="1" i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 b="1">
                <a:sym typeface="Symbol" panose="05050102010706020507" pitchFamily="18" charset="2"/>
              </a:rPr>
              <a:t>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		</a:t>
            </a:r>
            <a:r>
              <a:rPr lang="en-US" altLang="en-US" b="1" i="1">
                <a:sym typeface="Symbol" panose="05050102010706020507" pitchFamily="18" charset="2"/>
              </a:rPr>
              <a:t>Need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 b="1" i="1">
                <a:sym typeface="Symbol" panose="05050102010706020507" pitchFamily="18" charset="2"/>
              </a:rPr>
              <a:t> </a:t>
            </a:r>
            <a:r>
              <a:rPr lang="en-US" altLang="en-US" b="1">
                <a:sym typeface="Symbol" panose="05050102010706020507" pitchFamily="18" charset="2"/>
              </a:rPr>
              <a:t>=</a:t>
            </a:r>
            <a:r>
              <a:rPr lang="en-US" altLang="en-US" b="1" i="1">
                <a:sym typeface="Symbol" panose="05050102010706020507" pitchFamily="18" charset="2"/>
              </a:rPr>
              <a:t> Need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 b="1">
                <a:sym typeface="Symbol" panose="05050102010706020507" pitchFamily="18" charset="2"/>
              </a:rPr>
              <a:t> – </a:t>
            </a:r>
            <a:r>
              <a:rPr lang="en-US" altLang="en-US" b="1" i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 b="1" i="1">
                <a:sym typeface="Symbol" panose="05050102010706020507" pitchFamily="18" charset="2"/>
              </a:rPr>
              <a:t>;</a:t>
            </a:r>
          </a:p>
          <a:p>
            <a:pPr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>
                <a:sym typeface="Symbol" panose="05050102010706020507" pitchFamily="18" charset="2"/>
              </a:rPr>
              <a:t>If safe  the resources are allocated to </a:t>
            </a:r>
            <a:r>
              <a:rPr lang="en-US" altLang="en-US" b="1" i="1">
                <a:sym typeface="Symbol" panose="05050102010706020507" pitchFamily="18" charset="2"/>
              </a:rPr>
              <a:t>P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</a:p>
          <a:p>
            <a:pPr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>
                <a:sym typeface="Symbol" panose="05050102010706020507" pitchFamily="18" charset="2"/>
              </a:rPr>
              <a:t>If unsafe  </a:t>
            </a:r>
            <a:r>
              <a:rPr lang="en-US" altLang="en-US" b="1" i="1">
                <a:sym typeface="Symbol" panose="05050102010706020507" pitchFamily="18" charset="2"/>
              </a:rPr>
              <a:t>P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must wait, and the old resource-allocation state is restored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152400"/>
            <a:ext cx="7664450" cy="576263"/>
          </a:xfrm>
        </p:spPr>
        <p:txBody>
          <a:bodyPr/>
          <a:lstStyle/>
          <a:p>
            <a:pPr eaLnBrk="1" hangingPunct="1"/>
            <a:r>
              <a:rPr lang="en-US" altLang="en-US"/>
              <a:t>Example of Banker</a:t>
            </a:r>
            <a:r>
              <a:rPr lang="ja-JP" altLang="en-US"/>
              <a:t>’</a:t>
            </a:r>
            <a:r>
              <a:rPr lang="en-US" altLang="ja-JP"/>
              <a:t>s Algorithm</a:t>
            </a:r>
            <a:endParaRPr lang="en-US" alt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488" y="1360488"/>
            <a:ext cx="7923212" cy="4540250"/>
          </a:xfrm>
        </p:spPr>
        <p:txBody>
          <a:bodyPr/>
          <a:lstStyle/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/>
              <a:t>5 processes </a:t>
            </a:r>
            <a:r>
              <a:rPr lang="en-US" altLang="en-US" i="1"/>
              <a:t>P</a:t>
            </a:r>
            <a:r>
              <a:rPr lang="en-US" altLang="en-US" baseline="-25000"/>
              <a:t>0  </a:t>
            </a:r>
            <a:r>
              <a:rPr lang="en-US" altLang="en-US"/>
              <a:t>through </a:t>
            </a:r>
            <a:r>
              <a:rPr lang="en-US" altLang="en-US" i="1"/>
              <a:t>P</a:t>
            </a:r>
            <a:r>
              <a:rPr lang="en-US" altLang="en-US" baseline="-25000"/>
              <a:t>4</a:t>
            </a:r>
            <a:r>
              <a:rPr lang="en-US" altLang="en-US"/>
              <a:t>;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/>
              <a:t>      3 resource types: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/>
              <a:t>              </a:t>
            </a:r>
            <a:r>
              <a:rPr lang="en-US" altLang="en-US" i="1"/>
              <a:t>A</a:t>
            </a:r>
            <a:r>
              <a:rPr lang="en-US" altLang="en-US"/>
              <a:t> (10 instances),  </a:t>
            </a:r>
            <a:r>
              <a:rPr lang="en-US" altLang="en-US" i="1"/>
              <a:t>B</a:t>
            </a:r>
            <a:r>
              <a:rPr lang="en-US" altLang="en-US"/>
              <a:t> (5instances), and </a:t>
            </a:r>
            <a:r>
              <a:rPr lang="en-US" altLang="en-US" i="1"/>
              <a:t>C</a:t>
            </a:r>
            <a:r>
              <a:rPr lang="en-US" altLang="en-US"/>
              <a:t> (7 instances)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/>
              <a:t>Snapshot at time </a:t>
            </a:r>
            <a:r>
              <a:rPr lang="en-US" altLang="en-US" i="1"/>
              <a:t>T</a:t>
            </a:r>
            <a:r>
              <a:rPr lang="en-US" altLang="en-US" baseline="-25000"/>
              <a:t>0</a:t>
            </a:r>
            <a:r>
              <a:rPr lang="en-US" altLang="en-US"/>
              <a:t>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/>
              <a:t>			</a:t>
            </a:r>
            <a:r>
              <a:rPr lang="en-US" altLang="en-US" i="1" u="sng"/>
              <a:t>Allocation</a:t>
            </a:r>
            <a:r>
              <a:rPr lang="en-US" altLang="en-US" i="1"/>
              <a:t>	  </a:t>
            </a:r>
            <a:r>
              <a:rPr lang="en-US" altLang="en-US" i="1" u="sng"/>
              <a:t>Max</a:t>
            </a:r>
            <a:r>
              <a:rPr lang="en-US" altLang="en-US" i="1"/>
              <a:t>	</a:t>
            </a:r>
            <a:r>
              <a:rPr lang="en-US" altLang="en-US" i="1" u="sng"/>
              <a:t>Available</a:t>
            </a:r>
            <a:endParaRPr lang="en-US" altLang="en-US" i="1"/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i="1"/>
              <a:t>			A B C	       A B C 	A B C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/>
              <a:t>		</a:t>
            </a:r>
            <a:r>
              <a:rPr lang="en-US" altLang="en-US" i="1"/>
              <a:t>P</a:t>
            </a:r>
            <a:r>
              <a:rPr lang="en-US" altLang="en-US" baseline="-25000"/>
              <a:t>0	</a:t>
            </a:r>
            <a:r>
              <a:rPr lang="en-US" altLang="en-US"/>
              <a:t>0 1 0	         7 5 3 	3 3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baseline="-25000"/>
              <a:t>1	</a:t>
            </a:r>
            <a:r>
              <a:rPr lang="en-US" altLang="en-US"/>
              <a:t>2 0 0 	        3 2 2 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baseline="-25000"/>
              <a:t>2</a:t>
            </a:r>
            <a:r>
              <a:rPr lang="en-US" altLang="en-US"/>
              <a:t>	3 0 2 	        9 0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baseline="-25000"/>
              <a:t>3</a:t>
            </a:r>
            <a:r>
              <a:rPr lang="en-US" altLang="en-US"/>
              <a:t>	2 1 1 	        2 2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baseline="-25000"/>
              <a:t>4</a:t>
            </a:r>
            <a:r>
              <a:rPr lang="en-US" altLang="en-US"/>
              <a:t>	0 0 2	         4 3 3  		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(Cont.)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1136650"/>
            <a:ext cx="7724775" cy="4640263"/>
          </a:xfrm>
        </p:spPr>
        <p:txBody>
          <a:bodyPr/>
          <a:lstStyle/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content of the matrix </a:t>
            </a:r>
            <a:r>
              <a:rPr lang="en-US" altLang="en-US" b="1" i="1" dirty="0"/>
              <a:t>Need</a:t>
            </a:r>
            <a:r>
              <a:rPr lang="en-US" altLang="en-US" dirty="0"/>
              <a:t> is defined to be </a:t>
            </a:r>
            <a:r>
              <a:rPr lang="en-US" altLang="en-US" b="1" i="1" dirty="0"/>
              <a:t>Max</a:t>
            </a:r>
            <a:r>
              <a:rPr lang="en-US" altLang="en-US" b="1" dirty="0"/>
              <a:t> – </a:t>
            </a:r>
            <a:r>
              <a:rPr lang="en-US" altLang="en-US" b="1" i="1" dirty="0"/>
              <a:t>Allocation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Need</a:t>
            </a:r>
            <a:endParaRPr lang="en-US" altLang="en-US" u="sng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7 4 3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1 2 2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6 0 0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0 1 1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4 3 1 </a:t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system is in a safe state since the sequence &lt;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&gt; satisfies safety criteria</a:t>
            </a:r>
            <a:endParaRPr lang="en-US" altLang="en-US" baseline="-25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1431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Request (1,0,2)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8" y="1103313"/>
            <a:ext cx="7766050" cy="5103812"/>
          </a:xfrm>
        </p:spPr>
        <p:txBody>
          <a:bodyPr/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/>
              <a:t>Check that Request </a:t>
            </a:r>
            <a:r>
              <a:rPr lang="en-US" altLang="en-US">
                <a:sym typeface="Symbol" panose="05050102010706020507" pitchFamily="18" charset="2"/>
              </a:rPr>
              <a:t> Available (that is, (1,0,2)  (3,3,2)  true</a:t>
            </a:r>
            <a:endParaRPr lang="en-US" altLang="en-US" i="1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/>
              <a:t>			</a:t>
            </a:r>
            <a:r>
              <a:rPr lang="en-US" altLang="en-US" i="1" u="sng"/>
              <a:t>Allocation</a:t>
            </a:r>
            <a:r>
              <a:rPr lang="en-US" altLang="en-US" i="1"/>
              <a:t>	</a:t>
            </a:r>
            <a:r>
              <a:rPr lang="en-US" altLang="en-US" i="1" u="sng"/>
              <a:t>Need</a:t>
            </a:r>
            <a:r>
              <a:rPr lang="en-US" altLang="en-US" i="1"/>
              <a:t>	   </a:t>
            </a:r>
            <a:r>
              <a:rPr lang="en-US" altLang="en-US" i="1" u="sng"/>
              <a:t>Available</a:t>
            </a:r>
            <a:endParaRPr lang="en-US" altLang="en-US" i="1"/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/>
              <a:t>			A B C	A B C	 A B C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/>
              <a:t>		</a:t>
            </a:r>
            <a:r>
              <a:rPr lang="en-US" altLang="en-US" i="1"/>
              <a:t>P</a:t>
            </a:r>
            <a:r>
              <a:rPr lang="en-US" altLang="en-US" baseline="-25000"/>
              <a:t>0</a:t>
            </a:r>
            <a:r>
              <a:rPr lang="en-US" altLang="en-US"/>
              <a:t>	0 1 0 	7 4 3 	2 3 0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/>
              <a:t>		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	      3 0 2             0 2 0 	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/>
              <a:t>		</a:t>
            </a:r>
            <a:r>
              <a:rPr lang="en-US" altLang="en-US" i="1"/>
              <a:t>P</a:t>
            </a:r>
            <a:r>
              <a:rPr lang="en-US" altLang="en-US" baseline="-25000"/>
              <a:t>2</a:t>
            </a:r>
            <a:r>
              <a:rPr lang="en-US" altLang="en-US"/>
              <a:t>	3 0 2 	 6 0 0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/>
              <a:t>		</a:t>
            </a:r>
            <a:r>
              <a:rPr lang="en-US" altLang="en-US" i="1"/>
              <a:t>P</a:t>
            </a:r>
            <a:r>
              <a:rPr lang="en-US" altLang="en-US" baseline="-25000"/>
              <a:t>3</a:t>
            </a:r>
            <a:r>
              <a:rPr lang="en-US" altLang="en-US"/>
              <a:t>	2 1 1 	0 1 1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/>
              <a:t>		</a:t>
            </a:r>
            <a:r>
              <a:rPr lang="en-US" altLang="en-US" i="1"/>
              <a:t>P</a:t>
            </a:r>
            <a:r>
              <a:rPr lang="en-US" altLang="en-US" baseline="-25000"/>
              <a:t>4</a:t>
            </a:r>
            <a:r>
              <a:rPr lang="en-US" altLang="en-US"/>
              <a:t>	0 0 2 	 4 3 1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/>
              <a:t>Executing safety algorithm shows that sequence &lt; </a:t>
            </a:r>
            <a:r>
              <a:rPr lang="en-US" altLang="en-US" b="1" i="1"/>
              <a:t>P</a:t>
            </a:r>
            <a:r>
              <a:rPr lang="en-US" altLang="en-US" b="1" baseline="-25000"/>
              <a:t>1</a:t>
            </a:r>
            <a:r>
              <a:rPr lang="en-US" altLang="en-US" b="1"/>
              <a:t>, </a:t>
            </a:r>
            <a:r>
              <a:rPr lang="en-US" altLang="en-US" b="1" i="1"/>
              <a:t>P</a:t>
            </a:r>
            <a:r>
              <a:rPr lang="en-US" altLang="en-US" b="1" baseline="-25000"/>
              <a:t>3</a:t>
            </a:r>
            <a:r>
              <a:rPr lang="en-US" altLang="en-US" b="1"/>
              <a:t>, </a:t>
            </a:r>
            <a:r>
              <a:rPr lang="en-US" altLang="en-US" b="1" i="1"/>
              <a:t>P</a:t>
            </a:r>
            <a:r>
              <a:rPr lang="en-US" altLang="en-US" b="1" baseline="-25000"/>
              <a:t>4</a:t>
            </a:r>
            <a:r>
              <a:rPr lang="en-US" altLang="en-US" b="1"/>
              <a:t>, </a:t>
            </a:r>
            <a:r>
              <a:rPr lang="en-US" altLang="en-US" b="1" i="1"/>
              <a:t>P</a:t>
            </a:r>
            <a:r>
              <a:rPr lang="en-US" altLang="en-US" b="1" baseline="-25000"/>
              <a:t>0</a:t>
            </a:r>
            <a:r>
              <a:rPr lang="en-US" altLang="en-US" b="1"/>
              <a:t>, </a:t>
            </a:r>
            <a:r>
              <a:rPr lang="en-US" altLang="en-US" b="1" i="1"/>
              <a:t>P</a:t>
            </a:r>
            <a:r>
              <a:rPr lang="en-US" altLang="en-US" b="1" baseline="-25000"/>
              <a:t>2</a:t>
            </a:r>
            <a:r>
              <a:rPr lang="en-US" altLang="en-US"/>
              <a:t>&gt; satisfies safety requirement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/>
              <a:t>Can request for (3,3,0) by </a:t>
            </a:r>
            <a:r>
              <a:rPr lang="en-US" altLang="en-US" b="1" i="1"/>
              <a:t>P</a:t>
            </a:r>
            <a:r>
              <a:rPr lang="en-US" altLang="en-US" b="1" baseline="-25000"/>
              <a:t>4</a:t>
            </a:r>
            <a:r>
              <a:rPr lang="en-US" altLang="en-US"/>
              <a:t> be granted?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/>
              <a:t>Can request for (0,2,0) by </a:t>
            </a:r>
            <a:r>
              <a:rPr lang="en-US" altLang="en-US" b="1" i="1"/>
              <a:t>P</a:t>
            </a:r>
            <a:r>
              <a:rPr lang="en-US" altLang="en-US" b="1" baseline="-25000"/>
              <a:t>0</a:t>
            </a:r>
            <a:r>
              <a:rPr lang="en-US" altLang="en-US"/>
              <a:t> be granted?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1413" y="198438"/>
            <a:ext cx="7421562" cy="576262"/>
          </a:xfrm>
        </p:spPr>
        <p:txBody>
          <a:bodyPr/>
          <a:lstStyle/>
          <a:p>
            <a:pPr eaLnBrk="1" hangingPunct="1"/>
            <a:r>
              <a:rPr lang="en-US" altLang="en-US"/>
              <a:t>Deadlock Detection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233488"/>
            <a:ext cx="7391400" cy="4530725"/>
          </a:xfrm>
        </p:spPr>
        <p:txBody>
          <a:bodyPr/>
          <a:lstStyle/>
          <a:p>
            <a:r>
              <a:rPr lang="en-US" altLang="en-US" dirty="0"/>
              <a:t>Allow system to enter deadlock state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Detection algorithm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Recovery scheme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-141288"/>
            <a:ext cx="7772400" cy="844551"/>
          </a:xfrm>
        </p:spPr>
        <p:txBody>
          <a:bodyPr/>
          <a:lstStyle/>
          <a:p>
            <a:pPr eaLnBrk="1" hangingPunct="1"/>
            <a:r>
              <a:rPr lang="en-US" altLang="en-US" sz="2800"/>
              <a:t>Single Instance of Each Resource Type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73163"/>
            <a:ext cx="7585075" cy="4511675"/>
          </a:xfrm>
        </p:spPr>
        <p:txBody>
          <a:bodyPr/>
          <a:lstStyle/>
          <a:p>
            <a:r>
              <a:rPr lang="en-US" altLang="en-US"/>
              <a:t>Maintain </a:t>
            </a:r>
            <a:r>
              <a:rPr lang="en-US" altLang="en-US" b="1">
                <a:solidFill>
                  <a:srgbClr val="3366FF"/>
                </a:solidFill>
              </a:rPr>
              <a:t>wait-for </a:t>
            </a:r>
            <a:r>
              <a:rPr lang="en-US" altLang="en-US"/>
              <a:t>graph</a:t>
            </a:r>
          </a:p>
          <a:p>
            <a:pPr lvl="1"/>
            <a:r>
              <a:rPr lang="en-US" altLang="en-US"/>
              <a:t>Nodes are processes</a:t>
            </a:r>
          </a:p>
          <a:p>
            <a:pPr lvl="1"/>
            <a:r>
              <a:rPr lang="en-US" altLang="en-US" b="1" i="1"/>
              <a:t>P</a:t>
            </a:r>
            <a:r>
              <a:rPr lang="en-US" altLang="en-US" b="1" i="1" baseline="-25000"/>
              <a:t>i</a:t>
            </a:r>
            <a:r>
              <a:rPr lang="en-US" altLang="en-US" b="1"/>
              <a:t> </a:t>
            </a:r>
            <a:r>
              <a:rPr lang="en-US" altLang="en-US" b="1">
                <a:sym typeface="Symbol" panose="05050102010706020507" pitchFamily="18" charset="2"/>
              </a:rPr>
              <a:t> </a:t>
            </a:r>
            <a:r>
              <a:rPr lang="en-US" altLang="en-US" b="1" i="1">
                <a:sym typeface="Symbol" panose="05050102010706020507" pitchFamily="18" charset="2"/>
              </a:rPr>
              <a:t>P</a:t>
            </a:r>
            <a:r>
              <a:rPr lang="en-US" altLang="en-US" b="1" i="1" baseline="-25000">
                <a:sym typeface="Symbol" panose="05050102010706020507" pitchFamily="18" charset="2"/>
              </a:rPr>
              <a:t>j   </a:t>
            </a:r>
            <a:r>
              <a:rPr lang="en-US" altLang="en-US">
                <a:sym typeface="Symbol" panose="05050102010706020507" pitchFamily="18" charset="2"/>
              </a:rPr>
              <a:t>if </a:t>
            </a:r>
            <a:r>
              <a:rPr lang="en-US" altLang="en-US" b="1" i="1">
                <a:sym typeface="Symbol" panose="05050102010706020507" pitchFamily="18" charset="2"/>
              </a:rPr>
              <a:t>P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is waiting for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 b="1" i="1">
                <a:sym typeface="Symbol" panose="05050102010706020507" pitchFamily="18" charset="2"/>
              </a:rPr>
              <a:t>P</a:t>
            </a:r>
            <a:r>
              <a:rPr lang="en-US" altLang="en-US" b="1" i="1" baseline="-25000">
                <a:sym typeface="Symbol" panose="05050102010706020507" pitchFamily="18" charset="2"/>
              </a:rPr>
              <a:t>j</a:t>
            </a:r>
            <a:br>
              <a:rPr lang="en-US" altLang="en-US" b="1" i="1">
                <a:sym typeface="Symbol" panose="05050102010706020507" pitchFamily="18" charset="2"/>
              </a:rPr>
            </a:br>
            <a:endParaRPr lang="en-US" altLang="en-US" b="1" i="1">
              <a:sym typeface="Symbol" panose="05050102010706020507" pitchFamily="18" charset="2"/>
            </a:endParaRPr>
          </a:p>
          <a:p>
            <a:r>
              <a:rPr lang="en-US" altLang="en-US"/>
              <a:t>Periodically invoke an algorithm that searches for a cycle in the graph. If there is a cycle, there exists a deadlock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r>
              <a:rPr lang="en-US" altLang="en-US"/>
              <a:t>An algorithm to detect a cycle in a graph requires an order of</a:t>
            </a:r>
            <a:r>
              <a:rPr lang="en-US" altLang="en-US" i="1"/>
              <a:t> </a:t>
            </a:r>
            <a:r>
              <a:rPr lang="en-US" altLang="en-US" b="1" i="1"/>
              <a:t>n</a:t>
            </a:r>
            <a:r>
              <a:rPr lang="en-US" altLang="en-US" b="1" baseline="30000"/>
              <a:t>2</a:t>
            </a:r>
            <a:r>
              <a:rPr lang="en-US" altLang="en-US" b="1"/>
              <a:t> </a:t>
            </a:r>
            <a:r>
              <a:rPr lang="en-US" altLang="en-US"/>
              <a:t>operations, where </a:t>
            </a:r>
            <a:r>
              <a:rPr lang="en-US" altLang="en-US" b="1" i="1"/>
              <a:t>n</a:t>
            </a:r>
            <a:r>
              <a:rPr lang="en-US" altLang="en-US"/>
              <a:t> is the number of vertices in the graph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36663" y="266700"/>
            <a:ext cx="7751762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Resource-Allocation Graph and  Wait-for Graph</a:t>
            </a:r>
          </a:p>
        </p:txBody>
      </p:sp>
      <p:sp>
        <p:nvSpPr>
          <p:cNvPr id="76803" name="Text Box 5"/>
          <p:cNvSpPr txBox="1">
            <a:spLocks noChangeArrowheads="1"/>
          </p:cNvSpPr>
          <p:nvPr/>
        </p:nvSpPr>
        <p:spPr bwMode="auto">
          <a:xfrm>
            <a:off x="1647825" y="5294313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Resource-Allocation Graph</a:t>
            </a:r>
          </a:p>
        </p:txBody>
      </p:sp>
      <p:sp>
        <p:nvSpPr>
          <p:cNvPr id="76804" name="Text Box 6"/>
          <p:cNvSpPr txBox="1">
            <a:spLocks noChangeArrowheads="1"/>
          </p:cNvSpPr>
          <p:nvPr/>
        </p:nvSpPr>
        <p:spPr bwMode="auto">
          <a:xfrm>
            <a:off x="4810125" y="5294313"/>
            <a:ext cx="314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Corresponding wait-for graph</a:t>
            </a:r>
          </a:p>
        </p:txBody>
      </p:sp>
      <p:pic>
        <p:nvPicPr>
          <p:cNvPr id="76805" name="Picture 6" descr="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257300"/>
            <a:ext cx="5937250" cy="383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161925"/>
            <a:ext cx="7772400" cy="628650"/>
          </a:xfrm>
        </p:spPr>
        <p:txBody>
          <a:bodyPr/>
          <a:lstStyle/>
          <a:p>
            <a:pPr eaLnBrk="1" hangingPunct="1"/>
            <a:r>
              <a:rPr lang="en-US" altLang="en-US"/>
              <a:t>Several Instances of a Resource Type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87450"/>
            <a:ext cx="7015163" cy="3851275"/>
          </a:xfrm>
        </p:spPr>
        <p:txBody>
          <a:bodyPr/>
          <a:lstStyle/>
          <a:p>
            <a:r>
              <a:rPr lang="en-US" altLang="en-US" b="1">
                <a:solidFill>
                  <a:srgbClr val="000000"/>
                </a:solidFill>
              </a:rPr>
              <a:t>Available</a:t>
            </a:r>
            <a:r>
              <a:rPr lang="en-US" altLang="en-US" i="1"/>
              <a:t>:</a:t>
            </a:r>
            <a:r>
              <a:rPr lang="en-US" altLang="en-US"/>
              <a:t>  A vector of length </a:t>
            </a:r>
            <a:r>
              <a:rPr lang="en-US" altLang="en-US" b="1" i="1"/>
              <a:t>m</a:t>
            </a:r>
            <a:r>
              <a:rPr lang="en-US" altLang="en-US"/>
              <a:t> indicates the number of available resources of each type</a:t>
            </a:r>
          </a:p>
          <a:p>
            <a:r>
              <a:rPr lang="en-US" altLang="en-US" b="1">
                <a:solidFill>
                  <a:srgbClr val="000000"/>
                </a:solidFill>
              </a:rPr>
              <a:t>Allocation</a:t>
            </a:r>
            <a:r>
              <a:rPr lang="en-US" altLang="en-US" i="1"/>
              <a:t>:</a:t>
            </a:r>
            <a:r>
              <a:rPr lang="en-US" altLang="en-US"/>
              <a:t>  An </a:t>
            </a:r>
            <a:r>
              <a:rPr lang="en-US" altLang="en-US" b="1" i="1"/>
              <a:t>n </a:t>
            </a:r>
            <a:r>
              <a:rPr lang="en-US" altLang="en-US" b="1"/>
              <a:t>x</a:t>
            </a:r>
            <a:r>
              <a:rPr lang="en-US" altLang="en-US" b="1" i="1"/>
              <a:t> m</a:t>
            </a:r>
            <a:r>
              <a:rPr lang="en-US" altLang="en-US" b="1"/>
              <a:t> </a:t>
            </a:r>
            <a:r>
              <a:rPr lang="en-US" altLang="en-US"/>
              <a:t>matrix defines the number of resources of each type currently allocated to each process</a:t>
            </a:r>
          </a:p>
          <a:p>
            <a:r>
              <a:rPr lang="en-US" altLang="en-US" b="1">
                <a:solidFill>
                  <a:srgbClr val="000000"/>
                </a:solidFill>
              </a:rPr>
              <a:t>Request</a:t>
            </a:r>
            <a:r>
              <a:rPr lang="en-US" altLang="en-US" i="1"/>
              <a:t>:</a:t>
            </a:r>
            <a:r>
              <a:rPr lang="en-US" altLang="en-US"/>
              <a:t>  An </a:t>
            </a:r>
            <a:r>
              <a:rPr lang="en-US" altLang="en-US" b="1" i="1"/>
              <a:t>n </a:t>
            </a:r>
            <a:r>
              <a:rPr lang="en-US" altLang="en-US" b="1"/>
              <a:t>x</a:t>
            </a:r>
            <a:r>
              <a:rPr lang="en-US" altLang="en-US" b="1" i="1"/>
              <a:t> m</a:t>
            </a:r>
            <a:r>
              <a:rPr lang="en-US" altLang="en-US" b="1"/>
              <a:t> </a:t>
            </a:r>
            <a:r>
              <a:rPr lang="en-US" altLang="en-US"/>
              <a:t>matrix indicates the current request  of each process.  If </a:t>
            </a:r>
            <a:r>
              <a:rPr lang="en-US" altLang="en-US" b="1" i="1"/>
              <a:t>Request </a:t>
            </a:r>
            <a:r>
              <a:rPr lang="en-US" altLang="en-US" b="1"/>
              <a:t>[</a:t>
            </a:r>
            <a:r>
              <a:rPr lang="en-US" altLang="en-US" b="1" i="1"/>
              <a:t>i</a:t>
            </a:r>
            <a:r>
              <a:rPr lang="en-US" altLang="en-US" b="1"/>
              <a:t>][</a:t>
            </a:r>
            <a:r>
              <a:rPr lang="en-US" altLang="en-US" b="1" i="1"/>
              <a:t>j</a:t>
            </a:r>
            <a:r>
              <a:rPr lang="en-US" altLang="en-US" b="1"/>
              <a:t>] = </a:t>
            </a:r>
            <a:r>
              <a:rPr lang="en-US" altLang="en-US" b="1" i="1"/>
              <a:t>k</a:t>
            </a:r>
            <a:r>
              <a:rPr lang="en-US" altLang="en-US"/>
              <a:t>, then process</a:t>
            </a:r>
            <a:r>
              <a:rPr lang="en-US" altLang="en-US" i="1"/>
              <a:t> </a:t>
            </a:r>
            <a:r>
              <a:rPr lang="en-US" altLang="en-US" b="1" i="1"/>
              <a:t>P</a:t>
            </a:r>
            <a:r>
              <a:rPr lang="en-US" altLang="en-US" b="1" i="1" baseline="-25000"/>
              <a:t>i</a:t>
            </a:r>
            <a:r>
              <a:rPr lang="en-US" altLang="en-US"/>
              <a:t> is requesting</a:t>
            </a:r>
            <a:r>
              <a:rPr lang="en-US" altLang="en-US" i="1"/>
              <a:t> </a:t>
            </a:r>
            <a:r>
              <a:rPr lang="en-US" altLang="en-US" b="1" i="1"/>
              <a:t>k</a:t>
            </a:r>
            <a:r>
              <a:rPr lang="en-US" altLang="en-US"/>
              <a:t> more instances of resource type </a:t>
            </a:r>
            <a:r>
              <a:rPr lang="en-US" altLang="en-US" b="1" i="1"/>
              <a:t>R</a:t>
            </a:r>
            <a:r>
              <a:rPr lang="en-US" altLang="en-US" b="1" i="1" baseline="-25000"/>
              <a:t>j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787400" y="152400"/>
            <a:ext cx="7899400" cy="576263"/>
          </a:xfrm>
        </p:spPr>
        <p:txBody>
          <a:bodyPr/>
          <a:lstStyle/>
          <a:p>
            <a:pPr eaLnBrk="1" hangingPunct="1"/>
            <a:r>
              <a:rPr lang="en-US" altLang="en-US"/>
              <a:t>Detection Algorithm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5363" y="1233488"/>
            <a:ext cx="7753350" cy="453072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1.	Let </a:t>
            </a:r>
            <a:r>
              <a:rPr lang="en-US" altLang="en-US" b="1" i="1"/>
              <a:t>Work</a:t>
            </a:r>
            <a:r>
              <a:rPr lang="en-US" altLang="en-US"/>
              <a:t> and </a:t>
            </a:r>
            <a:r>
              <a:rPr lang="en-US" altLang="en-US" b="1" i="1"/>
              <a:t>Finish</a:t>
            </a:r>
            <a:r>
              <a:rPr lang="en-US" altLang="en-US"/>
              <a:t> be vectors of length </a:t>
            </a:r>
            <a:r>
              <a:rPr lang="en-US" altLang="en-US" b="1" i="1"/>
              <a:t>m</a:t>
            </a:r>
            <a:r>
              <a:rPr lang="en-US" altLang="en-US"/>
              <a:t> and </a:t>
            </a:r>
            <a:r>
              <a:rPr lang="en-US" altLang="en-US" b="1" i="1"/>
              <a:t>n</a:t>
            </a:r>
            <a:r>
              <a:rPr lang="en-US" altLang="en-US"/>
              <a:t>, respectively Initialize: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/>
              <a:t>(a) </a:t>
            </a:r>
            <a:r>
              <a:rPr lang="en-US" altLang="en-US" b="1" i="1"/>
              <a:t>Work</a:t>
            </a:r>
            <a:r>
              <a:rPr lang="en-US" altLang="en-US" b="1"/>
              <a:t> = </a:t>
            </a:r>
            <a:r>
              <a:rPr lang="en-US" altLang="en-US" b="1" i="1"/>
              <a:t>Available</a:t>
            </a:r>
            <a:endParaRPr lang="en-US" altLang="en-US" b="1"/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/>
              <a:t>(b)	For </a:t>
            </a:r>
            <a:r>
              <a:rPr lang="en-US" altLang="en-US" b="1" i="1"/>
              <a:t>i</a:t>
            </a:r>
            <a:r>
              <a:rPr lang="en-US" altLang="en-US" b="1"/>
              <a:t> = 1,2, …,</a:t>
            </a:r>
            <a:r>
              <a:rPr lang="en-US" altLang="en-US" b="1" i="1"/>
              <a:t> n</a:t>
            </a:r>
            <a:r>
              <a:rPr lang="en-US" altLang="en-US"/>
              <a:t>, if </a:t>
            </a:r>
            <a:r>
              <a:rPr lang="en-US" altLang="en-US" b="1" i="1"/>
              <a:t>Allocation</a:t>
            </a:r>
            <a:r>
              <a:rPr lang="en-US" altLang="en-US" b="1" i="1" baseline="-25000"/>
              <a:t>i</a:t>
            </a:r>
            <a:r>
              <a:rPr lang="en-US" altLang="en-US" b="1"/>
              <a:t> </a:t>
            </a:r>
            <a:r>
              <a:rPr lang="en-US" altLang="en-US" b="1">
                <a:sym typeface="Symbol" panose="05050102010706020507" pitchFamily="18" charset="2"/>
              </a:rPr>
              <a:t> 0</a:t>
            </a:r>
            <a:r>
              <a:rPr lang="en-US" altLang="en-US">
                <a:sym typeface="Symbol" panose="05050102010706020507" pitchFamily="18" charset="2"/>
              </a:rPr>
              <a:t>, then 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 b="1" i="1">
                <a:sym typeface="Symbol" panose="05050102010706020507" pitchFamily="18" charset="2"/>
              </a:rPr>
              <a:t>Finish</a:t>
            </a:r>
            <a:r>
              <a:rPr lang="en-US" altLang="en-US" b="1">
                <a:sym typeface="Symbol" panose="05050102010706020507" pitchFamily="18" charset="2"/>
              </a:rPr>
              <a:t>[i] </a:t>
            </a:r>
            <a:r>
              <a:rPr lang="en-US" altLang="en-US" b="1" i="1">
                <a:sym typeface="Symbol" panose="05050102010706020507" pitchFamily="18" charset="2"/>
              </a:rPr>
              <a:t>= false</a:t>
            </a:r>
            <a:r>
              <a:rPr lang="en-US" altLang="en-US">
                <a:sym typeface="Symbol" panose="05050102010706020507" pitchFamily="18" charset="2"/>
              </a:rPr>
              <a:t>; otherwise, </a:t>
            </a:r>
            <a:r>
              <a:rPr lang="en-US" altLang="en-US" b="1" i="1">
                <a:sym typeface="Symbol" panose="05050102010706020507" pitchFamily="18" charset="2"/>
              </a:rPr>
              <a:t>Finish</a:t>
            </a:r>
            <a:r>
              <a:rPr lang="en-US" altLang="en-US" b="1">
                <a:sym typeface="Symbol" panose="05050102010706020507" pitchFamily="18" charset="2"/>
              </a:rPr>
              <a:t>[i] = </a:t>
            </a:r>
            <a:r>
              <a:rPr lang="en-US" altLang="en-US" b="1" i="1">
                <a:sym typeface="Symbol" panose="05050102010706020507" pitchFamily="18" charset="2"/>
              </a:rPr>
              <a:t>true</a:t>
            </a:r>
          </a:p>
          <a:p>
            <a:pPr marL="850900" lvl="1" indent="-393700">
              <a:buFont typeface="Monotype Sorts" pitchFamily="-84" charset="2"/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/>
              <a:t>2.	Find an index </a:t>
            </a:r>
            <a:r>
              <a:rPr lang="en-US" altLang="en-US" b="1" i="1"/>
              <a:t>i</a:t>
            </a:r>
            <a:r>
              <a:rPr lang="en-US" altLang="en-US" i="1"/>
              <a:t> </a:t>
            </a:r>
            <a:r>
              <a:rPr lang="en-US" altLang="en-US"/>
              <a:t>such that both: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/>
              <a:t>(a)	</a:t>
            </a:r>
            <a:r>
              <a:rPr lang="en-US" altLang="en-US" b="1" i="1"/>
              <a:t>Finish</a:t>
            </a:r>
            <a:r>
              <a:rPr lang="en-US" altLang="en-US" b="1"/>
              <a:t>[</a:t>
            </a:r>
            <a:r>
              <a:rPr lang="en-US" altLang="en-US" b="1" i="1"/>
              <a:t>i</a:t>
            </a:r>
            <a:r>
              <a:rPr lang="en-US" altLang="en-US" b="1"/>
              <a:t>] == </a:t>
            </a:r>
            <a:r>
              <a:rPr lang="en-US" altLang="en-US" b="1" i="1"/>
              <a:t>false</a:t>
            </a:r>
            <a:endParaRPr lang="en-US" altLang="en-US" b="1"/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/>
              <a:t>(b)	</a:t>
            </a:r>
            <a:r>
              <a:rPr lang="en-US" altLang="en-US" b="1" i="1"/>
              <a:t>Request</a:t>
            </a:r>
            <a:r>
              <a:rPr lang="en-US" altLang="en-US" b="1" i="1" baseline="-25000"/>
              <a:t>i</a:t>
            </a:r>
            <a:r>
              <a:rPr lang="en-US" altLang="en-US" b="1"/>
              <a:t> </a:t>
            </a:r>
            <a:r>
              <a:rPr lang="en-US" altLang="en-US" b="1">
                <a:sym typeface="Symbol" panose="05050102010706020507" pitchFamily="18" charset="2"/>
              </a:rPr>
              <a:t> </a:t>
            </a:r>
            <a:r>
              <a:rPr lang="en-US" altLang="en-US" b="1" i="1">
                <a:sym typeface="Symbol" panose="05050102010706020507" pitchFamily="18" charset="2"/>
              </a:rPr>
              <a:t>Work</a:t>
            </a:r>
            <a:br>
              <a:rPr lang="en-US" altLang="en-US" b="1" i="1">
                <a:sym typeface="Symbol" panose="05050102010706020507" pitchFamily="18" charset="2"/>
              </a:rPr>
            </a:br>
            <a:endParaRPr lang="en-US" altLang="en-US" b="1">
              <a:sym typeface="Symbol" panose="05050102010706020507" pitchFamily="18" charset="2"/>
            </a:endParaRP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>
                <a:sym typeface="Symbol" panose="05050102010706020507" pitchFamily="18" charset="2"/>
              </a:rPr>
              <a:t>If no such </a:t>
            </a:r>
            <a:r>
              <a:rPr lang="en-US" altLang="en-US" b="1" i="1">
                <a:sym typeface="Symbol" panose="05050102010706020507" pitchFamily="18" charset="2"/>
              </a:rPr>
              <a:t>i</a:t>
            </a:r>
            <a:r>
              <a:rPr lang="en-US" altLang="en-US" b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exists, go to step 4</a:t>
            </a:r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713" y="214313"/>
            <a:ext cx="7558087" cy="576262"/>
          </a:xfrm>
        </p:spPr>
        <p:txBody>
          <a:bodyPr/>
          <a:lstStyle/>
          <a:p>
            <a:pPr eaLnBrk="1" hangingPunct="1"/>
            <a:r>
              <a:rPr lang="en-US" altLang="en-US"/>
              <a:t>Detection Algorithm (Cont.)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738" y="1171575"/>
            <a:ext cx="7218362" cy="2297113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/>
              <a:t>3.	</a:t>
            </a:r>
            <a:r>
              <a:rPr lang="en-US" altLang="en-US" b="1" i="1"/>
              <a:t>Work</a:t>
            </a:r>
            <a:r>
              <a:rPr lang="en-US" altLang="en-US" b="1"/>
              <a:t> = </a:t>
            </a:r>
            <a:r>
              <a:rPr lang="en-US" altLang="en-US" b="1" i="1"/>
              <a:t>Work</a:t>
            </a:r>
            <a:r>
              <a:rPr lang="en-US" altLang="en-US" b="1"/>
              <a:t> + </a:t>
            </a:r>
            <a:r>
              <a:rPr lang="en-US" altLang="en-US" b="1" i="1"/>
              <a:t>Allocation</a:t>
            </a:r>
            <a:r>
              <a:rPr lang="en-US" altLang="en-US" b="1" i="1" baseline="-25000"/>
              <a:t>i</a:t>
            </a:r>
            <a:br>
              <a:rPr lang="en-US" altLang="en-US" b="1"/>
            </a:br>
            <a:r>
              <a:rPr lang="en-US" altLang="en-US" b="1" i="1"/>
              <a:t>Finish</a:t>
            </a:r>
            <a:r>
              <a:rPr lang="en-US" altLang="en-US" b="1"/>
              <a:t>[</a:t>
            </a:r>
            <a:r>
              <a:rPr lang="en-US" altLang="en-US" b="1" i="1"/>
              <a:t>i</a:t>
            </a:r>
            <a:r>
              <a:rPr lang="en-US" altLang="en-US" b="1"/>
              <a:t>] = </a:t>
            </a:r>
            <a:r>
              <a:rPr lang="en-US" altLang="en-US" b="1" i="1"/>
              <a:t>true</a:t>
            </a:r>
            <a:br>
              <a:rPr lang="en-US" altLang="en-US" b="1"/>
            </a:br>
            <a:r>
              <a:rPr lang="en-US" altLang="en-US"/>
              <a:t>go to step 2</a:t>
            </a:r>
            <a:br>
              <a:rPr lang="en-US" altLang="en-US"/>
            </a:br>
            <a:endParaRPr lang="en-US" altLang="en-US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/>
              <a:t>4.	If </a:t>
            </a:r>
            <a:r>
              <a:rPr lang="en-US" altLang="en-US" b="1" i="1"/>
              <a:t>Finish[i] == false</a:t>
            </a:r>
            <a:r>
              <a:rPr lang="en-US" altLang="en-US"/>
              <a:t>, for some </a:t>
            </a:r>
            <a:r>
              <a:rPr lang="en-US" altLang="en-US" b="1" i="1"/>
              <a:t>i</a:t>
            </a:r>
            <a:r>
              <a:rPr lang="en-US" altLang="en-US"/>
              <a:t>, 1 </a:t>
            </a:r>
            <a:r>
              <a:rPr lang="en-US" altLang="en-US">
                <a:sym typeface="Symbol" panose="05050102010706020507" pitchFamily="18" charset="2"/>
              </a:rPr>
              <a:t> </a:t>
            </a:r>
            <a:r>
              <a:rPr lang="en-US" altLang="en-US" b="1" i="1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  </a:t>
            </a:r>
            <a:r>
              <a:rPr lang="en-US" altLang="en-US" b="1" i="1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, then the system is in deadlock state. Moreover, if </a:t>
            </a:r>
            <a:r>
              <a:rPr lang="en-US" altLang="en-US" b="1" i="1">
                <a:sym typeface="Symbol" panose="05050102010706020507" pitchFamily="18" charset="2"/>
              </a:rPr>
              <a:t>Finish</a:t>
            </a:r>
            <a:r>
              <a:rPr lang="en-US" altLang="en-US" b="1">
                <a:sym typeface="Symbol" panose="05050102010706020507" pitchFamily="18" charset="2"/>
              </a:rPr>
              <a:t>[</a:t>
            </a:r>
            <a:r>
              <a:rPr lang="en-US" altLang="en-US" b="1" i="1">
                <a:sym typeface="Symbol" panose="05050102010706020507" pitchFamily="18" charset="2"/>
              </a:rPr>
              <a:t>i</a:t>
            </a:r>
            <a:r>
              <a:rPr lang="en-US" altLang="en-US" b="1">
                <a:sym typeface="Symbol" panose="05050102010706020507" pitchFamily="18" charset="2"/>
              </a:rPr>
              <a:t>] == </a:t>
            </a:r>
            <a:r>
              <a:rPr lang="en-US" altLang="en-US" b="1" i="1">
                <a:sym typeface="Symbol" panose="05050102010706020507" pitchFamily="18" charset="2"/>
              </a:rPr>
              <a:t>false</a:t>
            </a:r>
            <a:r>
              <a:rPr lang="en-US" altLang="en-US">
                <a:sym typeface="Symbol" panose="05050102010706020507" pitchFamily="18" charset="2"/>
              </a:rPr>
              <a:t>, then </a:t>
            </a:r>
            <a:r>
              <a:rPr lang="en-US" altLang="en-US" b="1" i="1">
                <a:sym typeface="Symbol" panose="05050102010706020507" pitchFamily="18" charset="2"/>
              </a:rPr>
              <a:t>P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>
                <a:sym typeface="Symbol" panose="05050102010706020507" pitchFamily="18" charset="2"/>
              </a:rPr>
              <a:t>	</a:t>
            </a:r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214313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 of Detection Algorithm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108075"/>
            <a:ext cx="8037513" cy="5121275"/>
          </a:xfrm>
        </p:spPr>
        <p:txBody>
          <a:bodyPr/>
          <a:lstStyle/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Five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through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;</a:t>
            </a:r>
            <a:r>
              <a:rPr lang="en-US" altLang="en-US" baseline="-25000" dirty="0"/>
              <a:t> </a:t>
            </a:r>
            <a:r>
              <a:rPr lang="en-US" altLang="en-US" dirty="0"/>
              <a:t>three resource types </a:t>
            </a:r>
            <a:br>
              <a:rPr lang="en-US" altLang="en-US" dirty="0"/>
            </a:br>
            <a:r>
              <a:rPr lang="en-US" altLang="en-US" dirty="0"/>
              <a:t>A (7 instances), </a:t>
            </a:r>
            <a:r>
              <a:rPr lang="en-US" altLang="en-US" i="1" dirty="0"/>
              <a:t>B </a:t>
            </a:r>
            <a:r>
              <a:rPr lang="en-US" altLang="en-US" dirty="0"/>
              <a:t>(2 instances), and </a:t>
            </a:r>
            <a:r>
              <a:rPr lang="en-US" altLang="en-US" i="1" dirty="0"/>
              <a:t>C</a:t>
            </a:r>
            <a:r>
              <a:rPr lang="en-US" altLang="en-US" dirty="0"/>
              <a:t> (6 instances)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Snapshot at time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: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Request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 	  A B C 	A B C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          0 1 0             0 0 0 	0 0 0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P</a:t>
            </a:r>
            <a:r>
              <a:rPr lang="en-US" altLang="en-US" baseline="-25000" dirty="0"/>
              <a:t>1</a:t>
            </a:r>
            <a:r>
              <a:rPr lang="en-US" altLang="en-US" dirty="0"/>
              <a:t>	          	2 0 0 	  2 0 2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P</a:t>
            </a:r>
            <a:r>
              <a:rPr lang="en-US" altLang="en-US" baseline="-25000" dirty="0"/>
              <a:t>2</a:t>
            </a:r>
            <a:r>
              <a:rPr lang="en-US" altLang="en-US" dirty="0"/>
              <a:t>		          3 0 3             0 0 0 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P</a:t>
            </a:r>
            <a:r>
              <a:rPr lang="en-US" altLang="en-US" baseline="-25000" dirty="0"/>
              <a:t>3</a:t>
            </a:r>
            <a:r>
              <a:rPr lang="en-US" altLang="en-US" dirty="0"/>
              <a:t>		2 1 1 	   1 0 0 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4	</a:t>
            </a:r>
            <a:r>
              <a:rPr lang="en-US" altLang="en-US" dirty="0"/>
              <a:t>	0 0 2 	   0 0 2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Sequence &lt;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0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2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4</a:t>
            </a:r>
            <a:r>
              <a:rPr lang="en-US" altLang="en-US" dirty="0"/>
              <a:t>&gt; will result in </a:t>
            </a:r>
            <a:r>
              <a:rPr lang="en-US" altLang="en-US" b="1" i="1" dirty="0"/>
              <a:t>Finish[</a:t>
            </a:r>
            <a:r>
              <a:rPr lang="en-US" altLang="en-US" b="1" i="1" dirty="0" err="1"/>
              <a:t>i</a:t>
            </a:r>
            <a:r>
              <a:rPr lang="en-US" altLang="en-US" b="1" i="1" dirty="0"/>
              <a:t>] = true </a:t>
            </a:r>
            <a:r>
              <a:rPr lang="en-US" altLang="en-US" dirty="0"/>
              <a:t>for all </a:t>
            </a:r>
            <a:r>
              <a:rPr lang="en-US" altLang="en-US" b="1" i="1" dirty="0" err="1"/>
              <a:t>i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 (Cont.)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81925" cy="5037137"/>
          </a:xfrm>
        </p:spPr>
        <p:txBody>
          <a:bodyPr/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 requests an additional instance of type</a:t>
            </a:r>
            <a:r>
              <a:rPr lang="en-US" altLang="en-US" i="1" dirty="0"/>
              <a:t> </a:t>
            </a:r>
            <a:r>
              <a:rPr lang="en-US" altLang="en-US" b="1" i="1" dirty="0"/>
              <a:t>C</a:t>
            </a:r>
            <a:endParaRPr lang="en-US" altLang="en-US" b="1" dirty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Request</a:t>
            </a:r>
            <a:endParaRPr lang="en-US" altLang="en-US" i="1" dirty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i="1" dirty="0"/>
              <a:t>			A B C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0 0 0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	2 0 2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0 0 1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1 0 0 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endParaRPr lang="en-US" altLang="en-US" sz="800" dirty="0"/>
          </a:p>
          <a:p>
            <a:pPr>
              <a:tabLst>
                <a:tab pos="2800350" algn="l"/>
                <a:tab pos="3708400" algn="ctr"/>
              </a:tabLst>
            </a:pPr>
            <a:r>
              <a:rPr lang="en-US" altLang="en-US" dirty="0"/>
              <a:t>State of system?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Can reclaim resources held by process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, but insufficient resources to fulfill other processes; requests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Deadlock exists, consisting of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baseline="-25000" dirty="0"/>
              <a:t>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dirty="0"/>
              <a:t>, and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endParaRPr lang="en-US" altLang="en-US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138" y="230188"/>
            <a:ext cx="7586662" cy="576262"/>
          </a:xfrm>
        </p:spPr>
        <p:txBody>
          <a:bodyPr/>
          <a:lstStyle/>
          <a:p>
            <a:pPr eaLnBrk="1" hangingPunct="1"/>
            <a:r>
              <a:rPr lang="en-US" altLang="en-US"/>
              <a:t>Detection-Algorithm Usage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50" y="1122363"/>
            <a:ext cx="7107238" cy="4530725"/>
          </a:xfrm>
        </p:spPr>
        <p:txBody>
          <a:bodyPr/>
          <a:lstStyle/>
          <a:p>
            <a:r>
              <a:rPr lang="en-US" altLang="en-US"/>
              <a:t>When, and how often, to invoke depends on:</a:t>
            </a:r>
          </a:p>
          <a:p>
            <a:pPr lvl="1"/>
            <a:r>
              <a:rPr lang="en-US" altLang="en-US"/>
              <a:t>How often a deadlock is likely to occur?</a:t>
            </a:r>
          </a:p>
          <a:p>
            <a:pPr lvl="1"/>
            <a:r>
              <a:rPr lang="en-US" altLang="en-US"/>
              <a:t>How many processes will need to be rolled back?</a:t>
            </a:r>
          </a:p>
          <a:p>
            <a:pPr lvl="2"/>
            <a:r>
              <a:rPr lang="en-US" altLang="en-US"/>
              <a:t>one for each disjoint cycle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If detection algorithm is invoked arbitrarily, there may be many cycles in the resource graph and so we would not be able to tell which of the many deadlocked processes </a:t>
            </a:r>
            <a:r>
              <a:rPr lang="ja-JP" altLang="en-US"/>
              <a:t>“</a:t>
            </a:r>
            <a:r>
              <a:rPr lang="en-US" altLang="ja-JP"/>
              <a:t>caused</a:t>
            </a:r>
            <a:r>
              <a:rPr lang="ja-JP" altLang="en-US"/>
              <a:t>”</a:t>
            </a:r>
            <a:r>
              <a:rPr lang="en-US" altLang="ja-JP"/>
              <a:t> the deadlock.</a:t>
            </a:r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23913" y="228600"/>
            <a:ext cx="8588375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Process Termination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txBody>
          <a:bodyPr/>
          <a:lstStyle/>
          <a:p>
            <a:r>
              <a:rPr lang="en-US" altLang="en-US"/>
              <a:t>Abort all deadlocked processes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Abort one process at a time until the deadlock cycle is eliminated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In which order should we choose to abort?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Priority of the process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How long process has computed, and how much longer to completion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Resources the process has used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Resources process needs to complete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How many processes will need to be terminated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Is process interactive or batch?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7763" y="255588"/>
            <a:ext cx="8020050" cy="457200"/>
          </a:xfrm>
        </p:spPr>
        <p:txBody>
          <a:bodyPr/>
          <a:lstStyle/>
          <a:p>
            <a:pPr eaLnBrk="1" hangingPunct="1"/>
            <a:r>
              <a:rPr lang="en-US" altLang="en-US" sz="2400"/>
              <a:t>Recovery from Deadlock:  Resource Preemption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1150938"/>
            <a:ext cx="6802437" cy="4483100"/>
          </a:xfrm>
        </p:spPr>
        <p:txBody>
          <a:bodyPr/>
          <a:lstStyle/>
          <a:p>
            <a:r>
              <a:rPr lang="en-US" altLang="en-US" b="1"/>
              <a:t>Selecting a victim </a:t>
            </a:r>
            <a:r>
              <a:rPr lang="en-US" altLang="en-US"/>
              <a:t>– minimize cost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/>
              <a:t>Rollback</a:t>
            </a:r>
            <a:r>
              <a:rPr lang="en-US" altLang="en-US"/>
              <a:t> – return to some safe state, restart process for that state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/>
              <a:t>Starvation</a:t>
            </a:r>
            <a:r>
              <a:rPr lang="en-US" altLang="en-US"/>
              <a:t> –  same process may always be picked as victim, include number of rollback in cost factor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11824</TotalTime>
  <Words>4471</Words>
  <Application>Microsoft Office PowerPoint</Application>
  <PresentationFormat>On-screen Show (4:3)</PresentationFormat>
  <Paragraphs>516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Courier New</vt:lpstr>
      <vt:lpstr>Helvetica</vt:lpstr>
      <vt:lpstr>Monotype Sorts</vt:lpstr>
      <vt:lpstr>Symbol</vt:lpstr>
      <vt:lpstr>Times New Roman</vt:lpstr>
      <vt:lpstr>Verdana</vt:lpstr>
      <vt:lpstr>Webdings</vt:lpstr>
      <vt:lpstr>os-8</vt:lpstr>
      <vt:lpstr>Chapter 7:  Deadlocks</vt:lpstr>
      <vt:lpstr>Chapter 7:  Deadlocks</vt:lpstr>
      <vt:lpstr>Chapter Objectives</vt:lpstr>
      <vt:lpstr>System Model</vt:lpstr>
      <vt:lpstr>Deadlock Characterization</vt:lpstr>
      <vt:lpstr>Deadlock with Mutex Locks</vt:lpstr>
      <vt:lpstr>Resource-Allocation Graph</vt:lpstr>
      <vt:lpstr>Resource-Allocation Graph (Cont.)</vt:lpstr>
      <vt:lpstr>Example of a Resource Allocation Graph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Deadlock Prevention (Cont.)</vt:lpstr>
      <vt:lpstr>Deadlock Example</vt:lpstr>
      <vt:lpstr>Deadlock Example with Lock Ordering</vt:lpstr>
      <vt:lpstr>Deadlock Avoidance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(Cont.)</vt:lpstr>
      <vt:lpstr>Example:  P1 Request (1,0,2)</vt:lpstr>
      <vt:lpstr>Deadlock Detection</vt:lpstr>
      <vt:lpstr>Single Instance of Each Resource Type</vt:lpstr>
      <vt:lpstr>Resource-Allocation Graph and  Wait-for Graph</vt:lpstr>
      <vt:lpstr>Several Instances of a Resource Type</vt:lpstr>
      <vt:lpstr>Detection Algorithm</vt:lpstr>
      <vt:lpstr>Detection Algorithm (Cont.)</vt:lpstr>
      <vt:lpstr>Example of Detection Algorithm</vt:lpstr>
      <vt:lpstr>Example (Cont.)</vt:lpstr>
      <vt:lpstr>Detection-Algorithm Usage</vt:lpstr>
      <vt:lpstr>Recovery from Deadlock:  Process Termination</vt:lpstr>
      <vt:lpstr>Recovery from Deadlock:  Resource Preemption</vt:lpstr>
      <vt:lpstr>End of Chapter 7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Phong Ngo</cp:lastModifiedBy>
  <cp:revision>259</cp:revision>
  <cp:lastPrinted>2013-09-10T17:57:57Z</cp:lastPrinted>
  <dcterms:created xsi:type="dcterms:W3CDTF">2011-01-13T23:43:38Z</dcterms:created>
  <dcterms:modified xsi:type="dcterms:W3CDTF">2026-08-12T17:36:45Z</dcterms:modified>
</cp:coreProperties>
</file>