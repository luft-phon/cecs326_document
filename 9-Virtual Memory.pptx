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1"/>
  </p:notesMasterIdLst>
  <p:handoutMasterIdLst>
    <p:handoutMasterId r:id="rId82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409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78" r:id="rId51"/>
    <p:sldId id="379" r:id="rId52"/>
    <p:sldId id="380" r:id="rId53"/>
    <p:sldId id="381" r:id="rId54"/>
    <p:sldId id="382" r:id="rId55"/>
    <p:sldId id="383" r:id="rId56"/>
    <p:sldId id="384" r:id="rId57"/>
    <p:sldId id="385" r:id="rId58"/>
    <p:sldId id="386" r:id="rId59"/>
    <p:sldId id="387" r:id="rId60"/>
    <p:sldId id="388" r:id="rId61"/>
    <p:sldId id="389" r:id="rId62"/>
    <p:sldId id="390" r:id="rId63"/>
    <p:sldId id="391" r:id="rId64"/>
    <p:sldId id="392" r:id="rId65"/>
    <p:sldId id="393" r:id="rId66"/>
    <p:sldId id="394" r:id="rId67"/>
    <p:sldId id="395" r:id="rId68"/>
    <p:sldId id="396" r:id="rId69"/>
    <p:sldId id="408" r:id="rId70"/>
    <p:sldId id="397" r:id="rId71"/>
    <p:sldId id="398" r:id="rId72"/>
    <p:sldId id="399" r:id="rId73"/>
    <p:sldId id="400" r:id="rId74"/>
    <p:sldId id="401" r:id="rId75"/>
    <p:sldId id="402" r:id="rId76"/>
    <p:sldId id="403" r:id="rId77"/>
    <p:sldId id="404" r:id="rId78"/>
    <p:sldId id="405" r:id="rId79"/>
    <p:sldId id="406" r:id="rId80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72227" autoAdjust="0"/>
  </p:normalViewPr>
  <p:slideViewPr>
    <p:cSldViewPr snapToGrid="0">
      <p:cViewPr varScale="1">
        <p:scale>
          <a:sx n="66" d="100"/>
          <a:sy n="66" d="100"/>
        </p:scale>
        <p:origin x="1817" y="4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-833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9.xml"/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ng Fahim" userId="d99f17d917874ef7" providerId="LiveId" clId="{2D762BF3-38D9-4A57-A1ED-FF65B8D2B059}"/>
    <pc:docChg chg="undo custSel addSld delSld modSld sldOrd">
      <pc:chgData name="Arjang Fahim" userId="d99f17d917874ef7" providerId="LiveId" clId="{2D762BF3-38D9-4A57-A1ED-FF65B8D2B059}" dt="2026-08-06T16:43:27.139" v="6"/>
      <pc:docMkLst>
        <pc:docMk/>
      </pc:docMkLst>
      <pc:sldChg chg="mod modShow">
        <pc:chgData name="Arjang Fahim" userId="d99f17d917874ef7" providerId="LiveId" clId="{2D762BF3-38D9-4A57-A1ED-FF65B8D2B059}" dt="2026-08-06T16:36:53.482" v="4" actId="729"/>
        <pc:sldMkLst>
          <pc:docMk/>
          <pc:sldMk cId="0" sldId="346"/>
        </pc:sldMkLst>
      </pc:sldChg>
      <pc:sldChg chg="mod modShow">
        <pc:chgData name="Arjang Fahim" userId="d99f17d917874ef7" providerId="LiveId" clId="{2D762BF3-38D9-4A57-A1ED-FF65B8D2B059}" dt="2026-08-06T07:24:42.788" v="2" actId="34476"/>
        <pc:sldMkLst>
          <pc:docMk/>
          <pc:sldMk cId="0" sldId="349"/>
        </pc:sldMkLst>
      </pc:sldChg>
      <pc:sldChg chg="ord">
        <pc:chgData name="Arjang Fahim" userId="d99f17d917874ef7" providerId="LiveId" clId="{2D762BF3-38D9-4A57-A1ED-FF65B8D2B059}" dt="2026-08-06T16:43:27.139" v="6"/>
        <pc:sldMkLst>
          <pc:docMk/>
          <pc:sldMk cId="220368105" sldId="409"/>
        </pc:sldMkLst>
      </pc:sldChg>
      <pc:sldChg chg="add del">
        <pc:chgData name="Arjang Fahim" userId="d99f17d917874ef7" providerId="LiveId" clId="{2D762BF3-38D9-4A57-A1ED-FF65B8D2B059}" dt="2026-08-06T07:24:39.481" v="1" actId="2890"/>
        <pc:sldMkLst>
          <pc:docMk/>
          <pc:sldMk cId="2434097401" sldId="41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AD2F9D83-BEB2-4240-8950-C9F2B27298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5967C010-4BD8-4A06-A21E-7316D1AE10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9F588B-9492-4439-8DC7-56B43C7A17D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58C9C0-1778-4C58-905A-B7136226DCB0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936D2-D292-4360-8BD2-FC112C1FA8A8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BCE026-A081-4F15-B666-525DE5084B34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Be able to execute program if RAM only has 3GB but the program 6GB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nạp</a:t>
            </a:r>
            <a:r>
              <a:rPr lang="en-US" altLang="en-US" dirty="0">
                <a:latin typeface="Times New Roman" panose="02020603050405020304" pitchFamily="18" charset="0"/>
              </a:rPr>
              <a:t> 6GB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lúc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Virtual memory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giúp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phần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gb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vẫn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ctrinh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A57474-4C0A-4049-9171-B67BA949A878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Logical address space &gt; Physical address space 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process dung </a:t>
            </a:r>
            <a:r>
              <a:rPr lang="en-US" altLang="en-US" dirty="0" err="1">
                <a:latin typeface="Times New Roman" panose="02020603050405020304" pitchFamily="18" charset="0"/>
              </a:rPr>
              <a:t>lượng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hơn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vẫn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đây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ích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việc</a:t>
            </a:r>
            <a:r>
              <a:rPr lang="en-US" altLang="en-US">
                <a:latin typeface="Times New Roman" panose="02020603050405020304" pitchFamily="18" charset="0"/>
              </a:rPr>
              <a:t> dung Virtual Memory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3542A0-D463-485F-A5F1-C29461E590AA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A869E5-6088-425A-9A63-BCFA6E148AB0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BCC37B-20FC-4B69-95B7-FB070BC2A60E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Stack grows downward =&gt; </a:t>
            </a:r>
            <a:r>
              <a:rPr lang="en-US" altLang="en-US" dirty="0" err="1">
                <a:latin typeface="Times New Roman" panose="02020603050405020304" pitchFamily="18" charset="0"/>
              </a:rPr>
              <a:t>nằm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logical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Heap grows upward 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Unused gap </a:t>
            </a:r>
            <a:r>
              <a:rPr lang="en-US" altLang="en-US" dirty="0" err="1">
                <a:latin typeface="Times New Roman" panose="02020603050405020304" pitchFamily="18" charset="0"/>
              </a:rPr>
              <a:t>giữa</a:t>
            </a:r>
            <a:r>
              <a:rPr lang="en-US" altLang="en-US" dirty="0">
                <a:latin typeface="Times New Roman" panose="02020603050405020304" pitchFamily="18" charset="0"/>
              </a:rPr>
              <a:t> stack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heap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chiếm</a:t>
            </a:r>
            <a:r>
              <a:rPr lang="en-US" altLang="en-US" dirty="0">
                <a:latin typeface="Times New Roman" panose="02020603050405020304" pitchFamily="18" charset="0"/>
              </a:rPr>
              <a:t> memory =&gt; sparse address spaces, dynamically linked libraries, shared libraries, shared memory, and </a:t>
            </a:r>
            <a:r>
              <a:rPr lang="en-US" altLang="en-US" dirty="0" err="1">
                <a:latin typeface="Times New Roman" panose="02020603050405020304" pitchFamily="18" charset="0"/>
              </a:rPr>
              <a:t>pagesharing</a:t>
            </a:r>
            <a:r>
              <a:rPr lang="en-US" altLang="en-US" dirty="0">
                <a:latin typeface="Times New Roman" panose="02020603050405020304" pitchFamily="18" charset="0"/>
              </a:rPr>
              <a:t> during fork()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lvl="0"/>
            <a:r>
              <a:rPr lang="en-US" b="1" dirty="0"/>
              <a:t>- Virtual memory separates logical memory from physical memory.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- Only part of a program needs to be in RAM to execute.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- Logical address space can be larger than physical memory.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- MMU maps virtual/logical addresses to physical addresses.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- Heap grows upward; stack grows downward.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- Unused virtual-address gaps do not require physical memory until needed.</a:t>
            </a:r>
            <a:endParaRPr lang="en-US" dirty="0"/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C79ECD-27FB-4837-8C7B-07EA1B3F7CB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87DD97-6043-4A76-AD0E-29D10CB23B46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Demand paging: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load 1 page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đến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Lazy swapper: </a:t>
            </a:r>
            <a:r>
              <a:rPr lang="en-US" altLang="en-US" dirty="0" err="1">
                <a:latin typeface="Times New Roman" panose="02020603050405020304" pitchFamily="18" charset="0"/>
              </a:rPr>
              <a:t>chưa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chưa</a:t>
            </a:r>
            <a:r>
              <a:rPr lang="en-US" altLang="en-US" dirty="0">
                <a:latin typeface="Times New Roman" panose="02020603050405020304" pitchFamily="18" charset="0"/>
              </a:rPr>
              <a:t> swap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68534D-C0B3-43F2-9116-A8AA5A16DCFE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v → page is in memory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 → page is not in memory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BC6980-447E-440D-BF4C-3839D814F7EA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86FDF4-4617-49BA-AF67-43344890CABC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Page fault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CPU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page </a:t>
            </a:r>
            <a:r>
              <a:rPr lang="en-US" dirty="0" err="1"/>
              <a:t>nhưng</a:t>
            </a:r>
            <a:r>
              <a:rPr lang="en-US" dirty="0"/>
              <a:t> page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b="1" dirty="0" err="1"/>
              <a:t>chưa</a:t>
            </a:r>
            <a:r>
              <a:rPr lang="en-US" b="1" dirty="0"/>
              <a:t> </a:t>
            </a:r>
            <a:r>
              <a:rPr lang="en-US" b="1" dirty="0" err="1"/>
              <a:t>nằm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RAM</a:t>
            </a:r>
            <a:r>
              <a:rPr lang="en-US" dirty="0"/>
              <a:t>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ý </a:t>
            </a:r>
            <a:r>
              <a:rPr lang="en-US" dirty="0" err="1"/>
              <a:t>nghĩa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Page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lệ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RAM. </a:t>
            </a:r>
          </a:p>
          <a:p>
            <a:pPr lvl="0"/>
            <a:r>
              <a:rPr lang="en-US" dirty="0"/>
              <a:t>CPU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lệ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process. </a:t>
            </a:r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OS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721EEB-5BB7-410F-8881-B84B240A8CA6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1.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We check an internal table (usually kept with the process control block)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for this process to determine whether the reference was a valid or an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invalid memory access.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2.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If the reference was invalid, we terminate the process. If it was valid but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we have not yet brought in that page, we now page it in.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3. Find free frame: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We find a free frame (by taking one from the free-frame list, for example).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4. 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Đọc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page 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từ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disk: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We schedule a disk operation to read the desired page into the newly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allocated frame.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5. Update page table: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When the disk read is complete, we modify the internal table kept with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the process and the page table to indicate that the page is now in memory.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Vd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: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trước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đó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Page 2 -&gt;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i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Bây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giờ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, Page 2 -&gt; Frame 2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Times New Roman" charset="0"/>
              <a:ea typeface="MS PGothic" pitchFamily="34" charset="-128"/>
              <a:cs typeface="ＭＳ Ｐゴシック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6.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We restart the instruction that was interrupted by the trap. The process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can now access the page as though it had always been in memory.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ＭＳ Ｐゴシック" charset="-128"/>
              </a:rPr>
              <a:t>locality of references is the tendency of a processor to access the same set of memory locations repetitively over a short period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7C010-4BD8-4A06-A21E-7316D1AE10E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224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C850A8-959B-498F-88B3-A49E07A734BE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Instruction restart: 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- Khi instruction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page fault, OS </a:t>
            </a:r>
            <a:r>
              <a:rPr lang="en-US" altLang="en-US" dirty="0" err="1">
                <a:latin typeface="Times New Roman" panose="02020603050405020304" pitchFamily="18" charset="0"/>
              </a:rPr>
              <a:t>xử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lý</a:t>
            </a:r>
            <a:r>
              <a:rPr lang="en-US" altLang="en-US" dirty="0">
                <a:latin typeface="Times New Roman" panose="02020603050405020304" pitchFamily="18" charset="0"/>
              </a:rPr>
              <a:t> page fault </a:t>
            </a:r>
            <a:r>
              <a:rPr lang="en-US" altLang="en-US" dirty="0" err="1">
                <a:latin typeface="Times New Roman" panose="02020603050405020304" pitchFamily="18" charset="0"/>
              </a:rPr>
              <a:t>xong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rồi</a:t>
            </a:r>
            <a:r>
              <a:rPr lang="en-US" altLang="en-US" dirty="0">
                <a:latin typeface="Times New Roman" panose="02020603050405020304" pitchFamily="18" charset="0"/>
              </a:rPr>
              <a:t> restart instruction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3EA000-53D3-4F86-A9E3-FA73ACE6B200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12E132-94A8-49F7-A0E2-F84B9A3CD100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AB7DDD-FCEA-484A-8F7D-B990A541A396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871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AB7DDD-FCEA-484A-8F7D-B990A541A396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gắng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page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memory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disk </a:t>
            </a:r>
            <a:r>
              <a:rPr lang="en-US" dirty="0" err="1"/>
              <a:t>nếu</a:t>
            </a:r>
            <a:r>
              <a:rPr lang="en-US" dirty="0"/>
              <a:t> ko </a:t>
            </a:r>
            <a:r>
              <a:rPr lang="en-US" dirty="0" err="1"/>
              <a:t>cần</a:t>
            </a:r>
            <a:endParaRPr lang="en-US" dirty="0"/>
          </a:p>
          <a:p>
            <a:endParaRPr lang="en-US" dirty="0"/>
          </a:p>
          <a:p>
            <a:r>
              <a:rPr lang="en-US" dirty="0"/>
              <a:t>Swap space: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disk </a:t>
            </a:r>
            <a:r>
              <a:rPr lang="en-US" dirty="0" err="1"/>
              <a:t>mà</a:t>
            </a:r>
            <a:r>
              <a:rPr lang="en-US" dirty="0"/>
              <a:t> OS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RAM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RAM </a:t>
            </a:r>
            <a:r>
              <a:rPr lang="en-US" dirty="0" err="1"/>
              <a:t>thiếu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OS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“</a:t>
            </a:r>
            <a:r>
              <a:rPr lang="en-US" dirty="0" err="1"/>
              <a:t>bỏ</a:t>
            </a:r>
            <a:r>
              <a:rPr lang="en-US" dirty="0"/>
              <a:t> page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RAM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ở </a:t>
            </a:r>
            <a:r>
              <a:rPr lang="en-US" dirty="0" err="1"/>
              <a:t>đâu</a:t>
            </a:r>
            <a:r>
              <a:rPr lang="en-US" dirty="0"/>
              <a:t>”</a:t>
            </a:r>
          </a:p>
          <a:p>
            <a:r>
              <a:rPr lang="en-US" dirty="0"/>
              <a:t>TH1: page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disk =&gt; ko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swap space</a:t>
            </a:r>
          </a:p>
          <a:p>
            <a:endParaRPr lang="en-US" dirty="0"/>
          </a:p>
          <a:p>
            <a:r>
              <a:rPr lang="en-US" dirty="0"/>
              <a:t>TH2: ko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stack heap (dc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ctrinh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) =&gt;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swap space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C010-4BD8-4A06-A21E-7316D1AE10E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513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01BE01-56EF-4B98-A9A2-4BAEAC500861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Copy on Write: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</a:rPr>
              <a:t>Sau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fork(), parent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child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page ban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đọc</a:t>
            </a:r>
            <a:r>
              <a:rPr lang="en-US" altLang="en-US" dirty="0">
                <a:latin typeface="Times New Roman" panose="02020603050405020304" pitchFamily="18" charset="0"/>
              </a:rPr>
              <a:t> =&gt; ko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copy</a:t>
            </a: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child or parent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sửa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copy page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</a:rPr>
              <a:t> =&gt; copy sang page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</a:rPr>
              <a:t> process kia ko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sửa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copy </a:t>
            </a:r>
            <a:r>
              <a:rPr lang="en-US" altLang="en-US" dirty="0" err="1">
                <a:latin typeface="Times New Roman" panose="02020603050405020304" pitchFamily="18" charset="0"/>
              </a:rPr>
              <a:t>hết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tốn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pPr marL="0" indent="0"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Pool of zero out: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frame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xóa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đặt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</a:rPr>
              <a:t> 0 =&gt; frame </a:t>
            </a:r>
            <a:r>
              <a:rPr lang="en-US" altLang="en-US" dirty="0" err="1">
                <a:latin typeface="Times New Roman" panose="02020603050405020304" pitchFamily="18" charset="0"/>
              </a:rPr>
              <a:t>sạch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Vfork</a:t>
            </a:r>
            <a:r>
              <a:rPr lang="en-US" altLang="en-US" dirty="0">
                <a:latin typeface="Times New Roman" panose="02020603050405020304" pitchFamily="18" charset="0"/>
              </a:rPr>
              <a:t>(): </a:t>
            </a:r>
            <a:r>
              <a:rPr lang="en-US" altLang="en-US" dirty="0" err="1">
                <a:latin typeface="Times New Roman" panose="02020603050405020304" pitchFamily="18" charset="0"/>
              </a:rPr>
              <a:t>dừng</a:t>
            </a:r>
            <a:r>
              <a:rPr lang="en-US" altLang="en-US" dirty="0">
                <a:latin typeface="Times New Roman" panose="02020603050405020304" pitchFamily="18" charset="0"/>
              </a:rPr>
              <a:t> parent process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r>
              <a:rPr lang="en-US" altLang="en-US" dirty="0">
                <a:latin typeface="Times New Roman" panose="02020603050405020304" pitchFamily="18" charset="0"/>
              </a:rPr>
              <a:t> child process =&gt; </a:t>
            </a:r>
            <a:r>
              <a:rPr lang="en-US" altLang="en-US" dirty="0" err="1">
                <a:latin typeface="Times New Roman" panose="02020603050405020304" pitchFamily="18" charset="0"/>
              </a:rPr>
              <a:t>tránh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hỏng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C27A6D-172E-480B-8422-0534B54CDFB0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39F11B-6BB0-4013-833C-C6EF51E66736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64B48C-8F83-449D-8B9E-FA5DB88F38AF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free frame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OS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“victim page”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lấy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khỏi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tạo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chỗ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trống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algn="l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B7F0F7-5827-4FD1-8334-52A67BF37E42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3F954B-BEB3-41AD-8087-3D3CA9042479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1F8278-ED43-4181-9418-36E73D121A90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We can reduce this overhead by using a </a:t>
            </a:r>
            <a:r>
              <a:rPr lang="en-US" sz="1800" b="1" i="0" u="none" strike="noStrike" baseline="0" dirty="0">
                <a:solidFill>
                  <a:srgbClr val="00FFFF"/>
                </a:solidFill>
                <a:latin typeface="PalatinoLTStd-Bold"/>
              </a:rPr>
              <a:t>modify bit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(or </a:t>
            </a:r>
            <a:r>
              <a:rPr lang="en-US" sz="1800" b="1" i="0" u="none" strike="noStrike" baseline="0" dirty="0">
                <a:solidFill>
                  <a:srgbClr val="00FFFF"/>
                </a:solidFill>
                <a:latin typeface="PalatinoLTStd-Bold"/>
              </a:rPr>
              <a:t>dirty bit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). When this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scheme is used, each page or frame has a modify bit associated with it in the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hardware. The modify bit for a page is set by the hardware whenever any byte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in the page is written into, indicating that the page has been modified. When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we select a page for replacement, we examine its modify bit. If the bit is set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we know that the page has been modified since it was read in from secondary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storage. In this case, we must write the page to storage. If the modify bit is not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set, however, the page has </a:t>
            </a:r>
            <a:r>
              <a:rPr lang="en-US" sz="1800" b="1" i="1" u="none" strike="noStrike" baseline="0" dirty="0">
                <a:latin typeface="PalatinoLTStd-BoldItalic"/>
              </a:rPr>
              <a:t>not </a:t>
            </a:r>
            <a:r>
              <a:rPr lang="en-US" sz="1800" b="0" i="0" u="none" strike="noStrike" baseline="0" dirty="0">
                <a:latin typeface="PalatinoLTStd-Roman"/>
              </a:rPr>
              <a:t>been modified since </a:t>
            </a:r>
            <a:r>
              <a:rPr lang="en-US" sz="1800" b="0" i="0" u="none" strike="noStrike" baseline="0" dirty="0" err="1">
                <a:latin typeface="PalatinoLTStd-Roman"/>
              </a:rPr>
              <a:t>itwas</a:t>
            </a:r>
            <a:r>
              <a:rPr lang="en-US" sz="1800" b="0" i="0" u="none" strike="noStrike" baseline="0" dirty="0">
                <a:latin typeface="PalatinoLTStd-Roman"/>
              </a:rPr>
              <a:t> read </a:t>
            </a:r>
            <a:r>
              <a:rPr lang="en-US" sz="1800" b="0" i="0" u="none" strike="noStrike" baseline="0" dirty="0" err="1">
                <a:latin typeface="PalatinoLTStd-Roman"/>
              </a:rPr>
              <a:t>intomemory</a:t>
            </a:r>
            <a:r>
              <a:rPr lang="en-US" sz="1800" b="0" i="0" u="none" strike="noStrike" baseline="0" dirty="0">
                <a:latin typeface="PalatinoLTStd-Roman"/>
              </a:rPr>
              <a:t>. In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this </a:t>
            </a:r>
            <a:r>
              <a:rPr lang="en-US" sz="1800" b="0" i="0" u="none" strike="noStrike" baseline="0" dirty="0" err="1">
                <a:latin typeface="PalatinoLTStd-Roman"/>
              </a:rPr>
              <a:t>case,we</a:t>
            </a:r>
            <a:r>
              <a:rPr lang="en-US" sz="1800" b="0" i="0" u="none" strike="noStrike" baseline="0" dirty="0">
                <a:latin typeface="PalatinoLTStd-Roman"/>
              </a:rPr>
              <a:t> need </a:t>
            </a:r>
            <a:r>
              <a:rPr lang="en-US" sz="1800" b="0" i="0" u="none" strike="noStrike" baseline="0" dirty="0" err="1">
                <a:latin typeface="PalatinoLTStd-Roman"/>
              </a:rPr>
              <a:t>notwrite</a:t>
            </a:r>
            <a:r>
              <a:rPr lang="en-US" sz="1800" b="0" i="0" u="none" strike="noStrike" baseline="0" dirty="0">
                <a:latin typeface="PalatinoLTStd-Roman"/>
              </a:rPr>
              <a:t> </a:t>
            </a:r>
            <a:r>
              <a:rPr lang="en-US" sz="1800" b="0" i="0" u="none" strike="noStrike" baseline="0" dirty="0" err="1">
                <a:latin typeface="PalatinoLTStd-Roman"/>
              </a:rPr>
              <a:t>thememory</a:t>
            </a:r>
            <a:r>
              <a:rPr lang="en-US" sz="1800" b="0" i="0" u="none" strike="noStrike" baseline="0" dirty="0">
                <a:latin typeface="PalatinoLTStd-Roman"/>
              </a:rPr>
              <a:t> page to storage: it is already there. This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technique also applies to read-only pages (for example, pages of binary code).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Such pages cannot be modified; thus, they may be discarded when desired.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This scheme can significantly reduce the time required to service a page fault,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since it reduces I/O time by one-half </a:t>
            </a:r>
            <a:r>
              <a:rPr lang="en-US" sz="1800" b="1" i="1" u="none" strike="noStrike" baseline="0" dirty="0">
                <a:latin typeface="PalatinoLTStd-BoldItalic"/>
              </a:rPr>
              <a:t>if </a:t>
            </a:r>
            <a:r>
              <a:rPr lang="en-US" sz="1800" b="0" i="0" u="none" strike="noStrike" baseline="0" dirty="0">
                <a:latin typeface="PalatinoLTStd-Roman"/>
              </a:rPr>
              <a:t>the page has not been modified.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B8A7DD-A4CA-44C1-B1A5-2B063DA57E3E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481CF3-2E5A-45D9-9489-30B7FCBE7893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</a:rPr>
              <a:t>Frame allocation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RAM </a:t>
            </a:r>
            <a:r>
              <a:rPr lang="en-US" dirty="0" err="1"/>
              <a:t>có</a:t>
            </a:r>
            <a:r>
              <a:rPr lang="en-US" dirty="0"/>
              <a:t> 10 frames, </a:t>
            </a:r>
            <a:r>
              <a:rPr lang="en-US" dirty="0" err="1"/>
              <a:t>có</a:t>
            </a:r>
            <a:r>
              <a:rPr lang="en-US" dirty="0"/>
              <a:t> 2 process:</a:t>
            </a:r>
          </a:p>
          <a:p>
            <a:pPr lvl="0"/>
            <a:r>
              <a:rPr lang="en-US" dirty="0"/>
              <a:t>P1 </a:t>
            </a:r>
            <a:r>
              <a:rPr lang="en-US" dirty="0" err="1"/>
              <a:t>được</a:t>
            </a:r>
            <a:r>
              <a:rPr lang="en-US" dirty="0"/>
              <a:t> 6 frames </a:t>
            </a:r>
          </a:p>
          <a:p>
            <a:pPr lvl="0"/>
            <a:r>
              <a:rPr lang="en-US" dirty="0"/>
              <a:t>P2 </a:t>
            </a:r>
            <a:r>
              <a:rPr lang="en-US" dirty="0" err="1"/>
              <a:t>được</a:t>
            </a:r>
            <a:r>
              <a:rPr lang="en-US" dirty="0"/>
              <a:t> 4 frames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</a:rPr>
              <a:t>Page-replacement algorithm: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</a:rPr>
              <a:t>Khi RAM </a:t>
            </a:r>
            <a:r>
              <a:rPr lang="en-US" altLang="en-US" dirty="0" err="1">
                <a:latin typeface="Times New Roman" panose="02020603050405020304" pitchFamily="18" charset="0"/>
              </a:rPr>
              <a:t>đầy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page fault(</a:t>
            </a:r>
            <a:r>
              <a:rPr lang="en-US" altLang="en-US" dirty="0" err="1">
                <a:latin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ram 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) =&gt; OS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1 page </a:t>
            </a:r>
            <a:r>
              <a:rPr lang="en-US" altLang="en-US" dirty="0" err="1">
                <a:latin typeface="Times New Roman" panose="02020603050405020304" pitchFamily="18" charset="0"/>
              </a:rPr>
              <a:t>đẩy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FIFO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page 1</a:t>
            </a:r>
          </a:p>
          <a:p>
            <a:pPr marL="0" indent="0">
              <a:buFontTx/>
              <a:buNone/>
            </a:pPr>
            <a:r>
              <a:rPr lang="fr-FR" altLang="en-US" dirty="0">
                <a:latin typeface="Times New Roman" panose="02020603050405020304" pitchFamily="18" charset="0"/>
              </a:rPr>
              <a:t>RAM </a:t>
            </a:r>
            <a:r>
              <a:rPr lang="fr-FR" altLang="en-US" dirty="0" err="1">
                <a:latin typeface="Times New Roman" panose="02020603050405020304" pitchFamily="18" charset="0"/>
              </a:rPr>
              <a:t>đang</a:t>
            </a:r>
            <a:r>
              <a:rPr lang="fr-FR" altLang="en-US" dirty="0">
                <a:latin typeface="Times New Roman" panose="02020603050405020304" pitchFamily="18" charset="0"/>
              </a:rPr>
              <a:t> </a:t>
            </a:r>
            <a:r>
              <a:rPr lang="fr-FR" altLang="en-US" dirty="0" err="1">
                <a:latin typeface="Times New Roman" panose="02020603050405020304" pitchFamily="18" charset="0"/>
              </a:rPr>
              <a:t>có</a:t>
            </a:r>
            <a:r>
              <a:rPr lang="fr-FR" altLang="en-US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FontTx/>
              <a:buNone/>
            </a:pPr>
            <a:r>
              <a:rPr lang="fr-FR" altLang="en-US" dirty="0">
                <a:latin typeface="Times New Roman" panose="02020603050405020304" pitchFamily="18" charset="0"/>
              </a:rPr>
              <a:t>Page 1</a:t>
            </a:r>
          </a:p>
          <a:p>
            <a:pPr marL="0" indent="0">
              <a:buFontTx/>
              <a:buNone/>
            </a:pPr>
            <a:r>
              <a:rPr lang="fr-FR" altLang="en-US" dirty="0">
                <a:latin typeface="Times New Roman" panose="02020603050405020304" pitchFamily="18" charset="0"/>
              </a:rPr>
              <a:t>Page 2</a:t>
            </a:r>
          </a:p>
          <a:p>
            <a:pPr marL="0" indent="0">
              <a:buFontTx/>
              <a:buNone/>
            </a:pPr>
            <a:r>
              <a:rPr lang="fr-FR" altLang="en-US" dirty="0">
                <a:latin typeface="Times New Roman" panose="02020603050405020304" pitchFamily="18" charset="0"/>
              </a:rPr>
              <a:t>Page 3</a:t>
            </a:r>
          </a:p>
          <a:p>
            <a:pPr marL="0" indent="0">
              <a:buFontTx/>
              <a:buNone/>
            </a:pPr>
            <a:r>
              <a:rPr lang="fr-FR" altLang="en-US" dirty="0">
                <a:latin typeface="Times New Roman" panose="02020603050405020304" pitchFamily="18" charset="0"/>
              </a:rPr>
              <a:t>CPU </a:t>
            </a:r>
            <a:r>
              <a:rPr lang="fr-FR" altLang="en-US" dirty="0" err="1">
                <a:latin typeface="Times New Roman" panose="02020603050405020304" pitchFamily="18" charset="0"/>
              </a:rPr>
              <a:t>cần</a:t>
            </a:r>
            <a:r>
              <a:rPr lang="fr-FR" altLang="en-US" dirty="0">
                <a:latin typeface="Times New Roman" panose="02020603050405020304" pitchFamily="18" charset="0"/>
              </a:rPr>
              <a:t> Page 4</a:t>
            </a:r>
          </a:p>
          <a:p>
            <a:pPr marL="0" indent="0">
              <a:buFontTx/>
              <a:buNone/>
            </a:pPr>
            <a:endParaRPr lang="fr-FR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</a:rPr>
              <a:t>Reference string:</a:t>
            </a:r>
          </a:p>
          <a:p>
            <a:pPr marL="171450" indent="-171450">
              <a:buFontTx/>
              <a:buChar char="-"/>
            </a:pPr>
            <a:r>
              <a:rPr lang="en-US" altLang="en-US" b="0" dirty="0" err="1">
                <a:latin typeface="Times New Roman" panose="02020603050405020304" pitchFamily="18" charset="0"/>
              </a:rPr>
              <a:t>chuỗi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các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>
                <a:latin typeface="Times New Roman" panose="02020603050405020304" pitchFamily="18" charset="0"/>
              </a:rPr>
              <a:t>page number </a:t>
            </a:r>
            <a:r>
              <a:rPr lang="en-US" altLang="en-US" b="0" dirty="0" err="1">
                <a:latin typeface="Times New Roman" panose="02020603050405020304" pitchFamily="18" charset="0"/>
              </a:rPr>
              <a:t>mà</a:t>
            </a:r>
            <a:r>
              <a:rPr lang="en-US" altLang="en-US" b="0" dirty="0">
                <a:latin typeface="Times New Roman" panose="02020603050405020304" pitchFamily="18" charset="0"/>
              </a:rPr>
              <a:t> process </a:t>
            </a:r>
            <a:r>
              <a:rPr lang="en-US" altLang="en-US" b="0" dirty="0" err="1">
                <a:latin typeface="Times New Roman" panose="02020603050405020304" pitchFamily="18" charset="0"/>
              </a:rPr>
              <a:t>truy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cập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theo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thứ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tự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en-US" altLang="en-US" b="0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b="0" dirty="0">
                <a:latin typeface="Times New Roman" panose="02020603050405020304" pitchFamily="18" charset="0"/>
              </a:rPr>
              <a:t>Reference: </a:t>
            </a:r>
            <a:r>
              <a:rPr lang="en-US" altLang="en-US" b="0" dirty="0" err="1">
                <a:latin typeface="Times New Roman" panose="02020603050405020304" pitchFamily="18" charset="0"/>
              </a:rPr>
              <a:t>nghĩa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là</a:t>
            </a:r>
            <a:r>
              <a:rPr lang="en-US" altLang="en-US" b="0" dirty="0">
                <a:latin typeface="Times New Roman" panose="02020603050405020304" pitchFamily="18" charset="0"/>
              </a:rPr>
              <a:t> process </a:t>
            </a:r>
            <a:r>
              <a:rPr lang="en-US" altLang="en-US" b="0" dirty="0" err="1">
                <a:latin typeface="Times New Roman" panose="02020603050405020304" pitchFamily="18" charset="0"/>
              </a:rPr>
              <a:t>truy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cập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tới</a:t>
            </a:r>
            <a:r>
              <a:rPr lang="en-US" altLang="en-US" b="0" dirty="0">
                <a:latin typeface="Times New Roman" panose="02020603050405020304" pitchFamily="18" charset="0"/>
              </a:rPr>
              <a:t> page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1C3635-62E7-4FD6-BBE3-CC44006FA061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FE8B-6BDC-43A0-B64C-11BE13E6DC8F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FIFO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khiến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page fault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AF1A9A-BF1B-4141-AB74-D0617277FC80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16A9E7-A118-4998-A5C1-40AC053ECDC2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OPT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replace page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Ví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dụ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RAM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[1, 2 , 3]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Reference string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: 2,4,1,5,3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Page 1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lại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sớm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3 </a:t>
            </a:r>
            <a:r>
              <a:rPr lang="en-US" altLang="en-US" dirty="0" err="1">
                <a:latin typeface="Times New Roman" panose="02020603050405020304" pitchFamily="18" charset="0"/>
              </a:rPr>
              <a:t>lâu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lắm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nên</a:t>
            </a:r>
            <a:r>
              <a:rPr lang="en-US" altLang="en-US" dirty="0">
                <a:latin typeface="Times New Roman" panose="02020603050405020304" pitchFamily="18" charset="0"/>
              </a:rPr>
              <a:t> replace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Reduce page fault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Vấn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đề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OS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tương</a:t>
            </a:r>
            <a:r>
              <a:rPr lang="en-US" altLang="en-US" dirty="0">
                <a:latin typeface="Times New Roman" panose="02020603050405020304" pitchFamily="18" charset="0"/>
              </a:rPr>
              <a:t> lai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2704AA-FCD5-4CF8-8C18-7A2FFED41E67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</a:rPr>
              <a:t> OPT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OPT </a:t>
            </a:r>
            <a:r>
              <a:rPr lang="en-US" altLang="en-US" dirty="0" err="1">
                <a:latin typeface="Times New Roman" panose="02020603050405020304" pitchFamily="18" charset="0"/>
              </a:rPr>
              <a:t>nhìn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tương</a:t>
            </a:r>
            <a:r>
              <a:rPr lang="en-US" altLang="en-US" dirty="0">
                <a:latin typeface="Times New Roman" panose="02020603050405020304" pitchFamily="18" charset="0"/>
              </a:rPr>
              <a:t> lai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LRU </a:t>
            </a:r>
            <a:r>
              <a:rPr lang="en-US" altLang="en-US" dirty="0" err="1">
                <a:latin typeface="Times New Roman" panose="02020603050405020304" pitchFamily="18" charset="0"/>
              </a:rPr>
              <a:t>nhìn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quá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khứ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4C3F7C-DAD1-4369-8484-1C4E6EC80230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</a:rPr>
              <a:t> implement 2 </a:t>
            </a:r>
            <a:r>
              <a:rPr lang="en-US" altLang="en-US" dirty="0" err="1">
                <a:latin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 marL="228600" indent="-228600">
              <a:buAutoNum type="arabicParenR"/>
            </a:pPr>
            <a:r>
              <a:rPr lang="en-US" altLang="en-US" dirty="0">
                <a:latin typeface="Times New Roman" panose="02020603050405020304" pitchFamily="18" charset="0"/>
              </a:rPr>
              <a:t>Counter (</a:t>
            </a:r>
            <a:r>
              <a:rPr lang="en-US" altLang="en-US" dirty="0" err="1">
                <a:latin typeface="Times New Roman" panose="02020603050405020304" pitchFamily="18" charset="0"/>
              </a:rPr>
              <a:t>đếm</a:t>
            </a:r>
            <a:r>
              <a:rPr lang="en-US" altLang="en-US" dirty="0">
                <a:latin typeface="Times New Roman" panose="02020603050405020304" pitchFamily="18" charset="0"/>
              </a:rPr>
              <a:t> timestamp):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page access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lại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gian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1 → timestamp 100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2 → timestamp 25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3 → timestamp 90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Timestamp </a:t>
            </a:r>
            <a:r>
              <a:rPr lang="en-US" altLang="en-US" dirty="0" err="1">
                <a:latin typeface="Times New Roman" panose="02020603050405020304" pitchFamily="18" charset="0"/>
              </a:rPr>
              <a:t>nhỏ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lâu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chưa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từng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2) Stack: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page access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đưa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=&gt; Page </a:t>
            </a:r>
            <a:r>
              <a:rPr lang="en-US" altLang="en-US" dirty="0" err="1">
                <a:latin typeface="Times New Roman" panose="02020603050405020304" pitchFamily="18" charset="0"/>
              </a:rPr>
              <a:t>cuối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lâu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chưa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AAA1E0-EAD1-42C9-BD24-243220010790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E4F1A6-A104-4907-AA40-38F73AB1305E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15BBFF-8506-4ADE-842F-4B5205D77248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793955-E887-4F2A-ACDD-DC2099D424E1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E6435D-0FE5-473C-863E-6D3AE82AE0F4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EC993C-7839-4C65-BDAA-D588213E608E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B854E4-56E1-4BE3-8F9C-2881477517BB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F9B50A-D08C-468C-8DD4-B18DC0882BBC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E2E9FA-1F20-4876-B7BF-15328808DE6B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CF5BD6-C23C-466E-AA44-401393A51D2F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F68A9C-4E79-445D-A987-4D5F9CC73BE3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77AF8C-B4A8-49A6-ABB8-0F5CAB9CA84E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3463B2-6640-4EF9-ADB3-B596D1957CF0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7AA110-0A07-4CD2-A9E0-AAB974F7A432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692959-3467-49C4-ACAF-D3EDFF7A2523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5638D9-3ED0-4502-AE68-0AB16DDACC54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8C8BF5-2497-4E29-952A-42512F2F8B2E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7E220F-9094-4912-901A-509D3E863AEF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6DE0CE-B9BE-4CD4-9DCD-8F96D548C3F1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010C0B-D6E8-492F-A1E5-D7D24ED2288B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17EC0D-5B06-4080-A702-553EACF46222}" type="slidenum">
              <a:rPr lang="en-US" altLang="en-US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5B52D8-779B-4A4B-BC27-E422817658C7}" type="slidenum">
              <a:rPr lang="en-US" altLang="en-US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743F74-54FF-465A-87A3-B7486C5148FA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69D78D-BB5F-41EA-A7C2-E43043614730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808466-6F1C-4AE1-B98E-D655F1EF31D5}" type="slidenum">
              <a:rPr lang="en-US" altLang="en-US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FE86E3-9B45-4A6F-A471-06139309FF70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354E65-B6F2-4BA0-AFFC-937848056821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86E5F7-9069-4F23-B1AD-EE1E45289938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445508-A61D-47CB-AC54-48B2149B2904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35ED25-72A4-4936-A5CA-B4208E139C74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7A4BEC-70F0-46A5-B283-4DB46FBE8771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9E9263-DCEF-4F79-A09A-E131611D5C84}" type="slidenum">
              <a:rPr lang="en-US" altLang="en-US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5F24C9-F80A-4E24-804D-75F7AE56390F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F38030-DA34-447C-9C0F-A7D1CAB177D1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C476A8-9BC9-43B9-BFE6-D2A518781D43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F89A30-8342-4551-A13E-43034A8820CC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B840EC-067A-42F3-AE00-28400FA6967B}" type="slidenum">
              <a:rPr lang="en-US" altLang="en-US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973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419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70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111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654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990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4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78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00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73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5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BB8007DF-238D-467B-95AD-8570958623D6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9: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9526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9:  Virtual Memory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8229600" cy="4530725"/>
          </a:xfrm>
        </p:spPr>
        <p:txBody>
          <a:bodyPr/>
          <a:lstStyle/>
          <a:p>
            <a:r>
              <a:rPr lang="en-US" altLang="en-US"/>
              <a:t>Background</a:t>
            </a:r>
          </a:p>
          <a:p>
            <a:r>
              <a:rPr lang="en-US" altLang="en-US"/>
              <a:t>Demand Paging</a:t>
            </a:r>
          </a:p>
          <a:p>
            <a:r>
              <a:rPr lang="en-US" altLang="en-US"/>
              <a:t>Copy-on-Write</a:t>
            </a:r>
          </a:p>
          <a:p>
            <a:r>
              <a:rPr lang="en-US" altLang="en-US"/>
              <a:t>Page Replacement</a:t>
            </a:r>
          </a:p>
          <a:p>
            <a:r>
              <a:rPr lang="en-US" altLang="en-US"/>
              <a:t>Allocation of Frames </a:t>
            </a:r>
          </a:p>
          <a:p>
            <a:r>
              <a:rPr lang="en-US" altLang="en-US"/>
              <a:t>Thrashing</a:t>
            </a:r>
          </a:p>
          <a:p>
            <a:r>
              <a:rPr lang="en-US" altLang="en-US"/>
              <a:t>Memory-Mapped Files</a:t>
            </a:r>
          </a:p>
          <a:p>
            <a:r>
              <a:rPr lang="en-US" altLang="en-US"/>
              <a:t>Allocating Kernel Memory</a:t>
            </a:r>
          </a:p>
          <a:p>
            <a:r>
              <a:rPr lang="en-US" altLang="en-US"/>
              <a:t>Other Considerations</a:t>
            </a:r>
          </a:p>
          <a:p>
            <a:r>
              <a:rPr lang="en-US" altLang="en-US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233488"/>
            <a:ext cx="6877050" cy="4530725"/>
          </a:xfrm>
        </p:spPr>
        <p:txBody>
          <a:bodyPr/>
          <a:lstStyle/>
          <a:p>
            <a:r>
              <a:rPr lang="en-US" altLang="en-US"/>
              <a:t>To describe the benefits of a virtual memory system</a:t>
            </a:r>
          </a:p>
          <a:p>
            <a:r>
              <a:rPr lang="en-US" altLang="en-US"/>
              <a:t>To explain the concepts of demand paging, page-replacement algorithms, and allocation of page frames</a:t>
            </a:r>
          </a:p>
          <a:p>
            <a:r>
              <a:rPr lang="en-US" altLang="en-US"/>
              <a:t>To discuss the principle of the working-set model</a:t>
            </a:r>
          </a:p>
          <a:p>
            <a:r>
              <a:rPr lang="en-US" altLang="en-US"/>
              <a:t>To examine the relationship between shared memory and memory-mapped files</a:t>
            </a:r>
          </a:p>
          <a:p>
            <a:r>
              <a:rPr lang="en-US" altLang="en-US"/>
              <a:t>To explore how kernel memory is managed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013" y="1111250"/>
            <a:ext cx="7213600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1063625"/>
            <a:ext cx="7177087" cy="452913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Virtual memory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separation of user logical memory from physical memory</a:t>
            </a:r>
          </a:p>
          <a:p>
            <a:pPr lvl="1"/>
            <a:r>
              <a:rPr lang="en-US" altLang="en-US" sz="1600"/>
              <a:t>Only part of the program needs to be in memory for execution</a:t>
            </a:r>
          </a:p>
          <a:p>
            <a:pPr lvl="1"/>
            <a:r>
              <a:rPr lang="en-US" altLang="en-US" sz="1600"/>
              <a:t>Logical address space can therefore be much larger than physical address space</a:t>
            </a:r>
          </a:p>
          <a:p>
            <a:pPr lvl="1"/>
            <a:r>
              <a:rPr lang="en-US" altLang="en-US" sz="1600"/>
              <a:t>Allows address spaces to be shared by several processes</a:t>
            </a:r>
          </a:p>
          <a:p>
            <a:pPr lvl="1"/>
            <a:r>
              <a:rPr lang="en-US" altLang="en-US" sz="1600"/>
              <a:t>Allows for more efficient process creation</a:t>
            </a:r>
          </a:p>
          <a:p>
            <a:pPr lvl="1"/>
            <a:r>
              <a:rPr lang="en-US" altLang="en-US" sz="1600"/>
              <a:t>More programs running concurrently</a:t>
            </a:r>
          </a:p>
          <a:p>
            <a:pPr lvl="1"/>
            <a:r>
              <a:rPr lang="en-US" altLang="en-US" sz="1600"/>
              <a:t>Less I/O needed to load or swap processes</a:t>
            </a:r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1038225"/>
            <a:ext cx="6834187" cy="452913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Virtual address space</a:t>
            </a:r>
            <a:r>
              <a:rPr lang="en-US" altLang="en-US"/>
              <a:t> – logical view of how process is stored in memory</a:t>
            </a:r>
          </a:p>
          <a:p>
            <a:pPr lvl="1"/>
            <a:r>
              <a:rPr lang="en-US" altLang="en-US" sz="1600"/>
              <a:t>Usually start at address 0, contiguous addresses until end of space</a:t>
            </a:r>
          </a:p>
          <a:p>
            <a:pPr lvl="1"/>
            <a:r>
              <a:rPr lang="en-US" altLang="en-US" sz="1600"/>
              <a:t>Meanwhile, physical memory organized in page frames</a:t>
            </a:r>
          </a:p>
          <a:p>
            <a:pPr lvl="1"/>
            <a:r>
              <a:rPr lang="en-US" altLang="en-US" sz="1600"/>
              <a:t>MMU must map logical to physical</a:t>
            </a:r>
            <a:endParaRPr lang="en-US" altLang="en-US"/>
          </a:p>
          <a:p>
            <a:r>
              <a:rPr lang="en-US" altLang="en-US"/>
              <a:t>Virtual memory can be implemented via:</a:t>
            </a:r>
          </a:p>
          <a:p>
            <a:pPr lvl="1"/>
            <a:r>
              <a:rPr lang="en-US" altLang="en-US" sz="1600"/>
              <a:t>Demand paging </a:t>
            </a:r>
          </a:p>
          <a:p>
            <a:pPr lvl="1"/>
            <a:r>
              <a:rPr lang="en-US" altLang="en-US" sz="160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/>
              <a:t>Virtual Memory That is Larger Than Physical Memory</a:t>
            </a:r>
          </a:p>
        </p:txBody>
      </p:sp>
      <p:pic>
        <p:nvPicPr>
          <p:cNvPr id="10243" name="Picture 5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185863"/>
            <a:ext cx="53609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1762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/>
              <a:t>Virtual-address Space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811213" y="1119188"/>
            <a:ext cx="4370387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>
                <a:solidFill>
                  <a:srgbClr val="3366FF"/>
                </a:solidFill>
                <a:latin typeface="Helvetica" panose="020B0604020202020204" pitchFamily="34" charset="0"/>
              </a:rPr>
              <a:t>sparse </a:t>
            </a:r>
            <a:r>
              <a:rPr kumimoji="1" lang="en-US" altLang="en-US" sz="1600">
                <a:latin typeface="Helvetica" panose="020B0604020202020204" pitchFamily="34" charset="0"/>
              </a:rPr>
              <a:t>address spaces with holes left for growth, dynamically linked libraries, etc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92238" y="188913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Library Using Virtual Memory</a:t>
            </a:r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55713"/>
            <a:ext cx="6296025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960438"/>
            <a:ext cx="4184650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Page is needed </a:t>
            </a:r>
            <a:r>
              <a:rPr lang="en-US" altLang="en-US" sz="1600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invalid reference </a:t>
            </a:r>
            <a:r>
              <a:rPr lang="en-US" altLang="en-US" sz="1600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Lazy swapper</a:t>
            </a:r>
            <a:r>
              <a:rPr lang="en-US" altLang="en-US" sz="16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331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Basic Concepts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06450" y="1144588"/>
            <a:ext cx="7512050" cy="4530725"/>
          </a:xfrm>
        </p:spPr>
        <p:txBody>
          <a:bodyPr/>
          <a:lstStyle/>
          <a:p>
            <a:r>
              <a:rPr lang="en-US" altLang="en-US"/>
              <a:t>With swapping, pager guesses which pages will be used before swapping out again</a:t>
            </a:r>
          </a:p>
          <a:p>
            <a:r>
              <a:rPr lang="en-US" altLang="en-US"/>
              <a:t>Instead, pager brings in only those pages into memory</a:t>
            </a:r>
          </a:p>
          <a:p>
            <a:r>
              <a:rPr lang="en-US" altLang="en-US"/>
              <a:t>How to determine that set of pages?</a:t>
            </a:r>
          </a:p>
          <a:p>
            <a:pPr lvl="1"/>
            <a:r>
              <a:rPr lang="en-US" altLang="en-US"/>
              <a:t>Need new MMU functionality to implement demand paging</a:t>
            </a:r>
          </a:p>
          <a:p>
            <a:r>
              <a:rPr lang="en-US" altLang="en-US"/>
              <a:t>If pages needed are already </a:t>
            </a:r>
            <a:r>
              <a:rPr lang="en-US" altLang="en-US" b="1">
                <a:solidFill>
                  <a:srgbClr val="3366FF"/>
                </a:solidFill>
              </a:rPr>
              <a:t>memory resident</a:t>
            </a:r>
          </a:p>
          <a:p>
            <a:pPr lvl="1"/>
            <a:r>
              <a:rPr lang="en-US" altLang="en-US"/>
              <a:t>No difference from non demand-paging</a:t>
            </a:r>
          </a:p>
          <a:p>
            <a:r>
              <a:rPr lang="en-US" altLang="en-US"/>
              <a:t>If page needed and not memory resident</a:t>
            </a:r>
          </a:p>
          <a:p>
            <a:pPr lvl="1"/>
            <a:r>
              <a:rPr lang="en-US" altLang="en-US"/>
              <a:t>Need to detect and load the page into memory from storage</a:t>
            </a:r>
          </a:p>
          <a:p>
            <a:pPr lvl="2"/>
            <a:r>
              <a:rPr lang="en-US" altLang="en-US"/>
              <a:t>Without changing program behavior</a:t>
            </a:r>
          </a:p>
          <a:p>
            <a:pPr lvl="2"/>
            <a:r>
              <a:rPr lang="en-US" altLang="en-US"/>
              <a:t>Without programmer needing to change code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Valid-Invalid Bit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1046163"/>
            <a:ext cx="7410450" cy="5472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With each page table entry a valid–invalid bit is associated</a:t>
            </a:r>
            <a:br>
              <a:rPr lang="en-US" altLang="en-US"/>
            </a:br>
            <a:r>
              <a:rPr lang="en-US" altLang="en-US"/>
              <a:t>(</a:t>
            </a:r>
            <a:r>
              <a:rPr lang="en-US" altLang="en-US" b="1">
                <a:solidFill>
                  <a:srgbClr val="FF0000"/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 in-memory – </a:t>
            </a:r>
            <a:r>
              <a:rPr lang="en-US" altLang="en-US" b="1">
                <a:solidFill>
                  <a:srgbClr val="3366FF"/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>
                <a:sym typeface="Symbol" panose="05050102010706020507" pitchFamily="18" charset="2"/>
              </a:rPr>
              <a:t>,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>
                <a:sym typeface="Symbol" panose="05050102010706020507" pitchFamily="18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Example of a page table snapshot:</a:t>
            </a:r>
            <a:br>
              <a:rPr lang="en-US" altLang="en-US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endParaRPr lang="en-US" altLang="en-US" sz="8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75" y="2238375"/>
            <a:ext cx="282892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39700"/>
            <a:ext cx="8296275" cy="501650"/>
          </a:xfrm>
        </p:spPr>
        <p:txBody>
          <a:bodyPr/>
          <a:lstStyle/>
          <a:p>
            <a:pPr eaLnBrk="1" hangingPunct="1"/>
            <a:r>
              <a:rPr lang="en-US" altLang="en-US" sz="2000"/>
              <a:t>Page Table When Some Pages Are Not in Main Memory</a:t>
            </a:r>
          </a:p>
        </p:txBody>
      </p:sp>
      <p:pic>
        <p:nvPicPr>
          <p:cNvPr id="1638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174750"/>
            <a:ext cx="4967288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Page Fault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904875"/>
            <a:ext cx="7138987" cy="421005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b="1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/>
              <a:t>Invalid reference </a:t>
            </a:r>
            <a:r>
              <a:rPr lang="en-US" altLang="en-US">
                <a:sym typeface="Symbol" panose="05050102010706020507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Set validation bit =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Restart the instruction that caused the page 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90563" y="188913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</a:t>
            </a:r>
          </a:p>
        </p:txBody>
      </p:sp>
      <p:pic>
        <p:nvPicPr>
          <p:cNvPr id="1843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Aspects of Demand Paging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57250" y="1081088"/>
            <a:ext cx="7740650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Pure demand paging</a:t>
            </a:r>
          </a:p>
          <a:p>
            <a:r>
              <a:rPr lang="en-US" altLang="en-US" dirty="0"/>
              <a:t>Actually, a given instruction could access multiple pages -&gt; multiple page faults</a:t>
            </a:r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3366FF"/>
                </a:solidFill>
              </a:rPr>
              <a:t>locality of reference</a:t>
            </a:r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3366FF"/>
                </a:solidFill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Instruction Restart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157288"/>
            <a:ext cx="7702550" cy="4114800"/>
          </a:xfrm>
        </p:spPr>
        <p:txBody>
          <a:bodyPr/>
          <a:lstStyle/>
          <a:p>
            <a:r>
              <a:rPr lang="en-US" altLang="en-US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block move</a:t>
            </a:r>
            <a:br>
              <a:rPr lang="en-US" altLang="en-US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048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1911350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016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Performance of Demand Paging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Stages in Demand Paging (worse case)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Issue a read from the disk to a free frame: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Begin the transfer of the page to a free frame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While waiting, allocate the CPU to some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Receive an interrupt from the disk I/O subsystem (I/O completed)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Save the registers and process state for the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Determine that the interrupt was from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Correct the page table and other tables to show page is now in memory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for the CPU to be allocated to this process again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Restore the user registers, process state, and new page table, and then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25" y="188913"/>
            <a:ext cx="7942263" cy="576262"/>
          </a:xfrm>
        </p:spPr>
        <p:txBody>
          <a:bodyPr/>
          <a:lstStyle/>
          <a:p>
            <a:pPr eaLnBrk="1" hangingPunct="1"/>
            <a:r>
              <a:rPr lang="en-US" altLang="en-US"/>
              <a:t>Performance of Demand Paging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119188"/>
            <a:ext cx="8299450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14313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068388"/>
            <a:ext cx="7715250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This is a slowdown by a factor of 40!!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0368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14313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068388"/>
            <a:ext cx="7715250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20700" y="163513"/>
            <a:ext cx="8229600" cy="576262"/>
          </a:xfrm>
        </p:spPr>
        <p:txBody>
          <a:bodyPr/>
          <a:lstStyle/>
          <a:p>
            <a:r>
              <a:rPr lang="en-US" altLang="en-US"/>
              <a:t>Demand Paging Optimizations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06450" y="1028700"/>
            <a:ext cx="7575550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</a:p>
          <a:p>
            <a:r>
              <a:rPr lang="en-US" altLang="en-US" sz="1600" dirty="0"/>
              <a:t>Copy entire process image to swap space at process load time</a:t>
            </a:r>
          </a:p>
          <a:p>
            <a:pPr lvl="1"/>
            <a:r>
              <a:rPr lang="en-US" altLang="en-US" sz="1600" dirty="0"/>
              <a:t>Then page in and out of swap space</a:t>
            </a:r>
          </a:p>
          <a:p>
            <a:pPr lvl="1"/>
            <a:r>
              <a:rPr lang="en-US" altLang="en-US" sz="1600" dirty="0"/>
              <a:t>Used in older BSD Unix</a:t>
            </a:r>
          </a:p>
          <a:p>
            <a:r>
              <a:rPr lang="en-US" altLang="en-US" sz="1600" dirty="0"/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 dirty="0"/>
              <a:t>Used in Solaris and current BSD</a:t>
            </a:r>
          </a:p>
          <a:p>
            <a:pPr lvl="1"/>
            <a:r>
              <a:rPr lang="en-US" altLang="en-US" sz="1600" dirty="0"/>
              <a:t>Still need to write to swap space</a:t>
            </a:r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3366FF"/>
                </a:solidFill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</a:p>
          <a:p>
            <a:pPr lvl="2"/>
            <a:r>
              <a:rPr lang="en-US" altLang="en-US" sz="1600" dirty="0"/>
              <a:t>Pages modified in memory but not yet written back to the file system</a:t>
            </a:r>
          </a:p>
          <a:p>
            <a:r>
              <a:rPr lang="en-US" altLang="en-US" sz="1600" dirty="0"/>
              <a:t>Mobile systems</a:t>
            </a:r>
          </a:p>
          <a:p>
            <a:pPr lvl="1"/>
            <a:r>
              <a:rPr lang="en-US" altLang="en-US" sz="1600" dirty="0"/>
              <a:t>Typically don’t support swapping</a:t>
            </a:r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4C410-2E5F-21B7-6BB4-D338BFA45F2F}"/>
              </a:ext>
            </a:extLst>
          </p:cNvPr>
          <p:cNvSpPr txBox="1"/>
          <p:nvPr/>
        </p:nvSpPr>
        <p:spPr>
          <a:xfrm>
            <a:off x="4143894" y="29925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Copy-on-Write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334250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3366FF"/>
                </a:solidFill>
              </a:rPr>
              <a:t>Copy-on-Write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</a:p>
          <a:p>
            <a:pPr lvl="1"/>
            <a:r>
              <a:rPr lang="en-US" altLang="en-US" sz="1600" dirty="0"/>
              <a:t>If either process modifies a shared page, only then is the page copied</a:t>
            </a:r>
          </a:p>
          <a:p>
            <a:r>
              <a:rPr lang="en-US" altLang="en-US" sz="1600" dirty="0"/>
              <a:t>COW allows more efficient process creation as only modified pages are copied</a:t>
            </a:r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3366FF"/>
                </a:solidFill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3366FF"/>
                </a:solidFill>
              </a:rPr>
              <a:t>zero-fill-on-demand </a:t>
            </a:r>
            <a:r>
              <a:rPr lang="en-US" altLang="en-US" sz="1600" dirty="0"/>
              <a:t>pages</a:t>
            </a:r>
          </a:p>
          <a:p>
            <a:pPr lvl="1"/>
            <a:r>
              <a:rPr lang="en-US" altLang="en-US" sz="1600" dirty="0"/>
              <a:t>Pool should always have free frames for fast demand page execution</a:t>
            </a:r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</a:p>
          <a:p>
            <a:pPr lvl="1"/>
            <a:r>
              <a:rPr lang="en-US" altLang="en-US" sz="1600" dirty="0"/>
              <a:t>Why zero-out a page before allocating it?</a:t>
            </a:r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 dirty="0"/>
              <a:t>Very efficient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0" y="2270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Before Process 1 Modifies Page C</a:t>
            </a:r>
          </a:p>
        </p:txBody>
      </p:sp>
      <p:pic>
        <p:nvPicPr>
          <p:cNvPr id="2662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1381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After Process 1 Modifies Page C</a:t>
            </a:r>
          </a:p>
        </p:txBody>
      </p:sp>
      <p:pic>
        <p:nvPicPr>
          <p:cNvPr id="2765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1444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What Happens if There is no Free Frame?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133475"/>
            <a:ext cx="7300912" cy="4511675"/>
          </a:xfrm>
        </p:spPr>
        <p:txBody>
          <a:bodyPr/>
          <a:lstStyle/>
          <a:p>
            <a:r>
              <a:rPr lang="en-US" altLang="en-US" dirty="0"/>
              <a:t>Main memory is used up by process pages</a:t>
            </a:r>
          </a:p>
          <a:p>
            <a:r>
              <a:rPr lang="en-US" altLang="en-US" dirty="0"/>
              <a:t>Also memory is used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188913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233488"/>
            <a:ext cx="6508750" cy="4530725"/>
          </a:xfrm>
        </p:spPr>
        <p:txBody>
          <a:bodyPr/>
          <a:lstStyle/>
          <a:p>
            <a:r>
              <a:rPr lang="en-US" altLang="en-US"/>
              <a:t>Prevent </a:t>
            </a:r>
            <a:r>
              <a:rPr lang="en-US" altLang="en-US" b="1">
                <a:solidFill>
                  <a:srgbClr val="3366FF"/>
                </a:solidFill>
              </a:rPr>
              <a:t>over-allocation</a:t>
            </a:r>
            <a:r>
              <a:rPr lang="en-US" altLang="en-US"/>
              <a:t> of memory by modifying page-fault service routine to include page replacement</a:t>
            </a:r>
          </a:p>
          <a:p>
            <a:r>
              <a:rPr lang="en-US" altLang="en-US"/>
              <a:t>Use </a:t>
            </a:r>
            <a:r>
              <a:rPr lang="en-US" altLang="en-US" b="1">
                <a:solidFill>
                  <a:srgbClr val="3366FF"/>
                </a:solidFill>
              </a:rPr>
              <a:t>modify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dirty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bit </a:t>
            </a:r>
            <a:r>
              <a:rPr lang="en-US" altLang="en-US"/>
              <a:t>to reduce overhead of page transfers – only modified pages are written to disk</a:t>
            </a:r>
          </a:p>
          <a:p>
            <a:r>
              <a:rPr lang="en-US" altLang="en-US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3775" y="188913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/>
              <a:t>Need For Page Replacement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789BC-4ABD-CD49-C196-D8EB48CE6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7" y="1009131"/>
            <a:ext cx="7436669" cy="48397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163513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/>
              <a:t>Basic Page Replacement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122363"/>
            <a:ext cx="7653338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3366FF"/>
                </a:solidFill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	- </a:t>
            </a:r>
            <a:r>
              <a:rPr lang="en-US" altLang="en-US" dirty="0"/>
              <a:t>Write victim frame to disk if dirty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AutoNum type="arabicPeriod"/>
            </a:pPr>
            <a:endParaRPr lang="en-US" altLang="en-US" dirty="0"/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1762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pic>
        <p:nvPicPr>
          <p:cNvPr id="3277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9838" y="163513"/>
            <a:ext cx="7675562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33475"/>
            <a:ext cx="7486650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3366FF"/>
                </a:solidFill>
              </a:rPr>
              <a:t>reference string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900" y="984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Graph of Page Faults Versus The Number of Frames</a:t>
            </a: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88" y="1762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052513"/>
            <a:ext cx="7283450" cy="5762625"/>
          </a:xfrm>
        </p:spPr>
        <p:txBody>
          <a:bodyPr/>
          <a:lstStyle/>
          <a:p>
            <a:r>
              <a:rPr lang="en-US" altLang="en-US"/>
              <a:t>Reference string: </a:t>
            </a:r>
            <a:r>
              <a:rPr lang="en-US" altLang="en-US" b="1">
                <a:solidFill>
                  <a:srgbClr val="FF0000"/>
                </a:solidFill>
              </a:rPr>
              <a:t>7,0,1,2,0,3,0,4,2,3,0,3,0,3,2,1,2,0,1,7,0,1</a:t>
            </a:r>
            <a:endParaRPr lang="en-US" altLang="en-US"/>
          </a:p>
          <a:p>
            <a:r>
              <a:rPr lang="en-US" altLang="en-US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br>
              <a:rPr lang="en-US" altLang="en-US"/>
            </a:b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 sz="800"/>
          </a:p>
          <a:p>
            <a:pPr>
              <a:buFont typeface="Monotype Sorts" pitchFamily="-84" charset="2"/>
              <a:buNone/>
            </a:pPr>
            <a:endParaRPr lang="en-US" altLang="en-US" sz="800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Can vary by reference string: consider 1,2,3,4,1,2,5,1,2,3,4,5</a:t>
            </a:r>
          </a:p>
          <a:p>
            <a:pPr lvl="1"/>
            <a:r>
              <a:rPr lang="en-US" altLang="en-US"/>
              <a:t>Adding more frames can cause more page faults!</a:t>
            </a:r>
          </a:p>
          <a:p>
            <a:pPr lvl="2"/>
            <a:r>
              <a:rPr lang="en-US" altLang="en-US" b="1">
                <a:solidFill>
                  <a:srgbClr val="3366FF"/>
                </a:solidFill>
              </a:rPr>
              <a:t>Belady</a:t>
            </a:r>
            <a:r>
              <a:rPr lang="ja-JP" altLang="en-US" b="1">
                <a:solidFill>
                  <a:srgbClr val="3366FF"/>
                </a:solidFill>
              </a:rPr>
              <a:t>’</a:t>
            </a:r>
            <a:r>
              <a:rPr lang="en-US" altLang="ja-JP" b="1">
                <a:solidFill>
                  <a:srgbClr val="3366FF"/>
                </a:solidFill>
              </a:rPr>
              <a:t>s Anomaly</a:t>
            </a:r>
            <a:endParaRPr lang="en-US" altLang="en-US" sz="800"/>
          </a:p>
          <a:p>
            <a:r>
              <a:rPr lang="en-US" altLang="en-US"/>
              <a:t>How to track ages of pages? </a:t>
            </a:r>
          </a:p>
          <a:p>
            <a:pPr lvl="1"/>
            <a:r>
              <a:rPr lang="en-US" altLang="en-US"/>
              <a:t>Just use a FIFO queue</a:t>
            </a:r>
          </a:p>
        </p:txBody>
      </p:sp>
      <p:sp>
        <p:nvSpPr>
          <p:cNvPr id="35844" name="Text Box 16"/>
          <p:cNvSpPr txBox="1">
            <a:spLocks noChangeArrowheads="1"/>
          </p:cNvSpPr>
          <p:nvPr/>
        </p:nvSpPr>
        <p:spPr bwMode="auto">
          <a:xfrm>
            <a:off x="1333500" y="3546475"/>
            <a:ext cx="163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584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14313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/>
              <a:t>FIFO Illustrating Belady</a:t>
            </a:r>
            <a:r>
              <a:rPr lang="ja-JP" altLang="en-US"/>
              <a:t>’</a:t>
            </a:r>
            <a:r>
              <a:rPr lang="en-US" altLang="ja-JP"/>
              <a:t>s Anomaly</a:t>
            </a:r>
            <a:endParaRPr lang="en-US" altLang="en-US"/>
          </a:p>
        </p:txBody>
      </p:sp>
      <p:pic>
        <p:nvPicPr>
          <p:cNvPr id="36867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38113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/>
              <a:t>Optimal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119188"/>
            <a:ext cx="8229600" cy="4530725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3789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8425" y="1635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727075"/>
            <a:ext cx="7454900" cy="4835525"/>
          </a:xfrm>
        </p:spPr>
        <p:txBody>
          <a:bodyPr/>
          <a:lstStyle/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3891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2363788"/>
            <a:ext cx="6902450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LRU Algorithm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950913"/>
            <a:ext cx="7524750" cy="5246687"/>
          </a:xfrm>
        </p:spPr>
        <p:txBody>
          <a:bodyPr/>
          <a:lstStyle/>
          <a:p>
            <a:r>
              <a:rPr lang="en-US" altLang="en-US" dirty="0"/>
              <a:t>Implementation1: 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Implementation2: 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3366FF"/>
                </a:solidFill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</a:t>
            </a:r>
            <a:r>
              <a:rPr lang="en-US" altLang="ja-JP" dirty="0" err="1"/>
              <a:t>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650" y="103188"/>
            <a:ext cx="7626350" cy="576262"/>
          </a:xfrm>
        </p:spPr>
        <p:txBody>
          <a:bodyPr/>
          <a:lstStyle/>
          <a:p>
            <a:pPr eaLnBrk="1" hangingPunct="1"/>
            <a:r>
              <a:rPr lang="en-US" altLang="en-US" sz="2000"/>
              <a:t>Use Of A Stack to Record Most Recent Page References</a:t>
            </a:r>
          </a:p>
        </p:txBody>
      </p:sp>
      <p:pic>
        <p:nvPicPr>
          <p:cNvPr id="40963" name="Picture 1" descr="9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1141413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08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LRU Approximation Algorithms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982663"/>
            <a:ext cx="7370762" cy="5146675"/>
          </a:xfrm>
        </p:spPr>
        <p:txBody>
          <a:bodyPr/>
          <a:lstStyle/>
          <a:p>
            <a:r>
              <a:rPr lang="en-US" altLang="en-US"/>
              <a:t>LRU needs special hardware and still slow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Reference bit</a:t>
            </a:r>
          </a:p>
          <a:p>
            <a:pPr lvl="1"/>
            <a:r>
              <a:rPr lang="en-US" altLang="en-US"/>
              <a:t>With each page associate a bit, initially = 0</a:t>
            </a:r>
          </a:p>
          <a:p>
            <a:pPr lvl="1"/>
            <a:r>
              <a:rPr lang="en-US" altLang="en-US"/>
              <a:t>When page is referenced bit set to 1</a:t>
            </a:r>
          </a:p>
          <a:p>
            <a:pPr lvl="1"/>
            <a:r>
              <a:rPr lang="en-US" altLang="en-US"/>
              <a:t>Replace any with reference bit = 0 (if one exists)</a:t>
            </a:r>
          </a:p>
          <a:p>
            <a:pPr lvl="2"/>
            <a:r>
              <a:rPr lang="en-US" altLang="en-US"/>
              <a:t>We do not know the order, however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Second-chance algorithm</a:t>
            </a:r>
          </a:p>
          <a:p>
            <a:pPr lvl="1"/>
            <a:r>
              <a:rPr lang="en-US" altLang="en-US"/>
              <a:t>Generally FIFO, plus hardware-provided reference bit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Clock</a:t>
            </a:r>
            <a:r>
              <a:rPr lang="en-US" altLang="en-US"/>
              <a:t> replacement</a:t>
            </a:r>
          </a:p>
          <a:p>
            <a:pPr lvl="1"/>
            <a:r>
              <a:rPr lang="en-US" altLang="en-US"/>
              <a:t>If page to be replaced has </a:t>
            </a:r>
          </a:p>
          <a:p>
            <a:pPr lvl="2"/>
            <a:r>
              <a:rPr lang="en-US" altLang="en-US"/>
              <a:t>Reference bit = 0 -&gt; replace it</a:t>
            </a:r>
          </a:p>
          <a:p>
            <a:pPr lvl="2"/>
            <a:r>
              <a:rPr lang="en-US" altLang="en-US"/>
              <a:t>reference bit = 1 then:</a:t>
            </a:r>
          </a:p>
          <a:p>
            <a:pPr lvl="3"/>
            <a:r>
              <a:rPr lang="en-US" altLang="en-US"/>
              <a:t>set reference bit 0, leave page in memory</a:t>
            </a:r>
          </a:p>
          <a:p>
            <a:pPr lvl="3"/>
            <a:r>
              <a:rPr lang="en-US" altLang="en-US"/>
              <a:t>replace next page, subject to same rules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27100" y="177800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000"/>
              <a:t>Second-Chance (clock) Page-Replacement Algorithm</a:t>
            </a:r>
          </a:p>
        </p:txBody>
      </p:sp>
      <p:pic>
        <p:nvPicPr>
          <p:cNvPr id="43011" name="Picture 1" descr="9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1381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Enhanced Second-Chance Algorithm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071563"/>
            <a:ext cx="7158037" cy="5146675"/>
          </a:xfrm>
        </p:spPr>
        <p:txBody>
          <a:bodyPr/>
          <a:lstStyle/>
          <a:p>
            <a:r>
              <a:rPr lang="en-US" altLang="en-US"/>
              <a:t>Improve algorithm by using reference bit and modify bit (if available) in concert</a:t>
            </a:r>
          </a:p>
          <a:p>
            <a:r>
              <a:rPr lang="en-US" altLang="en-US"/>
              <a:t>Take ordered pair (reference, modify)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(0, 0) neither recently used not modified – best page to replace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(0, 1) not recently used but modified – not quite as good, must write out before replacement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(1, 0) recently used but clean – probably will be used again soon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(1, 1) recently used and modified – probably will be used again soon and need to write out before replacement</a:t>
            </a:r>
          </a:p>
          <a:p>
            <a:r>
              <a:rPr lang="en-US" altLang="en-US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Counting Algorithms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1155700"/>
            <a:ext cx="7377112" cy="4551363"/>
          </a:xfrm>
        </p:spPr>
        <p:txBody>
          <a:bodyPr/>
          <a:lstStyle/>
          <a:p>
            <a:r>
              <a:rPr lang="en-US" altLang="en-US"/>
              <a:t>Keep a counter of the number of references that have been made to each page</a:t>
            </a:r>
          </a:p>
          <a:p>
            <a:pPr lvl="1"/>
            <a:r>
              <a:rPr lang="en-US" altLang="en-US"/>
              <a:t>Not common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Lease Frequently Used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LFU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Algorithm</a:t>
            </a:r>
            <a:r>
              <a:rPr lang="en-US" altLang="en-US"/>
              <a:t>:  replaces page with smallest count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Most Frequently Used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MFU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Algorithm</a:t>
            </a:r>
            <a:r>
              <a:rPr lang="en-US" altLang="en-US"/>
              <a:t>: 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Page-Buffering Algorithms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869950" y="1093788"/>
            <a:ext cx="7232650" cy="5078412"/>
          </a:xfrm>
        </p:spPr>
        <p:txBody>
          <a:bodyPr/>
          <a:lstStyle/>
          <a:p>
            <a:r>
              <a:rPr lang="en-US" altLang="en-US"/>
              <a:t>Keep a pool of free frames, always</a:t>
            </a:r>
          </a:p>
          <a:p>
            <a:pPr lvl="1"/>
            <a:r>
              <a:rPr lang="en-US" altLang="en-US"/>
              <a:t>Then frame available when needed, not found at fault time</a:t>
            </a:r>
          </a:p>
          <a:p>
            <a:pPr lvl="1"/>
            <a:r>
              <a:rPr lang="en-US" altLang="en-US"/>
              <a:t>Read page into free frame and select victim to evict and add to free pool</a:t>
            </a:r>
          </a:p>
          <a:p>
            <a:pPr lvl="1"/>
            <a:r>
              <a:rPr lang="en-US" altLang="en-US"/>
              <a:t>When convenient, evict victim</a:t>
            </a:r>
          </a:p>
          <a:p>
            <a:r>
              <a:rPr lang="en-US" altLang="en-US"/>
              <a:t>Possibly, keep list of modified pages</a:t>
            </a:r>
          </a:p>
          <a:p>
            <a:pPr lvl="1"/>
            <a:r>
              <a:rPr lang="en-US" altLang="en-US"/>
              <a:t>When backing store otherwise idle, write pages there and set to non-dirty</a:t>
            </a:r>
          </a:p>
          <a:p>
            <a:r>
              <a:rPr lang="en-US" altLang="en-US"/>
              <a:t>Possibly, keep free frame contents intact and note what is in them</a:t>
            </a:r>
          </a:p>
          <a:p>
            <a:pPr lvl="1"/>
            <a:r>
              <a:rPr lang="en-US" altLang="en-US"/>
              <a:t>If referenced again before reused, no need to load contents again from disk</a:t>
            </a:r>
          </a:p>
          <a:p>
            <a:pPr lvl="1"/>
            <a:r>
              <a:rPr lang="en-US" altLang="en-US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831850" y="138113"/>
            <a:ext cx="7867650" cy="576262"/>
          </a:xfrm>
        </p:spPr>
        <p:txBody>
          <a:bodyPr/>
          <a:lstStyle/>
          <a:p>
            <a:r>
              <a:rPr lang="en-US" altLang="en-US" sz="2800"/>
              <a:t>Applications and Page Replacement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895350" y="1131888"/>
            <a:ext cx="7067550" cy="4530725"/>
          </a:xfrm>
        </p:spPr>
        <p:txBody>
          <a:bodyPr/>
          <a:lstStyle/>
          <a:p>
            <a:r>
              <a:rPr lang="en-US" altLang="en-US"/>
              <a:t>All of these algorithms have OS guessing about future page access</a:t>
            </a:r>
          </a:p>
          <a:p>
            <a:r>
              <a:rPr lang="en-US" altLang="en-US"/>
              <a:t>Some applications have better knowledge – i.e. databases</a:t>
            </a:r>
          </a:p>
          <a:p>
            <a:r>
              <a:rPr lang="en-US" altLang="en-US"/>
              <a:t>Memory intensive applications can cause double buffering</a:t>
            </a:r>
          </a:p>
          <a:p>
            <a:pPr lvl="1"/>
            <a:r>
              <a:rPr lang="en-US" altLang="en-US"/>
              <a:t>OS keeps copy of page in memory as I/O buffer</a:t>
            </a:r>
          </a:p>
          <a:p>
            <a:pPr lvl="1"/>
            <a:r>
              <a:rPr lang="en-US" altLang="en-US"/>
              <a:t>Application keeps page in memory for its own work</a:t>
            </a:r>
          </a:p>
          <a:p>
            <a:r>
              <a:rPr lang="en-US" altLang="en-US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Raw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disk</a:t>
            </a:r>
            <a:r>
              <a:rPr lang="en-US" altLang="en-US" b="1"/>
              <a:t> </a:t>
            </a:r>
            <a:r>
              <a:rPr lang="en-US" altLang="en-US"/>
              <a:t>mode</a:t>
            </a:r>
          </a:p>
          <a:p>
            <a:r>
              <a:rPr lang="en-US" altLang="en-US"/>
              <a:t>Bypasses buffering, locking, etc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163513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/>
              <a:t>Allocation of Frames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20775"/>
            <a:ext cx="7351712" cy="4483100"/>
          </a:xfrm>
        </p:spPr>
        <p:txBody>
          <a:bodyPr/>
          <a:lstStyle/>
          <a:p>
            <a:r>
              <a:rPr lang="en-US" altLang="en-US"/>
              <a:t>Each process needs </a:t>
            </a:r>
            <a:r>
              <a:rPr lang="en-US" altLang="en-US" b="1" i="1"/>
              <a:t>minimum</a:t>
            </a:r>
            <a:r>
              <a:rPr lang="en-US" altLang="en-US"/>
              <a:t> number of frames</a:t>
            </a:r>
          </a:p>
          <a:p>
            <a:r>
              <a:rPr lang="en-US" altLang="en-US"/>
              <a:t>Example:  IBM 370 – 6 pages to handle SS MOVE instruction:</a:t>
            </a:r>
          </a:p>
          <a:p>
            <a:pPr lvl="1"/>
            <a:r>
              <a:rPr lang="en-US" altLang="en-US"/>
              <a:t>instruction is 6 bytes, might span 2 pages</a:t>
            </a:r>
          </a:p>
          <a:p>
            <a:pPr lvl="1"/>
            <a:r>
              <a:rPr lang="en-US" altLang="en-US"/>
              <a:t>2 pages to handle </a:t>
            </a:r>
            <a:r>
              <a:rPr lang="en-US" altLang="en-US" i="1"/>
              <a:t>from</a:t>
            </a:r>
          </a:p>
          <a:p>
            <a:pPr lvl="1"/>
            <a:r>
              <a:rPr lang="en-US" altLang="en-US"/>
              <a:t>2 pages to handle </a:t>
            </a:r>
            <a:r>
              <a:rPr lang="en-US" altLang="en-US" i="1"/>
              <a:t>to</a:t>
            </a:r>
          </a:p>
          <a:p>
            <a:r>
              <a:rPr lang="en-US" altLang="en-US" b="1" i="1"/>
              <a:t>Maximum</a:t>
            </a:r>
            <a:r>
              <a:rPr lang="en-US" altLang="en-US" i="1"/>
              <a:t> </a:t>
            </a:r>
            <a:r>
              <a:rPr lang="en-US" altLang="en-US"/>
              <a:t>of course is total frames in the system</a:t>
            </a:r>
          </a:p>
          <a:p>
            <a:r>
              <a:rPr lang="en-US" altLang="en-US"/>
              <a:t>Two major allocation schemes</a:t>
            </a:r>
          </a:p>
          <a:p>
            <a:pPr lvl="1"/>
            <a:r>
              <a:rPr lang="en-US" altLang="en-US"/>
              <a:t>fixed allocation</a:t>
            </a:r>
          </a:p>
          <a:p>
            <a:pPr lvl="1"/>
            <a:r>
              <a:rPr lang="en-US" altLang="en-US"/>
              <a:t>priority allocation</a:t>
            </a:r>
          </a:p>
          <a:p>
            <a:r>
              <a:rPr lang="en-US" altLang="en-US"/>
              <a:t>Many variations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88913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/>
              <a:t>Fixed Allocation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82675"/>
            <a:ext cx="7226300" cy="4645025"/>
          </a:xfrm>
        </p:spPr>
        <p:txBody>
          <a:bodyPr/>
          <a:lstStyle/>
          <a:p>
            <a:r>
              <a:rPr lang="en-US" altLang="en-US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/>
              <a:t>Keep some as free frame buffer pool</a:t>
            </a:r>
          </a:p>
          <a:p>
            <a:endParaRPr lang="en-US" altLang="en-US" sz="800"/>
          </a:p>
          <a:p>
            <a:r>
              <a:rPr lang="en-US" altLang="en-US"/>
              <a:t>Proportional allocation – Allocate according to the size of process</a:t>
            </a:r>
          </a:p>
          <a:p>
            <a:pPr lvl="1"/>
            <a:r>
              <a:rPr lang="en-US" altLang="en-US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1612900" progId="Equation.3">
                  <p:embed/>
                </p:oleObj>
              </mc:Choice>
              <mc:Fallback>
                <p:oleObj name="Equation" r:id="rId3" imgW="2857500" imgH="161290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/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1460500" progId="Equation.3">
                  <p:embed/>
                </p:oleObj>
              </mc:Choice>
              <mc:Fallback>
                <p:oleObj name="Equation" r:id="rId5" imgW="1143000" imgH="146050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66775" y="201613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/>
              <a:t>Priority Allocation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1190625"/>
            <a:ext cx="6851650" cy="4394200"/>
          </a:xfrm>
        </p:spPr>
        <p:txBody>
          <a:bodyPr/>
          <a:lstStyle/>
          <a:p>
            <a:r>
              <a:rPr lang="en-US" altLang="en-US"/>
              <a:t>Use a proportional allocation scheme using priorities rather than size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If process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 generates a page fault,</a:t>
            </a:r>
          </a:p>
          <a:p>
            <a:pPr lvl="1"/>
            <a:r>
              <a:rPr lang="en-US" altLang="en-US"/>
              <a:t>select for replacement one of its frames</a:t>
            </a:r>
          </a:p>
          <a:p>
            <a:pPr lvl="1"/>
            <a:r>
              <a:rPr lang="en-US" altLang="en-US"/>
              <a:t>select for replacement a frame from a process with lower priority number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1889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/>
              <a:t>Global vs. Local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16013"/>
            <a:ext cx="6958012" cy="4470400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Global replacement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/>
              <a:t>But then process execution time can vary greatly</a:t>
            </a:r>
          </a:p>
          <a:p>
            <a:pPr lvl="1"/>
            <a:r>
              <a:rPr lang="en-US" altLang="en-US"/>
              <a:t>But greater throughput so more common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Local replacement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each process selects from only its own set of allocated frames</a:t>
            </a:r>
          </a:p>
          <a:p>
            <a:pPr lvl="1"/>
            <a:r>
              <a:rPr lang="en-US" altLang="en-US"/>
              <a:t>More consistent per-process performance</a:t>
            </a:r>
          </a:p>
          <a:p>
            <a:pPr lvl="1"/>
            <a:r>
              <a:rPr lang="en-US" altLang="en-US"/>
              <a:t>But possibly underutilized memory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495300" y="201613"/>
            <a:ext cx="8229600" cy="576262"/>
          </a:xfrm>
        </p:spPr>
        <p:txBody>
          <a:bodyPr/>
          <a:lstStyle/>
          <a:p>
            <a:r>
              <a:rPr lang="en-US" altLang="en-US"/>
              <a:t>Non-Uniform Memory Access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895350" y="1081088"/>
            <a:ext cx="7169150" cy="4530725"/>
          </a:xfrm>
        </p:spPr>
        <p:txBody>
          <a:bodyPr/>
          <a:lstStyle/>
          <a:p>
            <a:r>
              <a:rPr lang="en-US" altLang="en-US"/>
              <a:t>So far all memory accessed equally</a:t>
            </a:r>
          </a:p>
          <a:p>
            <a:r>
              <a:rPr lang="en-US" altLang="en-US"/>
              <a:t>Many systems are </a:t>
            </a:r>
            <a:r>
              <a:rPr lang="en-US" altLang="en-US" b="1">
                <a:solidFill>
                  <a:srgbClr val="3366FF"/>
                </a:solidFill>
              </a:rPr>
              <a:t>NUMA</a:t>
            </a:r>
            <a:r>
              <a:rPr lang="en-US" altLang="en-US"/>
              <a:t> – speed of access to memory varies</a:t>
            </a:r>
          </a:p>
          <a:p>
            <a:pPr lvl="1"/>
            <a:r>
              <a:rPr lang="en-US" altLang="en-US"/>
              <a:t>Consider system boards containing CPUs and memory, interconnected over a system bus</a:t>
            </a:r>
          </a:p>
          <a:p>
            <a:r>
              <a:rPr lang="en-US" altLang="en-US"/>
              <a:t>Optimal performance comes from allocating memory </a:t>
            </a:r>
            <a:r>
              <a:rPr lang="ja-JP" altLang="en-US"/>
              <a:t>“</a:t>
            </a:r>
            <a:r>
              <a:rPr lang="en-US" altLang="ja-JP"/>
              <a:t>close to</a:t>
            </a:r>
            <a:r>
              <a:rPr lang="ja-JP" altLang="en-US"/>
              <a:t>”</a:t>
            </a:r>
            <a:r>
              <a:rPr lang="en-US" altLang="ja-JP"/>
              <a:t> the CPU on which the thread is scheduled</a:t>
            </a:r>
          </a:p>
          <a:p>
            <a:pPr lvl="1"/>
            <a:r>
              <a:rPr lang="en-US" altLang="en-US"/>
              <a:t>And modifying the scheduler to schedule the thread on the same system board when possible</a:t>
            </a:r>
          </a:p>
          <a:p>
            <a:pPr lvl="1"/>
            <a:r>
              <a:rPr lang="en-US" altLang="en-US"/>
              <a:t>Solved by Solaris by creating </a:t>
            </a:r>
            <a:r>
              <a:rPr lang="en-US" altLang="en-US" b="1">
                <a:solidFill>
                  <a:srgbClr val="3366FF"/>
                </a:solidFill>
              </a:rPr>
              <a:t>lgroups </a:t>
            </a:r>
          </a:p>
          <a:p>
            <a:pPr lvl="2"/>
            <a:r>
              <a:rPr lang="en-US" altLang="en-US"/>
              <a:t>Structure to track CPU / Memory low latency groups</a:t>
            </a:r>
          </a:p>
          <a:p>
            <a:pPr lvl="2"/>
            <a:r>
              <a:rPr lang="en-US" altLang="en-US"/>
              <a:t>Used my schedule and pager</a:t>
            </a:r>
          </a:p>
          <a:p>
            <a:pPr lvl="2"/>
            <a:r>
              <a:rPr lang="en-US" altLang="en-US"/>
              <a:t>When possible schedule all threads of a process and allocate all memory for that process within the lgroup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Thrashing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131888"/>
            <a:ext cx="7353300" cy="4483100"/>
          </a:xfrm>
        </p:spPr>
        <p:txBody>
          <a:bodyPr/>
          <a:lstStyle/>
          <a:p>
            <a:r>
              <a:rPr lang="en-US" altLang="en-US"/>
              <a:t>If a process does not have </a:t>
            </a:r>
            <a:r>
              <a:rPr lang="ja-JP" altLang="en-US"/>
              <a:t>“</a:t>
            </a:r>
            <a:r>
              <a:rPr lang="en-US" altLang="ja-JP"/>
              <a:t>enough</a:t>
            </a:r>
            <a:r>
              <a:rPr lang="ja-JP" altLang="en-US"/>
              <a:t>”</a:t>
            </a:r>
            <a:r>
              <a:rPr lang="en-US" altLang="ja-JP"/>
              <a:t> pages, the page-fault rate is very high</a:t>
            </a:r>
          </a:p>
          <a:p>
            <a:pPr lvl="1"/>
            <a:r>
              <a:rPr lang="en-US" altLang="en-US"/>
              <a:t>Page fault to get page</a:t>
            </a:r>
          </a:p>
          <a:p>
            <a:pPr lvl="1"/>
            <a:r>
              <a:rPr lang="en-US" altLang="en-US"/>
              <a:t>Replace existing frame</a:t>
            </a:r>
          </a:p>
          <a:p>
            <a:pPr lvl="1"/>
            <a:r>
              <a:rPr lang="en-US" altLang="en-US"/>
              <a:t>But quickly need replaced frame back</a:t>
            </a:r>
          </a:p>
          <a:p>
            <a:pPr lvl="1"/>
            <a:r>
              <a:rPr lang="en-US" altLang="en-US"/>
              <a:t>This leads to:</a:t>
            </a:r>
          </a:p>
          <a:p>
            <a:pPr lvl="2"/>
            <a:r>
              <a:rPr lang="en-US" altLang="en-US"/>
              <a:t>Low CPU utilization</a:t>
            </a:r>
          </a:p>
          <a:p>
            <a:pPr lvl="2"/>
            <a:r>
              <a:rPr lang="en-US" altLang="en-US"/>
              <a:t>Operating system thinking that it needs to increase the degree of multiprogramming</a:t>
            </a:r>
          </a:p>
          <a:p>
            <a:pPr lvl="2"/>
            <a:r>
              <a:rPr lang="en-US" altLang="en-US"/>
              <a:t>Another process added to the system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Thrashing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 a process is busy swapping pages in and out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44563" y="163513"/>
            <a:ext cx="6923087" cy="576262"/>
          </a:xfrm>
        </p:spPr>
        <p:txBody>
          <a:bodyPr/>
          <a:lstStyle/>
          <a:p>
            <a:pPr eaLnBrk="1" hangingPunct="1"/>
            <a:r>
              <a:rPr lang="en-US" altLang="en-US"/>
              <a:t>Thrashing (Cont.)</a:t>
            </a:r>
            <a:endParaRPr lang="en-US" altLang="en-US" sz="2400"/>
          </a:p>
        </p:txBody>
      </p:sp>
      <p:pic>
        <p:nvPicPr>
          <p:cNvPr id="5325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206500"/>
            <a:ext cx="667861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188913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 and Thrashing </a:t>
            </a:r>
            <a:endParaRPr lang="en-US" altLang="en-US" sz="240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084263"/>
            <a:ext cx="7100887" cy="3001962"/>
          </a:xfrm>
        </p:spPr>
        <p:txBody>
          <a:bodyPr/>
          <a:lstStyle/>
          <a:p>
            <a:r>
              <a:rPr lang="en-US" altLang="en-US"/>
              <a:t>Why does demand paging work?</a:t>
            </a:r>
            <a:br>
              <a:rPr lang="en-US" altLang="en-US"/>
            </a:br>
            <a:r>
              <a:rPr lang="en-US" altLang="en-US" b="1">
                <a:solidFill>
                  <a:srgbClr val="3366FF"/>
                </a:solidFill>
              </a:rPr>
              <a:t>Locality model</a:t>
            </a:r>
          </a:p>
          <a:p>
            <a:pPr lvl="1"/>
            <a:r>
              <a:rPr lang="en-US" altLang="en-US"/>
              <a:t>Process migrates from one locality to another</a:t>
            </a:r>
          </a:p>
          <a:p>
            <a:pPr lvl="1"/>
            <a:r>
              <a:rPr lang="en-US" altLang="en-US"/>
              <a:t>Localities may overlap</a:t>
            </a:r>
          </a:p>
          <a:p>
            <a:pPr lvl="1"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Why does thrashing occur?</a:t>
            </a:r>
            <a:br>
              <a:rPr lang="en-US" altLang="en-US"/>
            </a:br>
            <a:r>
              <a:rPr lang="en-US" altLang="en-US">
                <a:sym typeface="Symbol" panose="05050102010706020507" pitchFamily="18" charset="2"/>
              </a:rPr>
              <a:t> size of locality &gt; total memory size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913" y="125413"/>
            <a:ext cx="785018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Locality In A Memory-Reference Pattern</a:t>
            </a:r>
          </a:p>
        </p:txBody>
      </p:sp>
      <p:pic>
        <p:nvPicPr>
          <p:cNvPr id="55299" name="Picture 1" descr="9_1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Working-Set Model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979488"/>
            <a:ext cx="7573963" cy="4881562"/>
          </a:xfrm>
        </p:spPr>
        <p:txBody>
          <a:bodyPr/>
          <a:lstStyle/>
          <a:p>
            <a:r>
              <a:rPr lang="en-US" altLang="en-US" sz="160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Example:  10,000 instructions</a:t>
            </a:r>
          </a:p>
          <a:p>
            <a:r>
              <a:rPr lang="en-US" altLang="en-US" sz="1600" i="1">
                <a:sym typeface="Symbol" panose="05050102010706020507" pitchFamily="18" charset="2"/>
              </a:rPr>
              <a:t>WSS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 (working set of Process </a:t>
            </a:r>
            <a:r>
              <a:rPr lang="en-US" altLang="en-US" sz="1600" i="1">
                <a:sym typeface="Symbol" panose="05050102010706020507" pitchFamily="18" charset="2"/>
              </a:rPr>
              <a:t>P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) =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total number of pages referenced in the most recent  (varies in time)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=  </a:t>
            </a:r>
            <a:r>
              <a:rPr lang="en-US" altLang="en-US" sz="1600" i="1">
                <a:sym typeface="Symbol" panose="05050102010706020507" pitchFamily="18" charset="2"/>
              </a:rPr>
              <a:t>WSS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Approximation of locality</a:t>
            </a:r>
          </a:p>
          <a:p>
            <a:r>
              <a:rPr lang="en-US" altLang="en-US" sz="1600">
                <a:sym typeface="Symbol" panose="05050102010706020507" pitchFamily="18" charset="2"/>
              </a:rPr>
              <a:t>if </a:t>
            </a:r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&gt; </a:t>
            </a:r>
            <a:r>
              <a:rPr lang="en-US" altLang="en-US" sz="1600" i="1">
                <a:sym typeface="Symbol" panose="05050102010706020507" pitchFamily="18" charset="2"/>
              </a:rPr>
              <a:t>m</a:t>
            </a:r>
            <a:r>
              <a:rPr lang="en-US" altLang="en-US" sz="160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sz="1600">
                <a:sym typeface="Symbol" panose="05050102010706020507" pitchFamily="18" charset="2"/>
              </a:rPr>
              <a:t>Policy if </a:t>
            </a:r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&gt; m, then suspe</a:t>
            </a:r>
            <a:r>
              <a:rPr lang="en-US" altLang="en-US">
                <a:sym typeface="Symbol" panose="05050102010706020507" pitchFamily="18" charset="2"/>
              </a:rPr>
              <a:t>nd or swap out one of the processes </a:t>
            </a:r>
          </a:p>
        </p:txBody>
      </p:sp>
      <p:pic>
        <p:nvPicPr>
          <p:cNvPr id="563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4546600"/>
            <a:ext cx="6707188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163513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/>
              <a:t>Keeping Track of the Working Set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19188"/>
            <a:ext cx="7743825" cy="4530725"/>
          </a:xfrm>
        </p:spPr>
        <p:txBody>
          <a:bodyPr/>
          <a:lstStyle/>
          <a:p>
            <a:r>
              <a:rPr lang="en-US" altLang="en-US"/>
              <a:t>Approximate with interval timer + a reference bit</a:t>
            </a:r>
          </a:p>
          <a:p>
            <a:r>
              <a:rPr lang="en-US" altLang="en-US"/>
              <a:t>Example: </a:t>
            </a:r>
            <a:r>
              <a:rPr lang="en-US" altLang="en-US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163513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/>
              <a:t>Page-Fault Frequency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049338"/>
            <a:ext cx="6604000" cy="1668462"/>
          </a:xfrm>
        </p:spPr>
        <p:txBody>
          <a:bodyPr/>
          <a:lstStyle/>
          <a:p>
            <a:r>
              <a:rPr lang="en-US" altLang="en-US"/>
              <a:t>More direct approach than WSS</a:t>
            </a:r>
          </a:p>
          <a:p>
            <a:r>
              <a:rPr lang="en-US" altLang="en-US"/>
              <a:t>Establish </a:t>
            </a:r>
            <a:r>
              <a:rPr lang="ja-JP" altLang="en-US"/>
              <a:t>“</a:t>
            </a:r>
            <a:r>
              <a:rPr lang="en-US" altLang="ja-JP"/>
              <a:t>acceptable</a:t>
            </a:r>
            <a:r>
              <a:rPr lang="ja-JP" altLang="en-US"/>
              <a:t>”</a:t>
            </a:r>
            <a:r>
              <a:rPr lang="en-US" altLang="ja-JP"/>
              <a:t> </a:t>
            </a:r>
            <a:r>
              <a:rPr lang="en-US" altLang="ja-JP" b="1">
                <a:solidFill>
                  <a:srgbClr val="3366FF"/>
                </a:solidFill>
              </a:rPr>
              <a:t>page-fault frequency </a:t>
            </a:r>
            <a:r>
              <a:rPr lang="en-US" altLang="ja-JP"/>
              <a:t>(</a:t>
            </a:r>
            <a:r>
              <a:rPr lang="en-US" altLang="ja-JP" b="1">
                <a:solidFill>
                  <a:srgbClr val="3366FF"/>
                </a:solidFill>
              </a:rPr>
              <a:t>PFF</a:t>
            </a:r>
            <a:r>
              <a:rPr lang="en-US" altLang="ja-JP"/>
              <a:t>)</a:t>
            </a:r>
            <a:r>
              <a:rPr lang="en-US" altLang="ja-JP" b="1">
                <a:solidFill>
                  <a:srgbClr val="3366FF"/>
                </a:solidFill>
              </a:rPr>
              <a:t> </a:t>
            </a:r>
            <a:r>
              <a:rPr lang="en-US" altLang="ja-JP"/>
              <a:t>rate and use local replacement policy</a:t>
            </a:r>
          </a:p>
          <a:p>
            <a:pPr lvl="1"/>
            <a:r>
              <a:rPr lang="en-US" altLang="en-US"/>
              <a:t>If actual rate too low, process loses frame</a:t>
            </a:r>
          </a:p>
          <a:p>
            <a:pPr lvl="1"/>
            <a:r>
              <a:rPr lang="en-US" altLang="en-US"/>
              <a:t>If actual rate too high, process gains frame</a:t>
            </a:r>
          </a:p>
        </p:txBody>
      </p:sp>
      <p:pic>
        <p:nvPicPr>
          <p:cNvPr id="58372" name="Picture 1" descr="9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1063625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Working Sets and Page Fault Rates</a:t>
            </a:r>
          </a:p>
        </p:txBody>
      </p:sp>
      <p:pic>
        <p:nvPicPr>
          <p:cNvPr id="5939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Memory-Mapped Files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81088"/>
            <a:ext cx="7296150" cy="4684712"/>
          </a:xfrm>
        </p:spPr>
        <p:txBody>
          <a:bodyPr/>
          <a:lstStyle/>
          <a:p>
            <a:r>
              <a:rPr lang="en-US" altLang="en-US"/>
              <a:t>Memory-mapped file I/O allows file I/O to be treated as routine memory access by </a:t>
            </a:r>
            <a:r>
              <a:rPr lang="en-US" altLang="en-US" b="1">
                <a:solidFill>
                  <a:srgbClr val="3366FF"/>
                </a:solidFill>
              </a:rPr>
              <a:t>mapping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 disk block to a page in memory</a:t>
            </a:r>
          </a:p>
          <a:p>
            <a:r>
              <a:rPr lang="en-US" altLang="en-US"/>
              <a:t>A file is initially read using demand paging</a:t>
            </a:r>
          </a:p>
          <a:p>
            <a:pPr lvl="1"/>
            <a:r>
              <a:rPr lang="en-US" altLang="en-US"/>
              <a:t>A page-sized portion of the file is read from the file system into a physical page</a:t>
            </a:r>
          </a:p>
          <a:p>
            <a:pPr lvl="1"/>
            <a:r>
              <a:rPr lang="en-US" altLang="en-US"/>
              <a:t>Subsequent reads/writes to/from the file are treated as ordinary memory accesses</a:t>
            </a:r>
          </a:p>
          <a:p>
            <a:r>
              <a:rPr lang="en-US" altLang="en-US"/>
              <a:t>Simplifies and speeds file access by driving file I/O through memory rather than </a:t>
            </a:r>
            <a:r>
              <a:rPr lang="en-US" altLang="en-US">
                <a:latin typeface="Courier New" panose="02070309020205020404" pitchFamily="49" charset="0"/>
              </a:rPr>
              <a:t>read()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/>
              <a:t>and</a:t>
            </a:r>
            <a:r>
              <a:rPr lang="en-US" altLang="en-US">
                <a:latin typeface="Courier New" panose="02070309020205020404" pitchFamily="49" charset="0"/>
              </a:rPr>
              <a:t> write()</a:t>
            </a:r>
            <a:r>
              <a:rPr lang="en-US" altLang="en-US"/>
              <a:t> system calls</a:t>
            </a:r>
          </a:p>
          <a:p>
            <a:r>
              <a:rPr lang="en-US" altLang="en-US"/>
              <a:t>Also allows several processes to map the same file allowing the pages in memory to be shared</a:t>
            </a:r>
          </a:p>
          <a:p>
            <a:r>
              <a:rPr lang="en-US" altLang="en-US"/>
              <a:t>But when does written data make it to disk?</a:t>
            </a:r>
          </a:p>
          <a:p>
            <a:pPr lvl="1"/>
            <a:r>
              <a:rPr lang="en-US" altLang="en-US"/>
              <a:t>Periodically and / or at file </a:t>
            </a:r>
            <a:r>
              <a:rPr lang="en-US" altLang="en-US">
                <a:latin typeface="Courier New" panose="02070309020205020404" pitchFamily="49" charset="0"/>
              </a:rPr>
              <a:t>close()</a:t>
            </a:r>
            <a:r>
              <a:rPr lang="en-US" altLang="en-US"/>
              <a:t> time</a:t>
            </a:r>
          </a:p>
          <a:p>
            <a:pPr lvl="1"/>
            <a:r>
              <a:rPr lang="en-US" altLang="en-US"/>
              <a:t>For example, when the pager scans for dirty pages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1497013" y="138113"/>
            <a:ext cx="7431087" cy="576262"/>
          </a:xfrm>
        </p:spPr>
        <p:txBody>
          <a:bodyPr/>
          <a:lstStyle/>
          <a:p>
            <a:r>
              <a:rPr lang="en-US" altLang="en-US" sz="2800"/>
              <a:t>Memory-Mapped File Technique for all I/O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920750" y="1042988"/>
            <a:ext cx="7696200" cy="4900612"/>
          </a:xfrm>
        </p:spPr>
        <p:txBody>
          <a:bodyPr/>
          <a:lstStyle/>
          <a:p>
            <a:r>
              <a:rPr lang="en-US" altLang="en-US"/>
              <a:t>Some OSes  uses memory mapped files for standard I/O</a:t>
            </a:r>
          </a:p>
          <a:p>
            <a:r>
              <a:rPr lang="en-US" altLang="en-US"/>
              <a:t>Process can explicitly request memory mapping a file via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mmap()</a:t>
            </a:r>
            <a:r>
              <a:rPr lang="en-US" altLang="en-US"/>
              <a:t> system call</a:t>
            </a:r>
          </a:p>
          <a:p>
            <a:pPr lvl="1"/>
            <a:r>
              <a:rPr lang="en-US" altLang="en-US"/>
              <a:t>Now file mapped into process address space</a:t>
            </a:r>
          </a:p>
          <a:p>
            <a:r>
              <a:rPr lang="en-US" altLang="en-US"/>
              <a:t>For standard I/O (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open(), read(), write(), close()</a:t>
            </a:r>
            <a:r>
              <a:rPr lang="en-US" altLang="en-US"/>
              <a:t>), mmap anyway</a:t>
            </a:r>
          </a:p>
          <a:p>
            <a:pPr lvl="1"/>
            <a:r>
              <a:rPr lang="en-US" altLang="en-US"/>
              <a:t>But map file into kernel address space</a:t>
            </a:r>
          </a:p>
          <a:p>
            <a:pPr lvl="1"/>
            <a:r>
              <a:rPr lang="en-US" altLang="en-US"/>
              <a:t>Process still does read() and write()</a:t>
            </a:r>
          </a:p>
          <a:p>
            <a:pPr lvl="2"/>
            <a:r>
              <a:rPr lang="en-US" altLang="en-US"/>
              <a:t>Copies data to and from kernel space and user space</a:t>
            </a:r>
          </a:p>
          <a:p>
            <a:pPr lvl="1"/>
            <a:r>
              <a:rPr lang="en-US" altLang="en-US"/>
              <a:t>Uses efficient memory management subsystem</a:t>
            </a:r>
          </a:p>
          <a:p>
            <a:pPr lvl="2"/>
            <a:r>
              <a:rPr lang="en-US" altLang="en-US"/>
              <a:t>Avoids needing separate subsystem</a:t>
            </a:r>
          </a:p>
          <a:p>
            <a:r>
              <a:rPr lang="en-US" altLang="en-US"/>
              <a:t>COW can be used for read/write non-shared pages</a:t>
            </a:r>
          </a:p>
          <a:p>
            <a:r>
              <a:rPr lang="en-US" altLang="en-US"/>
              <a:t>Memory mapped files can be  used for shared memory (although again via separate system calls)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 Mapped Files</a:t>
            </a:r>
          </a:p>
        </p:txBody>
      </p:sp>
      <p:pic>
        <p:nvPicPr>
          <p:cNvPr id="62467" name="Picture 1" descr="9_2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73163"/>
            <a:ext cx="514985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103188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Shared Memory via Memory-Mapped I/O</a:t>
            </a:r>
          </a:p>
        </p:txBody>
      </p:sp>
      <p:pic>
        <p:nvPicPr>
          <p:cNvPr id="63491" name="Picture 1" descr="9_2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1320800"/>
            <a:ext cx="6070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Memory in Windows API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131888"/>
            <a:ext cx="7385050" cy="4530725"/>
          </a:xfrm>
        </p:spPr>
        <p:txBody>
          <a:bodyPr/>
          <a:lstStyle/>
          <a:p>
            <a:r>
              <a:rPr lang="en-US" altLang="en-US"/>
              <a:t>First create a </a:t>
            </a:r>
            <a:r>
              <a:rPr lang="en-US" altLang="en-US" b="1">
                <a:solidFill>
                  <a:srgbClr val="3366FF"/>
                </a:solidFill>
              </a:rPr>
              <a:t>file mapping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for file to be mapped</a:t>
            </a:r>
          </a:p>
          <a:p>
            <a:pPr lvl="1"/>
            <a:r>
              <a:rPr lang="en-US" altLang="en-US"/>
              <a:t>Then establish a view of the mapped file in process’s virtual address space</a:t>
            </a:r>
          </a:p>
          <a:p>
            <a:r>
              <a:rPr lang="en-US" altLang="en-US"/>
              <a:t>Consider producer / consumer</a:t>
            </a:r>
          </a:p>
          <a:p>
            <a:pPr lvl="1"/>
            <a:r>
              <a:rPr lang="en-US" altLang="en-US"/>
              <a:t>Producer create shared-memory object using memory mapping features</a:t>
            </a:r>
          </a:p>
          <a:p>
            <a:pPr lvl="1"/>
            <a:r>
              <a:rPr lang="en-US" altLang="en-US"/>
              <a:t>Open file via </a:t>
            </a:r>
            <a:r>
              <a:rPr lang="en-US" altLang="en-US">
                <a:latin typeface="Courier New" panose="02070309020205020404" pitchFamily="49" charset="0"/>
              </a:rPr>
              <a:t>CreateFile(), </a:t>
            </a:r>
            <a:r>
              <a:rPr lang="en-US" altLang="en-US"/>
              <a:t>returning a</a:t>
            </a:r>
            <a:r>
              <a:rPr lang="en-US" altLang="en-US">
                <a:latin typeface="Courier New" panose="02070309020205020404" pitchFamily="49" charset="0"/>
              </a:rPr>
              <a:t> HANDLE</a:t>
            </a:r>
          </a:p>
          <a:p>
            <a:pPr lvl="1"/>
            <a:r>
              <a:rPr lang="en-US" altLang="en-US"/>
              <a:t>Create mapping via </a:t>
            </a:r>
            <a:r>
              <a:rPr lang="en-US" altLang="en-US">
                <a:latin typeface="Courier New" panose="02070309020205020404" pitchFamily="49" charset="0"/>
              </a:rPr>
              <a:t>CreateFileMapping() </a:t>
            </a:r>
            <a:r>
              <a:rPr lang="en-US" altLang="en-US"/>
              <a:t>creating a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named shared-memory object</a:t>
            </a:r>
          </a:p>
          <a:p>
            <a:pPr lvl="1"/>
            <a:r>
              <a:rPr lang="en-US" altLang="en-US"/>
              <a:t>Create view via </a:t>
            </a:r>
            <a:r>
              <a:rPr lang="en-US" altLang="en-US">
                <a:latin typeface="Courier New" panose="02070309020205020404" pitchFamily="49" charset="0"/>
              </a:rPr>
              <a:t>MapViewOfFile()</a:t>
            </a:r>
          </a:p>
          <a:p>
            <a:r>
              <a:rPr lang="en-US" altLang="en-US"/>
              <a:t>Sample code in Textbook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Allocating Kernel Memory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/>
              <a:t>Treated differently from user memory</a:t>
            </a:r>
          </a:p>
          <a:p>
            <a:r>
              <a:rPr lang="en-US" altLang="en-US"/>
              <a:t>Often allocated from a free-memory pool</a:t>
            </a:r>
          </a:p>
          <a:p>
            <a:pPr lvl="1"/>
            <a:r>
              <a:rPr lang="en-US" altLang="en-US"/>
              <a:t>Kernel requests memory for structures of varying sizes</a:t>
            </a:r>
          </a:p>
          <a:p>
            <a:pPr lvl="1"/>
            <a:r>
              <a:rPr lang="en-US" altLang="en-US"/>
              <a:t>Some kernel memory needs to be contiguous</a:t>
            </a:r>
          </a:p>
          <a:p>
            <a:pPr lvl="2"/>
            <a:r>
              <a:rPr lang="en-US" altLang="en-US"/>
              <a:t>I.e. for device I/O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Buddy System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042988"/>
            <a:ext cx="7854950" cy="5243512"/>
          </a:xfrm>
        </p:spPr>
        <p:txBody>
          <a:bodyPr/>
          <a:lstStyle/>
          <a:p>
            <a:r>
              <a:rPr lang="en-US" altLang="en-US"/>
              <a:t>Allocates memory from fixed-size segment consisting of physically-contiguous pages</a:t>
            </a:r>
          </a:p>
          <a:p>
            <a:r>
              <a:rPr lang="en-US" altLang="en-US"/>
              <a:t>Memory allocated using </a:t>
            </a:r>
            <a:r>
              <a:rPr lang="en-US" altLang="en-US" b="1">
                <a:solidFill>
                  <a:srgbClr val="3366FF"/>
                </a:solidFill>
              </a:rPr>
              <a:t>power-of-2 allocator</a:t>
            </a:r>
          </a:p>
          <a:p>
            <a:pPr lvl="1"/>
            <a:r>
              <a:rPr lang="en-US" altLang="en-US"/>
              <a:t>Satisfies requests in units sized as power of 2</a:t>
            </a:r>
          </a:p>
          <a:p>
            <a:pPr lvl="1"/>
            <a:r>
              <a:rPr lang="en-US" altLang="en-US"/>
              <a:t>Request rounded up to next highest power of 2</a:t>
            </a:r>
          </a:p>
          <a:p>
            <a:pPr lvl="1"/>
            <a:r>
              <a:rPr lang="en-US" altLang="en-US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/>
              <a:t>Continue until appropriate sized chunk available</a:t>
            </a:r>
          </a:p>
          <a:p>
            <a:r>
              <a:rPr lang="en-US" altLang="en-US"/>
              <a:t>For example, assume 256KB chunk available, kernel requests 21KB</a:t>
            </a:r>
          </a:p>
          <a:p>
            <a:pPr lvl="1"/>
            <a:r>
              <a:rPr lang="en-US" altLang="en-US"/>
              <a:t>Split into A</a:t>
            </a:r>
            <a:r>
              <a:rPr lang="en-US" altLang="en-US" baseline="-25000"/>
              <a:t>L</a:t>
            </a:r>
            <a:r>
              <a:rPr lang="en-US" altLang="en-US"/>
              <a:t> </a:t>
            </a:r>
            <a:r>
              <a:rPr lang="en-US" altLang="en-US" baseline="-25000"/>
              <a:t>and</a:t>
            </a:r>
            <a:r>
              <a:rPr lang="en-US" altLang="en-US"/>
              <a:t> A</a:t>
            </a:r>
            <a:r>
              <a:rPr lang="en-US" altLang="en-US" baseline="-25000"/>
              <a:t>R</a:t>
            </a:r>
            <a:r>
              <a:rPr lang="en-US" altLang="en-US"/>
              <a:t> of 128KB each</a:t>
            </a:r>
          </a:p>
          <a:p>
            <a:pPr lvl="2"/>
            <a:r>
              <a:rPr lang="en-US" altLang="en-US"/>
              <a:t>One further divided into B</a:t>
            </a:r>
            <a:r>
              <a:rPr lang="en-US" altLang="en-US" baseline="-25000"/>
              <a:t>L</a:t>
            </a:r>
            <a:r>
              <a:rPr lang="en-US" altLang="en-US"/>
              <a:t> and B</a:t>
            </a:r>
            <a:r>
              <a:rPr lang="en-US" altLang="en-US" baseline="-25000"/>
              <a:t>R</a:t>
            </a:r>
            <a:r>
              <a:rPr lang="en-US" altLang="en-US"/>
              <a:t> of 64KB</a:t>
            </a:r>
          </a:p>
          <a:p>
            <a:pPr lvl="3"/>
            <a:r>
              <a:rPr lang="en-US" altLang="en-US"/>
              <a:t>One further into C</a:t>
            </a:r>
            <a:r>
              <a:rPr lang="en-US" altLang="en-US" baseline="-25000"/>
              <a:t>L</a:t>
            </a:r>
            <a:r>
              <a:rPr lang="en-US" altLang="en-US"/>
              <a:t> and C</a:t>
            </a:r>
            <a:r>
              <a:rPr lang="en-US" altLang="en-US" baseline="-25000"/>
              <a:t>R</a:t>
            </a:r>
            <a:r>
              <a:rPr lang="en-US" altLang="en-US"/>
              <a:t> of 32KB each – one used to satisfy request</a:t>
            </a:r>
          </a:p>
          <a:p>
            <a:r>
              <a:rPr lang="en-US" altLang="en-US"/>
              <a:t>Advantage – quickly </a:t>
            </a:r>
            <a:r>
              <a:rPr lang="en-US" altLang="en-US" b="1">
                <a:solidFill>
                  <a:srgbClr val="3366FF"/>
                </a:solidFill>
              </a:rPr>
              <a:t>coalesce</a:t>
            </a:r>
            <a:r>
              <a:rPr lang="en-US" altLang="en-US"/>
              <a:t> unused chunks into larger chunk</a:t>
            </a:r>
          </a:p>
          <a:p>
            <a:r>
              <a:rPr lang="en-US" altLang="en-US"/>
              <a:t>Disadvantage - fragmentation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Buddy System Allocator</a:t>
            </a:r>
          </a:p>
        </p:txBody>
      </p:sp>
      <p:pic>
        <p:nvPicPr>
          <p:cNvPr id="67587" name="Picture 1" descr="9_2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1111250"/>
            <a:ext cx="4589463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081088"/>
            <a:ext cx="7067550" cy="5046662"/>
          </a:xfrm>
        </p:spPr>
        <p:txBody>
          <a:bodyPr/>
          <a:lstStyle/>
          <a:p>
            <a:r>
              <a:rPr lang="en-US" altLang="en-US"/>
              <a:t>Alternate strategy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Slab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one or more physically contiguous pages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Cache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consists of one or more slabs</a:t>
            </a:r>
            <a:endParaRPr lang="en-US" altLang="en-US" sz="800"/>
          </a:p>
          <a:p>
            <a:r>
              <a:rPr lang="en-US" altLang="en-US"/>
              <a:t>Single cache for each unique kernel data structure</a:t>
            </a:r>
          </a:p>
          <a:p>
            <a:pPr lvl="1"/>
            <a:r>
              <a:rPr lang="en-US" altLang="en-US"/>
              <a:t>Each cache filled with </a:t>
            </a:r>
            <a:r>
              <a:rPr lang="en-US" altLang="en-US" b="1">
                <a:solidFill>
                  <a:srgbClr val="3366FF"/>
                </a:solidFill>
              </a:rPr>
              <a:t>objects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instantiations of the data structure</a:t>
            </a:r>
            <a:endParaRPr lang="en-US" altLang="en-US" sz="800"/>
          </a:p>
          <a:p>
            <a:r>
              <a:rPr lang="en-US" altLang="en-US"/>
              <a:t>When cache created, filled with objects marked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/>
          </a:p>
          <a:p>
            <a:r>
              <a:rPr lang="en-US" altLang="en-US"/>
              <a:t>When structures stored, objects marked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/>
          </a:p>
          <a:p>
            <a:r>
              <a:rPr lang="en-US" altLang="en-US"/>
              <a:t>If slab is full of used objects, next object allocated from empty slab</a:t>
            </a:r>
          </a:p>
          <a:p>
            <a:pPr lvl="1"/>
            <a:r>
              <a:rPr lang="en-US" altLang="en-US"/>
              <a:t>If no empty slabs, new slab allocated</a:t>
            </a:r>
            <a:endParaRPr lang="en-US" altLang="en-US" sz="800"/>
          </a:p>
          <a:p>
            <a:r>
              <a:rPr lang="en-US" altLang="en-US"/>
              <a:t>Benefits include no fragmentation, 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925" y="163513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Allocation</a:t>
            </a:r>
          </a:p>
        </p:txBody>
      </p:sp>
      <p:pic>
        <p:nvPicPr>
          <p:cNvPr id="69635" name="Picture 1" descr="9_2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 in Linux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65213"/>
            <a:ext cx="7704138" cy="5214937"/>
          </a:xfrm>
        </p:spPr>
        <p:txBody>
          <a:bodyPr/>
          <a:lstStyle/>
          <a:p>
            <a:r>
              <a:rPr lang="en-US" altLang="en-US"/>
              <a:t>For example process descriptor is of type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struct task_struct</a:t>
            </a:r>
            <a:endParaRPr lang="en-US" altLang="en-US"/>
          </a:p>
          <a:p>
            <a:r>
              <a:rPr lang="en-US" altLang="en-US"/>
              <a:t>Approx 1.7KB of memory</a:t>
            </a:r>
          </a:p>
          <a:p>
            <a:r>
              <a:rPr lang="en-US" altLang="en-US"/>
              <a:t>New task -&gt; allocate new struct from cache</a:t>
            </a:r>
          </a:p>
          <a:p>
            <a:pPr lvl="1"/>
            <a:r>
              <a:rPr lang="en-US" altLang="en-US"/>
              <a:t>Will use existing free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struct task_struct</a:t>
            </a:r>
            <a:endParaRPr lang="en-US" altLang="en-US"/>
          </a:p>
          <a:p>
            <a:r>
              <a:rPr lang="en-US" altLang="en-US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Partial – mix of free and used</a:t>
            </a:r>
          </a:p>
          <a:p>
            <a:r>
              <a:rPr lang="en-US" altLang="en-US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If no empty slab, create new empty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 in Linux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3313"/>
            <a:ext cx="7321550" cy="5214937"/>
          </a:xfrm>
        </p:spPr>
        <p:txBody>
          <a:bodyPr/>
          <a:lstStyle/>
          <a:p>
            <a:r>
              <a:rPr lang="en-US" altLang="en-US"/>
              <a:t>Slab started in Solaris, now wide-spread for both kernel mode and user memory in various OSes</a:t>
            </a:r>
          </a:p>
          <a:p>
            <a:r>
              <a:rPr lang="en-US" altLang="en-US"/>
              <a:t>Linux  2.2 had SLAB, now has both SLOB and SLUB allocators</a:t>
            </a:r>
          </a:p>
          <a:p>
            <a:pPr lvl="1"/>
            <a:r>
              <a:rPr lang="en-US" altLang="en-US"/>
              <a:t>SLOB for systems with limited memory</a:t>
            </a:r>
          </a:p>
          <a:p>
            <a:pPr lvl="2"/>
            <a:r>
              <a:rPr lang="en-US" altLang="en-US"/>
              <a:t>Simple List of Blocks – maintains 3 list objects for small, medium, large objects</a:t>
            </a:r>
          </a:p>
          <a:p>
            <a:pPr lvl="1"/>
            <a:r>
              <a:rPr lang="en-US" altLang="en-US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946150" y="1889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Considerations -- Prepaging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427912" cy="4908550"/>
          </a:xfrm>
        </p:spPr>
        <p:txBody>
          <a:bodyPr/>
          <a:lstStyle/>
          <a:p>
            <a:r>
              <a:rPr lang="en-US" altLang="en-US"/>
              <a:t>Prepaging </a:t>
            </a:r>
          </a:p>
          <a:p>
            <a:pPr lvl="1"/>
            <a:r>
              <a:rPr lang="en-US" altLang="en-US"/>
              <a:t>To reduce the large number of page faults that occurs at process startup</a:t>
            </a:r>
          </a:p>
          <a:p>
            <a:pPr lvl="1"/>
            <a:r>
              <a:rPr lang="en-US" altLang="en-US"/>
              <a:t>Prepage all or some of the pages a process will need, before they are referenced</a:t>
            </a:r>
          </a:p>
          <a:p>
            <a:pPr lvl="1"/>
            <a:r>
              <a:rPr lang="en-US" altLang="en-US"/>
              <a:t>But if prepaged pages are unused, I/O and memory was wasted</a:t>
            </a:r>
          </a:p>
          <a:p>
            <a:pPr lvl="1"/>
            <a:r>
              <a:rPr lang="en-US" altLang="en-US"/>
              <a:t>Assume </a:t>
            </a:r>
            <a:r>
              <a:rPr lang="en-US" altLang="en-US" i="1"/>
              <a:t>s</a:t>
            </a:r>
            <a:r>
              <a:rPr lang="en-US" altLang="en-US"/>
              <a:t> pages are prepaged and </a:t>
            </a:r>
            <a:r>
              <a:rPr lang="el-GR" altLang="en-US" i="1"/>
              <a:t>α</a:t>
            </a:r>
            <a:r>
              <a:rPr lang="en-US" altLang="en-US" i="1"/>
              <a:t> </a:t>
            </a:r>
            <a:r>
              <a:rPr lang="en-US" altLang="en-US"/>
              <a:t>of the pages is used</a:t>
            </a:r>
          </a:p>
          <a:p>
            <a:pPr lvl="2"/>
            <a:r>
              <a:rPr lang="en-US" altLang="en-US"/>
              <a:t>Is cost of </a:t>
            </a:r>
            <a:r>
              <a:rPr lang="en-US" altLang="en-US" b="1" i="1"/>
              <a:t>s * </a:t>
            </a:r>
            <a:r>
              <a:rPr lang="el-GR" altLang="en-US" b="1" i="1"/>
              <a:t>α</a:t>
            </a:r>
            <a:r>
              <a:rPr lang="en-US" altLang="en-US" b="1" i="1"/>
              <a:t>  </a:t>
            </a:r>
            <a:r>
              <a:rPr lang="en-US" altLang="en-US"/>
              <a:t>save pages faults &gt; or &lt; than the cost of prepaging</a:t>
            </a:r>
            <a:r>
              <a:rPr lang="en-US" altLang="en-US" i="1"/>
              <a:t> </a:t>
            </a:r>
            <a:br>
              <a:rPr lang="en-US" altLang="en-US" i="1"/>
            </a:br>
            <a:r>
              <a:rPr lang="en-US" altLang="en-US" b="1" i="1"/>
              <a:t>s * (1- </a:t>
            </a:r>
            <a:r>
              <a:rPr lang="el-GR" altLang="en-US" b="1" i="1"/>
              <a:t>α</a:t>
            </a:r>
            <a:r>
              <a:rPr lang="en-US" altLang="en-US" b="1" i="1"/>
              <a:t>) </a:t>
            </a:r>
            <a:r>
              <a:rPr lang="en-US" altLang="en-US"/>
              <a:t>unnecessary pages</a:t>
            </a:r>
            <a:r>
              <a:rPr lang="en-US" altLang="en-US" i="1"/>
              <a:t>?  </a:t>
            </a:r>
          </a:p>
          <a:p>
            <a:pPr lvl="2"/>
            <a:r>
              <a:rPr lang="el-GR" altLang="en-US" b="1" i="1"/>
              <a:t>α</a:t>
            </a:r>
            <a:r>
              <a:rPr lang="en-US" altLang="en-US" i="1"/>
              <a:t> </a:t>
            </a:r>
            <a:r>
              <a:rPr lang="en-US" altLang="en-US"/>
              <a:t>near zero </a:t>
            </a:r>
            <a:r>
              <a:rPr lang="en-US" altLang="en-US">
                <a:sym typeface="Symbol" panose="05050102010706020507" pitchFamily="18" charset="2"/>
              </a:rPr>
              <a:t> prepaging loses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5713" y="163513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Page Size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1069975"/>
            <a:ext cx="7289800" cy="4759325"/>
          </a:xfrm>
        </p:spPr>
        <p:txBody>
          <a:bodyPr/>
          <a:lstStyle/>
          <a:p>
            <a:r>
              <a:rPr lang="en-US" altLang="en-US"/>
              <a:t>Sometimes OS designers have a choice</a:t>
            </a:r>
          </a:p>
          <a:p>
            <a:pPr lvl="1"/>
            <a:r>
              <a:rPr lang="en-US" altLang="en-US"/>
              <a:t>Especially if running on custom-built CPU</a:t>
            </a:r>
          </a:p>
          <a:p>
            <a:r>
              <a:rPr lang="en-US" altLang="en-US"/>
              <a:t>Page size selection must take into consideration:</a:t>
            </a:r>
          </a:p>
          <a:p>
            <a:pPr lvl="1"/>
            <a:r>
              <a:rPr lang="en-US" altLang="en-US"/>
              <a:t>Fragmentation</a:t>
            </a:r>
          </a:p>
          <a:p>
            <a:pPr lvl="1"/>
            <a:r>
              <a:rPr lang="en-US" altLang="en-US"/>
              <a:t>Page table size 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Resolution</a:t>
            </a:r>
          </a:p>
          <a:p>
            <a:pPr lvl="1"/>
            <a:r>
              <a:rPr lang="en-US" altLang="en-US"/>
              <a:t>I/O overhead</a:t>
            </a:r>
          </a:p>
          <a:p>
            <a:pPr lvl="1"/>
            <a:r>
              <a:rPr lang="en-US" altLang="en-US"/>
              <a:t>Number of page faults</a:t>
            </a:r>
          </a:p>
          <a:p>
            <a:pPr lvl="1"/>
            <a:r>
              <a:rPr lang="en-US" altLang="en-US"/>
              <a:t>Locality</a:t>
            </a:r>
          </a:p>
          <a:p>
            <a:pPr lvl="1"/>
            <a:r>
              <a:rPr lang="en-US" altLang="en-US"/>
              <a:t>TLB size and effectiveness</a:t>
            </a:r>
          </a:p>
          <a:p>
            <a:r>
              <a:rPr lang="en-US" altLang="en-US"/>
              <a:t>Always power of 2, usually in the range 2</a:t>
            </a:r>
            <a:r>
              <a:rPr lang="en-US" altLang="en-US" baseline="30000"/>
              <a:t>12</a:t>
            </a:r>
            <a:r>
              <a:rPr lang="en-US" altLang="en-US"/>
              <a:t> (4,096 bytes) to 2</a:t>
            </a:r>
            <a:r>
              <a:rPr lang="en-US" altLang="en-US" baseline="30000"/>
              <a:t>22</a:t>
            </a:r>
            <a:r>
              <a:rPr lang="en-US" altLang="en-US"/>
              <a:t> (4,194,304 bytes)</a:t>
            </a:r>
          </a:p>
          <a:p>
            <a:r>
              <a:rPr lang="en-US" altLang="en-US"/>
              <a:t>On average, growing over time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8" y="176213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TLB Reach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65225"/>
            <a:ext cx="7631112" cy="4418013"/>
          </a:xfrm>
        </p:spPr>
        <p:txBody>
          <a:bodyPr/>
          <a:lstStyle/>
          <a:p>
            <a:r>
              <a:rPr lang="en-US" altLang="en-US"/>
              <a:t>TLB Reach - The amount of memory accessible from the TLB</a:t>
            </a:r>
          </a:p>
          <a:p>
            <a:endParaRPr lang="en-US" altLang="en-US" sz="800"/>
          </a:p>
          <a:p>
            <a:r>
              <a:rPr lang="en-US" altLang="en-US"/>
              <a:t>TLB Reach = (TLB Size) X (Page Size)</a:t>
            </a:r>
          </a:p>
          <a:p>
            <a:endParaRPr lang="en-US" altLang="en-US" sz="800"/>
          </a:p>
          <a:p>
            <a:r>
              <a:rPr lang="en-US" altLang="en-US"/>
              <a:t>Ideally, the working set of each process is stored in the TLB</a:t>
            </a:r>
          </a:p>
          <a:p>
            <a:pPr lvl="1"/>
            <a:r>
              <a:rPr lang="en-US" altLang="en-US"/>
              <a:t>Otherwise there is a high degree of page faults</a:t>
            </a:r>
          </a:p>
          <a:p>
            <a:pPr lvl="1"/>
            <a:endParaRPr lang="en-US" altLang="en-US" sz="800"/>
          </a:p>
          <a:p>
            <a:r>
              <a:rPr lang="en-US" altLang="en-US"/>
              <a:t>Increase the Page Size</a:t>
            </a:r>
          </a:p>
          <a:p>
            <a:pPr lvl="1"/>
            <a:r>
              <a:rPr lang="en-US" altLang="en-US"/>
              <a:t>This may lead to an increase in fragmentation as not all applications require a large page size</a:t>
            </a:r>
          </a:p>
          <a:p>
            <a:pPr lvl="1"/>
            <a:endParaRPr lang="en-US" altLang="en-US" sz="800"/>
          </a:p>
          <a:p>
            <a:r>
              <a:rPr lang="en-US" altLang="en-US"/>
              <a:t>Provide Multiple Page Sizes</a:t>
            </a:r>
          </a:p>
          <a:p>
            <a:pPr lvl="1"/>
            <a:r>
              <a:rPr lang="en-US" altLang="en-US"/>
              <a:t>This allows applications that require larger page sizes the opportunity to use them without an increase in fragmentation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9188" y="1635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Program Structure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5081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I/O interlock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93800"/>
            <a:ext cx="4176712" cy="445928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I/O Interlock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Pages must sometimes be locked into memory</a:t>
            </a:r>
          </a:p>
          <a:p>
            <a:r>
              <a:rPr lang="en-US" altLang="en-US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Pinning</a:t>
            </a:r>
            <a:r>
              <a:rPr lang="en-US" altLang="en-US"/>
              <a:t> of pages to lock into memory</a:t>
            </a:r>
          </a:p>
        </p:txBody>
      </p:sp>
      <p:pic>
        <p:nvPicPr>
          <p:cNvPr id="768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677988"/>
            <a:ext cx="2914650" cy="33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762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Examples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35100"/>
            <a:ext cx="7351712" cy="4483100"/>
          </a:xfrm>
        </p:spPr>
        <p:txBody>
          <a:bodyPr/>
          <a:lstStyle/>
          <a:p>
            <a:r>
              <a:rPr lang="en-US" altLang="en-US"/>
              <a:t>Windows</a:t>
            </a:r>
          </a:p>
          <a:p>
            <a:endParaRPr lang="en-US" altLang="en-US"/>
          </a:p>
          <a:p>
            <a:r>
              <a:rPr lang="en-US" altLang="en-US"/>
              <a:t>Solaris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Windows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17588"/>
            <a:ext cx="7296150" cy="5299075"/>
          </a:xfrm>
        </p:spPr>
        <p:txBody>
          <a:bodyPr/>
          <a:lstStyle/>
          <a:p>
            <a:r>
              <a:rPr lang="en-US" altLang="en-US"/>
              <a:t>Uses demand paging with </a:t>
            </a:r>
            <a:r>
              <a:rPr lang="en-US" altLang="en-US" b="1">
                <a:solidFill>
                  <a:srgbClr val="3366FF"/>
                </a:solidFill>
              </a:rPr>
              <a:t>clustering</a:t>
            </a:r>
            <a:r>
              <a:rPr lang="en-US" altLang="en-US"/>
              <a:t>. Clustering brings in pages surrounding the faulting page</a:t>
            </a:r>
            <a:endParaRPr lang="en-US" altLang="en-US" sz="800"/>
          </a:p>
          <a:p>
            <a:r>
              <a:rPr lang="en-US" altLang="en-US"/>
              <a:t>Processes are assigned </a:t>
            </a:r>
            <a:r>
              <a:rPr lang="en-US" altLang="en-US" b="1">
                <a:solidFill>
                  <a:srgbClr val="3366FF"/>
                </a:solidFill>
              </a:rPr>
              <a:t>working set minimum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3366FF"/>
                </a:solidFill>
              </a:rPr>
              <a:t>working set maximum</a:t>
            </a:r>
            <a:endParaRPr lang="en-US" altLang="en-US" sz="800">
              <a:solidFill>
                <a:srgbClr val="3366FF"/>
              </a:solidFill>
            </a:endParaRPr>
          </a:p>
          <a:p>
            <a:r>
              <a:rPr lang="en-US" altLang="en-US"/>
              <a:t>Working set minimum is the minimum number of pages the process is guaranteed to have in memory</a:t>
            </a:r>
            <a:endParaRPr lang="en-US" altLang="en-US" sz="800"/>
          </a:p>
          <a:p>
            <a:r>
              <a:rPr lang="en-US" altLang="en-US"/>
              <a:t>A process may be assigned as many pages up to its working set maximum</a:t>
            </a:r>
            <a:endParaRPr lang="en-US" altLang="en-US" sz="800"/>
          </a:p>
          <a:p>
            <a:r>
              <a:rPr lang="en-US" altLang="en-US"/>
              <a:t>When the amount of free memory in the system falls below a threshold, </a:t>
            </a:r>
            <a:r>
              <a:rPr lang="en-US" altLang="en-US" b="1">
                <a:solidFill>
                  <a:srgbClr val="3366FF"/>
                </a:solidFill>
              </a:rPr>
              <a:t>automatic working set trimming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performed to restore the amount of free memory</a:t>
            </a:r>
            <a:endParaRPr lang="en-US" altLang="en-US" sz="800"/>
          </a:p>
          <a:p>
            <a:r>
              <a:rPr lang="en-US" altLang="en-US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Solaris 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030288"/>
            <a:ext cx="7334250" cy="5386387"/>
          </a:xfrm>
        </p:spPr>
        <p:txBody>
          <a:bodyPr/>
          <a:lstStyle/>
          <a:p>
            <a:r>
              <a:rPr lang="en-US" altLang="en-US"/>
              <a:t>Maintains a list of free pages to assign faulting processes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/>
              <a:t> – threshold parameter (amount of free memory) to begin paging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/>
              <a:t> – threshold parameter to increasing paging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/>
              <a:t> – threshold parameter to being swapping</a:t>
            </a:r>
            <a:endParaRPr lang="en-US" altLang="en-US" sz="800"/>
          </a:p>
          <a:p>
            <a:r>
              <a:rPr lang="en-US" altLang="en-US"/>
              <a:t>Paging is performed by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process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scans pages using modified clock algorithm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/>
              <a:t> is the rate at which pages are scanned. This ranges from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/>
              <a:t> to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is called more frequently depending upon the amount of free memory available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Priority paging </a:t>
            </a:r>
            <a:r>
              <a:rPr lang="en-US" altLang="en-US"/>
              <a:t>gives priority to process code pages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Solaris 2 Page Scanner</a:t>
            </a:r>
          </a:p>
        </p:txBody>
      </p:sp>
      <p:pic>
        <p:nvPicPr>
          <p:cNvPr id="80899" name="Picture 1" descr="9_2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12158</TotalTime>
  <Words>6058</Words>
  <Application>Microsoft Office PowerPoint</Application>
  <PresentationFormat>On-screen Show (4:3)</PresentationFormat>
  <Paragraphs>769</Paragraphs>
  <Slides>79</Slides>
  <Notes>74</Notes>
  <HiddenSlides>43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3" baseType="lpstr">
      <vt:lpstr>ＭＳ Ｐゴシック</vt:lpstr>
      <vt:lpstr>Arial</vt:lpstr>
      <vt:lpstr>Courier New</vt:lpstr>
      <vt:lpstr>Helvetica</vt:lpstr>
      <vt:lpstr>Monotype Sorts</vt:lpstr>
      <vt:lpstr>PalatinoLTStd-Bold</vt:lpstr>
      <vt:lpstr>PalatinoLTStd-BoldItalic</vt:lpstr>
      <vt:lpstr>PalatinoLTStd-Roman</vt:lpstr>
      <vt:lpstr>Symbol</vt:lpstr>
      <vt:lpstr>Times New Roman</vt:lpstr>
      <vt:lpstr>Verdana</vt:lpstr>
      <vt:lpstr>Webdings</vt:lpstr>
      <vt:lpstr>os-8</vt:lpstr>
      <vt:lpstr>Equation</vt:lpstr>
      <vt:lpstr>Chapter 9:  Virtual Memory</vt:lpstr>
      <vt:lpstr>Chapter 9:  Virtual Memory</vt:lpstr>
      <vt:lpstr>Objectives</vt:lpstr>
      <vt:lpstr>Background</vt:lpstr>
      <vt:lpstr>Background (Cont.)</vt:lpstr>
      <vt:lpstr>Background (Cont.)</vt:lpstr>
      <vt:lpstr>Virtual Memory That is Larger Than Physical Memory</vt:lpstr>
      <vt:lpstr>Virtual-address Space</vt:lpstr>
      <vt:lpstr>Shared Library Using Virtual Memory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Instruction Restart</vt:lpstr>
      <vt:lpstr>Performance of Demand Paging</vt:lpstr>
      <vt:lpstr>Performance of Demand Paging (Cont.)</vt:lpstr>
      <vt:lpstr>Demand Paging Example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Thrashing (Cont.)</vt:lpstr>
      <vt:lpstr>Demand Paging and Thrashing </vt:lpstr>
      <vt:lpstr>Locality In A Memory-Reference Pattern</vt:lpstr>
      <vt:lpstr>Working-Set Model</vt:lpstr>
      <vt:lpstr>Keeping Track of the Working Set</vt:lpstr>
      <vt:lpstr>Page-Fault Frequency</vt:lpstr>
      <vt:lpstr>Working Sets and Page Fault Rates</vt:lpstr>
      <vt:lpstr>Memory-Mapped Files</vt:lpstr>
      <vt:lpstr>Memory-Mapped File Technique for all I/O</vt:lpstr>
      <vt:lpstr>Memory Mapped Files</vt:lpstr>
      <vt:lpstr>Shared Memory via Memory-Mapped I/O</vt:lpstr>
      <vt:lpstr>Shared Memory in Windows API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 -- Prepaging</vt:lpstr>
      <vt:lpstr>Other Issues – Page Size</vt:lpstr>
      <vt:lpstr>Other Issues – TLB Reach </vt:lpstr>
      <vt:lpstr>Other Issues – Program Structure</vt:lpstr>
      <vt:lpstr>Other Issues – I/O interlock</vt:lpstr>
      <vt:lpstr>Operating System Examples</vt:lpstr>
      <vt:lpstr>Windows</vt:lpstr>
      <vt:lpstr>Solaris </vt:lpstr>
      <vt:lpstr>Solaris 2 Page Scanner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Phong Ngo</cp:lastModifiedBy>
  <cp:revision>253</cp:revision>
  <cp:lastPrinted>2013-09-10T17:57:57Z</cp:lastPrinted>
  <dcterms:created xsi:type="dcterms:W3CDTF">2011-01-13T23:43:38Z</dcterms:created>
  <dcterms:modified xsi:type="dcterms:W3CDTF">2026-08-13T18:53:02Z</dcterms:modified>
</cp:coreProperties>
</file>