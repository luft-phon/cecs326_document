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92" r:id="rId3"/>
    <p:sldId id="294" r:id="rId4"/>
    <p:sldId id="268" r:id="rId5"/>
    <p:sldId id="259" r:id="rId6"/>
    <p:sldId id="313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5" r:id="rId25"/>
    <p:sldId id="311" r:id="rId26"/>
    <p:sldId id="312" r:id="rId27"/>
    <p:sldId id="308" r:id="rId28"/>
    <p:sldId id="309" r:id="rId29"/>
    <p:sldId id="31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D7047-DB32-4DC5-A502-4F23E7CE9CA5}" v="5" dt="2026-07-23T19:36:29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61512" autoAdjust="0"/>
  </p:normalViewPr>
  <p:slideViewPr>
    <p:cSldViewPr snapToGrid="0">
      <p:cViewPr varScale="1">
        <p:scale>
          <a:sx n="43" d="100"/>
          <a:sy n="43" d="100"/>
        </p:scale>
        <p:origin x="34" y="3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ang Fahim" userId="d99f17d917874ef7" providerId="LiveId" clId="{2D762BF3-38D9-4A57-A1ED-FF65B8D2B059}"/>
    <pc:docChg chg="custSel addSld modSld">
      <pc:chgData name="Arjang Fahim" userId="d99f17d917874ef7" providerId="LiveId" clId="{2D762BF3-38D9-4A57-A1ED-FF65B8D2B059}" dt="2026-07-23T19:35:54.209" v="32" actId="20577"/>
      <pc:docMkLst>
        <pc:docMk/>
      </pc:docMkLst>
      <pc:sldChg chg="modNotesTx">
        <pc:chgData name="Arjang Fahim" userId="d99f17d917874ef7" providerId="LiveId" clId="{2D762BF3-38D9-4A57-A1ED-FF65B8D2B059}" dt="2026-07-23T18:43:24.051" v="30" actId="20577"/>
        <pc:sldMkLst>
          <pc:docMk/>
          <pc:sldMk cId="9278891" sldId="260"/>
        </pc:sldMkLst>
      </pc:sldChg>
      <pc:sldChg chg="modNotesTx">
        <pc:chgData name="Arjang Fahim" userId="d99f17d917874ef7" providerId="LiveId" clId="{2D762BF3-38D9-4A57-A1ED-FF65B8D2B059}" dt="2026-07-23T19:35:54.209" v="32" actId="20577"/>
        <pc:sldMkLst>
          <pc:docMk/>
          <pc:sldMk cId="3239911789" sldId="262"/>
        </pc:sldMkLst>
      </pc:sldChg>
      <pc:sldChg chg="modSp mod">
        <pc:chgData name="Arjang Fahim" userId="d99f17d917874ef7" providerId="LiveId" clId="{2D762BF3-38D9-4A57-A1ED-FF65B8D2B059}" dt="2026-07-23T18:27:35.468" v="3" actId="1076"/>
        <pc:sldMkLst>
          <pc:docMk/>
          <pc:sldMk cId="3262312447" sldId="268"/>
        </pc:sldMkLst>
        <pc:spChg chg="mod">
          <ac:chgData name="Arjang Fahim" userId="d99f17d917874ef7" providerId="LiveId" clId="{2D762BF3-38D9-4A57-A1ED-FF65B8D2B059}" dt="2026-07-23T18:27:35.468" v="3" actId="1076"/>
          <ac:spMkLst>
            <pc:docMk/>
            <pc:sldMk cId="3262312447" sldId="268"/>
            <ac:spMk id="3" creationId="{00000000-0000-0000-0000-000000000000}"/>
          </ac:spMkLst>
        </pc:spChg>
      </pc:sldChg>
      <pc:sldChg chg="modNotesTx">
        <pc:chgData name="Arjang Fahim" userId="d99f17d917874ef7" providerId="LiveId" clId="{2D762BF3-38D9-4A57-A1ED-FF65B8D2B059}" dt="2026-07-23T18:19:10.798" v="1" actId="20577"/>
        <pc:sldMkLst>
          <pc:docMk/>
          <pc:sldMk cId="767284613" sldId="292"/>
        </pc:sldMkLst>
      </pc:sldChg>
      <pc:sldChg chg="addSp delSp modSp new mod">
        <pc:chgData name="Arjang Fahim" userId="d99f17d917874ef7" providerId="LiveId" clId="{2D762BF3-38D9-4A57-A1ED-FF65B8D2B059}" dt="2026-07-23T18:40:27.878" v="29" actId="1076"/>
        <pc:sldMkLst>
          <pc:docMk/>
          <pc:sldMk cId="1192931711" sldId="313"/>
        </pc:sldMkLst>
        <pc:spChg chg="del mod">
          <ac:chgData name="Arjang Fahim" userId="d99f17d917874ef7" providerId="LiveId" clId="{2D762BF3-38D9-4A57-A1ED-FF65B8D2B059}" dt="2026-07-23T18:40:16.635" v="26" actId="478"/>
          <ac:spMkLst>
            <pc:docMk/>
            <pc:sldMk cId="1192931711" sldId="313"/>
            <ac:spMk id="2" creationId="{8177A83A-0FAA-8AB0-A1BB-FD087B47B8B7}"/>
          </ac:spMkLst>
        </pc:spChg>
        <pc:spChg chg="del mod">
          <ac:chgData name="Arjang Fahim" userId="d99f17d917874ef7" providerId="LiveId" clId="{2D762BF3-38D9-4A57-A1ED-FF65B8D2B059}" dt="2026-07-23T18:39:57.616" v="20"/>
          <ac:spMkLst>
            <pc:docMk/>
            <pc:sldMk cId="1192931711" sldId="313"/>
            <ac:spMk id="3" creationId="{AD29A626-3900-55AF-8CAB-FE5F3DBC277F}"/>
          </ac:spMkLst>
        </pc:spChg>
        <pc:spChg chg="add del mod">
          <ac:chgData name="Arjang Fahim" userId="d99f17d917874ef7" providerId="LiveId" clId="{2D762BF3-38D9-4A57-A1ED-FF65B8D2B059}" dt="2026-07-23T18:40:23.644" v="27" actId="478"/>
          <ac:spMkLst>
            <pc:docMk/>
            <pc:sldMk cId="1192931711" sldId="313"/>
            <ac:spMk id="7" creationId="{57414F6E-22F9-7756-F382-DCDCD70A25CF}"/>
          </ac:spMkLst>
        </pc:spChg>
        <pc:picChg chg="add mod ord">
          <ac:chgData name="Arjang Fahim" userId="d99f17d917874ef7" providerId="LiveId" clId="{2D762BF3-38D9-4A57-A1ED-FF65B8D2B059}" dt="2026-07-23T18:40:27.878" v="29" actId="1076"/>
          <ac:picMkLst>
            <pc:docMk/>
            <pc:sldMk cId="1192931711" sldId="313"/>
            <ac:picMk id="5" creationId="{8F2913E4-4F83-7518-CEA9-D66DABDFC1F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9ABCD-8E15-4DD2-A7D4-947F52ED827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E150E-5BE2-4EA5-9564-E4D02E828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96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CPU burst ↓ Request disk read ↓ I/O burst (waiting) ↓ CPU burst (process the data) ↓ Request disk write ↓ I/O burst ↓ CPU burst ↓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Why is this important for the OS?</a:t>
            </a:r>
          </a:p>
          <a:p>
            <a:r>
              <a:rPr lang="en-US" dirty="0"/>
              <a:t>Suppose there is only </a:t>
            </a:r>
            <a:r>
              <a:rPr lang="en-US" b="1" dirty="0"/>
              <a:t>one process</a:t>
            </a:r>
            <a:r>
              <a:rPr lang="en-US" dirty="0"/>
              <a:t>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A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CPU -----&gt; wait for disk -----------&gt; CPU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(CPU is idle)</a:t>
            </a:r>
          </a:p>
          <a:p>
            <a:r>
              <a:rPr lang="en-US" dirty="0"/>
              <a:t>While Process A waits for the disk, the CPU sits idle.</a:t>
            </a:r>
          </a:p>
          <a:p>
            <a:r>
              <a:rPr lang="en-US" dirty="0"/>
              <a:t>With </a:t>
            </a:r>
            <a:r>
              <a:rPr lang="en-US" b="1" dirty="0"/>
              <a:t>multiprogramming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→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A : CPU ---- wait I/O -------- CPU ----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B :      CPU ------- CPU ------------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C :                 CPU ------</a:t>
            </a:r>
          </a:p>
          <a:p>
            <a:r>
              <a:rPr lang="en-US" dirty="0"/>
              <a:t>When Process A enters an I/O burst, the operating system immediately schedules Process B or C. The CPU stays busy, which is why the slide says:</a:t>
            </a:r>
          </a:p>
          <a:p>
            <a:r>
              <a:rPr lang="en-US" b="1" dirty="0"/>
              <a:t>"May increase CPU utilization with multiprogramming."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23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Brust: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endParaRPr lang="en-US" dirty="0"/>
          </a:p>
          <a:p>
            <a:endParaRPr lang="en-US" dirty="0"/>
          </a:p>
          <a:p>
            <a:r>
              <a:rPr lang="en-US" dirty="0"/>
              <a:t>Exponential distribution: </a:t>
            </a:r>
            <a:r>
              <a:rPr lang="en-US" dirty="0" err="1"/>
              <a:t>nhiều</a:t>
            </a:r>
            <a:r>
              <a:rPr lang="en-US" dirty="0"/>
              <a:t> CPU </a:t>
            </a:r>
            <a:r>
              <a:rPr lang="en-US" dirty="0" err="1"/>
              <a:t>brust</a:t>
            </a:r>
            <a:r>
              <a:rPr lang="en-US" dirty="0"/>
              <a:t> </a:t>
            </a:r>
            <a:r>
              <a:rPr lang="en-US" dirty="0" err="1"/>
              <a:t>ngắn</a:t>
            </a:r>
            <a:r>
              <a:rPr lang="en-US" dirty="0"/>
              <a:t>, CPU </a:t>
            </a:r>
            <a:r>
              <a:rPr lang="en-US" dirty="0" err="1"/>
              <a:t>brust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ít</a:t>
            </a:r>
            <a:endParaRPr lang="en-US" dirty="0"/>
          </a:p>
          <a:p>
            <a:r>
              <a:rPr lang="en-US" dirty="0" err="1"/>
              <a:t>Vd</a:t>
            </a:r>
            <a:r>
              <a:rPr lang="en-US" dirty="0"/>
              <a:t>: 1ms, 2ms, 3ms</a:t>
            </a:r>
          </a:p>
          <a:p>
            <a:endParaRPr lang="en-US" dirty="0"/>
          </a:p>
          <a:p>
            <a:r>
              <a:rPr lang="en-US" dirty="0" err="1"/>
              <a:t>Hyperexponential</a:t>
            </a:r>
            <a:r>
              <a:rPr lang="en-US" dirty="0"/>
              <a:t> distribution: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process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endParaRPr lang="en-US" dirty="0"/>
          </a:p>
          <a:p>
            <a:r>
              <a:rPr lang="en-US" dirty="0"/>
              <a:t>I/O Bound Program: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I/O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file, </a:t>
            </a:r>
            <a:r>
              <a:rPr lang="en-US" dirty="0" err="1"/>
              <a:t>ghi</a:t>
            </a:r>
            <a:r>
              <a:rPr lang="en-US" dirty="0"/>
              <a:t> file, …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 err="1"/>
              <a:t>chỉ</a:t>
            </a:r>
            <a:r>
              <a:rPr lang="en-US" dirty="0"/>
              <a:t> dung CPU short </a:t>
            </a:r>
            <a:r>
              <a:rPr lang="en-US" dirty="0" err="1"/>
              <a:t>brust</a:t>
            </a:r>
            <a:r>
              <a:rPr lang="en-US" dirty="0"/>
              <a:t> </a:t>
            </a:r>
            <a:r>
              <a:rPr lang="en-US" dirty="0" err="1"/>
              <a:t>rồi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request I/O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CPU bound: many long CPU </a:t>
            </a:r>
            <a:r>
              <a:rPr lang="en-US"/>
              <a:t>brust</a:t>
            </a: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26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Short-term scheduler: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process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ready queue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CPU execute</a:t>
            </a:r>
          </a:p>
          <a:p>
            <a:endParaRPr lang="en-US" dirty="0"/>
          </a:p>
          <a:p>
            <a:r>
              <a:rPr lang="en-US" dirty="0"/>
              <a:t>Switch to ready state </a:t>
            </a:r>
            <a:r>
              <a:rPr lang="en-US" dirty="0" err="1"/>
              <a:t>thì</a:t>
            </a:r>
            <a:r>
              <a:rPr lang="en-US" dirty="0"/>
              <a:t> Preemptive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CPU </a:t>
            </a:r>
            <a:r>
              <a:rPr lang="en-US" dirty="0" err="1"/>
              <a:t>giành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(ready state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process </a:t>
            </a:r>
            <a:r>
              <a:rPr lang="en-US" dirty="0" err="1"/>
              <a:t>đợi</a:t>
            </a:r>
            <a:r>
              <a:rPr lang="en-US" dirty="0"/>
              <a:t> CPU time)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99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term scheduler: </a:t>
            </a:r>
            <a:r>
              <a:rPr lang="en-US" dirty="0" err="1"/>
              <a:t>chọn</a:t>
            </a:r>
            <a:r>
              <a:rPr lang="en-US" dirty="0"/>
              <a:t> process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Ready Queue</a:t>
            </a:r>
          </a:p>
          <a:p>
            <a:r>
              <a:rPr lang="en-US" dirty="0"/>
              <a:t>Long term scheduler: </a:t>
            </a:r>
            <a:r>
              <a:rPr lang="en-US" dirty="0" err="1"/>
              <a:t>chọn</a:t>
            </a:r>
            <a:r>
              <a:rPr lang="en-US" dirty="0"/>
              <a:t> process </a:t>
            </a:r>
            <a:r>
              <a:rPr lang="en-US" dirty="0" err="1"/>
              <a:t>nào</a:t>
            </a:r>
            <a:r>
              <a:rPr lang="en-US" dirty="0"/>
              <a:t> dc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hay </a:t>
            </a:r>
            <a:r>
              <a:rPr lang="en-US"/>
              <a:t>Ready Queue</a:t>
            </a:r>
          </a:p>
          <a:p>
            <a:endParaRPr lang="en-US" dirty="0"/>
          </a:p>
          <a:p>
            <a:r>
              <a:rPr lang="en-US" dirty="0"/>
              <a:t>Dispatcher: </a:t>
            </a:r>
            <a:r>
              <a:rPr lang="en-US" dirty="0" err="1"/>
              <a:t>giao</a:t>
            </a:r>
            <a:r>
              <a:rPr lang="en-US" dirty="0"/>
              <a:t> CPU </a:t>
            </a:r>
            <a:r>
              <a:rPr lang="en-US" dirty="0" err="1"/>
              <a:t>cho</a:t>
            </a:r>
            <a:r>
              <a:rPr lang="en-US" dirty="0"/>
              <a:t> process </a:t>
            </a:r>
            <a:r>
              <a:rPr lang="en-US" dirty="0" err="1"/>
              <a:t>đó</a:t>
            </a:r>
            <a:endParaRPr lang="en-US" dirty="0"/>
          </a:p>
          <a:p>
            <a:endParaRPr lang="en-US" dirty="0"/>
          </a:p>
          <a:p>
            <a:r>
              <a:rPr lang="en-US" dirty="0"/>
              <a:t>Dispatcher latency: small as possible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process </a:t>
            </a:r>
            <a:r>
              <a:rPr lang="en-US" dirty="0" err="1"/>
              <a:t>này</a:t>
            </a:r>
            <a:r>
              <a:rPr lang="en-US" dirty="0"/>
              <a:t> qua process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, </a:t>
            </a:r>
            <a:r>
              <a:rPr lang="en-US" dirty="0" err="1"/>
              <a:t>để</a:t>
            </a:r>
            <a:r>
              <a:rPr lang="en-US" dirty="0"/>
              <a:t> CPU </a:t>
            </a:r>
            <a:r>
              <a:rPr lang="en-US" dirty="0" err="1"/>
              <a:t>sớm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tiếp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16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47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PalatinoLTStd-Bold"/>
              </a:rPr>
              <a:t>Turnaround time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: amount of time to execute a process. </a:t>
            </a:r>
          </a:p>
          <a:p>
            <a:pPr algn="l"/>
            <a:r>
              <a:rPr lang="en-US" sz="1800" dirty="0" err="1"/>
              <a:t>tổng</a:t>
            </a:r>
            <a:r>
              <a:rPr lang="en-US" sz="1800" dirty="0"/>
              <a:t> </a:t>
            </a:r>
            <a:r>
              <a:rPr lang="en-US" sz="1800" dirty="0" err="1"/>
              <a:t>thời</a:t>
            </a:r>
            <a:r>
              <a:rPr lang="en-US" sz="1800" dirty="0"/>
              <a:t> </a:t>
            </a:r>
            <a:r>
              <a:rPr lang="en-US" sz="1800" dirty="0" err="1"/>
              <a:t>gian</a:t>
            </a:r>
            <a:r>
              <a:rPr lang="en-US" sz="1800" dirty="0"/>
              <a:t> </a:t>
            </a:r>
            <a:r>
              <a:rPr lang="en-US" sz="1800" dirty="0" err="1"/>
              <a:t>từ</a:t>
            </a:r>
            <a:r>
              <a:rPr lang="en-US" sz="1800" dirty="0"/>
              <a:t> </a:t>
            </a:r>
            <a:r>
              <a:rPr lang="en-US" sz="1800" dirty="0" err="1"/>
              <a:t>lúc</a:t>
            </a:r>
            <a:r>
              <a:rPr lang="en-US" sz="1800" dirty="0"/>
              <a:t> process </a:t>
            </a:r>
            <a:r>
              <a:rPr lang="en-US" sz="1800" b="1" dirty="0" err="1"/>
              <a:t>đến</a:t>
            </a:r>
            <a:r>
              <a:rPr lang="en-US" sz="1800" b="1" dirty="0"/>
              <a:t> </a:t>
            </a:r>
            <a:r>
              <a:rPr lang="en-US" sz="1800" b="1" dirty="0" err="1"/>
              <a:t>hệ</a:t>
            </a:r>
            <a:r>
              <a:rPr lang="en-US" sz="1800" b="1" dirty="0"/>
              <a:t> </a:t>
            </a:r>
            <a:r>
              <a:rPr lang="en-US" sz="1800" b="1" dirty="0" err="1"/>
              <a:t>thống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đến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b="1" dirty="0" err="1"/>
              <a:t>hoàn</a:t>
            </a:r>
            <a:r>
              <a:rPr lang="en-US" sz="1800" b="1" dirty="0"/>
              <a:t> </a:t>
            </a:r>
            <a:r>
              <a:rPr lang="en-US" sz="1800" b="1" dirty="0" err="1"/>
              <a:t>thành</a:t>
            </a:r>
            <a:endParaRPr lang="en-US" sz="1800" b="0" i="0" u="none" strike="noStrike" baseline="0" dirty="0">
              <a:solidFill>
                <a:srgbClr val="000000"/>
              </a:solidFill>
              <a:latin typeface="PalatinoLTStd-Roman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PalatinoLTStd-Roman"/>
            </a:endParaRPr>
          </a:p>
          <a:p>
            <a:pPr algn="l"/>
            <a:r>
              <a:rPr lang="en-US" sz="1800" b="0" i="0" u="none" strike="noStrike" baseline="0" dirty="0" err="1">
                <a:solidFill>
                  <a:srgbClr val="000000"/>
                </a:solidFill>
                <a:latin typeface="PalatinoLTStd-Roman"/>
              </a:rPr>
              <a:t>Vd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: </a:t>
            </a:r>
            <a:r>
              <a:rPr lang="vi-VN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Process được submit lúc 1:00</a:t>
            </a:r>
          </a:p>
          <a:p>
            <a:pPr algn="l"/>
            <a:r>
              <a:rPr lang="vi-VN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Process hoàn thành lúc 1:10</a:t>
            </a:r>
          </a:p>
          <a:p>
            <a:pPr algn="l"/>
            <a:endParaRPr lang="vi-VN" sz="1800" b="0" i="0" u="none" strike="noStrike" baseline="0" dirty="0">
              <a:solidFill>
                <a:srgbClr val="000000"/>
              </a:solidFill>
              <a:latin typeface="PalatinoLTStd-Roman"/>
            </a:endParaRPr>
          </a:p>
          <a:p>
            <a:pPr algn="l"/>
            <a:r>
              <a:rPr lang="vi-VN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Turnaround time = 10 phút</a:t>
            </a:r>
            <a:endParaRPr lang="en-US" sz="1800" b="0" i="0" u="none" strike="noStrike" baseline="0" dirty="0">
              <a:solidFill>
                <a:srgbClr val="000000"/>
              </a:solidFill>
              <a:latin typeface="PalatinoLTStd-Roman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PalatinoLTStd-Roman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PalatinoLTStd-Roman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00FFFF"/>
                </a:solidFill>
                <a:latin typeface="PalatinoLTStd-Roman"/>
              </a:rPr>
              <a:t>•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PalatinoLTStd-Bold"/>
              </a:rPr>
              <a:t>Waiting time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. The CPU-scheduling algorithm does not affect the amount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of time during which a process executes or does I/O. It affects only the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amount of time that a process spends waiting in the ready queue. Waiting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time is the sum of the periods spent waiting in the ready queue.</a:t>
            </a:r>
          </a:p>
          <a:p>
            <a:pPr algn="l"/>
            <a:r>
              <a:rPr lang="en-US" sz="1800" b="0" i="0" u="none" strike="noStrike" baseline="0">
                <a:solidFill>
                  <a:srgbClr val="000000"/>
                </a:solidFill>
                <a:latin typeface="PalatinoLTStd-Roman"/>
              </a:rPr>
              <a:t>. </a:t>
            </a:r>
            <a:endParaRPr lang="en-US" sz="1800" b="0" i="0" u="none" strike="noStrike" baseline="0" dirty="0">
              <a:solidFill>
                <a:srgbClr val="000000"/>
              </a:solidFill>
              <a:latin typeface="PalatinoLTStd-Roman"/>
            </a:endParaRPr>
          </a:p>
          <a:p>
            <a:pPr algn="l"/>
            <a:r>
              <a:rPr lang="en-US" b="1" dirty="0"/>
              <a:t>Response time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b="1" dirty="0" err="1"/>
              <a:t>được</a:t>
            </a:r>
            <a:r>
              <a:rPr lang="en-US" b="1" dirty="0"/>
              <a:t> CPU </a:t>
            </a:r>
            <a:r>
              <a:rPr lang="en-US" b="1" dirty="0" err="1"/>
              <a:t>chạy</a:t>
            </a:r>
            <a:r>
              <a:rPr lang="en-US" b="1" dirty="0"/>
              <a:t> </a:t>
            </a:r>
            <a:r>
              <a:rPr lang="en-US" b="1" dirty="0" err="1"/>
              <a:t>lần</a:t>
            </a:r>
            <a:r>
              <a:rPr lang="en-US" b="1" dirty="0"/>
              <a:t> </a:t>
            </a:r>
            <a:r>
              <a:rPr lang="en-US" b="1" dirty="0" err="1"/>
              <a:t>đầu</a:t>
            </a:r>
            <a:r>
              <a:rPr lang="en-US" b="1" dirty="0"/>
              <a:t> </a:t>
            </a:r>
            <a:r>
              <a:rPr lang="en-US" b="1" dirty="0" err="1"/>
              <a:t>tiên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286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Waiting time P1 </a:t>
            </a:r>
            <a:r>
              <a:rPr lang="en-US" dirty="0" err="1"/>
              <a:t>là</a:t>
            </a:r>
            <a:r>
              <a:rPr lang="en-US" dirty="0"/>
              <a:t> 0 </a:t>
            </a:r>
            <a:r>
              <a:rPr lang="en-US" dirty="0" err="1"/>
              <a:t>vì</a:t>
            </a:r>
            <a:r>
              <a:rPr lang="en-US" dirty="0"/>
              <a:t> P1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CPU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trước</a:t>
            </a:r>
            <a:endParaRPr lang="en-US" dirty="0"/>
          </a:p>
          <a:p>
            <a:r>
              <a:rPr lang="en-US" dirty="0"/>
              <a:t>P2 </a:t>
            </a:r>
            <a:r>
              <a:rPr lang="en-US" dirty="0" err="1"/>
              <a:t>chờ</a:t>
            </a:r>
            <a:r>
              <a:rPr lang="en-US" dirty="0"/>
              <a:t> Brust time(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)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P1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917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1" dirty="0"/>
              <a:t>Convoy effect</a:t>
            </a:r>
            <a:r>
              <a:rPr lang="en-US" sz="1800" dirty="0"/>
              <a:t> </a:t>
            </a:r>
            <a:r>
              <a:rPr lang="en-US" sz="1800" dirty="0" err="1"/>
              <a:t>xảy</a:t>
            </a:r>
            <a:r>
              <a:rPr lang="en-US" sz="1800" dirty="0"/>
              <a:t> </a:t>
            </a:r>
            <a:r>
              <a:rPr lang="en-US" sz="1800" dirty="0" err="1"/>
              <a:t>ra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một</a:t>
            </a:r>
            <a:r>
              <a:rPr lang="en-US" sz="1800" dirty="0"/>
              <a:t> process </a:t>
            </a:r>
            <a:r>
              <a:rPr lang="en-US" sz="1800" dirty="0" err="1"/>
              <a:t>có</a:t>
            </a:r>
            <a:r>
              <a:rPr lang="en-US" sz="1800" dirty="0"/>
              <a:t> CPU burst </a:t>
            </a:r>
            <a:r>
              <a:rPr lang="en-US" sz="1800" dirty="0" err="1"/>
              <a:t>rất</a:t>
            </a:r>
            <a:r>
              <a:rPr lang="en-US" sz="1800" dirty="0"/>
              <a:t> </a:t>
            </a:r>
            <a:r>
              <a:rPr lang="en-US" sz="1800" dirty="0" err="1"/>
              <a:t>dài</a:t>
            </a:r>
            <a:r>
              <a:rPr lang="en-US" sz="1800" dirty="0"/>
              <a:t> </a:t>
            </a:r>
            <a:r>
              <a:rPr lang="en-US" sz="1800" dirty="0" err="1"/>
              <a:t>chạy</a:t>
            </a:r>
            <a:r>
              <a:rPr lang="en-US" sz="1800" dirty="0"/>
              <a:t> </a:t>
            </a:r>
            <a:r>
              <a:rPr lang="en-US" sz="1800" dirty="0" err="1"/>
              <a:t>trước</a:t>
            </a:r>
            <a:r>
              <a:rPr lang="en-US" sz="1800" dirty="0"/>
              <a:t>, </a:t>
            </a:r>
            <a:r>
              <a:rPr lang="en-US" sz="1800" dirty="0" err="1"/>
              <a:t>khiến</a:t>
            </a:r>
            <a:r>
              <a:rPr lang="en-US" sz="1800" dirty="0"/>
              <a:t> </a:t>
            </a:r>
            <a:r>
              <a:rPr lang="en-US" sz="1800" dirty="0" err="1"/>
              <a:t>nhiều</a:t>
            </a:r>
            <a:r>
              <a:rPr lang="en-US" sz="1800" dirty="0"/>
              <a:t> process </a:t>
            </a:r>
            <a:r>
              <a:rPr lang="en-US" sz="1800" dirty="0" err="1"/>
              <a:t>ngắn</a:t>
            </a:r>
            <a:r>
              <a:rPr lang="en-US" sz="1800" dirty="0"/>
              <a:t> </a:t>
            </a:r>
            <a:r>
              <a:rPr lang="en-US" sz="1800" dirty="0" err="1"/>
              <a:t>phía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</a:t>
            </a:r>
            <a:r>
              <a:rPr lang="en-US" sz="1800" dirty="0" err="1"/>
              <a:t>phải</a:t>
            </a:r>
            <a:r>
              <a:rPr lang="en-US" sz="1800" dirty="0"/>
              <a:t> </a:t>
            </a:r>
            <a:r>
              <a:rPr lang="en-US" sz="1800" dirty="0" err="1"/>
              <a:t>chờ</a:t>
            </a:r>
            <a:r>
              <a:rPr lang="en-US" sz="1800" dirty="0"/>
              <a:t>.</a:t>
            </a:r>
          </a:p>
          <a:p>
            <a:pPr algn="l"/>
            <a:r>
              <a:rPr lang="en-US" sz="1800" dirty="0" err="1"/>
              <a:t>Vd</a:t>
            </a:r>
            <a:r>
              <a:rPr lang="en-US" sz="1800" dirty="0"/>
              <a:t>: P1 = 24 </a:t>
            </a:r>
            <a:r>
              <a:rPr lang="en-US" sz="1800" dirty="0" err="1"/>
              <a:t>ms</a:t>
            </a:r>
            <a:endParaRPr lang="en-US" sz="1800" dirty="0"/>
          </a:p>
          <a:p>
            <a:pPr algn="l"/>
            <a:r>
              <a:rPr lang="en-US" sz="1800" dirty="0"/>
              <a:t>P2 = 3 </a:t>
            </a:r>
            <a:r>
              <a:rPr lang="en-US" sz="1800" dirty="0" err="1"/>
              <a:t>ms</a:t>
            </a:r>
            <a:endParaRPr lang="en-US" sz="1800" dirty="0"/>
          </a:p>
          <a:p>
            <a:pPr algn="l"/>
            <a:r>
              <a:rPr lang="en-US" sz="1800" dirty="0"/>
              <a:t>P3 = 3 </a:t>
            </a:r>
            <a:r>
              <a:rPr lang="en-US" sz="1800" dirty="0" err="1"/>
              <a:t>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372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SJF: It selects the shortest next CPU burst</a:t>
            </a:r>
          </a:p>
          <a:p>
            <a:endParaRPr lang="en-US" dirty="0"/>
          </a:p>
          <a:p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arrival = 0 </a:t>
            </a:r>
            <a:r>
              <a:rPr lang="en-US" dirty="0" err="1"/>
              <a:t>nên</a:t>
            </a:r>
            <a:r>
              <a:rPr lang="en-US" dirty="0"/>
              <a:t> </a:t>
            </a:r>
          </a:p>
          <a:p>
            <a:r>
              <a:rPr lang="en-US" dirty="0"/>
              <a:t>P4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ko </a:t>
            </a:r>
            <a:r>
              <a:rPr lang="en-US" dirty="0" err="1"/>
              <a:t>cần</a:t>
            </a:r>
            <a:r>
              <a:rPr lang="en-US" dirty="0"/>
              <a:t> wait =&gt; =0</a:t>
            </a:r>
          </a:p>
          <a:p>
            <a:r>
              <a:rPr lang="en-US" dirty="0"/>
              <a:t>P1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P4 </a:t>
            </a:r>
            <a:r>
              <a:rPr lang="en-US" dirty="0" err="1"/>
              <a:t>xong</a:t>
            </a:r>
            <a:r>
              <a:rPr lang="en-US" dirty="0"/>
              <a:t> =&gt; =3</a:t>
            </a:r>
          </a:p>
          <a:p>
            <a:r>
              <a:rPr lang="en-US" dirty="0"/>
              <a:t>P3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P4 &amp; P1 </a:t>
            </a:r>
            <a:r>
              <a:rPr lang="en-US" dirty="0" err="1"/>
              <a:t>xong</a:t>
            </a:r>
            <a:r>
              <a:rPr lang="en-US" dirty="0"/>
              <a:t> =&gt; =6+3</a:t>
            </a:r>
          </a:p>
          <a:p>
            <a:r>
              <a:rPr lang="en-US" dirty="0"/>
              <a:t>P2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 P4 &amp; P1 &amp; P3 </a:t>
            </a:r>
            <a:r>
              <a:rPr lang="en-US" dirty="0" err="1"/>
              <a:t>xong</a:t>
            </a:r>
            <a:r>
              <a:rPr lang="en-US" dirty="0"/>
              <a:t> =&gt; 6+3+7</a:t>
            </a:r>
          </a:p>
          <a:p>
            <a:endParaRPr lang="en-US" dirty="0"/>
          </a:p>
          <a:p>
            <a:r>
              <a:rPr lang="en-US" dirty="0" err="1"/>
              <a:t>Mỗi</a:t>
            </a:r>
            <a:r>
              <a:rPr lang="en-US" dirty="0"/>
              <a:t> process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t=0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096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preemptive version is called shortest-remaining-time-first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Þ"/>
              <a:tabLst/>
              <a:defRPr/>
            </a:pPr>
            <a:r>
              <a:rPr lang="en-US" dirty="0" err="1"/>
              <a:t>nếu</a:t>
            </a:r>
            <a:r>
              <a:rPr lang="en-US" dirty="0"/>
              <a:t> process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brust</a:t>
            </a:r>
            <a:r>
              <a:rPr lang="en-US" dirty="0"/>
              <a:t> time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CPU </a:t>
            </a:r>
            <a:r>
              <a:rPr lang="en-US" dirty="0" err="1"/>
              <a:t>lấy</a:t>
            </a:r>
            <a:r>
              <a:rPr lang="en-US" dirty="0"/>
              <a:t> process </a:t>
            </a:r>
            <a:r>
              <a:rPr lang="en-US" dirty="0" err="1"/>
              <a:t>đó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Þ"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b="1" dirty="0"/>
              <a:t>SJF</a:t>
            </a:r>
            <a:r>
              <a:rPr lang="en-US" dirty="0"/>
              <a:t>: process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CPU burst.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20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Tou_0 =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96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593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Phiên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preemptive </a:t>
            </a:r>
            <a:r>
              <a:rPr lang="en-US" dirty="0" err="1"/>
              <a:t>của</a:t>
            </a:r>
            <a:r>
              <a:rPr lang="en-US" dirty="0"/>
              <a:t> SJF:</a:t>
            </a:r>
          </a:p>
          <a:p>
            <a:endParaRPr lang="en-US" dirty="0"/>
          </a:p>
          <a:p>
            <a:r>
              <a:rPr lang="en-US" dirty="0"/>
              <a:t>-t=0:</a:t>
            </a:r>
          </a:p>
          <a:p>
            <a:r>
              <a:rPr lang="en-US" dirty="0"/>
              <a:t>P1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vào</a:t>
            </a:r>
            <a:endParaRPr lang="en-US" dirty="0"/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 = 1:</a:t>
            </a:r>
          </a:p>
          <a:p>
            <a:pPr marL="171450" indent="-171450">
              <a:buFontTx/>
              <a:buChar char="-"/>
            </a:pPr>
            <a:r>
              <a:rPr lang="en-US" dirty="0"/>
              <a:t>P1 </a:t>
            </a:r>
            <a:r>
              <a:rPr lang="en-US" dirty="0" err="1"/>
              <a:t>còn</a:t>
            </a:r>
            <a:r>
              <a:rPr lang="en-US" dirty="0"/>
              <a:t> 8-1=7, P2 = 4	(P1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1 unit)</a:t>
            </a:r>
          </a:p>
          <a:p>
            <a:pPr marL="171450" indent="-171450">
              <a:buFontTx/>
              <a:buChar char="-"/>
            </a:pPr>
            <a:r>
              <a:rPr lang="en-US" dirty="0"/>
              <a:t>→ </a:t>
            </a:r>
            <a:r>
              <a:rPr lang="en-US" dirty="0" err="1"/>
              <a:t>chọn</a:t>
            </a:r>
            <a:r>
              <a:rPr lang="en-US" dirty="0"/>
              <a:t> P2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 = 2:</a:t>
            </a:r>
          </a:p>
          <a:p>
            <a:pPr marL="171450" indent="-171450">
              <a:buFontTx/>
              <a:buChar char="-"/>
            </a:pPr>
            <a:r>
              <a:rPr lang="en-US" dirty="0"/>
              <a:t>P1 </a:t>
            </a:r>
            <a:r>
              <a:rPr lang="en-US" dirty="0" err="1"/>
              <a:t>còn</a:t>
            </a:r>
            <a:r>
              <a:rPr lang="en-US" dirty="0"/>
              <a:t> 7, P2 </a:t>
            </a:r>
            <a:r>
              <a:rPr lang="en-US" dirty="0" err="1"/>
              <a:t>còn</a:t>
            </a:r>
            <a:r>
              <a:rPr lang="en-US" dirty="0"/>
              <a:t> 4-1=3, P3 = 9 	(P2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1 unit)</a:t>
            </a:r>
          </a:p>
          <a:p>
            <a:pPr marL="171450" indent="-171450">
              <a:buFontTx/>
              <a:buChar char="-"/>
            </a:pPr>
            <a:r>
              <a:rPr lang="en-US" dirty="0"/>
              <a:t>→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P2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 = 3:</a:t>
            </a:r>
          </a:p>
          <a:p>
            <a:pPr marL="171450" indent="-171450">
              <a:buFontTx/>
              <a:buChar char="-"/>
            </a:pPr>
            <a:r>
              <a:rPr lang="en-US" dirty="0"/>
              <a:t>P1 </a:t>
            </a:r>
            <a:r>
              <a:rPr lang="en-US" dirty="0" err="1"/>
              <a:t>còn</a:t>
            </a:r>
            <a:r>
              <a:rPr lang="en-US" dirty="0"/>
              <a:t> 7, P2 </a:t>
            </a:r>
            <a:r>
              <a:rPr lang="en-US" dirty="0" err="1"/>
              <a:t>còn</a:t>
            </a:r>
            <a:r>
              <a:rPr lang="en-US" dirty="0"/>
              <a:t> 3-1=2, P3 = 9, P4 = 5	(P2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1 unit)</a:t>
            </a:r>
          </a:p>
          <a:p>
            <a:pPr marL="171450" indent="-171450">
              <a:buFontTx/>
              <a:buChar char="-"/>
            </a:pPr>
            <a:r>
              <a:rPr lang="en-US" dirty="0"/>
              <a:t>→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P2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 err="1"/>
              <a:t>Từ</a:t>
            </a:r>
            <a:r>
              <a:rPr lang="en-US" dirty="0"/>
              <a:t> t=3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ko </a:t>
            </a:r>
            <a:r>
              <a:rPr lang="en-US" dirty="0" err="1"/>
              <a:t>có</a:t>
            </a:r>
            <a:r>
              <a:rPr lang="en-US" dirty="0"/>
              <a:t> process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t=5 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 = 5:</a:t>
            </a:r>
          </a:p>
          <a:p>
            <a:pPr marL="171450" indent="-171450">
              <a:buFontTx/>
              <a:buChar char="-"/>
            </a:pPr>
            <a:r>
              <a:rPr lang="en-US" dirty="0"/>
              <a:t>P4 = 5, P3=9, P1=7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Chọn</a:t>
            </a:r>
            <a:r>
              <a:rPr lang="en-US" dirty="0"/>
              <a:t> P4 </a:t>
            </a:r>
            <a:r>
              <a:rPr lang="en-US" dirty="0" err="1"/>
              <a:t>và</a:t>
            </a:r>
            <a:r>
              <a:rPr lang="en-US" dirty="0"/>
              <a:t> P4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t=10 (</a:t>
            </a:r>
            <a:r>
              <a:rPr lang="en-US" dirty="0" err="1"/>
              <a:t>vì</a:t>
            </a:r>
            <a:r>
              <a:rPr lang="en-US" dirty="0"/>
              <a:t> P4 </a:t>
            </a:r>
            <a:r>
              <a:rPr lang="en-US" dirty="0" err="1"/>
              <a:t>còn</a:t>
            </a:r>
            <a:r>
              <a:rPr lang="en-US" dirty="0"/>
              <a:t> 5 burst time) </a:t>
            </a:r>
            <a:r>
              <a:rPr lang="en-US" dirty="0" err="1"/>
              <a:t>và</a:t>
            </a:r>
            <a:r>
              <a:rPr lang="en-US" dirty="0"/>
              <a:t> P4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 = 10:</a:t>
            </a:r>
          </a:p>
          <a:p>
            <a:pPr marL="0" indent="0">
              <a:buFontTx/>
              <a:buNone/>
            </a:pPr>
            <a:r>
              <a:rPr lang="en-US" dirty="0"/>
              <a:t>P1=7, P3=9</a:t>
            </a:r>
          </a:p>
          <a:p>
            <a:pPr marL="0" indent="0">
              <a:buFontTx/>
              <a:buNone/>
            </a:pPr>
            <a:r>
              <a:rPr lang="en-US" dirty="0" err="1"/>
              <a:t>Chọn</a:t>
            </a:r>
            <a:r>
              <a:rPr lang="en-US" dirty="0"/>
              <a:t> P1 </a:t>
            </a:r>
            <a:r>
              <a:rPr lang="en-US" dirty="0" err="1"/>
              <a:t>và</a:t>
            </a:r>
            <a:r>
              <a:rPr lang="en-US" dirty="0"/>
              <a:t> P1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t=17 </a:t>
            </a:r>
            <a:r>
              <a:rPr lang="en-US" dirty="0" err="1"/>
              <a:t>và</a:t>
            </a:r>
            <a:r>
              <a:rPr lang="en-US" dirty="0"/>
              <a:t> P1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- t = 17:</a:t>
            </a:r>
          </a:p>
          <a:p>
            <a:pPr marL="0" indent="0">
              <a:buFontTx/>
              <a:buNone/>
            </a:pP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P3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t=26 </a:t>
            </a:r>
            <a:r>
              <a:rPr lang="en-US" dirty="0" err="1"/>
              <a:t>và</a:t>
            </a:r>
            <a:r>
              <a:rPr lang="en-US" dirty="0"/>
              <a:t> P3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==============</a:t>
            </a:r>
          </a:p>
          <a:p>
            <a:pPr marL="0" indent="0">
              <a:buFontTx/>
              <a:buNone/>
            </a:pP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waiting time: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Waiting time = Completion time − Arrival time − Burst time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Completion time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ở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ô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271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Highest priority = smallest integer</a:t>
            </a:r>
          </a:p>
          <a:p>
            <a:endParaRPr lang="en-US" dirty="0"/>
          </a:p>
          <a:p>
            <a:pPr lvl="0"/>
            <a:r>
              <a:rPr lang="en-US" dirty="0"/>
              <a:t>Priority scheduling: </a:t>
            </a:r>
            <a:r>
              <a:rPr lang="en-US" dirty="0" err="1"/>
              <a:t>chọn</a:t>
            </a:r>
            <a:r>
              <a:rPr lang="en-US" dirty="0"/>
              <a:t> process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b="1" dirty="0"/>
              <a:t>priority </a:t>
            </a:r>
            <a:r>
              <a:rPr lang="en-US" b="1" dirty="0" err="1"/>
              <a:t>cao</a:t>
            </a:r>
            <a:r>
              <a:rPr lang="en-US" b="1" dirty="0"/>
              <a:t> </a:t>
            </a:r>
            <a:r>
              <a:rPr lang="en-US" b="1" dirty="0" err="1"/>
              <a:t>nhất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SJF: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b="1" dirty="0"/>
              <a:t>CPU burst </a:t>
            </a:r>
            <a:r>
              <a:rPr lang="en-US" b="1" dirty="0" err="1"/>
              <a:t>ngắn</a:t>
            </a:r>
            <a:r>
              <a:rPr lang="en-US" b="1" dirty="0"/>
              <a:t> </a:t>
            </a:r>
            <a:r>
              <a:rPr lang="en-US" b="1" dirty="0" err="1"/>
              <a:t>hơn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priority </a:t>
            </a:r>
            <a:r>
              <a:rPr lang="en-US" b="1" dirty="0" err="1"/>
              <a:t>cao</a:t>
            </a:r>
            <a:r>
              <a:rPr lang="en-US" b="1" dirty="0"/>
              <a:t> </a:t>
            </a:r>
            <a:r>
              <a:rPr lang="en-US" b="1" dirty="0" err="1"/>
              <a:t>hơn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Major problem: starvation =&gt; process </a:t>
            </a:r>
            <a:r>
              <a:rPr lang="en-US" dirty="0" err="1"/>
              <a:t>có</a:t>
            </a:r>
            <a:r>
              <a:rPr lang="en-US" dirty="0"/>
              <a:t> priority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lâu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ko </a:t>
            </a:r>
            <a:r>
              <a:rPr lang="en-US" dirty="0" err="1"/>
              <a:t>bh</a:t>
            </a:r>
            <a:r>
              <a:rPr lang="en-US" dirty="0"/>
              <a:t> dc </a:t>
            </a:r>
            <a:r>
              <a:rPr lang="en-US" dirty="0" err="1"/>
              <a:t>chạy</a:t>
            </a:r>
            <a:endParaRPr lang="en-US" dirty="0"/>
          </a:p>
          <a:p>
            <a:endParaRPr lang="en-US" dirty="0"/>
          </a:p>
          <a:p>
            <a:r>
              <a:rPr lang="en-US" dirty="0"/>
              <a:t>Aging: </a:t>
            </a:r>
            <a:r>
              <a:rPr lang="en-US" dirty="0" err="1"/>
              <a:t>kĩ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priority </a:t>
            </a:r>
            <a:r>
              <a:rPr lang="en-US" dirty="0" err="1"/>
              <a:t>của</a:t>
            </a:r>
            <a:r>
              <a:rPr lang="en-US" dirty="0"/>
              <a:t> process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lâu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19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preemptive </a:t>
            </a:r>
            <a:r>
              <a:rPr lang="en-US" dirty="0" err="1"/>
              <a:t>nên</a:t>
            </a:r>
            <a:r>
              <a:rPr lang="en-US" dirty="0"/>
              <a:t> arrival = 0</a:t>
            </a:r>
          </a:p>
          <a:p>
            <a:endParaRPr lang="en-US" dirty="0"/>
          </a:p>
          <a:p>
            <a:r>
              <a:rPr lang="en-US" dirty="0"/>
              <a:t>Waiting time =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− arrival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758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Round Robin is preemptive</a:t>
                </a:r>
              </a:p>
              <a:p>
                <a:endParaRPr lang="en-US" dirty="0"/>
              </a:p>
              <a:p>
                <a:r>
                  <a:rPr lang="en-US" dirty="0"/>
                  <a:t>Trong </a:t>
                </a:r>
                <a:r>
                  <a:rPr lang="en-US" b="1" dirty="0"/>
                  <a:t>Round Robin</a:t>
                </a:r>
                <a:r>
                  <a:rPr lang="en-US" dirty="0"/>
                  <a:t>, </a:t>
                </a:r>
                <a:r>
                  <a:rPr lang="en-US" dirty="0" err="1"/>
                  <a:t>mỗi</a:t>
                </a:r>
                <a:r>
                  <a:rPr lang="en-US" dirty="0"/>
                  <a:t> process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cấp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CPU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gọi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b="1" dirty="0"/>
                  <a:t>time quantum</a:t>
                </a:r>
                <a:r>
                  <a:rPr lang="en-US" dirty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 err="1"/>
                  <a:t>Nếu</a:t>
                </a:r>
                <a:r>
                  <a:rPr lang="en-US" dirty="0"/>
                  <a:t> process </a:t>
                </a:r>
                <a:r>
                  <a:rPr lang="en-US" dirty="0" err="1"/>
                  <a:t>chưa</a:t>
                </a:r>
                <a:r>
                  <a:rPr lang="en-US" dirty="0"/>
                  <a:t> </a:t>
                </a:r>
                <a:r>
                  <a:rPr lang="en-US" dirty="0" err="1"/>
                  <a:t>hoàn</a:t>
                </a:r>
                <a:r>
                  <a:rPr lang="en-US" dirty="0"/>
                  <a:t> </a:t>
                </a:r>
                <a:r>
                  <a:rPr lang="en-US" dirty="0" err="1"/>
                  <a:t>thành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 quantum, process </a:t>
                </a:r>
                <a:r>
                  <a:rPr lang="en-US" dirty="0" err="1"/>
                  <a:t>bị</a:t>
                </a:r>
                <a:r>
                  <a:rPr lang="en-US" dirty="0"/>
                  <a:t> preemptive and move to the end of ready queue</a:t>
                </a:r>
              </a:p>
              <a:p>
                <a:endParaRPr lang="en-US" dirty="0"/>
              </a:p>
              <a:p>
                <a:r>
                  <a:rPr lang="en-US" dirty="0" err="1"/>
                  <a:t>Lấy</a:t>
                </a:r>
                <a:r>
                  <a:rPr lang="en-US" dirty="0"/>
                  <a:t> process </a:t>
                </a:r>
                <a:r>
                  <a:rPr lang="en-US" dirty="0" err="1"/>
                  <a:t>tiếp</a:t>
                </a:r>
                <a:r>
                  <a:rPr lang="en-US" dirty="0"/>
                  <a:t> </a:t>
                </a:r>
                <a:r>
                  <a:rPr lang="en-US" dirty="0" err="1"/>
                  <a:t>theo</a:t>
                </a:r>
                <a:r>
                  <a:rPr lang="en-US" dirty="0"/>
                  <a:t> ở </a:t>
                </a:r>
                <a:r>
                  <a:rPr lang="en-US" dirty="0" err="1"/>
                  <a:t>đầu</a:t>
                </a:r>
                <a:r>
                  <a:rPr lang="en-US" dirty="0"/>
                  <a:t> ready queue.</a:t>
                </a:r>
              </a:p>
              <a:p>
                <a:endParaRPr lang="en-US" dirty="0"/>
              </a:p>
              <a:p>
                <a:r>
                  <a:rPr lang="en-US" dirty="0"/>
                  <a:t>If there are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en-US" dirty="0"/>
                  <a:t>processes in the ready queue, each process receives approximately:</a:t>
                </a:r>
              </a:p>
              <a:p>
                <a:r>
                  <a:rPr lang="en-US" dirty="0"/>
                  <a:t>1/n</a:t>
                </a:r>
              </a:p>
              <a:p>
                <a:r>
                  <a:rPr lang="en-US" dirty="0"/>
                  <a:t>=&gt; Nghĩa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mỗi</a:t>
                </a:r>
                <a:r>
                  <a:rPr lang="en-US" dirty="0"/>
                  <a:t> process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nhận</a:t>
                </a:r>
                <a:r>
                  <a:rPr lang="en-US" dirty="0"/>
                  <a:t> time quantum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:r>
                  <a:rPr lang="en-US" dirty="0" err="1"/>
                  <a:t>nhau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Round Robin is preemptive</a:t>
                </a:r>
              </a:p>
              <a:p>
                <a:endParaRPr lang="en-US" dirty="0"/>
              </a:p>
              <a:p>
                <a:r>
                  <a:rPr lang="en-US" dirty="0"/>
                  <a:t>Trong </a:t>
                </a:r>
                <a:r>
                  <a:rPr lang="en-US" b="1" dirty="0"/>
                  <a:t>Round Robin</a:t>
                </a:r>
                <a:r>
                  <a:rPr lang="en-US" dirty="0"/>
                  <a:t>, </a:t>
                </a:r>
                <a:r>
                  <a:rPr lang="en-US" dirty="0" err="1"/>
                  <a:t>mỗi</a:t>
                </a:r>
                <a:r>
                  <a:rPr lang="en-US" dirty="0"/>
                  <a:t> process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cấp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CPU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gọi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b="1" dirty="0"/>
                  <a:t>time quantum</a:t>
                </a:r>
                <a:r>
                  <a:rPr lang="en-US" dirty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 err="1"/>
                  <a:t>Nếu</a:t>
                </a:r>
                <a:r>
                  <a:rPr lang="en-US" dirty="0"/>
                  <a:t> process </a:t>
                </a:r>
                <a:r>
                  <a:rPr lang="en-US" dirty="0" err="1"/>
                  <a:t>chưa</a:t>
                </a:r>
                <a:r>
                  <a:rPr lang="en-US" dirty="0"/>
                  <a:t> </a:t>
                </a:r>
                <a:r>
                  <a:rPr lang="en-US" dirty="0" err="1"/>
                  <a:t>hoàn</a:t>
                </a:r>
                <a:r>
                  <a:rPr lang="en-US" dirty="0"/>
                  <a:t> </a:t>
                </a:r>
                <a:r>
                  <a:rPr lang="en-US" dirty="0" err="1"/>
                  <a:t>thành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 quantum, process </a:t>
                </a:r>
                <a:r>
                  <a:rPr lang="en-US" dirty="0" err="1"/>
                  <a:t>bị</a:t>
                </a:r>
                <a:r>
                  <a:rPr lang="en-US" dirty="0"/>
                  <a:t> preemptive and move to the end of ready queue</a:t>
                </a:r>
              </a:p>
              <a:p>
                <a:endParaRPr lang="en-US" dirty="0"/>
              </a:p>
              <a:p>
                <a:r>
                  <a:rPr lang="en-US" dirty="0" err="1"/>
                  <a:t>Lấy</a:t>
                </a:r>
                <a:r>
                  <a:rPr lang="en-US" dirty="0"/>
                  <a:t> process </a:t>
                </a:r>
                <a:r>
                  <a:rPr lang="en-US" dirty="0" err="1"/>
                  <a:t>tiếp</a:t>
                </a:r>
                <a:r>
                  <a:rPr lang="en-US" dirty="0"/>
                  <a:t> </a:t>
                </a:r>
                <a:r>
                  <a:rPr lang="en-US" dirty="0" err="1"/>
                  <a:t>theo</a:t>
                </a:r>
                <a:r>
                  <a:rPr lang="en-US" dirty="0"/>
                  <a:t> ở </a:t>
                </a:r>
                <a:r>
                  <a:rPr lang="en-US" dirty="0" err="1"/>
                  <a:t>đầu</a:t>
                </a:r>
                <a:r>
                  <a:rPr lang="en-US" dirty="0"/>
                  <a:t> ready queue.</a:t>
                </a:r>
              </a:p>
              <a:p>
                <a:endParaRPr lang="en-US" dirty="0"/>
              </a:p>
              <a:p>
                <a:r>
                  <a:rPr lang="en-US" dirty="0"/>
                  <a:t>If there are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𝑛</a:t>
                </a:r>
                <a:r>
                  <a:rPr lang="en-US" dirty="0"/>
                  <a:t>processes in the ready queue, each process receives approximately:</a:t>
                </a:r>
              </a:p>
              <a:p>
                <a:r>
                  <a:rPr lang="en-US" dirty="0"/>
                  <a:t>1/n</a:t>
                </a:r>
              </a:p>
              <a:p>
                <a:r>
                  <a:rPr lang="en-US" dirty="0"/>
                  <a:t>=&gt; Nghĩa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mỗi</a:t>
                </a:r>
                <a:r>
                  <a:rPr lang="en-US" dirty="0"/>
                  <a:t> process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nhận</a:t>
                </a:r>
                <a:r>
                  <a:rPr lang="en-US" dirty="0"/>
                  <a:t> time quantum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:r>
                  <a:rPr lang="en-US" dirty="0" err="1"/>
                  <a:t>nhau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355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PalatinoLTStd-Roman"/>
              </a:rPr>
              <a:t>Let’s calculate the average waiting time for this schedule. </a:t>
            </a:r>
            <a:r>
              <a:rPr lang="en-US" sz="1800" b="0" i="1" u="none" strike="noStrike" baseline="0" dirty="0">
                <a:latin typeface="PalatinoLTStd-Italic"/>
              </a:rPr>
              <a:t>P</a:t>
            </a:r>
            <a:r>
              <a:rPr lang="en-US" sz="1800" b="0" i="0" u="none" strike="noStrike" baseline="0" dirty="0">
                <a:latin typeface="PalatinoLTStd-Roman"/>
              </a:rPr>
              <a:t>1 waits for 6 milliseconds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(10 </a:t>
            </a:r>
            <a:r>
              <a:rPr lang="en-US" sz="1800" b="0" i="0" u="none" strike="noStrike" baseline="0" dirty="0">
                <a:latin typeface="STIXMath-Regular"/>
              </a:rPr>
              <a:t>− </a:t>
            </a:r>
            <a:r>
              <a:rPr lang="en-US" sz="1800" b="0" i="0" u="none" strike="noStrike" baseline="0" dirty="0">
                <a:latin typeface="PalatinoLTStd-Roman"/>
              </a:rPr>
              <a:t>4), </a:t>
            </a:r>
            <a:r>
              <a:rPr lang="en-US" sz="1800" b="0" i="1" u="none" strike="noStrike" baseline="0" dirty="0">
                <a:latin typeface="PalatinoLTStd-Italic"/>
              </a:rPr>
              <a:t>P</a:t>
            </a:r>
            <a:r>
              <a:rPr lang="en-US" sz="1800" b="0" i="0" u="none" strike="noStrike" baseline="0" dirty="0">
                <a:latin typeface="PalatinoLTStd-Roman"/>
              </a:rPr>
              <a:t>2 waits for 4 milliseconds, and </a:t>
            </a:r>
            <a:r>
              <a:rPr lang="en-US" sz="1800" b="0" i="1" u="none" strike="noStrike" baseline="0" dirty="0">
                <a:latin typeface="PalatinoLTStd-Italic"/>
              </a:rPr>
              <a:t>P</a:t>
            </a:r>
            <a:r>
              <a:rPr lang="en-US" sz="1800" b="0" i="0" u="none" strike="noStrike" baseline="0" dirty="0">
                <a:latin typeface="PalatinoLTStd-Roman"/>
              </a:rPr>
              <a:t>3 waits for 7 milliseconds.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Thus, the average waiting time is 17/3 = 5.66 milliseconds.</a:t>
            </a:r>
          </a:p>
          <a:p>
            <a:pPr algn="l"/>
            <a:endParaRPr lang="en-US" sz="1800" b="0" i="0" u="none" strike="noStrike" baseline="0" dirty="0">
              <a:latin typeface="PalatinoLTStd-Roman"/>
            </a:endParaRPr>
          </a:p>
          <a:p>
            <a:pPr algn="l"/>
            <a:r>
              <a:rPr lang="en-US" sz="1800" b="0" i="0" u="none" strike="noStrike" baseline="0" dirty="0" err="1">
                <a:latin typeface="PalatinoLTStd-Roman"/>
              </a:rPr>
              <a:t>Mỗi</a:t>
            </a:r>
            <a:r>
              <a:rPr lang="en-US" sz="1800" b="0" i="0" u="none" strike="noStrike" baseline="0" dirty="0">
                <a:latin typeface="PalatinoLTStd-Roman"/>
              </a:rPr>
              <a:t> process </a:t>
            </a:r>
            <a:r>
              <a:rPr lang="en-US" sz="1800" b="0" i="0" u="none" strike="noStrike" baseline="0" dirty="0" err="1">
                <a:latin typeface="PalatinoLTStd-Roman"/>
              </a:rPr>
              <a:t>sẽ</a:t>
            </a:r>
            <a:r>
              <a:rPr lang="en-US" sz="1800" b="0" i="0" u="none" strike="noStrike" baseline="0" dirty="0">
                <a:latin typeface="PalatinoLTStd-Roman"/>
              </a:rPr>
              <a:t> </a:t>
            </a:r>
            <a:r>
              <a:rPr lang="en-US" sz="1800" b="0" i="0" u="none" strike="noStrike" baseline="0" dirty="0" err="1">
                <a:latin typeface="PalatinoLTStd-Roman"/>
              </a:rPr>
              <a:t>chạy</a:t>
            </a:r>
            <a:r>
              <a:rPr lang="en-US" sz="1800" b="0" i="0" u="none" strike="noStrike" baseline="0" dirty="0">
                <a:latin typeface="PalatinoLTStd-Roman"/>
              </a:rPr>
              <a:t> </a:t>
            </a:r>
            <a:r>
              <a:rPr lang="en-US" sz="1800" b="0" i="0" u="none" strike="noStrike" baseline="0" dirty="0" err="1">
                <a:latin typeface="PalatinoLTStd-Roman"/>
              </a:rPr>
              <a:t>đủ</a:t>
            </a:r>
            <a:r>
              <a:rPr lang="en-US" sz="1800" b="0" i="0" u="none" strike="noStrike" baseline="0" dirty="0">
                <a:latin typeface="PalatinoLTStd-Roman"/>
              </a:rPr>
              <a:t> 4 time quantum </a:t>
            </a:r>
            <a:r>
              <a:rPr lang="en-US" sz="1800" b="0" i="0" u="none" strike="noStrike" baseline="0" dirty="0" err="1">
                <a:latin typeface="PalatinoLTStd-Roman"/>
              </a:rPr>
              <a:t>và</a:t>
            </a:r>
            <a:r>
              <a:rPr lang="en-US" sz="1800" b="0" i="0" u="none" strike="noStrike" baseline="0" dirty="0">
                <a:latin typeface="PalatinoLTStd-Roman"/>
              </a:rPr>
              <a:t> preempt </a:t>
            </a:r>
            <a:r>
              <a:rPr lang="en-US" sz="1800" b="0" i="0" u="none" strike="noStrike" baseline="0" dirty="0" err="1">
                <a:latin typeface="PalatinoLTStd-Roman"/>
              </a:rPr>
              <a:t>cho</a:t>
            </a:r>
            <a:r>
              <a:rPr lang="en-US" sz="1800" b="0" i="0" u="none" strike="noStrike" baseline="0" dirty="0">
                <a:latin typeface="PalatinoLTStd-Roman"/>
              </a:rPr>
              <a:t> process </a:t>
            </a:r>
            <a:r>
              <a:rPr lang="en-US" sz="1800" b="0" i="0" u="none" strike="noStrike" baseline="0" dirty="0" err="1">
                <a:latin typeface="PalatinoLTStd-Roman"/>
              </a:rPr>
              <a:t>tiếp</a:t>
            </a:r>
            <a:r>
              <a:rPr lang="en-US" sz="1800" b="0" i="0" u="none" strike="noStrike" baseline="0" dirty="0">
                <a:latin typeface="PalatinoLTStd-Roman"/>
              </a:rPr>
              <a:t> </a:t>
            </a:r>
            <a:r>
              <a:rPr lang="en-US" sz="1800" b="0" i="0" u="none" strike="noStrike" baseline="0" dirty="0" err="1">
                <a:latin typeface="PalatinoLTStd-Roman"/>
              </a:rPr>
              <a:t>theo</a:t>
            </a:r>
            <a:endParaRPr lang="en-US" sz="1800" b="0" i="0" u="none" strike="noStrike" baseline="0" dirty="0">
              <a:latin typeface="PalatinoLTStd-Roman"/>
            </a:endParaRPr>
          </a:p>
          <a:p>
            <a:pPr algn="l"/>
            <a:endParaRPr lang="en-US" sz="1800" b="0" i="0" u="none" strike="noStrike" baseline="0" dirty="0">
              <a:latin typeface="PalatinoLTStd-Roman"/>
            </a:endParaRP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Waiting time = Completion time – arrival time – burst time</a:t>
            </a:r>
          </a:p>
          <a:p>
            <a:pPr algn="l"/>
            <a:endParaRPr lang="en-US" sz="1800" b="0" i="0" u="none" strike="noStrike" baseline="0" dirty="0">
              <a:latin typeface="PalatinoLTStd-Roman"/>
            </a:endParaRP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Arrival = 0 (</a:t>
            </a:r>
            <a:r>
              <a:rPr lang="en-US" sz="1800" b="0" i="0" u="none" strike="noStrike" baseline="0" dirty="0" err="1">
                <a:latin typeface="PalatinoLTStd-Roman"/>
              </a:rPr>
              <a:t>đề</a:t>
            </a:r>
            <a:r>
              <a:rPr lang="en-US" sz="1800" b="0" i="0" u="none" strike="noStrike" baseline="0" dirty="0">
                <a:latin typeface="PalatinoLTStd-Roman"/>
              </a:rPr>
              <a:t> ko </a:t>
            </a:r>
            <a:r>
              <a:rPr lang="en-US" sz="1800" b="0" i="0" u="none" strike="noStrike" baseline="0" dirty="0" err="1">
                <a:latin typeface="PalatinoLTStd-Roman"/>
              </a:rPr>
              <a:t>cho</a:t>
            </a:r>
            <a:r>
              <a:rPr lang="en-US" sz="1800" b="0" i="0" u="none" strike="noStrike" baseline="0" dirty="0">
                <a:latin typeface="PalatinoLTStd-Roman"/>
              </a:rPr>
              <a:t>)</a:t>
            </a:r>
          </a:p>
          <a:p>
            <a:pPr algn="l"/>
            <a:endParaRPr lang="en-US" sz="1800" b="0" i="0" u="none" strike="noStrike" baseline="0" dirty="0">
              <a:latin typeface="PalatinoLTStd-Roman"/>
            </a:endParaRP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P1 waiting time = 30 – 0 -24 = 6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P2 = 7 – 0 – 3 = 4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P3 = 10 – 0 – 3 = 7</a:t>
            </a:r>
          </a:p>
          <a:p>
            <a:pPr algn="l"/>
            <a:endParaRPr lang="en-US" sz="1800" b="0" i="0" u="none" strike="noStrike" baseline="0" dirty="0">
              <a:latin typeface="PalatinoLTStd-Roman"/>
            </a:endParaRPr>
          </a:p>
          <a:p>
            <a:pPr algn="l"/>
            <a:endParaRPr lang="en-US" sz="1800" b="0" i="0" u="none" strike="noStrike" baseline="0" dirty="0">
              <a:latin typeface="PalatinoLTStd-Roman"/>
            </a:endParaRPr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538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 time quantum that is too small wastes CPU time because of:</a:t>
            </a:r>
            <a:r>
              <a:rPr lang="en-US" dirty="0"/>
              <a:t> Context-switch overhead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 err="1"/>
              <a:t>chuyển</a:t>
            </a:r>
            <a:r>
              <a:rPr lang="en-US" dirty="0"/>
              <a:t> process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time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coi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lãng</a:t>
            </a:r>
            <a:r>
              <a:rPr lang="en-US" dirty="0"/>
              <a:t> </a:t>
            </a:r>
            <a:r>
              <a:rPr lang="en-US" dirty="0" err="1"/>
              <a:t>phí</a:t>
            </a: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 err="1"/>
              <a:t>Vd</a:t>
            </a:r>
            <a:r>
              <a:rPr lang="en-US" dirty="0"/>
              <a:t>: P1 </a:t>
            </a:r>
            <a:r>
              <a:rPr lang="en-US" dirty="0" err="1"/>
              <a:t>chạy</a:t>
            </a:r>
            <a:r>
              <a:rPr lang="en-US" dirty="0"/>
              <a:t> 1 </a:t>
            </a:r>
            <a:r>
              <a:rPr lang="en-US" dirty="0" err="1"/>
              <a:t>ms</a:t>
            </a: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Context switch </a:t>
            </a:r>
            <a:r>
              <a:rPr lang="en-US" dirty="0" err="1"/>
              <a:t>mất</a:t>
            </a:r>
            <a:r>
              <a:rPr lang="en-US" dirty="0"/>
              <a:t> 0.2 </a:t>
            </a:r>
            <a:r>
              <a:rPr lang="en-US" dirty="0" err="1"/>
              <a:t>ms</a:t>
            </a: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P2 </a:t>
            </a:r>
            <a:r>
              <a:rPr lang="en-US" dirty="0" err="1"/>
              <a:t>chạy</a:t>
            </a:r>
            <a:r>
              <a:rPr lang="en-US" dirty="0"/>
              <a:t> 1 </a:t>
            </a:r>
            <a:r>
              <a:rPr lang="en-US" dirty="0" err="1"/>
              <a:t>ms</a:t>
            </a: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Context switch </a:t>
            </a:r>
            <a:r>
              <a:rPr lang="en-US" dirty="0" err="1"/>
              <a:t>mất</a:t>
            </a:r>
            <a:r>
              <a:rPr lang="en-US" dirty="0"/>
              <a:t> 0.2 </a:t>
            </a:r>
            <a:r>
              <a:rPr lang="en-US" dirty="0" err="1"/>
              <a:t>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21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Multilevel queue: chia ready queue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queue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process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Foreground(</a:t>
            </a:r>
            <a:r>
              <a:rPr lang="en-US" dirty="0" err="1"/>
              <a:t>interative</a:t>
            </a:r>
            <a:r>
              <a:rPr lang="en-US" dirty="0"/>
              <a:t>): browser, notepad, terminal =&gt;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ng dung</a:t>
            </a:r>
          </a:p>
          <a:p>
            <a:r>
              <a:rPr lang="en-US" dirty="0"/>
              <a:t>Background(batch):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data, … =&gt; ko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ngay</a:t>
            </a:r>
            <a:endParaRPr lang="en-US" dirty="0"/>
          </a:p>
          <a:p>
            <a:endParaRPr lang="en-US" dirty="0"/>
          </a:p>
          <a:p>
            <a:r>
              <a:rPr lang="vi-VN" dirty="0"/>
              <a:t>Foreground → interactive → cần phản hồi nhanh → Round Robin</a:t>
            </a:r>
          </a:p>
          <a:p>
            <a:r>
              <a:rPr lang="vi-VN" dirty="0"/>
              <a:t>Background → batch → thường dùng FCFS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467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32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Multilevel queue: </a:t>
            </a:r>
            <a:r>
              <a:rPr lang="en-US" altLang="en-US" dirty="0"/>
              <a:t>Process </a:t>
            </a:r>
            <a:r>
              <a:rPr lang="en-US" altLang="en-US" b="1" dirty="0"/>
              <a:t>permanently</a:t>
            </a:r>
            <a:r>
              <a:rPr lang="en-US" altLang="en-US" dirty="0"/>
              <a:t> in a given queue</a:t>
            </a:r>
            <a:endParaRPr lang="en-US" altLang="en-US" sz="200" dirty="0"/>
          </a:p>
          <a:p>
            <a:r>
              <a:rPr lang="en-US" dirty="0"/>
              <a:t>Multilevel feedback queue: process can move various queue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868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PalatinoLTStd-Roman"/>
              </a:rPr>
              <a:t>In Chapter 4, we introduced threads to the process model, distinguishing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between </a:t>
            </a:r>
            <a:r>
              <a:rPr lang="en-US" sz="1800" b="1" i="1" u="none" strike="noStrike" baseline="0" dirty="0">
                <a:latin typeface="PalatinoLTStd-BoldItalic"/>
              </a:rPr>
              <a:t>user-level </a:t>
            </a:r>
            <a:r>
              <a:rPr lang="en-US" sz="1800" b="0" i="0" u="none" strike="noStrike" baseline="0" dirty="0">
                <a:latin typeface="PalatinoLTStd-Roman"/>
              </a:rPr>
              <a:t>and </a:t>
            </a:r>
            <a:r>
              <a:rPr lang="en-US" sz="1800" b="1" i="1" u="none" strike="noStrike" baseline="0" dirty="0">
                <a:latin typeface="PalatinoLTStd-BoldItalic"/>
              </a:rPr>
              <a:t>kernel-level </a:t>
            </a:r>
            <a:r>
              <a:rPr lang="en-US" sz="1800" b="0" i="0" u="none" strike="noStrike" baseline="0" dirty="0">
                <a:latin typeface="PalatinoLTStd-Roman"/>
              </a:rPr>
              <a:t>threads. On most modern operating systems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it is kernel-level threads—not processes—that are being scheduled by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the operating system. User-level threads are managed by a thread library, and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the kernel is unaware of them</a:t>
            </a:r>
          </a:p>
          <a:p>
            <a:pPr algn="l"/>
            <a:endParaRPr lang="en-US" sz="1800" b="0" i="0" u="none" strike="noStrike" baseline="0" dirty="0">
              <a:latin typeface="PalatinoLTStd-Roman"/>
            </a:endParaRP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lightweight process (LWP)</a:t>
            </a:r>
          </a:p>
          <a:p>
            <a:pPr algn="l"/>
            <a:endParaRPr lang="en-US" sz="1800" b="0" i="0" u="none" strike="noStrike" baseline="0" dirty="0">
              <a:latin typeface="PalatinoLTStd-Roman"/>
            </a:endParaRP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User applications create user-level threads, which must ultimately be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mapped to kernel threads to execute on a CPU. The many-to-one model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maps many user-level threads to one kernel thread. Other approaches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include the one-to-one and many-to-many models.</a:t>
            </a:r>
          </a:p>
          <a:p>
            <a:pPr algn="l"/>
            <a:endParaRPr lang="en-US" sz="1800" b="0" i="0" u="none" strike="noStrike" baseline="0" dirty="0">
              <a:latin typeface="PalatinoLTStd-Roman"/>
            </a:endParaRPr>
          </a:p>
          <a:p>
            <a:pPr algn="l"/>
            <a:r>
              <a:rPr lang="en-US" sz="1800" b="1" i="0" u="none" strike="noStrike" baseline="0" dirty="0">
                <a:solidFill>
                  <a:srgbClr val="00FFFF"/>
                </a:solidFill>
                <a:latin typeface="PalatinoLTStd-Bold"/>
              </a:rPr>
              <a:t>process-contention scope (PCS) </a:t>
            </a:r>
          </a:p>
          <a:p>
            <a:pPr marL="285750" indent="-285750" algn="l">
              <a:buFontTx/>
              <a:buChar char="-"/>
            </a:pPr>
            <a:r>
              <a:rPr lang="en-US" sz="1800" dirty="0"/>
              <a:t>Trong </a:t>
            </a:r>
            <a:r>
              <a:rPr lang="en-US" sz="1800" b="1" dirty="0"/>
              <a:t>PCS</a:t>
            </a:r>
            <a:r>
              <a:rPr lang="en-US" sz="1800" dirty="0"/>
              <a:t>,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b="1" dirty="0"/>
              <a:t>user threads </a:t>
            </a:r>
            <a:r>
              <a:rPr lang="en-US" sz="1800" b="1" dirty="0" err="1"/>
              <a:t>trong</a:t>
            </a:r>
            <a:r>
              <a:rPr lang="en-US" sz="1800" b="1" dirty="0"/>
              <a:t> </a:t>
            </a:r>
            <a:r>
              <a:rPr lang="en-US" sz="1800" b="1" dirty="0" err="1"/>
              <a:t>cùng</a:t>
            </a:r>
            <a:r>
              <a:rPr lang="en-US" sz="1800" b="1" dirty="0"/>
              <a:t> </a:t>
            </a:r>
            <a:r>
              <a:rPr lang="en-US" sz="1800" b="1" dirty="0" err="1"/>
              <a:t>một</a:t>
            </a:r>
            <a:r>
              <a:rPr lang="en-US" sz="1800" b="1" dirty="0"/>
              <a:t> process</a:t>
            </a:r>
            <a:r>
              <a:rPr lang="en-US" sz="1800" dirty="0"/>
              <a:t> </a:t>
            </a:r>
            <a:r>
              <a:rPr lang="en-US" sz="1800" dirty="0" err="1"/>
              <a:t>cạnh</a:t>
            </a:r>
            <a:r>
              <a:rPr lang="en-US" sz="1800" dirty="0"/>
              <a:t> </a:t>
            </a:r>
            <a:r>
              <a:rPr lang="en-US" sz="1800" dirty="0" err="1"/>
              <a:t>tranh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nhau</a:t>
            </a:r>
            <a:r>
              <a:rPr lang="en-US" sz="1800" dirty="0"/>
              <a:t>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được</a:t>
            </a:r>
            <a:r>
              <a:rPr lang="en-US" sz="1800" dirty="0"/>
              <a:t> </a:t>
            </a:r>
            <a:r>
              <a:rPr lang="en-US" sz="1800" dirty="0" err="1"/>
              <a:t>thư</a:t>
            </a:r>
            <a:r>
              <a:rPr lang="en-US" sz="1800" dirty="0"/>
              <a:t> </a:t>
            </a:r>
            <a:r>
              <a:rPr lang="en-US" sz="1800" dirty="0" err="1"/>
              <a:t>viện</a:t>
            </a:r>
            <a:r>
              <a:rPr lang="en-US" sz="1800" dirty="0"/>
              <a:t> thread </a:t>
            </a:r>
            <a:r>
              <a:rPr lang="en-US" sz="1800" dirty="0" err="1"/>
              <a:t>chọn</a:t>
            </a:r>
            <a:r>
              <a:rPr lang="en-US" sz="1800" dirty="0"/>
              <a:t> </a:t>
            </a:r>
            <a:r>
              <a:rPr lang="en-US" sz="1800" dirty="0" err="1"/>
              <a:t>chạy</a:t>
            </a:r>
            <a:r>
              <a:rPr lang="en-US" sz="1800" dirty="0"/>
              <a:t> </a:t>
            </a:r>
            <a:r>
              <a:rPr lang="en-US" sz="1800" dirty="0" err="1"/>
              <a:t>trên</a:t>
            </a:r>
            <a:r>
              <a:rPr lang="en-US" sz="1800" dirty="0"/>
              <a:t> kernel thread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sẵn</a:t>
            </a:r>
            <a:r>
              <a:rPr lang="en-US" sz="1800" dirty="0"/>
              <a:t>.</a:t>
            </a:r>
          </a:p>
          <a:p>
            <a:pPr marL="0" indent="0" algn="l">
              <a:buFontTx/>
              <a:buNone/>
            </a:pPr>
            <a:endParaRPr lang="en-US" sz="1800" dirty="0"/>
          </a:p>
          <a:p>
            <a:pPr marL="0" indent="0" algn="l">
              <a:buFontTx/>
              <a:buNone/>
            </a:pPr>
            <a:endParaRPr lang="en-US" sz="1800" dirty="0"/>
          </a:p>
          <a:p>
            <a:pPr marL="0" indent="0" algn="l">
              <a:buFontTx/>
              <a:buNone/>
            </a:pPr>
            <a:r>
              <a:rPr lang="en-US" dirty="0"/>
              <a:t>PCS = user threads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process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tranh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pPr marL="0" indent="0" algn="l">
              <a:buFontTx/>
              <a:buNone/>
            </a:pPr>
            <a:r>
              <a:rPr lang="en-US" dirty="0"/>
              <a:t>SCS = kernel threads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tranh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pPr marL="0" indent="0" algn="l">
              <a:buFontTx/>
              <a:buNone/>
            </a:pPr>
            <a:r>
              <a:rPr lang="en-US" dirty="0"/>
              <a:t>=&gt; Scheduler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thread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priority,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scheduling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lượt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448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Tạo</a:t>
            </a:r>
            <a:r>
              <a:rPr lang="en-US" dirty="0"/>
              <a:t> thread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kiệm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process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thread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process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171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dirty="0"/>
              <a:t>Homogeneous processors are processors that: </a:t>
            </a:r>
            <a:r>
              <a:rPr lang="en-US" dirty="0"/>
              <a:t>Have similar capabilities</a:t>
            </a:r>
          </a:p>
          <a:p>
            <a:pPr marL="171450" indent="-171450" algn="l">
              <a:buFont typeface="Symbol" panose="05050102010706020507" pitchFamily="18" charset="2"/>
              <a:buChar char="Þ"/>
            </a:pP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lí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đương</a:t>
            </a:r>
            <a:endParaRPr lang="en-US" dirty="0"/>
          </a:p>
          <a:p>
            <a:pPr marL="171450" indent="-171450" algn="l">
              <a:buFont typeface="Symbol" panose="05050102010706020507" pitchFamily="18" charset="2"/>
              <a:buChar char="Þ"/>
            </a:pPr>
            <a:endParaRPr lang="en-US" dirty="0"/>
          </a:p>
          <a:p>
            <a:pPr marL="0" indent="0" algn="l">
              <a:buFont typeface="Symbol" panose="05050102010706020507" pitchFamily="18" charset="2"/>
              <a:buNone/>
            </a:pPr>
            <a:r>
              <a:rPr lang="en-US" dirty="0"/>
              <a:t>Heterogeneous processors: </a:t>
            </a:r>
          </a:p>
          <a:p>
            <a:pPr marL="0" indent="0" algn="l">
              <a:buFont typeface="Symbol" panose="05050102010706020507" pitchFamily="18" charset="2"/>
              <a:buNone/>
            </a:pPr>
            <a:r>
              <a:rPr lang="en-US" dirty="0"/>
              <a:t>Core </a:t>
            </a:r>
            <a:r>
              <a:rPr lang="en-US" dirty="0" err="1"/>
              <a:t>mạnh</a:t>
            </a:r>
            <a:r>
              <a:rPr lang="en-US" dirty="0"/>
              <a:t> →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nặng</a:t>
            </a:r>
            <a:endParaRPr lang="en-US" dirty="0"/>
          </a:p>
          <a:p>
            <a:pPr marL="0" indent="0" algn="l">
              <a:buFont typeface="Symbol" panose="05050102010706020507" pitchFamily="18" charset="2"/>
              <a:buNone/>
            </a:pPr>
            <a:r>
              <a:rPr lang="en-US" dirty="0"/>
              <a:t>Core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kiệm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→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nhẹ</a:t>
            </a:r>
            <a:endParaRPr lang="en-US" dirty="0"/>
          </a:p>
          <a:p>
            <a:pPr marL="0" indent="0" algn="l">
              <a:buFont typeface="Symbol" panose="05050102010706020507" pitchFamily="18" charset="2"/>
              <a:buNone/>
            </a:pPr>
            <a:endParaRPr lang="en-US" dirty="0"/>
          </a:p>
          <a:p>
            <a:r>
              <a:rPr lang="en-US" b="1" dirty="0"/>
              <a:t>In asymmetric multiprocessing:</a:t>
            </a:r>
          </a:p>
          <a:p>
            <a:r>
              <a:rPr lang="en-US" dirty="0"/>
              <a:t>One processor handles system data structures and scheduling decisions</a:t>
            </a:r>
          </a:p>
          <a:p>
            <a:pPr marL="0" indent="0" algn="l">
              <a:buFont typeface="Symbol" panose="05050102010706020507" pitchFamily="18" charset="2"/>
              <a:buNone/>
            </a:pPr>
            <a:endParaRPr lang="en-US" dirty="0"/>
          </a:p>
          <a:p>
            <a:r>
              <a:rPr lang="en-US" b="1" dirty="0"/>
              <a:t>In symmetric multiprocessing:</a:t>
            </a:r>
            <a:r>
              <a:rPr lang="en-US" dirty="0"/>
              <a:t> Each processor can schedule itself</a:t>
            </a:r>
          </a:p>
          <a:p>
            <a:pPr marL="0" indent="0" algn="l">
              <a:buFont typeface="Symbol" panose="05050102010706020507" pitchFamily="18" charset="2"/>
              <a:buNone/>
            </a:pPr>
            <a:endParaRPr lang="en-US" dirty="0"/>
          </a:p>
          <a:p>
            <a:pPr marL="0" indent="0" algn="l">
              <a:buFont typeface="Symbol" panose="05050102010706020507" pitchFamily="18" charset="2"/>
              <a:buNone/>
            </a:pPr>
            <a:r>
              <a:rPr lang="en-US" b="1" dirty="0"/>
              <a:t>Processor affinity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process </a:t>
            </a:r>
            <a:r>
              <a:rPr lang="en-US" dirty="0" err="1"/>
              <a:t>có</a:t>
            </a:r>
            <a:r>
              <a:rPr lang="en-US" dirty="0"/>
              <a:t> xu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CPU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.</a:t>
            </a:r>
          </a:p>
          <a:p>
            <a:pPr marL="0" indent="0" algn="l">
              <a:buFont typeface="Symbol" panose="05050102010706020507" pitchFamily="18" charset="2"/>
              <a:buNone/>
            </a:pPr>
            <a:endParaRPr lang="en-US" dirty="0"/>
          </a:p>
          <a:p>
            <a:pPr marL="0" indent="0" algn="l">
              <a:buFont typeface="Symbol" panose="05050102010706020507" pitchFamily="18" charset="2"/>
              <a:buNone/>
            </a:pPr>
            <a:r>
              <a:rPr lang="en-US" b="1" dirty="0"/>
              <a:t>Soft affinity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gắng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process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CPU </a:t>
            </a:r>
            <a:r>
              <a:rPr lang="en-US" dirty="0" err="1"/>
              <a:t>cũ</a:t>
            </a:r>
            <a:r>
              <a:rPr lang="en-US" dirty="0"/>
              <a:t>,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sang CPU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8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SMP: Symmetric Multi Processing</a:t>
            </a:r>
          </a:p>
          <a:p>
            <a:endParaRPr lang="en-US" dirty="0"/>
          </a:p>
          <a:p>
            <a:r>
              <a:rPr lang="en-US" b="1" dirty="0"/>
              <a:t>Load balancing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CPU/core.</a:t>
            </a:r>
          </a:p>
          <a:p>
            <a:r>
              <a:rPr lang="en-US" dirty="0"/>
              <a:t>CPU 1: P1, P2, P3, P4</a:t>
            </a:r>
          </a:p>
          <a:p>
            <a:r>
              <a:rPr lang="en-US" dirty="0"/>
              <a:t>CPU 2: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552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6E150E-5BE2-4EA5-9564-E4D02E828E8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21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8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62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08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59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46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98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85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016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64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9076C-3D55-4052-8204-498B1F2D35B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57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CECS 326</a:t>
            </a:r>
            <a:br>
              <a:rPr lang="en-US" dirty="0"/>
            </a:br>
            <a:r>
              <a:rPr lang="en-US" dirty="0"/>
              <a:t>Operating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63545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dirty="0"/>
              <a:t>CPU Scheduling</a:t>
            </a:r>
          </a:p>
          <a:p>
            <a:r>
              <a:rPr lang="en-US" sz="2200" dirty="0"/>
              <a:t>(Chapter 6, Operating system Concepts by </a:t>
            </a:r>
            <a:r>
              <a:rPr lang="en-US" sz="2200" dirty="0" err="1"/>
              <a:t>Silberschatz</a:t>
            </a:r>
            <a:r>
              <a:rPr lang="en-US" sz="2200" dirty="0"/>
              <a:t>, Galvin and Gagne)</a:t>
            </a:r>
          </a:p>
        </p:txBody>
      </p:sp>
    </p:spTree>
    <p:extLst>
      <p:ext uri="{BB962C8B-B14F-4D97-AF65-F5344CB8AC3E}">
        <p14:creationId xmlns:p14="http://schemas.microsoft.com/office/powerpoint/2010/main" val="3804541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515600" cy="1325563"/>
          </a:xfrm>
        </p:spPr>
        <p:txBody>
          <a:bodyPr/>
          <a:lstStyle/>
          <a:p>
            <a:r>
              <a:rPr lang="en-US" dirty="0"/>
              <a:t>Basic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25563"/>
            <a:ext cx="5181600" cy="4851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CPU-I/O burst cycle – process execution consists of a cycle of CPU execution and I/O wait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CPU burst followed by I/O burst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May increase CPU utilization with multiprogramming</a:t>
            </a:r>
          </a:p>
          <a:p>
            <a:endParaRPr lang="en-US" dirty="0"/>
          </a:p>
        </p:txBody>
      </p:sp>
      <p:pic>
        <p:nvPicPr>
          <p:cNvPr id="5" name="Picture 1" descr="6_01.pdf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737" y="452927"/>
            <a:ext cx="3423139" cy="6405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7284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Histogram of CPU-burst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6846" y="1325563"/>
            <a:ext cx="4741985" cy="4851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Generally characterized as an exponential or </a:t>
            </a:r>
            <a:r>
              <a:rPr lang="en-US" dirty="0" err="1"/>
              <a:t>hyperexponential</a:t>
            </a:r>
            <a:r>
              <a:rPr lang="en-US" dirty="0"/>
              <a:t> distribution, with a large number of short CPU bursts and a small number of long CPU bursts.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I/O-bound programs typically have many short CPU bursts, while CPU-bound programs might have a few long CPU bursts.</a:t>
            </a:r>
          </a:p>
        </p:txBody>
      </p:sp>
      <p:pic>
        <p:nvPicPr>
          <p:cNvPr id="5" name="Picture 9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8684" y="1325563"/>
            <a:ext cx="6945070" cy="4653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1180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CPU Scheduler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3602"/>
            <a:ext cx="10515600" cy="5352146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When the CPU becomes idle, the </a:t>
            </a:r>
            <a:r>
              <a:rPr lang="en-US" sz="3600" b="1" dirty="0"/>
              <a:t>short-term scheduler </a:t>
            </a:r>
            <a:r>
              <a:rPr lang="en-US" sz="3600" dirty="0"/>
              <a:t>selects one of the processes from the ready queue to be executed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Queue may be ordered in various ways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CPU scheduling decisions may take place when a process: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/>
              <a:t>Switches from running to waiting state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/>
              <a:t>Switches from running to ready state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/>
              <a:t>Switches from waiting to ready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/>
              <a:t>Terminates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Scheduling under 1 and 4 is </a:t>
            </a:r>
            <a:r>
              <a:rPr lang="en-US" sz="3600" dirty="0" err="1"/>
              <a:t>nonpreemptive</a:t>
            </a:r>
            <a:endParaRPr lang="en-US" sz="3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Scheduling under 2 and 3 is preemptive</a:t>
            </a:r>
          </a:p>
          <a:p>
            <a:pPr lvl="1"/>
            <a:r>
              <a:rPr lang="en-US" sz="3200" dirty="0"/>
              <a:t>Need to be aware of race conditions when data are shared among processes</a:t>
            </a:r>
          </a:p>
        </p:txBody>
      </p:sp>
    </p:spTree>
    <p:extLst>
      <p:ext uri="{BB962C8B-B14F-4D97-AF65-F5344CB8AC3E}">
        <p14:creationId xmlns:p14="http://schemas.microsoft.com/office/powerpoint/2010/main" val="3262312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82321"/>
          </a:xfrm>
        </p:spPr>
        <p:txBody>
          <a:bodyPr/>
          <a:lstStyle/>
          <a:p>
            <a:r>
              <a:rPr lang="en-US" dirty="0"/>
              <a:t>Dispatcher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2320"/>
            <a:ext cx="10515600" cy="549983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dispatcher module gives control of the CPU to the process selected by the short-term scheduler, this involves:</a:t>
            </a:r>
          </a:p>
          <a:p>
            <a:pPr lvl="1"/>
            <a:r>
              <a:rPr lang="en-US" sz="2800" dirty="0"/>
              <a:t>Switching context</a:t>
            </a:r>
          </a:p>
          <a:p>
            <a:pPr lvl="1"/>
            <a:r>
              <a:rPr lang="en-US" sz="2800" dirty="0"/>
              <a:t>Switching to user mode</a:t>
            </a:r>
          </a:p>
          <a:p>
            <a:pPr lvl="1"/>
            <a:r>
              <a:rPr lang="en-US" sz="2800" dirty="0"/>
              <a:t>Jumping to the proper location in the user program to restart program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Dispatch latency – time it takes for the dispatcher to stop one process and start another running, which should be as fast as possible since it is invoked in every process switch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516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2913E4-4F83-7518-CEA9-D66DABDFC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653" y="402768"/>
            <a:ext cx="9078694" cy="605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931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Performance Measures of Scheduling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0554"/>
            <a:ext cx="10515600" cy="535744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3200" b="1" dirty="0"/>
              <a:t>CPU utilization </a:t>
            </a:r>
            <a:r>
              <a:rPr lang="en-US" altLang="en-US" sz="3200" dirty="0"/>
              <a:t>– keep the CPU as busy as possible (Maximize)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b="1" dirty="0"/>
              <a:t>Throughput</a:t>
            </a:r>
            <a:r>
              <a:rPr lang="en-US" altLang="en-US" sz="3200" dirty="0"/>
              <a:t> – # of processes that complete their execution per time unit (Maximize)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b="1" dirty="0"/>
              <a:t>Turnaround time </a:t>
            </a:r>
            <a:r>
              <a:rPr lang="en-US" altLang="en-US" sz="3200" dirty="0"/>
              <a:t>– amount of time to execute a particular process (Minimize)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b="1" dirty="0"/>
              <a:t>Waiting time </a:t>
            </a:r>
            <a:r>
              <a:rPr lang="en-US" altLang="en-US" sz="3200" dirty="0"/>
              <a:t>– amount of time a process has been waiting in the ready queue (Minimize)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b="1" dirty="0"/>
              <a:t>Response time </a:t>
            </a:r>
            <a:r>
              <a:rPr lang="en-US" altLang="en-US" sz="3200" dirty="0"/>
              <a:t>– amount of time it takes from when a request was submitted until the first response is produced, not output  (for time-sharing environment) (Minimize)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278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First-Come, First-Served (FCFS)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7992"/>
            <a:ext cx="10515600" cy="5532437"/>
          </a:xfrm>
        </p:spPr>
        <p:txBody>
          <a:bodyPr>
            <a:normAutofit/>
          </a:bodyPr>
          <a:lstStyle/>
          <a:p>
            <a:pPr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Given 	Process	Burst Time	</a:t>
            </a:r>
          </a:p>
          <a:p>
            <a:pPr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24</a:t>
            </a:r>
          </a:p>
          <a:p>
            <a:pPr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	3</a:t>
            </a:r>
          </a:p>
          <a:p>
            <a:pPr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 </a:t>
            </a:r>
            <a:r>
              <a:rPr lang="en-US" altLang="en-US" dirty="0"/>
              <a:t>3</a:t>
            </a:r>
            <a:r>
              <a:rPr lang="en-US" altLang="en-US" i="1" baseline="-25000" dirty="0"/>
              <a:t> </a:t>
            </a: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Suppose three processes arrive in the order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 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Gantt chart for the FCFS schedule is: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Waiting time for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  = 0;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 = 24;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 </a:t>
            </a:r>
            <a:r>
              <a:rPr lang="en-US" altLang="en-US" dirty="0"/>
              <a:t>= 27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Average waiting time:  (0 + 24 + 27)/3 = 17</a:t>
            </a:r>
          </a:p>
        </p:txBody>
      </p:sp>
      <p:pic>
        <p:nvPicPr>
          <p:cNvPr id="3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912" y="4159739"/>
            <a:ext cx="10288699" cy="1185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3580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 dirty="0"/>
              <a:t>FCFS Scheduling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45686"/>
            <a:ext cx="10515600" cy="548957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Suppose the three processes arrive in the order </a:t>
            </a:r>
            <a:r>
              <a:rPr lang="en-US" altLang="en-US" sz="3000" dirty="0"/>
              <a:t> </a:t>
            </a:r>
            <a:r>
              <a:rPr lang="en-US" altLang="en-US" sz="3000" i="1" dirty="0"/>
              <a:t>P</a:t>
            </a:r>
            <a:r>
              <a:rPr lang="en-US" altLang="en-US" sz="3000" i="1" baseline="-25000" dirty="0"/>
              <a:t>2</a:t>
            </a:r>
            <a:r>
              <a:rPr lang="en-US" altLang="en-US" sz="3000" dirty="0"/>
              <a:t> , </a:t>
            </a:r>
            <a:r>
              <a:rPr lang="en-US" altLang="en-US" sz="3000" i="1" dirty="0"/>
              <a:t>P</a:t>
            </a:r>
            <a:r>
              <a:rPr lang="en-US" altLang="en-US" sz="3000" i="1" baseline="-25000" dirty="0"/>
              <a:t>3</a:t>
            </a:r>
            <a:r>
              <a:rPr lang="en-US" altLang="en-US" sz="3000" dirty="0"/>
              <a:t> , </a:t>
            </a:r>
            <a:r>
              <a:rPr lang="en-US" altLang="en-US" sz="3000" i="1" dirty="0"/>
              <a:t>P</a:t>
            </a:r>
            <a:r>
              <a:rPr lang="en-US" altLang="en-US" sz="3000" i="1" baseline="-25000" dirty="0"/>
              <a:t>1</a:t>
            </a:r>
            <a:r>
              <a:rPr lang="en-US" altLang="en-US" sz="3000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Then Gantt chart for the schedule is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  <a:tabLst>
                <a:tab pos="3649345" algn="ctr"/>
              </a:tabLst>
              <a:defRPr/>
            </a:pPr>
            <a:r>
              <a:rPr lang="en-US" altLang="en-US" sz="3000" dirty="0"/>
              <a:t>Waiting time for </a:t>
            </a:r>
            <a:r>
              <a:rPr lang="en-US" altLang="en-US" sz="3000" i="1" dirty="0"/>
              <a:t>P</a:t>
            </a:r>
            <a:r>
              <a:rPr lang="en-US" altLang="en-US" sz="3000" i="1" baseline="-25000" dirty="0"/>
              <a:t>1 </a:t>
            </a:r>
            <a:r>
              <a:rPr lang="en-US" altLang="en-US" sz="3000" i="1" dirty="0"/>
              <a:t>=</a:t>
            </a:r>
            <a:r>
              <a:rPr lang="en-US" altLang="en-US" sz="3000" dirty="0"/>
              <a:t> 6</a:t>
            </a:r>
            <a:r>
              <a:rPr lang="en-US" altLang="en-US" sz="3000" i="1" dirty="0"/>
              <a:t>;</a:t>
            </a:r>
            <a:r>
              <a:rPr lang="en-US" altLang="en-US" sz="3000" i="1" baseline="-25000" dirty="0"/>
              <a:t> </a:t>
            </a:r>
            <a:r>
              <a:rPr lang="en-US" altLang="en-US" sz="3000" i="1" dirty="0"/>
              <a:t>P</a:t>
            </a:r>
            <a:r>
              <a:rPr lang="en-US" altLang="en-US" sz="3000" i="1" baseline="-25000" dirty="0"/>
              <a:t>2</a:t>
            </a:r>
            <a:r>
              <a:rPr lang="en-US" altLang="en-US" sz="3000" dirty="0"/>
              <a:t> = 0</a:t>
            </a:r>
            <a:r>
              <a:rPr lang="en-US" altLang="en-US" sz="3000" i="1" baseline="-25000" dirty="0"/>
              <a:t>; </a:t>
            </a:r>
            <a:r>
              <a:rPr lang="en-US" altLang="en-US" sz="3000" i="1" dirty="0"/>
              <a:t>P</a:t>
            </a:r>
            <a:r>
              <a:rPr lang="en-US" altLang="en-US" sz="3000" i="1" baseline="-25000" dirty="0"/>
              <a:t>3 </a:t>
            </a:r>
            <a:r>
              <a:rPr lang="en-US" altLang="en-US" sz="3000" i="1" dirty="0"/>
              <a:t>= </a:t>
            </a:r>
            <a:r>
              <a:rPr lang="en-US" altLang="en-US" sz="3000" dirty="0"/>
              <a:t>3</a:t>
            </a:r>
            <a:endParaRPr lang="en-US" altLang="en-US" sz="3000" i="1" dirty="0"/>
          </a:p>
          <a:p>
            <a:pPr>
              <a:buFont typeface="Wingdings" panose="05000000000000000000" pitchFamily="2" charset="2"/>
              <a:buChar char="§"/>
              <a:tabLst>
                <a:tab pos="3649345" algn="ctr"/>
              </a:tabLst>
              <a:defRPr/>
            </a:pPr>
            <a:r>
              <a:rPr lang="en-US" altLang="en-US" sz="3000" dirty="0"/>
              <a:t>Average waiting time:   (6 + 0 + 3)/3 = 3</a:t>
            </a:r>
          </a:p>
          <a:p>
            <a:pPr>
              <a:buFont typeface="Wingdings" panose="05000000000000000000" pitchFamily="2" charset="2"/>
              <a:buChar char="§"/>
              <a:tabLst>
                <a:tab pos="3649345" algn="ctr"/>
              </a:tabLst>
              <a:defRPr/>
            </a:pPr>
            <a:r>
              <a:rPr lang="en-US" altLang="en-US" sz="3000" dirty="0"/>
              <a:t>Much better than previous case</a:t>
            </a:r>
          </a:p>
          <a:p>
            <a:pPr>
              <a:buFont typeface="Wingdings" panose="05000000000000000000" pitchFamily="2" charset="2"/>
              <a:buChar char="§"/>
              <a:tabLst>
                <a:tab pos="3649345" algn="ctr"/>
              </a:tabLst>
              <a:defRPr/>
            </a:pPr>
            <a:r>
              <a:rPr lang="en-US" altLang="en-US" sz="3000" b="1" dirty="0">
                <a:solidFill>
                  <a:srgbClr val="3366FF"/>
                </a:solidFill>
              </a:rPr>
              <a:t>Convoy effect </a:t>
            </a:r>
            <a:r>
              <a:rPr lang="en-US" altLang="en-US" sz="3000" dirty="0"/>
              <a:t>- short process behind long process</a:t>
            </a:r>
          </a:p>
          <a:p>
            <a:pPr lvl="1">
              <a:tabLst>
                <a:tab pos="3649345" algn="ctr"/>
              </a:tabLst>
              <a:defRPr/>
            </a:pPr>
            <a:r>
              <a:rPr lang="en-US" altLang="en-US" sz="2800" dirty="0"/>
              <a:t>E.g., consider one CPU-bound and many I/O-bound processes</a:t>
            </a:r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40" y="2264131"/>
            <a:ext cx="10289659" cy="1162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9911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Shortest-Job-First (SJF)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1033"/>
            <a:ext cx="10515600" cy="581696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Associate with each process the length of its next CPU burst, and use these lengths to schedule the process with the shortest time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SJF schedule is optimal – it gives the minimum waiting time for a given set of processes</a:t>
            </a:r>
          </a:p>
          <a:p>
            <a:pPr lvl="1"/>
            <a:r>
              <a:rPr lang="en-US" dirty="0"/>
              <a:t>Difficulty is knowing the length of the next CPU request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Example:		 </a:t>
            </a:r>
            <a:r>
              <a:rPr lang="en-US" altLang="en-US" u="sng" dirty="0" err="1"/>
              <a:t>Process</a:t>
            </a:r>
            <a:r>
              <a:rPr lang="en-US" altLang="en-US" u="sng" dirty="0" err="1">
                <a:solidFill>
                  <a:schemeClr val="bg1"/>
                </a:solidFill>
              </a:rPr>
              <a:t>Arriva</a:t>
            </a:r>
            <a:r>
              <a:rPr lang="en-US" altLang="en-US" u="sng" dirty="0">
                <a:solidFill>
                  <a:schemeClr val="bg1"/>
                </a:solidFill>
              </a:rPr>
              <a:t>	l </a:t>
            </a:r>
            <a:r>
              <a:rPr lang="en-US" altLang="en-US" u="sng" dirty="0"/>
              <a:t>Burst Time</a:t>
            </a:r>
            <a:endParaRPr lang="en-US" altLang="en-US" dirty="0"/>
          </a:p>
          <a:p>
            <a:pPr>
              <a:lnSpc>
                <a:spcPct val="80000"/>
              </a:lnSpc>
              <a:spcBef>
                <a:spcPts val="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                    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chemeClr val="bg1"/>
                </a:solidFill>
              </a:rPr>
              <a:t>0.0</a:t>
            </a:r>
            <a:r>
              <a:rPr lang="en-US" altLang="en-US" dirty="0"/>
              <a:t>	6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                    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 	</a:t>
            </a:r>
            <a:r>
              <a:rPr lang="en-US" altLang="en-US" dirty="0">
                <a:solidFill>
                  <a:schemeClr val="bg1"/>
                </a:solidFill>
              </a:rPr>
              <a:t>2.0</a:t>
            </a:r>
            <a:r>
              <a:rPr lang="en-US" altLang="en-US" dirty="0"/>
              <a:t>	8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                    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chemeClr val="bg1"/>
                </a:solidFill>
              </a:rPr>
              <a:t>4.0</a:t>
            </a:r>
            <a:r>
              <a:rPr lang="en-US" altLang="en-US" dirty="0"/>
              <a:t>	7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                    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chemeClr val="bg1"/>
                </a:solidFill>
              </a:rPr>
              <a:t>5.0</a:t>
            </a:r>
            <a:r>
              <a:rPr lang="en-US" altLang="en-US" dirty="0"/>
              <a:t>	3 	</a:t>
            </a:r>
          </a:p>
          <a:p>
            <a:pPr>
              <a:buFont typeface="Wingdings" panose="05000000000000000000" pitchFamily="2" charset="2"/>
              <a:buChar char="§"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SJF scheduling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Average waiting time = (3 + 16 + 9 + 0) / 4 = 7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247" y="4967653"/>
            <a:ext cx="9276494" cy="1222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7427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Determining Length of Next CPU Burst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8862"/>
            <a:ext cx="10515600" cy="5533292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Can only estimate – should be similar to the previous one – then pick process with shortest predicted next CPU burst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Can be done by using the length of previous CPU bursts using exponential averaging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Commonly, </a:t>
            </a:r>
            <a:r>
              <a:rPr lang="en-US" altLang="en-US" dirty="0">
                <a:latin typeface="Lucida Grande" pitchFamily="-84" charset="0"/>
              </a:rPr>
              <a:t>α </a:t>
            </a:r>
            <a:r>
              <a:rPr lang="en-US" altLang="en-US" dirty="0"/>
              <a:t>set to ½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preemptive version is called shortest-remaining-time-first</a:t>
            </a: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459359"/>
              </p:ext>
            </p:extLst>
          </p:nvPr>
        </p:nvGraphicFramePr>
        <p:xfrm>
          <a:off x="1979613" y="3103563"/>
          <a:ext cx="7336259" cy="207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00800" imgH="1778000" progId="Equation.3">
                  <p:embed/>
                </p:oleObj>
              </mc:Choice>
              <mc:Fallback>
                <p:oleObj name="Equation" r:id="rId3" imgW="6400800" imgH="177800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103563"/>
                        <a:ext cx="7336259" cy="207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2922" y="4779818"/>
            <a:ext cx="3561249" cy="40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46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Prediction of the Length of the Next CPU Burst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8862"/>
                <a:ext cx="10515600" cy="5439507"/>
              </a:xfrm>
            </p:spPr>
            <p:txBody>
              <a:bodyPr>
                <a:normAutofit lnSpcReduction="10000"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endParaRPr lang="en-US" sz="28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28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28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28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Prediction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)   10     8      6     6     5     9     11     12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Actual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                6      4      6      4     13    13    13    13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8862"/>
                <a:ext cx="10515600" cy="5439507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941889"/>
              </p:ext>
            </p:extLst>
          </p:nvPr>
        </p:nvGraphicFramePr>
        <p:xfrm>
          <a:off x="6045200" y="3300413"/>
          <a:ext cx="101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20" imgH="253800" progId="Equation.3">
                  <p:embed/>
                </p:oleObj>
              </mc:Choice>
              <mc:Fallback>
                <p:oleObj name="Equation" r:id="rId4" imgW="101520" imgH="253800" progId="Equation.3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45200" y="3300413"/>
                        <a:ext cx="101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552" y="1148863"/>
            <a:ext cx="5989169" cy="416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224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Exponential Averaging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2575"/>
            <a:ext cx="10515600" cy="503579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>
                <a:sym typeface="Symbol" panose="05050102010706020507" pitchFamily="18" charset="2"/>
              </a:rPr>
              <a:t> =0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</a:t>
            </a:r>
            <a:r>
              <a:rPr lang="en-US" altLang="en-US" baseline="-25000" dirty="0">
                <a:sym typeface="Symbol" panose="05050102010706020507" pitchFamily="18" charset="2"/>
              </a:rPr>
              <a:t>n+1</a:t>
            </a:r>
            <a:r>
              <a:rPr lang="en-US" altLang="en-US" dirty="0">
                <a:sym typeface="Symbol" panose="05050102010706020507" pitchFamily="18" charset="2"/>
              </a:rPr>
              <a:t> = </a:t>
            </a:r>
            <a:r>
              <a:rPr lang="en-US" altLang="en-US" baseline="-25000" dirty="0">
                <a:sym typeface="Symbol" panose="05050102010706020507" pitchFamily="18" charset="2"/>
              </a:rPr>
              <a:t>n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Recent history does not count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>
                <a:sym typeface="Symbol" panose="05050102010706020507" pitchFamily="18" charset="2"/>
              </a:rPr>
              <a:t> =1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 </a:t>
            </a:r>
            <a:r>
              <a:rPr lang="en-US" altLang="en-US" baseline="-25000" dirty="0">
                <a:sym typeface="Symbol" panose="05050102010706020507" pitchFamily="18" charset="2"/>
              </a:rPr>
              <a:t>n+1</a:t>
            </a:r>
            <a:r>
              <a:rPr lang="en-US" altLang="en-US" dirty="0">
                <a:sym typeface="Symbol" panose="05050102010706020507" pitchFamily="18" charset="2"/>
              </a:rPr>
              <a:t> =  </a:t>
            </a:r>
            <a:r>
              <a:rPr lang="en-US" altLang="en-US" i="1" dirty="0" err="1">
                <a:sym typeface="Symbol" panose="05050102010706020507" pitchFamily="18" charset="2"/>
              </a:rPr>
              <a:t>t</a:t>
            </a:r>
            <a:r>
              <a:rPr lang="en-US" altLang="en-US" baseline="-25000" dirty="0" err="1"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=  </a:t>
            </a:r>
            <a:r>
              <a:rPr lang="en-US" altLang="en-US" i="1" dirty="0" err="1">
                <a:sym typeface="Symbol" panose="05050102010706020507" pitchFamily="18" charset="2"/>
              </a:rPr>
              <a:t>t</a:t>
            </a:r>
            <a:r>
              <a:rPr lang="en-US" altLang="en-US" baseline="-25000" dirty="0" err="1">
                <a:sym typeface="Symbol" panose="05050102010706020507" pitchFamily="18" charset="2"/>
              </a:rPr>
              <a:t>n</a:t>
            </a:r>
            <a:endParaRPr lang="en-US" altLang="en-US" baseline="-25000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Only the actual last CPU burst counts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>
                <a:sym typeface="Symbol" panose="05050102010706020507" pitchFamily="18" charset="2"/>
              </a:rPr>
              <a:t>If we expand the formula, we get:</a:t>
            </a:r>
          </a:p>
          <a:p>
            <a:pPr lvl="2">
              <a:buNone/>
            </a:pPr>
            <a:r>
              <a:rPr lang="en-US" altLang="en-US" dirty="0">
                <a:sym typeface="Symbol" panose="05050102010706020507" pitchFamily="18" charset="2"/>
              </a:rPr>
              <a:t></a:t>
            </a:r>
            <a:r>
              <a:rPr lang="en-US" altLang="en-US" i="1" baseline="-25000" dirty="0"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sym typeface="Symbol" panose="05050102010706020507" pitchFamily="18" charset="2"/>
              </a:rPr>
              <a:t>+1</a:t>
            </a:r>
            <a:r>
              <a:rPr lang="en-US" altLang="en-US" dirty="0">
                <a:sym typeface="Symbol" panose="05050102010706020507" pitchFamily="18" charset="2"/>
              </a:rPr>
              <a:t> =  </a:t>
            </a:r>
            <a:r>
              <a:rPr lang="en-US" altLang="en-US" dirty="0" err="1"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+(1</a:t>
            </a:r>
            <a:r>
              <a:rPr lang="en-US" altLang="en-US" i="1" dirty="0">
                <a:sym typeface="Symbol" panose="05050102010706020507" pitchFamily="18" charset="2"/>
              </a:rPr>
              <a:t> -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i="1" dirty="0"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 </a:t>
            </a:r>
            <a:r>
              <a:rPr lang="en-US" altLang="en-US" i="1" dirty="0" err="1"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-1</a:t>
            </a:r>
            <a:r>
              <a:rPr lang="en-US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+ …</a:t>
            </a:r>
          </a:p>
          <a:p>
            <a:pPr lvl="2">
              <a:buNone/>
            </a:pPr>
            <a:r>
              <a:rPr lang="en-US" altLang="en-US" dirty="0"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+(</a:t>
            </a:r>
            <a:r>
              <a:rPr lang="en-US" altLang="en-US" dirty="0">
                <a:sym typeface="Symbol" panose="05050102010706020507" pitchFamily="18" charset="2"/>
              </a:rPr>
              <a:t>1 -  </a:t>
            </a:r>
            <a:r>
              <a:rPr lang="en-US" altLang="en-US" i="1" dirty="0">
                <a:sym typeface="Symbol" panose="05050102010706020507" pitchFamily="18" charset="2"/>
              </a:rPr>
              <a:t>)</a:t>
            </a:r>
            <a:r>
              <a:rPr lang="en-US" altLang="en-US" i="1" baseline="30000" dirty="0">
                <a:sym typeface="Symbol" panose="05050102010706020507" pitchFamily="18" charset="2"/>
              </a:rPr>
              <a:t>j</a:t>
            </a:r>
            <a:r>
              <a:rPr lang="en-US" altLang="en-US" baseline="30000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 </a:t>
            </a:r>
            <a:r>
              <a:rPr lang="en-US" altLang="en-US" i="1" dirty="0" err="1"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-</a:t>
            </a:r>
            <a:r>
              <a:rPr lang="en-US" altLang="en-US" i="1" baseline="-25000" dirty="0">
                <a:sym typeface="Symbol" panose="05050102010706020507" pitchFamily="18" charset="2"/>
              </a:rPr>
              <a:t>j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+ …</a:t>
            </a:r>
          </a:p>
          <a:p>
            <a:pPr lvl="2">
              <a:buNone/>
            </a:pPr>
            <a:r>
              <a:rPr lang="en-US" altLang="en-US" dirty="0"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+(</a:t>
            </a:r>
            <a:r>
              <a:rPr lang="en-US" altLang="en-US" dirty="0">
                <a:sym typeface="Symbol" panose="05050102010706020507" pitchFamily="18" charset="2"/>
              </a:rPr>
              <a:t>1 -  </a:t>
            </a:r>
            <a:r>
              <a:rPr lang="en-US" altLang="en-US" i="1" dirty="0">
                <a:sym typeface="Symbol" panose="05050102010706020507" pitchFamily="18" charset="2"/>
              </a:rPr>
              <a:t>)</a:t>
            </a:r>
            <a:r>
              <a:rPr lang="en-US" altLang="en-US" i="1" baseline="30000" dirty="0">
                <a:sym typeface="Symbol" panose="05050102010706020507" pitchFamily="18" charset="2"/>
              </a:rPr>
              <a:t>n</a:t>
            </a:r>
            <a:r>
              <a:rPr lang="en-US" altLang="en-US" baseline="30000" dirty="0">
                <a:sym typeface="Symbol" panose="05050102010706020507" pitchFamily="18" charset="2"/>
              </a:rPr>
              <a:t> +1 </a:t>
            </a:r>
            <a:r>
              <a:rPr lang="en-US" altLang="en-US" dirty="0">
                <a:sym typeface="Symbol" panose="05050102010706020507" pitchFamily="18" charset="2"/>
              </a:rPr>
              <a:t></a:t>
            </a:r>
            <a:r>
              <a:rPr lang="en-US" altLang="en-US" baseline="-25000" dirty="0">
                <a:sym typeface="Symbol" panose="05050102010706020507" pitchFamily="18" charset="2"/>
              </a:rPr>
              <a:t>0</a:t>
            </a:r>
            <a:br>
              <a:rPr lang="en-US" altLang="en-US" baseline="-25000" dirty="0">
                <a:sym typeface="Symbol" panose="05050102010706020507" pitchFamily="18" charset="2"/>
              </a:rPr>
            </a:br>
            <a:endParaRPr lang="en-US" altLang="en-US" baseline="-25000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Since both  and (1 - ) are less than or equal to 1, each successive term has less weight than its predecessor</a:t>
            </a:r>
          </a:p>
        </p:txBody>
      </p:sp>
    </p:spTree>
    <p:extLst>
      <p:ext uri="{BB962C8B-B14F-4D97-AF65-F5344CB8AC3E}">
        <p14:creationId xmlns:p14="http://schemas.microsoft.com/office/powerpoint/2010/main" val="3502713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1969"/>
          </a:xfrm>
        </p:spPr>
        <p:txBody>
          <a:bodyPr>
            <a:normAutofit/>
          </a:bodyPr>
          <a:lstStyle/>
          <a:p>
            <a:r>
              <a:rPr lang="en-US" sz="3600" dirty="0"/>
              <a:t>Example of Shortest-Remaining-Time-First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1969"/>
            <a:ext cx="10515600" cy="5756031"/>
          </a:xfrm>
        </p:spPr>
        <p:txBody>
          <a:bodyPr>
            <a:normAutofit/>
          </a:bodyPr>
          <a:lstStyle/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Add the concepts of varying arrival times and preemption to the analysis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	         </a:t>
            </a:r>
            <a:r>
              <a:rPr lang="en-US" altLang="en-US" u="sng" dirty="0" err="1"/>
              <a:t>Process</a:t>
            </a:r>
            <a:r>
              <a:rPr lang="en-US" altLang="en-US" u="sng" dirty="0" err="1">
                <a:solidFill>
                  <a:schemeClr val="bg1"/>
                </a:solidFill>
              </a:rPr>
              <a:t>A</a:t>
            </a:r>
            <a:r>
              <a:rPr lang="en-US" altLang="en-US" u="sng" dirty="0">
                <a:solidFill>
                  <a:schemeClr val="bg1"/>
                </a:solidFill>
              </a:rPr>
              <a:t>	</a:t>
            </a:r>
            <a:r>
              <a:rPr lang="en-US" altLang="en-US" i="1" u="sng" dirty="0"/>
              <a:t>Arrival </a:t>
            </a:r>
            <a:r>
              <a:rPr lang="en-US" altLang="en-US" u="sng" dirty="0" err="1"/>
              <a:t>Time</a:t>
            </a:r>
            <a:r>
              <a:rPr lang="en-US" altLang="en-US" u="sng" dirty="0" err="1">
                <a:solidFill>
                  <a:schemeClr val="bg1"/>
                </a:solidFill>
              </a:rPr>
              <a:t>T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  <a:endParaRPr lang="en-US" altLang="en-US" dirty="0"/>
          </a:p>
          <a:p>
            <a:pPr>
              <a:lnSpc>
                <a:spcPct val="80000"/>
              </a:lnSpc>
              <a:spcBef>
                <a:spcPts val="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0</a:t>
            </a:r>
            <a:r>
              <a:rPr lang="en-US" altLang="en-US" dirty="0"/>
              <a:t>	8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 	</a:t>
            </a:r>
            <a:r>
              <a:rPr lang="en-US" altLang="en-US" dirty="0">
                <a:solidFill>
                  <a:srgbClr val="000000"/>
                </a:solidFill>
              </a:rPr>
              <a:t>1</a:t>
            </a:r>
            <a:r>
              <a:rPr lang="en-US" altLang="en-US" dirty="0"/>
              <a:t>	4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2</a:t>
            </a:r>
            <a:r>
              <a:rPr lang="en-US" altLang="en-US" dirty="0"/>
              <a:t>	9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3</a:t>
            </a:r>
            <a:r>
              <a:rPr lang="en-US" altLang="en-US" dirty="0"/>
              <a:t>	5</a:t>
            </a:r>
          </a:p>
          <a:p>
            <a:pPr>
              <a:buFont typeface="Wingdings" panose="05000000000000000000" pitchFamily="2" charset="2"/>
              <a:buChar char="§"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Preemptive SJF Gantt Chart</a:t>
            </a:r>
          </a:p>
          <a:p>
            <a:pPr>
              <a:buFont typeface="Wingdings" panose="05000000000000000000" pitchFamily="2" charset="2"/>
              <a:buChar char="§"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Average waiting time = [(10-1)+(1-1)+(17-2)+5-3)]/4 = 26/4 = 6.5</a:t>
            </a: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664" y="4314092"/>
            <a:ext cx="10391136" cy="1242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7518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Priority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415"/>
            <a:ext cx="10515600" cy="505154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priority number (integer) is associated with each process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CPU is allocated to the process with the highest priority (convention: smallest integer </a:t>
            </a:r>
            <a:r>
              <a:rPr lang="en-US" altLang="en-US" sz="3200" dirty="0">
                <a:sym typeface="Symbol" panose="05050102010706020507" pitchFamily="18" charset="2"/>
              </a:rPr>
              <a:t></a:t>
            </a:r>
            <a:r>
              <a:rPr lang="en-US" sz="3200" dirty="0"/>
              <a:t> highest priority).  Scheduling may be preemptive or </a:t>
            </a:r>
            <a:r>
              <a:rPr lang="en-US" sz="3200" dirty="0" err="1"/>
              <a:t>nonpreemptive</a:t>
            </a:r>
            <a:r>
              <a:rPr lang="en-US" sz="32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SJF is priority scheduling where priority is based on the predicted next CPU burst time</a:t>
            </a:r>
          </a:p>
          <a:p>
            <a:pPr lvl="1"/>
            <a:r>
              <a:rPr lang="en-US" sz="2800" dirty="0"/>
              <a:t>Problem: starvation (low priority processes may have to wait a long time to get executed</a:t>
            </a:r>
          </a:p>
          <a:p>
            <a:pPr lvl="1"/>
            <a:r>
              <a:rPr lang="en-US" sz="2800" dirty="0"/>
              <a:t>Solution: aging (priority of process increases as time progresses)</a:t>
            </a:r>
          </a:p>
        </p:txBody>
      </p:sp>
    </p:spTree>
    <p:extLst>
      <p:ext uri="{BB962C8B-B14F-4D97-AF65-F5344CB8AC3E}">
        <p14:creationId xmlns:p14="http://schemas.microsoft.com/office/powerpoint/2010/main" val="3117490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Example of Priority Scheduling (</a:t>
            </a:r>
            <a:r>
              <a:rPr lang="en-US" sz="4000" dirty="0" err="1"/>
              <a:t>Nonpreemptive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5076"/>
            <a:ext cx="10515600" cy="580292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Given the following processes in the system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</a:t>
            </a:r>
            <a:r>
              <a:rPr lang="en-US" altLang="en-US" u="sng" dirty="0" err="1"/>
              <a:t>Process</a:t>
            </a:r>
            <a:r>
              <a:rPr lang="en-US" altLang="en-US" u="sng" dirty="0" err="1">
                <a:solidFill>
                  <a:schemeClr val="bg1"/>
                </a:solidFill>
              </a:rPr>
              <a:t>A</a:t>
            </a:r>
            <a:r>
              <a:rPr lang="en-US" altLang="en-US" u="sng" dirty="0">
                <a:solidFill>
                  <a:schemeClr val="bg1"/>
                </a:solidFill>
              </a:rPr>
              <a:t>	</a:t>
            </a:r>
            <a:r>
              <a:rPr lang="en-US" altLang="en-US" u="sng" dirty="0"/>
              <a:t>Burst </a:t>
            </a:r>
            <a:r>
              <a:rPr lang="en-US" altLang="en-US" u="sng" dirty="0" err="1"/>
              <a:t>Time</a:t>
            </a:r>
            <a:r>
              <a:rPr lang="en-US" altLang="en-US" u="sng" dirty="0" err="1">
                <a:solidFill>
                  <a:schemeClr val="bg1"/>
                </a:solidFill>
              </a:rPr>
              <a:t>T</a:t>
            </a:r>
            <a:r>
              <a:rPr lang="en-US" altLang="en-US" u="sng" dirty="0">
                <a:solidFill>
                  <a:schemeClr val="bg1"/>
                </a:solidFill>
              </a:rPr>
              <a:t>      </a:t>
            </a:r>
            <a:r>
              <a:rPr lang="en-US" altLang="en-US" u="sng" dirty="0"/>
              <a:t>Priority</a:t>
            </a: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 	</a:t>
            </a:r>
            <a:r>
              <a:rPr lang="en-US" altLang="en-US" dirty="0">
                <a:solidFill>
                  <a:srgbClr val="000000"/>
                </a:solidFill>
              </a:rPr>
              <a:t>1</a:t>
            </a:r>
            <a:r>
              <a:rPr lang="en-US" altLang="en-US" dirty="0"/>
              <a:t>	1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	</a:t>
            </a:r>
            <a:r>
              <a:rPr lang="en-US" altLang="en-US" dirty="0"/>
              <a:t>5	2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 	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2</a:t>
            </a:r>
            <a:r>
              <a:rPr lang="en-US" altLang="en-US" dirty="0"/>
              <a:t>	4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1</a:t>
            </a:r>
            <a:r>
              <a:rPr lang="en-US" altLang="en-US" dirty="0"/>
              <a:t>	5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5</a:t>
            </a:r>
            <a:r>
              <a:rPr lang="en-US" altLang="en-US" dirty="0"/>
              <a:t>	1</a:t>
            </a:r>
            <a:r>
              <a:rPr lang="en-US" altLang="en-US" dirty="0">
                <a:solidFill>
                  <a:srgbClr val="000000"/>
                </a:solidFill>
              </a:rPr>
              <a:t>0</a:t>
            </a:r>
            <a:r>
              <a:rPr lang="en-US" altLang="en-US" dirty="0"/>
              <a:t>	3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baseline="-250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Priority scheduling Gantt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Average waiting time = 8.2 </a:t>
            </a:r>
            <a:r>
              <a:rPr lang="en-US" altLang="en-US" dirty="0" err="1"/>
              <a:t>msec</a:t>
            </a:r>
            <a:endParaRPr lang="en-US" altLang="en-US" i="1" baseline="-25000" dirty="0"/>
          </a:p>
          <a:p>
            <a:endParaRPr lang="en-US" dirty="0"/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1587500" y="4905375"/>
            <a:ext cx="7972425" cy="1203325"/>
            <a:chOff x="1000" y="3090"/>
            <a:chExt cx="5022" cy="758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1000" y="3090"/>
              <a:ext cx="4982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1000" y="3090"/>
              <a:ext cx="4982" cy="730"/>
            </a:xfrm>
            <a:prstGeom prst="rect">
              <a:avLst/>
            </a:prstGeom>
            <a:noFill/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047" y="3107"/>
              <a:ext cx="4858" cy="533"/>
            </a:xfrm>
            <a:prstGeom prst="rect">
              <a:avLst/>
            </a:prstGeom>
            <a:solidFill>
              <a:srgbClr val="EAF0F0"/>
            </a:solidFill>
            <a:ln w="0">
              <a:solidFill>
                <a:srgbClr val="EAF0F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 flipH="1">
              <a:off x="1047" y="3640"/>
              <a:ext cx="4858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 flipV="1">
              <a:off x="1047" y="3107"/>
              <a:ext cx="0" cy="53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1047" y="3107"/>
              <a:ext cx="4858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5905" y="3107"/>
              <a:ext cx="0" cy="53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3894" y="3374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500" dirty="0">
                  <a:solidFill>
                    <a:srgbClr val="000000"/>
                  </a:solidFill>
                  <a:latin typeface=""/>
                </a:rPr>
                <a:t>5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1015" y="3689"/>
              <a:ext cx="11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1273" y="3689"/>
              <a:ext cx="11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5819" y="3689"/>
              <a:ext cx="11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5903" y="3689"/>
              <a:ext cx="11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9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1100" y="3240"/>
              <a:ext cx="2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1214" y="3374"/>
              <a:ext cx="11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1835" y="3240"/>
              <a:ext cx="2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1948" y="3374"/>
              <a:ext cx="11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 flipV="1">
              <a:off x="5126" y="3107"/>
              <a:ext cx="0" cy="53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5066" y="3689"/>
              <a:ext cx="11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5150" y="3689"/>
              <a:ext cx="11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5700" y="3240"/>
              <a:ext cx="20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5799" y="3374"/>
              <a:ext cx="11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5303" y="3240"/>
              <a:ext cx="20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5402" y="3374"/>
              <a:ext cx="11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 flipV="1">
              <a:off x="1316" y="3107"/>
              <a:ext cx="0" cy="53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 flipV="1">
              <a:off x="2585" y="3107"/>
              <a:ext cx="0" cy="53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2564" y="3689"/>
              <a:ext cx="11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5580" y="3689"/>
              <a:ext cx="11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5664" y="3689"/>
              <a:ext cx="11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8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3794" y="3240"/>
              <a:ext cx="339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</a:rPr>
                <a:t>P</a:t>
              </a:r>
              <a:endParaRPr kumimoji="0" lang="en-US" altLang="en-US" sz="16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 flipV="1">
              <a:off x="5623" y="3107"/>
              <a:ext cx="0" cy="53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64281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Round Robin (RR)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8522"/>
            <a:ext cx="10515600" cy="577947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/>
              <a:t>Each process gets a small unit of CPU time (</a:t>
            </a:r>
            <a:r>
              <a:rPr lang="en-US" altLang="en-US" sz="3200" b="1" dirty="0">
                <a:solidFill>
                  <a:srgbClr val="3366FF"/>
                </a:solidFill>
              </a:rPr>
              <a:t>time</a:t>
            </a:r>
            <a:r>
              <a:rPr lang="en-US" altLang="en-US" sz="3200" b="1" dirty="0"/>
              <a:t> </a:t>
            </a:r>
            <a:r>
              <a:rPr lang="en-US" altLang="en-US" sz="3200" b="1" dirty="0">
                <a:solidFill>
                  <a:srgbClr val="3366FF"/>
                </a:solidFill>
              </a:rPr>
              <a:t>quantum</a:t>
            </a:r>
            <a:r>
              <a:rPr lang="en-US" altLang="en-US" sz="3200" b="1" dirty="0"/>
              <a:t> </a:t>
            </a:r>
            <a:r>
              <a:rPr lang="en-US" altLang="en-US" sz="3200" i="1" dirty="0"/>
              <a:t>q</a:t>
            </a:r>
            <a:r>
              <a:rPr lang="en-US" altLang="en-US" sz="3200" dirty="0"/>
              <a:t>), usually 10-100 milliseconds.  After this time has elapsed, the process is preempted and added to the end of the ready queue.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/>
              <a:t>If there are </a:t>
            </a:r>
            <a:r>
              <a:rPr lang="en-US" altLang="en-US" sz="3200" i="1" dirty="0"/>
              <a:t>n</a:t>
            </a:r>
            <a:r>
              <a:rPr lang="en-US" altLang="en-US" sz="3200" dirty="0"/>
              <a:t> processes in the ready queue and the time quantum is </a:t>
            </a:r>
            <a:r>
              <a:rPr lang="en-US" altLang="en-US" sz="3200" i="1" dirty="0"/>
              <a:t>q</a:t>
            </a:r>
            <a:r>
              <a:rPr lang="en-US" altLang="en-US" sz="3200" dirty="0"/>
              <a:t>, then each process gets 1/</a:t>
            </a:r>
            <a:r>
              <a:rPr lang="en-US" altLang="en-US" sz="3200" i="1" dirty="0"/>
              <a:t>n</a:t>
            </a:r>
            <a:r>
              <a:rPr lang="en-US" altLang="en-US" sz="3200" dirty="0"/>
              <a:t> of the CPU time in chunks of at most </a:t>
            </a:r>
            <a:r>
              <a:rPr lang="en-US" altLang="en-US" sz="3200" i="1" dirty="0"/>
              <a:t>q</a:t>
            </a:r>
            <a:r>
              <a:rPr lang="en-US" altLang="en-US" sz="3200" dirty="0"/>
              <a:t> time units at once.  No process waits more than (</a:t>
            </a:r>
            <a:r>
              <a:rPr lang="en-US" altLang="en-US" sz="3200" i="1" dirty="0"/>
              <a:t>n</a:t>
            </a:r>
            <a:r>
              <a:rPr lang="en-US" altLang="en-US" sz="3200" dirty="0"/>
              <a:t>-1)</a:t>
            </a:r>
            <a:r>
              <a:rPr lang="en-US" altLang="en-US" sz="3200" i="1" dirty="0"/>
              <a:t>q </a:t>
            </a:r>
            <a:r>
              <a:rPr lang="en-US" altLang="en-US" sz="3200" dirty="0"/>
              <a:t>time units.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/>
              <a:t>Timer interrupts every quantum to schedule next process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/>
              <a:t>Performance</a:t>
            </a:r>
          </a:p>
          <a:p>
            <a:pPr lvl="1"/>
            <a:r>
              <a:rPr lang="en-US" altLang="en-US" sz="2800" i="1" dirty="0"/>
              <a:t>q</a:t>
            </a:r>
            <a:r>
              <a:rPr lang="en-US" altLang="en-US" sz="2800" dirty="0"/>
              <a:t> large </a:t>
            </a:r>
            <a:r>
              <a:rPr lang="en-US" altLang="en-US" sz="2800" dirty="0">
                <a:sym typeface="Symbol" panose="05050102010706020507" pitchFamily="18" charset="2"/>
              </a:rPr>
              <a:t> FIFO</a:t>
            </a:r>
          </a:p>
          <a:p>
            <a:pPr lvl="1"/>
            <a:r>
              <a:rPr lang="en-US" altLang="en-US" sz="2800" i="1" dirty="0">
                <a:sym typeface="Symbol" panose="05050102010706020507" pitchFamily="18" charset="2"/>
              </a:rPr>
              <a:t>q </a:t>
            </a:r>
            <a:r>
              <a:rPr lang="en-US" altLang="en-US" sz="2800" dirty="0">
                <a:sym typeface="Symbol" panose="05050102010706020507" pitchFamily="18" charset="2"/>
              </a:rPr>
              <a:t>small  </a:t>
            </a:r>
            <a:r>
              <a:rPr lang="en-US" altLang="en-US" sz="2800" i="1" dirty="0">
                <a:sym typeface="Symbol" panose="05050102010706020507" pitchFamily="18" charset="2"/>
              </a:rPr>
              <a:t>q </a:t>
            </a:r>
            <a:r>
              <a:rPr lang="en-US" altLang="en-US" sz="2800" dirty="0">
                <a:sym typeface="Symbol" panose="05050102010706020507" pitchFamily="18" charset="2"/>
              </a:rPr>
              <a:t>must be large with respect to context switch, otherwise overhead is too high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731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Example of RR with Time Quantum q =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309" y="1101969"/>
            <a:ext cx="10716491" cy="5509846"/>
          </a:xfrm>
        </p:spPr>
        <p:txBody>
          <a:bodyPr>
            <a:normAutofit fontScale="85000" lnSpcReduction="10000"/>
          </a:bodyPr>
          <a:lstStyle/>
          <a:p>
            <a:pPr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</a:p>
          <a:p>
            <a:pPr>
              <a:buNone/>
              <a:tabLst>
                <a:tab pos="2219325" algn="ctr"/>
                <a:tab pos="3994150" algn="ctr"/>
              </a:tabLst>
            </a:pPr>
            <a:r>
              <a:rPr lang="en-US" altLang="en-US" i="1" dirty="0"/>
              <a:t>		P</a:t>
            </a:r>
            <a:r>
              <a:rPr lang="en-US" altLang="en-US" i="1" baseline="-25000" dirty="0"/>
              <a:t>1	</a:t>
            </a:r>
            <a:r>
              <a:rPr lang="en-US" altLang="en-US" dirty="0"/>
              <a:t>24</a:t>
            </a:r>
          </a:p>
          <a:p>
            <a:pPr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	 </a:t>
            </a:r>
            <a:r>
              <a:rPr lang="en-US" altLang="en-US" dirty="0"/>
              <a:t>3</a:t>
            </a:r>
          </a:p>
          <a:p>
            <a:pPr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</a:t>
            </a:r>
            <a:r>
              <a:rPr lang="en-US" altLang="en-US" dirty="0"/>
              <a:t>3	</a:t>
            </a:r>
          </a:p>
          <a:p>
            <a:pPr>
              <a:buFont typeface="Wingdings" panose="05000000000000000000" pitchFamily="2" charset="2"/>
              <a:buChar char="§"/>
              <a:tabLst>
                <a:tab pos="2219325" algn="ctr"/>
                <a:tab pos="3994150" algn="ctr"/>
              </a:tabLst>
            </a:pPr>
            <a:r>
              <a:rPr lang="en-US" altLang="en-US" sz="3500" dirty="0"/>
              <a:t>The Gantt chart is: </a:t>
            </a:r>
            <a:br>
              <a:rPr lang="en-US" altLang="en-US" sz="3000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>
              <a:buFont typeface="Wingdings" panose="05000000000000000000" pitchFamily="2" charset="2"/>
              <a:buChar char="§"/>
              <a:tabLst>
                <a:tab pos="2219325" algn="ctr"/>
                <a:tab pos="3994150" algn="ctr"/>
              </a:tabLst>
            </a:pPr>
            <a:r>
              <a:rPr lang="en-US" altLang="en-US" sz="3500" dirty="0"/>
              <a:t>Typically, higher average turnaround than SJF, but better </a:t>
            </a:r>
            <a:r>
              <a:rPr lang="en-US" altLang="en-US" sz="3500" b="1" i="1" dirty="0"/>
              <a:t>response</a:t>
            </a:r>
          </a:p>
          <a:p>
            <a:pPr>
              <a:buFont typeface="Wingdings" panose="05000000000000000000" pitchFamily="2" charset="2"/>
              <a:buChar char="§"/>
              <a:tabLst>
                <a:tab pos="2219325" algn="ctr"/>
                <a:tab pos="3994150" algn="ctr"/>
              </a:tabLst>
            </a:pPr>
            <a:r>
              <a:rPr lang="en-US" altLang="en-US" sz="3500" dirty="0"/>
              <a:t>q should be large compared to context switch time</a:t>
            </a:r>
          </a:p>
          <a:p>
            <a:pPr>
              <a:buFont typeface="Wingdings" panose="05000000000000000000" pitchFamily="2" charset="2"/>
              <a:buChar char="§"/>
              <a:tabLst>
                <a:tab pos="2219325" algn="ctr"/>
                <a:tab pos="3994150" algn="ctr"/>
              </a:tabLst>
            </a:pPr>
            <a:r>
              <a:rPr lang="en-US" altLang="en-US" sz="3500" dirty="0"/>
              <a:t>E.g., q may be set to 10ms to 100ms,with context switch &lt; 10 </a:t>
            </a:r>
            <a:r>
              <a:rPr lang="en-US" altLang="en-US" sz="3500" dirty="0">
                <a:sym typeface="Symbol" panose="05050102010706020507" pitchFamily="18" charset="2"/>
              </a:rPr>
              <a:t></a:t>
            </a:r>
            <a:r>
              <a:rPr lang="en-US" altLang="en-US" sz="3500" dirty="0"/>
              <a:t>sec</a:t>
            </a:r>
          </a:p>
          <a:p>
            <a:endParaRPr lang="en-US" dirty="0"/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88" y="3462398"/>
            <a:ext cx="9522043" cy="1109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9707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83322"/>
          </a:xfrm>
        </p:spPr>
        <p:txBody>
          <a:bodyPr/>
          <a:lstStyle/>
          <a:p>
            <a:r>
              <a:rPr lang="en-US" dirty="0"/>
              <a:t>Time Quantum and Context Switch Time</a:t>
            </a:r>
          </a:p>
        </p:txBody>
      </p:sp>
      <p:pic>
        <p:nvPicPr>
          <p:cNvPr id="4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17" y="1383323"/>
            <a:ext cx="10258211" cy="4563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7654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Turnaround Time Varies with Time Quantum</a:t>
            </a:r>
          </a:p>
        </p:txBody>
      </p:sp>
      <p:pic>
        <p:nvPicPr>
          <p:cNvPr id="4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631" y="1084698"/>
            <a:ext cx="6737663" cy="555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7877909" y="4173414"/>
            <a:ext cx="3475892" cy="707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7" tIns="45709" rIns="91417" bIns="45709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dirty="0"/>
              <a:t>80% of CPU bursts should be shorter than q</a:t>
            </a:r>
          </a:p>
        </p:txBody>
      </p:sp>
    </p:spTree>
    <p:extLst>
      <p:ext uri="{BB962C8B-B14F-4D97-AF65-F5344CB8AC3E}">
        <p14:creationId xmlns:p14="http://schemas.microsoft.com/office/powerpoint/2010/main" val="1672494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55077"/>
          </a:xfrm>
        </p:spPr>
        <p:txBody>
          <a:bodyPr/>
          <a:lstStyle/>
          <a:p>
            <a:r>
              <a:rPr lang="en-US" dirty="0"/>
              <a:t>Multilevel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5077"/>
            <a:ext cx="10515600" cy="5486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Ready queue is partitioned into separate queues, </a:t>
            </a:r>
            <a:r>
              <a:rPr lang="en-US" altLang="en-US" dirty="0" err="1"/>
              <a:t>eg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b="1" dirty="0"/>
              <a:t>foreground</a:t>
            </a:r>
            <a:r>
              <a:rPr lang="en-US" altLang="en-US" dirty="0"/>
              <a:t> (interactive)</a:t>
            </a:r>
          </a:p>
          <a:p>
            <a:pPr lvl="1"/>
            <a:r>
              <a:rPr lang="en-US" altLang="en-US" b="1" dirty="0"/>
              <a:t>background</a:t>
            </a:r>
            <a:r>
              <a:rPr lang="en-US" altLang="en-US" dirty="0"/>
              <a:t> (batch)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Process </a:t>
            </a:r>
            <a:r>
              <a:rPr lang="en-US" altLang="en-US" b="1" dirty="0"/>
              <a:t>permanently</a:t>
            </a:r>
            <a:r>
              <a:rPr lang="en-US" altLang="en-US" dirty="0"/>
              <a:t> in a given queue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Each queue has its own scheduling algorithm:</a:t>
            </a:r>
          </a:p>
          <a:p>
            <a:pPr lvl="1"/>
            <a:r>
              <a:rPr lang="en-US" altLang="en-US" dirty="0"/>
              <a:t>foreground – RR</a:t>
            </a:r>
          </a:p>
          <a:p>
            <a:pPr lvl="1"/>
            <a:r>
              <a:rPr lang="en-US" altLang="en-US" dirty="0"/>
              <a:t>background – FCFS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Scheduling must be done between the queues:</a:t>
            </a:r>
          </a:p>
          <a:p>
            <a:pPr lvl="1"/>
            <a:r>
              <a:rPr lang="en-US" altLang="en-US" dirty="0"/>
              <a:t>Fixed priority scheduling; (i.e., serve all from foreground then from background).  Possibility of starvation.</a:t>
            </a:r>
          </a:p>
          <a:p>
            <a:pPr lvl="1"/>
            <a:r>
              <a:rPr lang="en-US" altLang="en-US" b="1" dirty="0"/>
              <a:t>Time slice </a:t>
            </a:r>
            <a:r>
              <a:rPr lang="en-US" altLang="en-US" dirty="0"/>
              <a:t>– each queue gets a certain amount of CPU time which it can schedule amongst its processes; e.g., 80% to foreground in RR, 20% to background in FCFS </a:t>
            </a:r>
          </a:p>
        </p:txBody>
      </p:sp>
    </p:spTree>
    <p:extLst>
      <p:ext uri="{BB962C8B-B14F-4D97-AF65-F5344CB8AC3E}">
        <p14:creationId xmlns:p14="http://schemas.microsoft.com/office/powerpoint/2010/main" val="2161853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Multilevel Queue Scheduling</a:t>
            </a:r>
          </a:p>
        </p:txBody>
      </p:sp>
      <p:pic>
        <p:nvPicPr>
          <p:cNvPr id="4" name="Picture 4" descr="5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335" y="1325563"/>
            <a:ext cx="7736923" cy="512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1213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Multilevel Feedback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A process can move between the various queues; aging can be implemented this way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Multilevel-feedback-queue scheduler defined by the following parameters:</a:t>
            </a:r>
          </a:p>
          <a:p>
            <a:pPr lvl="1"/>
            <a:r>
              <a:rPr lang="en-US" altLang="en-US" dirty="0"/>
              <a:t>number of queues</a:t>
            </a:r>
          </a:p>
          <a:p>
            <a:pPr lvl="1"/>
            <a:r>
              <a:rPr lang="en-US" altLang="en-US" dirty="0"/>
              <a:t>scheduling algorithms for each queue</a:t>
            </a:r>
          </a:p>
          <a:p>
            <a:pPr lvl="1"/>
            <a:r>
              <a:rPr lang="en-US" altLang="en-US" dirty="0"/>
              <a:t>method used to determine when to upgrade a process</a:t>
            </a:r>
          </a:p>
          <a:p>
            <a:pPr lvl="1"/>
            <a:r>
              <a:rPr lang="en-US" altLang="en-US" dirty="0"/>
              <a:t>method used to determine when to demote a process</a:t>
            </a:r>
          </a:p>
          <a:p>
            <a:pPr lvl="1"/>
            <a:r>
              <a:rPr lang="en-US" altLang="en-US" dirty="0"/>
              <a:t>method used to determine which queue a process will enter when that process needs service</a:t>
            </a:r>
          </a:p>
        </p:txBody>
      </p:sp>
    </p:spTree>
    <p:extLst>
      <p:ext uri="{BB962C8B-B14F-4D97-AF65-F5344CB8AC3E}">
        <p14:creationId xmlns:p14="http://schemas.microsoft.com/office/powerpoint/2010/main" val="1281376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Example of Multilevel Feedback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25414"/>
            <a:ext cx="5700084" cy="573258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3000" dirty="0"/>
              <a:t>Three queues: </a:t>
            </a:r>
          </a:p>
          <a:p>
            <a:pPr lvl="1"/>
            <a:r>
              <a:rPr lang="en-US" altLang="en-US" sz="2000" i="1" dirty="0"/>
              <a:t>Q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 – RR with time quantum 8 milliseconds</a:t>
            </a:r>
          </a:p>
          <a:p>
            <a:pPr lvl="1"/>
            <a:r>
              <a:rPr lang="en-US" altLang="en-US" sz="2000" i="1" dirty="0"/>
              <a:t>Q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– RR time quantum 16 milliseconds</a:t>
            </a:r>
          </a:p>
          <a:p>
            <a:pPr lvl="1"/>
            <a:r>
              <a:rPr lang="en-US" altLang="en-US" sz="2000" i="1" dirty="0"/>
              <a:t>Q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– FCFS</a:t>
            </a:r>
          </a:p>
          <a:p>
            <a:pPr lvl="1"/>
            <a:endParaRPr lang="en-US" altLang="en-US" sz="1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000" dirty="0"/>
              <a:t>Scheduling</a:t>
            </a:r>
          </a:p>
          <a:p>
            <a:pPr lvl="1"/>
            <a:r>
              <a:rPr lang="en-US" altLang="en-US" sz="2000" dirty="0"/>
              <a:t>A new job enters queue </a:t>
            </a:r>
            <a:r>
              <a:rPr lang="en-US" altLang="en-US" sz="2000" i="1" dirty="0"/>
              <a:t>Q</a:t>
            </a:r>
            <a:r>
              <a:rPr lang="en-US" altLang="en-US" sz="2000" i="1" baseline="-25000" dirty="0"/>
              <a:t>0</a:t>
            </a:r>
            <a:r>
              <a:rPr lang="en-US" altLang="en-US" sz="2000" i="1" dirty="0"/>
              <a:t> </a:t>
            </a:r>
            <a:r>
              <a:rPr lang="en-US" altLang="en-US" sz="2000" dirty="0"/>
              <a:t>which is served</a:t>
            </a:r>
            <a:r>
              <a:rPr lang="en-US" altLang="en-US" sz="2000" i="1" dirty="0"/>
              <a:t> </a:t>
            </a:r>
            <a:r>
              <a:rPr lang="en-US" altLang="en-US" sz="2000" dirty="0"/>
              <a:t>FCFS</a:t>
            </a:r>
          </a:p>
          <a:p>
            <a:pPr lvl="2"/>
            <a:r>
              <a:rPr lang="en-US" altLang="en-US" dirty="0"/>
              <a:t>When it gains CPU, job receives 8 milliseconds</a:t>
            </a:r>
          </a:p>
          <a:p>
            <a:pPr lvl="2"/>
            <a:r>
              <a:rPr lang="en-US" altLang="en-US" dirty="0"/>
              <a:t>If it does not finish in 8 milliseconds, job is moved to queue </a:t>
            </a:r>
            <a:r>
              <a:rPr lang="en-US" altLang="en-US" i="1" dirty="0"/>
              <a:t>Q</a:t>
            </a:r>
            <a:r>
              <a:rPr lang="en-US" altLang="en-US" baseline="-25000" dirty="0"/>
              <a:t>1</a:t>
            </a:r>
            <a:endParaRPr lang="en-US" altLang="en-US" dirty="0"/>
          </a:p>
          <a:p>
            <a:pPr lvl="1"/>
            <a:r>
              <a:rPr lang="en-US" altLang="en-US" sz="2000" dirty="0"/>
              <a:t>At </a:t>
            </a:r>
            <a:r>
              <a:rPr lang="en-US" altLang="en-US" sz="2000" i="1" dirty="0"/>
              <a:t>Q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job is again served FCFS and receives 16 additional milliseconds</a:t>
            </a:r>
          </a:p>
          <a:p>
            <a:pPr lvl="2"/>
            <a:r>
              <a:rPr lang="en-US" altLang="en-US" dirty="0"/>
              <a:t>If it still does not complete, it is preempted and moved to queue </a:t>
            </a:r>
            <a:r>
              <a:rPr lang="en-US" altLang="en-US" i="1" dirty="0"/>
              <a:t>Q</a:t>
            </a:r>
            <a:r>
              <a:rPr lang="en-US" altLang="en-US" baseline="-25000" dirty="0"/>
              <a:t>2</a:t>
            </a:r>
            <a:endParaRPr lang="en-US" altLang="en-US" dirty="0"/>
          </a:p>
          <a:p>
            <a:endParaRPr lang="en-US" dirty="0"/>
          </a:p>
        </p:txBody>
      </p:sp>
      <p:pic>
        <p:nvPicPr>
          <p:cNvPr id="5" name="Content Placeholder 4" descr="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8284" y="2110153"/>
            <a:ext cx="5394432" cy="3282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707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Thread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2"/>
            <a:ext cx="10515600" cy="553243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/>
              <a:t>There is distinction between user-level and kernel-level threads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/>
              <a:t>When threads are supported, scheduling units are threads, not processes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/>
              <a:t>May use many-to-one or many-to-many model.  Thread library schedules user-level threads to run on LWP</a:t>
            </a:r>
          </a:p>
          <a:p>
            <a:pPr lvl="1"/>
            <a:r>
              <a:rPr lang="en-US" altLang="en-US" sz="2800" dirty="0"/>
              <a:t>Known as </a:t>
            </a:r>
            <a:r>
              <a:rPr lang="en-US" altLang="en-US" sz="2800" b="1" dirty="0">
                <a:solidFill>
                  <a:srgbClr val="3366FF"/>
                </a:solidFill>
              </a:rPr>
              <a:t>process-contention scope </a:t>
            </a:r>
            <a:r>
              <a:rPr lang="en-US" altLang="en-US" sz="2800" b="1" dirty="0"/>
              <a:t>(</a:t>
            </a:r>
            <a:r>
              <a:rPr lang="en-US" altLang="en-US" sz="2800" b="1" dirty="0">
                <a:solidFill>
                  <a:srgbClr val="3366FF"/>
                </a:solidFill>
              </a:rPr>
              <a:t>PCS</a:t>
            </a:r>
            <a:r>
              <a:rPr lang="en-US" altLang="en-US" sz="2800" b="1" dirty="0"/>
              <a:t>) </a:t>
            </a:r>
            <a:r>
              <a:rPr lang="en-US" altLang="en-US" sz="2800" dirty="0"/>
              <a:t>since scheduling competition is within the process</a:t>
            </a:r>
          </a:p>
          <a:p>
            <a:pPr lvl="1"/>
            <a:r>
              <a:rPr lang="en-US" altLang="en-US" sz="2800" dirty="0"/>
              <a:t>Typically done via priority set by programmer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/>
              <a:t>Kernel thread scheduled onto available CPU is </a:t>
            </a:r>
            <a:r>
              <a:rPr lang="en-US" altLang="en-US" sz="3200" b="1" dirty="0">
                <a:solidFill>
                  <a:srgbClr val="3366FF"/>
                </a:solidFill>
              </a:rPr>
              <a:t>system-contention scope</a:t>
            </a:r>
            <a:r>
              <a:rPr lang="en-US" altLang="en-US" sz="3200" b="1" dirty="0"/>
              <a:t> (</a:t>
            </a:r>
            <a:r>
              <a:rPr lang="en-US" altLang="en-US" sz="3200" b="1" dirty="0">
                <a:solidFill>
                  <a:srgbClr val="3366FF"/>
                </a:solidFill>
              </a:rPr>
              <a:t>SCS</a:t>
            </a:r>
            <a:r>
              <a:rPr lang="en-US" altLang="en-US" sz="3200" b="1" dirty="0"/>
              <a:t>) </a:t>
            </a:r>
            <a:r>
              <a:rPr lang="en-US" altLang="en-US" sz="3200" dirty="0"/>
              <a:t>– competition among all threads in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607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err="1"/>
              <a:t>Pthread</a:t>
            </a:r>
            <a:r>
              <a:rPr lang="en-US" dirty="0"/>
              <a:t>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1100"/>
            <a:ext cx="10515600" cy="57669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Most applications that run on modern computers as separate processes, each consisting of multiple threads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Benefits of multithreaded programming include: </a:t>
            </a:r>
          </a:p>
          <a:p>
            <a:pPr lvl="1"/>
            <a:r>
              <a:rPr lang="en-US" altLang="en-US" dirty="0"/>
              <a:t>Responsiveness: one thread can attend to user demands while other threads continue to execute</a:t>
            </a:r>
          </a:p>
          <a:p>
            <a:pPr lvl="1"/>
            <a:r>
              <a:rPr lang="en-US" altLang="en-US" dirty="0"/>
              <a:t>Resource sharing: threads in a process share memory &amp; other resources</a:t>
            </a:r>
          </a:p>
          <a:p>
            <a:pPr lvl="1"/>
            <a:r>
              <a:rPr lang="en-US" altLang="en-US" dirty="0"/>
              <a:t>Economy: no additional resource allocation for creation of new threads</a:t>
            </a:r>
          </a:p>
          <a:p>
            <a:pPr lvl="1"/>
            <a:r>
              <a:rPr lang="en-US" altLang="en-US" dirty="0"/>
              <a:t>Scalability, with multiprocessor architecture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 err="1"/>
              <a:t>Pthread</a:t>
            </a:r>
            <a:r>
              <a:rPr lang="en-US" altLang="en-US" dirty="0"/>
              <a:t>, refers to the POSIX standard, defines APIs for thread creation and synchronization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API allows specifying either PCS or SCS during thread creation</a:t>
            </a:r>
          </a:p>
          <a:p>
            <a:pPr lvl="1"/>
            <a:r>
              <a:rPr lang="en-US" altLang="en-US" dirty="0"/>
              <a:t>PTHREAD_SCOPE_PROCESS schedules threads using PCS scheduling</a:t>
            </a:r>
          </a:p>
          <a:p>
            <a:pPr lvl="1"/>
            <a:r>
              <a:rPr lang="en-US" altLang="en-US" dirty="0"/>
              <a:t>PTHREAD_SCOPE_SYSTEM schedules threads using SCS scheduling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Can be limited by OS – Linux and Mac OS X only allow PTHREAD_SCOPE_SYSTEM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189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Multiple-Processor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5076"/>
            <a:ext cx="10515600" cy="580292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3000" dirty="0"/>
              <a:t>CPU scheduling becomes more complex when multiple CPUs are available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000" dirty="0"/>
              <a:t>Multiprocessor architecture: homogeneous processors or heterogeneous processors within a multiprocessor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000" dirty="0"/>
              <a:t>Approaches to multiple-processor scheduling</a:t>
            </a:r>
          </a:p>
          <a:p>
            <a:pPr lvl="1"/>
            <a:r>
              <a:rPr lang="en-US" altLang="en-US" dirty="0"/>
              <a:t>Asymmetric multiprocessing – only one processor accesses the system data structures, alleviating the need for data sharing</a:t>
            </a:r>
            <a:endParaRPr lang="en-US" altLang="en-US" sz="400" dirty="0"/>
          </a:p>
          <a:p>
            <a:pPr lvl="1"/>
            <a:r>
              <a:rPr lang="en-US" altLang="en-US" dirty="0"/>
              <a:t>Symmetric multiprocessing (SMP) – each processor is self-scheduling, all processes in common ready queue, or each has its own private queue of ready processes</a:t>
            </a:r>
          </a:p>
          <a:p>
            <a:pPr lvl="2"/>
            <a:r>
              <a:rPr lang="en-US" altLang="en-US" dirty="0"/>
              <a:t>Currently, most common</a:t>
            </a:r>
            <a:endParaRPr lang="en-US" altLang="en-US" sz="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000" dirty="0"/>
              <a:t>Processor affinity – process has affinity for processor on which it is currently running</a:t>
            </a:r>
          </a:p>
          <a:p>
            <a:pPr lvl="1"/>
            <a:r>
              <a:rPr lang="en-US" altLang="en-US" dirty="0"/>
              <a:t>soft affinity – attempt to keep on the same processor, but not guaranteed</a:t>
            </a:r>
          </a:p>
          <a:p>
            <a:pPr lvl="1"/>
            <a:r>
              <a:rPr lang="en-US" altLang="en-US" dirty="0"/>
              <a:t>hard affinity</a:t>
            </a:r>
          </a:p>
          <a:p>
            <a:pPr lvl="1"/>
            <a:r>
              <a:rPr lang="en-US" altLang="en-US" dirty="0"/>
              <a:t>Variations including processor sets</a:t>
            </a:r>
          </a:p>
        </p:txBody>
      </p:sp>
    </p:spTree>
    <p:extLst>
      <p:ext uri="{BB962C8B-B14F-4D97-AF65-F5344CB8AC3E}">
        <p14:creationId xmlns:p14="http://schemas.microsoft.com/office/powerpoint/2010/main" val="361821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Multiple-Processor Scheduling – Load Balancing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/>
              <a:t>If SMP, need to keep all CPUs loaded for efficiency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/>
              <a:t>Load balancing attempts to keep workload evenly distributed.  Needed when each processor has its own private queue of ready processes</a:t>
            </a:r>
          </a:p>
          <a:p>
            <a:pPr lvl="1"/>
            <a:r>
              <a:rPr lang="en-US" altLang="en-US" sz="2800" dirty="0"/>
              <a:t>Push migration – a task periodically checks load on each processor, and, if found imbalance, pushes task from overloaded CPU to other CPUs</a:t>
            </a:r>
          </a:p>
          <a:p>
            <a:pPr lvl="1"/>
            <a:r>
              <a:rPr lang="en-US" altLang="en-US" sz="2800" dirty="0"/>
              <a:t>Pull migration – idle processors pulls waiting task from busy processor</a:t>
            </a:r>
          </a:p>
        </p:txBody>
      </p:sp>
    </p:spTree>
    <p:extLst>
      <p:ext uri="{BB962C8B-B14F-4D97-AF65-F5344CB8AC3E}">
        <p14:creationId xmlns:p14="http://schemas.microsoft.com/office/powerpoint/2010/main" val="34999254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39251"/>
          </a:xfrm>
        </p:spPr>
        <p:txBody>
          <a:bodyPr/>
          <a:lstStyle/>
          <a:p>
            <a:r>
              <a:rPr lang="en-US" dirty="0"/>
              <a:t>Multicore Processors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873" y="803564"/>
            <a:ext cx="10861963" cy="518723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600" dirty="0"/>
              <a:t>Recent trend to place multiple processor cores on same physical chip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600" dirty="0"/>
              <a:t>Benefits: faster and consumes less power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600" dirty="0"/>
              <a:t>The practice of multiple threads per core is also growing (e.g., </a:t>
            </a:r>
            <a:r>
              <a:rPr lang="en-US" altLang="en-US" sz="2600" dirty="0" err="1"/>
              <a:t>hyperthreading</a:t>
            </a:r>
            <a:r>
              <a:rPr lang="en-US" altLang="en-US" sz="2600" dirty="0"/>
              <a:t> on Intel)</a:t>
            </a:r>
          </a:p>
          <a:p>
            <a:pPr lvl="1"/>
            <a:r>
              <a:rPr lang="en-US" altLang="en-US" dirty="0"/>
              <a:t>Takes advantage of memory stall to make progress on another thread while memory retrieve happens</a:t>
            </a:r>
          </a:p>
          <a:p>
            <a:endParaRPr lang="en-US" dirty="0"/>
          </a:p>
        </p:txBody>
      </p:sp>
      <p:pic>
        <p:nvPicPr>
          <p:cNvPr id="4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533" y="3272451"/>
            <a:ext cx="6781800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533" y="5136662"/>
            <a:ext cx="6872288" cy="169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844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4310</TotalTime>
  <Words>3628</Words>
  <Application>Microsoft Office PowerPoint</Application>
  <PresentationFormat>Widescreen</PresentationFormat>
  <Paragraphs>486</Paragraphs>
  <Slides>29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Lucida Grande</vt:lpstr>
      <vt:lpstr>Monotype Sorts</vt:lpstr>
      <vt:lpstr>PalatinoLTStd-Bold</vt:lpstr>
      <vt:lpstr>PalatinoLTStd-BoldItalic</vt:lpstr>
      <vt:lpstr>PalatinoLTStd-Italic</vt:lpstr>
      <vt:lpstr>PalatinoLTStd-Roman</vt:lpstr>
      <vt:lpstr>STIXMath-Regular</vt:lpstr>
      <vt:lpstr>Symbol</vt:lpstr>
      <vt:lpstr>Wingdings</vt:lpstr>
      <vt:lpstr>Office Theme</vt:lpstr>
      <vt:lpstr>Equation</vt:lpstr>
      <vt:lpstr>CECS 326 Operating Systems</vt:lpstr>
      <vt:lpstr>Basic Concepts</vt:lpstr>
      <vt:lpstr>Histogram of CPU-burst Times</vt:lpstr>
      <vt:lpstr>CPU Scheduler</vt:lpstr>
      <vt:lpstr>Dispatcher</vt:lpstr>
      <vt:lpstr>PowerPoint Presentation</vt:lpstr>
      <vt:lpstr>Performance Measures of Scheduling Algorithms</vt:lpstr>
      <vt:lpstr>First-Come, First-Served (FCFS) Scheduling</vt:lpstr>
      <vt:lpstr>FCFS Scheduling (cont.)</vt:lpstr>
      <vt:lpstr>Shortest-Job-First (SJF) Scheduling</vt:lpstr>
      <vt:lpstr>Determining Length of Next CPU Burst</vt:lpstr>
      <vt:lpstr>Prediction of the Length of the Next CPU Burst</vt:lpstr>
      <vt:lpstr>Examples of Exponential Averaging</vt:lpstr>
      <vt:lpstr>Example of Shortest-Remaining-Time-First Scheduling</vt:lpstr>
      <vt:lpstr>Priority Scheduling</vt:lpstr>
      <vt:lpstr>Example of Priority Scheduling (Nonpreemptive)</vt:lpstr>
      <vt:lpstr>Round Robin (RR) Scheduling</vt:lpstr>
      <vt:lpstr>Example of RR with Time Quantum q = 4</vt:lpstr>
      <vt:lpstr>Time Quantum and Context Switch Time</vt:lpstr>
      <vt:lpstr>Turnaround Time Varies with Time Quantum</vt:lpstr>
      <vt:lpstr>Multilevel Queues</vt:lpstr>
      <vt:lpstr>Multilevel Queue Scheduling</vt:lpstr>
      <vt:lpstr>Multilevel Feedback Queue</vt:lpstr>
      <vt:lpstr>Example of Multilevel Feedback Queue</vt:lpstr>
      <vt:lpstr>Thread Scheduling</vt:lpstr>
      <vt:lpstr>Pthread Scheduling</vt:lpstr>
      <vt:lpstr>Multiple-Processor Scheduling</vt:lpstr>
      <vt:lpstr>Multiple-Processor Scheduling – Load Balancing</vt:lpstr>
      <vt:lpstr>Multicore Processors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CECS 326</dc:title>
  <dc:creator>Dr. Shui Lam</dc:creator>
  <cp:lastModifiedBy>Phong Ngo</cp:lastModifiedBy>
  <cp:revision>225</cp:revision>
  <dcterms:created xsi:type="dcterms:W3CDTF">2017-01-24T06:41:16Z</dcterms:created>
  <dcterms:modified xsi:type="dcterms:W3CDTF">2026-08-03T16:58:20Z</dcterms:modified>
</cp:coreProperties>
</file>